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2.xml" ContentType="application/vnd.openxmlformats-officedocument.presentationml.notesSlide+xml"/>
  <Override PartName="/ppt/tags/tag30.xml" ContentType="application/vnd.openxmlformats-officedocument.presentationml.tags+xml"/>
  <Override PartName="/ppt/notesSlides/notesSlide3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4.xml" ContentType="application/vnd.openxmlformats-officedocument.presentationml.notesSlide+xml"/>
  <Override PartName="/ppt/tags/tag40.xml" ContentType="application/vnd.openxmlformats-officedocument.presentationml.tags+xml"/>
  <Override PartName="/ppt/notesSlides/notesSlide5.xml" ContentType="application/vnd.openxmlformats-officedocument.presentationml.notesSlide+xml"/>
  <Override PartName="/ppt/tags/tag41.xml" ContentType="application/vnd.openxmlformats-officedocument.presentationml.tags+xml"/>
  <Override PartName="/ppt/notesSlides/notesSlide6.xml" ContentType="application/vnd.openxmlformats-officedocument.presentationml.notesSlide+xml"/>
  <Override PartName="/ppt/tags/tag42.xml" ContentType="application/vnd.openxmlformats-officedocument.presentationml.tags+xml"/>
  <Override PartName="/ppt/notesSlides/notesSlide7.xml" ContentType="application/vnd.openxmlformats-officedocument.presentationml.notesSlide+xml"/>
  <Override PartName="/ppt/tags/tag43.xml" ContentType="application/vnd.openxmlformats-officedocument.presentationml.tags+xml"/>
  <Override PartName="/ppt/notesSlides/notesSlide8.xml" ContentType="application/vnd.openxmlformats-officedocument.presentationml.notesSlide+xml"/>
  <Override PartName="/ppt/tags/tag44.xml" ContentType="application/vnd.openxmlformats-officedocument.presentationml.tags+xml"/>
  <Override PartName="/ppt/notesSlides/notesSlide9.xml" ContentType="application/vnd.openxmlformats-officedocument.presentationml.notesSlide+xml"/>
  <Override PartName="/ppt/tags/tag45.xml" ContentType="application/vnd.openxmlformats-officedocument.presentationml.tags+xml"/>
  <Override PartName="/ppt/notesSlides/notesSlide10.xml" ContentType="application/vnd.openxmlformats-officedocument.presentationml.notesSlide+xml"/>
  <Override PartName="/ppt/tags/tag46.xml" ContentType="application/vnd.openxmlformats-officedocument.presentationml.tags+xml"/>
  <Override PartName="/ppt/notesSlides/notesSlide11.xml" ContentType="application/vnd.openxmlformats-officedocument.presentationml.notesSlide+xml"/>
  <Override PartName="/ppt/tags/tag47.xml" ContentType="application/vnd.openxmlformats-officedocument.presentationml.tags+xml"/>
  <Override PartName="/ppt/notesSlides/notesSlide12.xml" ContentType="application/vnd.openxmlformats-officedocument.presentationml.notesSlide+xml"/>
  <Override PartName="/ppt/tags/tag48.xml" ContentType="application/vnd.openxmlformats-officedocument.presentationml.tags+xml"/>
  <Override PartName="/ppt/notesSlides/notesSlide13.xml" ContentType="application/vnd.openxmlformats-officedocument.presentationml.notesSlide+xml"/>
  <Override PartName="/ppt/tags/tag49.xml" ContentType="application/vnd.openxmlformats-officedocument.presentationml.tags+xml"/>
  <Override PartName="/ppt/notesSlides/notesSlide14.xml" ContentType="application/vnd.openxmlformats-officedocument.presentationml.notesSlide+xml"/>
  <Override PartName="/ppt/tags/tag50.xml" ContentType="application/vnd.openxmlformats-officedocument.presentationml.tags+xml"/>
  <Override PartName="/ppt/notesSlides/notesSlide15.xml" ContentType="application/vnd.openxmlformats-officedocument.presentationml.notesSlide+xml"/>
  <Override PartName="/ppt/tags/tag51.xml" ContentType="application/vnd.openxmlformats-officedocument.presentationml.tags+xml"/>
  <Override PartName="/ppt/notesSlides/notesSlide16.xml" ContentType="application/vnd.openxmlformats-officedocument.presentationml.notesSlide+xml"/>
  <Override PartName="/ppt/tags/tag52.xml" ContentType="application/vnd.openxmlformats-officedocument.presentationml.tags+xml"/>
  <Override PartName="/ppt/notesSlides/notesSlide17.xml" ContentType="application/vnd.openxmlformats-officedocument.presentationml.notesSlide+xml"/>
  <Override PartName="/ppt/tags/tag53.xml" ContentType="application/vnd.openxmlformats-officedocument.presentationml.tags+xml"/>
  <Override PartName="/ppt/notesSlides/notesSlide18.xml" ContentType="application/vnd.openxmlformats-officedocument.presentationml.notesSlide+xml"/>
  <Override PartName="/ppt/tags/tag54.xml" ContentType="application/vnd.openxmlformats-officedocument.presentationml.tags+xml"/>
  <Override PartName="/ppt/notesSlides/notesSlide19.xml" ContentType="application/vnd.openxmlformats-officedocument.presentationml.notesSlide+xml"/>
  <Override PartName="/ppt/tags/tag55.xml" ContentType="application/vnd.openxmlformats-officedocument.presentationml.tags+xml"/>
  <Override PartName="/ppt/notesSlides/notesSlide20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21.xml" ContentType="application/vnd.openxmlformats-officedocument.presentationml.notesSlide+xml"/>
  <Override PartName="/ppt/tags/tag62.xml" ContentType="application/vnd.openxmlformats-officedocument.presentationml.tags+xml"/>
  <Override PartName="/ppt/notesSlides/notesSlide22.xml" ContentType="application/vnd.openxmlformats-officedocument.presentationml.notesSlide+xml"/>
  <Override PartName="/ppt/tags/tag63.xml" ContentType="application/vnd.openxmlformats-officedocument.presentationml.tags+xml"/>
  <Override PartName="/ppt/notesSlides/notesSlide23.xml" ContentType="application/vnd.openxmlformats-officedocument.presentationml.notesSlide+xml"/>
  <Override PartName="/ppt/tags/tag64.xml" ContentType="application/vnd.openxmlformats-officedocument.presentationml.tags+xml"/>
  <Override PartName="/ppt/notesSlides/notesSlide24.xml" ContentType="application/vnd.openxmlformats-officedocument.presentationml.notesSlide+xml"/>
  <Override PartName="/ppt/tags/tag65.xml" ContentType="application/vnd.openxmlformats-officedocument.presentationml.tags+xml"/>
  <Override PartName="/ppt/notesSlides/notesSlide25.xml" ContentType="application/vnd.openxmlformats-officedocument.presentationml.notesSlide+xml"/>
  <Override PartName="/ppt/tags/tag66.xml" ContentType="application/vnd.openxmlformats-officedocument.presentationml.tags+xml"/>
  <Override PartName="/ppt/notesSlides/notesSlide26.xml" ContentType="application/vnd.openxmlformats-officedocument.presentationml.notesSlide+xml"/>
  <Override PartName="/ppt/tags/tag67.xml" ContentType="application/vnd.openxmlformats-officedocument.presentationml.tags+xml"/>
  <Override PartName="/ppt/notesSlides/notesSlide27.xml" ContentType="application/vnd.openxmlformats-officedocument.presentationml.notesSlide+xml"/>
  <Override PartName="/ppt/tags/tag68.xml" ContentType="application/vnd.openxmlformats-officedocument.presentationml.tags+xml"/>
  <Override PartName="/ppt/notesSlides/notesSlide2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87" r:id="rId1"/>
  </p:sldMasterIdLst>
  <p:notesMasterIdLst>
    <p:notesMasterId r:id="rId37"/>
  </p:notesMasterIdLst>
  <p:handoutMasterIdLst>
    <p:handoutMasterId r:id="rId38"/>
  </p:handoutMasterIdLst>
  <p:sldIdLst>
    <p:sldId id="2147474645" r:id="rId2"/>
    <p:sldId id="2147475153" r:id="rId3"/>
    <p:sldId id="2147475128" r:id="rId4"/>
    <p:sldId id="2147475137" r:id="rId5"/>
    <p:sldId id="2147475139" r:id="rId6"/>
    <p:sldId id="2147475155" r:id="rId7"/>
    <p:sldId id="2147475134" r:id="rId8"/>
    <p:sldId id="2147475136" r:id="rId9"/>
    <p:sldId id="2147475135" r:id="rId10"/>
    <p:sldId id="2147475156" r:id="rId11"/>
    <p:sldId id="2147475140" r:id="rId12"/>
    <p:sldId id="2147475141" r:id="rId13"/>
    <p:sldId id="2147475142" r:id="rId14"/>
    <p:sldId id="2147475143" r:id="rId15"/>
    <p:sldId id="2147475144" r:id="rId16"/>
    <p:sldId id="2147475157" r:id="rId17"/>
    <p:sldId id="2147475145" r:id="rId18"/>
    <p:sldId id="2147475146" r:id="rId19"/>
    <p:sldId id="2147475147" r:id="rId20"/>
    <p:sldId id="2147475158" r:id="rId21"/>
    <p:sldId id="2147475148" r:id="rId22"/>
    <p:sldId id="2147475149" r:id="rId23"/>
    <p:sldId id="2147475160" r:id="rId24"/>
    <p:sldId id="2147475161" r:id="rId25"/>
    <p:sldId id="2147475164" r:id="rId26"/>
    <p:sldId id="2147475165" r:id="rId27"/>
    <p:sldId id="2147472710" r:id="rId28"/>
    <p:sldId id="2147475163" r:id="rId29"/>
    <p:sldId id="2147475162" r:id="rId30"/>
    <p:sldId id="2147475129" r:id="rId31"/>
    <p:sldId id="2147475132" r:id="rId32"/>
    <p:sldId id="2147475159" r:id="rId33"/>
    <p:sldId id="2147475150" r:id="rId34"/>
    <p:sldId id="2147475154" r:id="rId35"/>
    <p:sldId id="2147474026" r:id="rId36"/>
  </p:sldIdLst>
  <p:sldSz cx="12192000" cy="6858000"/>
  <p:notesSz cx="6797675" cy="9928225"/>
  <p:custDataLst>
    <p:tags r:id="rId39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C3FDA-5671-42A4-A468-888C653E86DD}">
          <p14:sldIdLst>
            <p14:sldId id="2147474645"/>
          </p14:sldIdLst>
        </p14:section>
        <p14:section name="Abordagem" id="{D85FE621-F9EA-4CE9-81BA-A01762A36758}">
          <p14:sldIdLst>
            <p14:sldId id="2147475153"/>
            <p14:sldId id="2147475128"/>
            <p14:sldId id="2147475137"/>
            <p14:sldId id="2147475139"/>
            <p14:sldId id="2147475155"/>
            <p14:sldId id="2147475134"/>
            <p14:sldId id="2147475136"/>
            <p14:sldId id="2147475135"/>
            <p14:sldId id="2147475156"/>
            <p14:sldId id="2147475140"/>
            <p14:sldId id="2147475141"/>
            <p14:sldId id="2147475142"/>
            <p14:sldId id="2147475143"/>
            <p14:sldId id="2147475144"/>
            <p14:sldId id="2147475157"/>
            <p14:sldId id="2147475145"/>
            <p14:sldId id="2147475146"/>
            <p14:sldId id="2147475147"/>
            <p14:sldId id="2147475158"/>
            <p14:sldId id="2147475148"/>
            <p14:sldId id="2147475149"/>
            <p14:sldId id="2147475160"/>
            <p14:sldId id="2147475161"/>
            <p14:sldId id="2147475164"/>
            <p14:sldId id="2147475165"/>
          </p14:sldIdLst>
        </p14:section>
        <p14:section name="Equipe e Investimentos" id="{702C7D10-46CA-4A1C-BCF8-1EEFBEEF3622}">
          <p14:sldIdLst>
            <p14:sldId id="2147472710"/>
            <p14:sldId id="2147475163"/>
            <p14:sldId id="2147475162"/>
            <p14:sldId id="2147475129"/>
            <p14:sldId id="2147475132"/>
            <p14:sldId id="2147475159"/>
            <p14:sldId id="2147475150"/>
            <p14:sldId id="2147475154"/>
            <p14:sldId id="21474740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4376"/>
    <a:srgbClr val="E36800"/>
    <a:srgbClr val="FF5A43"/>
    <a:srgbClr val="7B7D7B"/>
    <a:srgbClr val="1D368E"/>
    <a:srgbClr val="FFFFFF"/>
    <a:srgbClr val="009796"/>
    <a:srgbClr val="3D7CE3"/>
    <a:srgbClr val="E6DCD7"/>
    <a:srgbClr val="3372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712E55-A019-BD51-79BE-4324DB528133}" v="3" dt="2026-10-19T16:49:47.146"/>
    <p1510:client id="{4F2E5C72-4AF5-3D16-F649-657FB715F23E}" v="2" dt="2026-10-20T17:14:25.3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49"/>
    <p:restoredTop sz="94748"/>
  </p:normalViewPr>
  <p:slideViewPr>
    <p:cSldViewPr snapToGrid="0">
      <p:cViewPr>
        <p:scale>
          <a:sx n="127" d="100"/>
          <a:sy n="127" d="100"/>
        </p:scale>
        <p:origin x="1536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 descr="25%"/>
          <p:cNvSpPr>
            <a:spLocks noGrp="1" noChangeArrowheads="1"/>
          </p:cNvSpPr>
          <p:nvPr>
            <p:ph type="hdr" sz="quarter"/>
          </p:nvPr>
        </p:nvSpPr>
        <p:spPr bwMode="gray">
          <a:xfrm>
            <a:off x="2" y="0"/>
            <a:ext cx="131056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t" anchorCtr="0" compatLnSpc="1">
            <a:prstTxWarp prst="textNoShape">
              <a:avLst/>
            </a:prstTxWarp>
            <a:spAutoFit/>
          </a:bodyPr>
          <a:lstStyle>
            <a:lvl1pPr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6019" name="Rectangle 3" descr="25%"/>
          <p:cNvSpPr>
            <a:spLocks noGrp="1" noChangeArrowheads="1"/>
          </p:cNvSpPr>
          <p:nvPr>
            <p:ph type="dt" sz="quarter" idx="1"/>
          </p:nvPr>
        </p:nvSpPr>
        <p:spPr bwMode="gray">
          <a:xfrm>
            <a:off x="5900091" y="0"/>
            <a:ext cx="897585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t" anchorCtr="0" compatLnSpc="1">
            <a:prstTxWarp prst="textNoShape">
              <a:avLst/>
            </a:prstTxWarp>
            <a:spAutoFit/>
          </a:bodyPr>
          <a:lstStyle>
            <a:lvl1pPr algn="r"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fld id="{EB9C613B-C2AC-4B93-9209-758731061898}" type="datetime1">
              <a:rPr lang="en-GB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86020" name="Rectangle 4" descr="25%"/>
          <p:cNvSpPr>
            <a:spLocks noGrp="1" noChangeArrowheads="1"/>
          </p:cNvSpPr>
          <p:nvPr>
            <p:ph type="ftr" sz="quarter" idx="2"/>
          </p:nvPr>
        </p:nvSpPr>
        <p:spPr bwMode="gray">
          <a:xfrm>
            <a:off x="2" y="9611922"/>
            <a:ext cx="131056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b" anchorCtr="0" compatLnSpc="1">
            <a:prstTxWarp prst="textNoShape">
              <a:avLst/>
            </a:prstTxWarp>
            <a:spAutoFit/>
          </a:bodyPr>
          <a:lstStyle>
            <a:lvl1pPr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6021" name="Rectangle 5" descr="25%"/>
          <p:cNvSpPr>
            <a:spLocks noGrp="1" noChangeArrowheads="1"/>
          </p:cNvSpPr>
          <p:nvPr>
            <p:ph type="sldNum" sz="quarter" idx="3"/>
          </p:nvPr>
        </p:nvSpPr>
        <p:spPr bwMode="gray">
          <a:xfrm>
            <a:off x="6367232" y="9611922"/>
            <a:ext cx="430444" cy="3163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none" lIns="64929" tIns="64929" rIns="64929" bIns="64929" numCol="1" anchor="b" anchorCtr="0" compatLnSpc="1">
            <a:prstTxWarp prst="textNoShape">
              <a:avLst/>
            </a:prstTxWarp>
            <a:spAutoFit/>
          </a:bodyPr>
          <a:lstStyle>
            <a:lvl1pPr algn="r" defTabSz="917934" eaLnBrk="0" hangingPunct="0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fld id="{CC44CF48-7BC2-449C-AB04-0420DAB04CA8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03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275" cy="49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>
            <a:lvl1pPr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400" y="1"/>
            <a:ext cx="2946275" cy="4959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>
            <a:lvl1pPr algn="r"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29/10/2026</a:t>
            </a:fld>
            <a:endParaRPr lang="pt-BR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8" y="744538"/>
            <a:ext cx="6615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127" y="4714994"/>
            <a:ext cx="4987424" cy="44681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Click to edit Master text styles</a:t>
            </a:r>
          </a:p>
          <a:p>
            <a:pPr lvl="1"/>
            <a:r>
              <a:rPr lang="pt-BR" noProof="0"/>
              <a:t>Second level</a:t>
            </a:r>
          </a:p>
          <a:p>
            <a:pPr lvl="2"/>
            <a:r>
              <a:rPr lang="pt-BR" noProof="0"/>
              <a:t>Third level</a:t>
            </a:r>
          </a:p>
          <a:p>
            <a:pPr lvl="3"/>
            <a:r>
              <a:rPr lang="pt-BR" noProof="0"/>
              <a:t>Fourth level</a:t>
            </a:r>
          </a:p>
          <a:p>
            <a:pPr lvl="4"/>
            <a:r>
              <a:rPr lang="pt-BR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32273"/>
            <a:ext cx="2946275" cy="495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b" anchorCtr="0" compatLnSpc="1">
            <a:prstTxWarp prst="textNoShape">
              <a:avLst/>
            </a:prstTxWarp>
          </a:bodyPr>
          <a:lstStyle>
            <a:lvl1pPr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400" y="9432273"/>
            <a:ext cx="2946275" cy="495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620" tIns="45809" rIns="91620" bIns="45809" numCol="1" anchor="b" anchorCtr="0" compatLnSpc="1">
            <a:prstTxWarp prst="textNoShape">
              <a:avLst/>
            </a:prstTxWarp>
          </a:bodyPr>
          <a:lstStyle>
            <a:lvl1pPr algn="r" defTabSz="917934" rtl="0" eaLnBrk="0" hangingPunct="0">
              <a:spcBef>
                <a:spcPct val="0"/>
              </a:spcBef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64574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29/10/2026</a:t>
            </a:fld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1870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9114A-13B5-D906-5DF5-5C6564634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D9715E-D5F6-F962-0F32-2446FD960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4BE529-D704-FC44-D00D-E2726396D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5D090-B075-9972-4705-C2572F02BAC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05428A-3FCE-5A8B-2406-5384039CC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362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92F62-AD17-DF0A-B8B2-2B63DDC6D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46DDD-003D-1A9C-727E-CFB51C889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FF5F2-209B-CB2D-10B1-2DAFB74BE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F28F0-011B-140C-DF7B-9091B0B161C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8758C-94ED-5463-AE54-A5ED240EE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00435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3A34E-43B4-3B03-8922-3875688C1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DF6DC-B85D-2E6A-0C7D-E7BCD76D0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9CD729-1D15-1449-9700-5B588CA1F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26409-D250-CE42-F0B8-B0FCD621B34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B3EB62-1972-32DD-4F5C-1272AEFDC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8110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D9F27-EE42-3F43-4FB7-8F2828C73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9A3F9C-6DBE-5B9B-D8C9-DB808A17B6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FE6FB9-F105-6202-5B55-4C2D76FC2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2716D-CDA3-A6ED-6438-C1525D4D59A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79E3EA-FA72-F03F-8CE2-D283DC0836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967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632CA-F13B-03F6-0962-915429F16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42D424-F3A0-BB8A-2B84-44DA61274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59DB1-49CE-1B0D-23C0-429B85632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BF690-A78B-DF8A-6CBF-45BE391CBBC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E81B0-85E7-FB7E-888C-0BFEAF85EA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105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208AB-7D3F-3D3B-6615-FCA15F854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269D-56A6-8338-11AD-EBE1D77EB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D3F25-BCE2-3242-8248-7BE5D12E0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245CC-3875-B6A4-BEAE-106CA8134AC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72C809-AA9D-3D5A-6B38-3EDDBE8F01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33119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CA495-C842-61AF-895D-5555BCBBA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BF8346-D6FE-261A-047C-B6221D179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7B9F79-F818-276D-5FF9-07D4197B9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16A10-0354-B6A1-2771-0D7E2107E6A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BB406-624F-EC9D-78C1-8939F7331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4827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2D00E-EE7B-7627-8443-8A45CECDF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9BB79-746A-055A-3675-04CD47E23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4D8357-62D3-C016-DF95-13D101E41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1383C-A745-F417-2213-BD38C5DD9E1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E48E5-C099-F68E-6E56-D3BC35E4C2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4118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7B71D-C2A5-4916-28D2-180F10106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4492E-F050-AA76-FCCF-084D90862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065A1-C95C-D8FE-4408-BADBA30270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7166A-3FC2-6307-AFAE-892FB7FF4F7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A2FAA-201B-A2B2-D822-E5DCE0312E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37644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D31C-803F-F9B9-B5E9-BA6DB75C2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970FB5-C7AD-94A2-042E-BA017BFF13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6A8F88-63D9-554F-B3CF-33EF5F2BC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6E908-FF49-D730-FBBE-EF71C18DC7C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3F2C21-2879-5046-3307-698A98F62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58675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501F1-D8D3-60D6-4C28-A43C26963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4D5F75-9F10-5D7E-C9FD-BCF296882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4109E1-AE13-842A-272D-5E836F0C8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1EF82-6AEA-EA19-1654-1F7577D76415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0ECEF3-EE5D-8FDB-7EAD-BFB32A75FB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5411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02174-F7FD-27A9-AC06-D49CD551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99E63B-3DF6-150D-2CC1-2998897A56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71238-F243-7843-5BA8-08C328D96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E1F48-8E51-B864-30AB-52009DA8DE8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887D3-326F-7165-A163-B1DA281ABB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1183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8A44F-9A61-A229-9F2B-59E37FFCE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842AC-AF36-B80C-108C-01598FDB51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420200-2D33-756F-48AC-AB0494BC4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16444-165D-457A-0E1C-75D218A8BCB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265CA9-2E8E-1371-7608-BB5D5C430C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85270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C6FC0-10A6-3839-73DD-F367F1FE3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CAEBB0-91ED-1DBD-76B8-7462EA30D5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F3E2CE-B22A-0BC6-3BCB-1AC4A3614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AFA5A-B5A1-9A0E-07E5-1E2CCB306D0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DBF76E-AEDA-20CC-FF1F-F36F68E9F8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0383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3B223-889D-6F7D-C908-D3EB4EAF1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C31B99-F5A3-519D-4BF8-87F152465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FED48-1D14-8D66-94D2-9E9079AE9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F3E7C-E4E0-9039-FCE8-3A54AA8D83B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DD5E1A-4AE7-E478-6F92-820E71766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5909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0CE72-D49A-40FF-4A6C-D9F85B13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2C0547-CF6C-CAB6-16B5-6BE181933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E07A3B-F728-0788-D869-212BEB26BC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F85B6-2BDB-B1F7-D4B0-CDBE726BC1F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198CBE-C130-66AA-9B69-02CBBD76F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76863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E9792-8D75-0DE3-063C-9D40BBBC7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815179-3938-BFCD-0A1E-60D740B01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8D2A4-716C-4CA2-9A9D-329BA8BBC1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28E10-88C3-60AF-71C9-955ECE98D2B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CBBFC5-13B7-B32D-9F72-354DB0335C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9533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50083-1BAC-255E-B168-F8674B871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63F9DE-ED05-0890-B2FC-F400AE629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CC0C97-B6C7-C484-B205-1C8CDA809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199CC-CE46-A4AA-3759-C59C9EBE35B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5FD1E5-5978-9928-0FFA-A741EACA1D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87924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37549-7574-D255-12B9-6790160DB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807913-82DA-D87C-0331-073A9F64B8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C09FE8-3045-B89F-0316-A6FFA846D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4A675-A6C0-8D78-B822-01CB8525528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6C8772-E28B-70A9-AD96-5C10258BB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94757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pt-BR" smtClean="0"/>
              <a:pPr>
                <a:defRPr/>
              </a:pPr>
              <a:t>29/10/2026</a:t>
            </a:fld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pt-BR" smtClean="0"/>
              <a:pPr>
                <a:defRPr/>
              </a:pPr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63170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5803-BB05-1F21-F1B0-C31C6445B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4B407F-6357-1059-9B49-50B41F7BF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D2CB9D-F09E-7BC1-4BA6-9A0618369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E5FDB-D525-88CE-E280-11E85BDBB22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41631A-C3F4-BC47-2F20-82055F6F2A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02239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1E037-D9F3-7DED-5267-41098A12B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EA715A-56C8-BEB3-E914-B3A26031E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7104D-5F25-04FE-DB49-9630F9C88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58560-5912-3A71-8E23-36AFA67C8BF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184785-EF4A-5F7E-CA44-84D21C2E4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1931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B91AB-469F-9119-A29A-C84B1CA1B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31A21A-6AB0-91CC-7D54-C98A62C900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2204E-4FA9-2FDA-8704-9872F58A5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A1375-3E7E-B9B1-374F-EE955945AF4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F7484C-1811-0DE4-0D74-85AEC24716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2717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936EA-355C-6870-F2BD-2F63E95CC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178D0C-90D1-DAD0-5C14-C6C9A895D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766E6C-7215-A905-25C6-64AB66241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B22B0-7B1E-9117-3DA7-8AABE343DF9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9FB670-7507-823B-01C8-A8A5B7825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92748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2E884-8AEE-33C4-1D54-344E616C5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67C82A-C5D9-486B-C3B1-580B4CF7D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2C6B2-96A8-4034-27D6-D9BE2DA43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3820D-F4AE-031A-78BB-A873D1AD5DA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2B9097-086B-2D06-79A8-797D8E96EA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53067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E675C-E3C6-D11D-3CCD-05848EB7D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402133-303F-41E6-BDC5-8B92ADB6B5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C09E5C-153E-B0A5-3B3F-C319CFD95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2CB55-EB38-7E89-EA1B-2657C2238AB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CA9AD-0153-F1FA-99CD-83FDDFA67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04878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96E814E2-8041-4BCD-9784-6C581B3F7FF4}" type="datetime1">
              <a:rPr lang="en-GB" smtClean="0"/>
              <a:pPr>
                <a:defRPr/>
              </a:pPr>
              <a:t>29/10/2026</a:t>
            </a:fld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6F8E852-EE93-444B-A572-6051D872401A}" type="slidenum">
              <a:rPr lang="en-GB" smtClean="0"/>
              <a:pPr>
                <a:defRPr/>
              </a:pPr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3215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5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7.png"/><Relationship Id="rId4" Type="http://schemas.openxmlformats.org/officeDocument/2006/relationships/image" Target="../media/image4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E2AFA85-CD3B-4A60-90C6-683E330E63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76845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9" imgH="408" progId="TCLayout.ActiveDocument.1">
                  <p:embed/>
                </p:oleObj>
              </mc:Choice>
              <mc:Fallback>
                <p:oleObj name="think-cell Slide" r:id="rId3" imgW="409" imgH="4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2AFA85-CD3B-4A60-90C6-683E330E63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m 3" descr="Forma&#10;&#10;Descrição gerada automaticamente com confiança baixa">
            <a:extLst>
              <a:ext uri="{FF2B5EF4-FFF2-40B4-BE49-F238E27FC236}">
                <a16:creationId xmlns:a16="http://schemas.microsoft.com/office/drawing/2014/main" id="{386D1CD6-AAC4-42BD-A7FC-DEA23142713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90D9455-E3D5-1C00-860A-D30ACA99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C739437-95D8-4953-D574-E4C307DF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12">
            <a:extLst>
              <a:ext uri="{FF2B5EF4-FFF2-40B4-BE49-F238E27FC236}">
                <a16:creationId xmlns:a16="http://schemas.microsoft.com/office/drawing/2014/main" id="{ACCBF48C-2F61-D370-1C40-4A1A301325ED}"/>
              </a:ext>
            </a:extLst>
          </p:cNvPr>
          <p:cNvSpPr txBox="1"/>
          <p:nvPr userDrawn="1"/>
        </p:nvSpPr>
        <p:spPr>
          <a:xfrm>
            <a:off x="344905" y="371979"/>
            <a:ext cx="48527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>
                <a:solidFill>
                  <a:schemeClr val="accent4"/>
                </a:solidFill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79480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777789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5">
            <a:extLst>
              <a:ext uri="{FF2B5EF4-FFF2-40B4-BE49-F238E27FC236}">
                <a16:creationId xmlns:a16="http://schemas.microsoft.com/office/drawing/2014/main" id="{41D98FFC-276B-DC45-4A69-D0A394BD9E90}"/>
              </a:ext>
            </a:extLst>
          </p:cNvPr>
          <p:cNvSpPr/>
          <p:nvPr userDrawn="1"/>
        </p:nvSpPr>
        <p:spPr>
          <a:xfrm>
            <a:off x="0" y="3427201"/>
            <a:ext cx="12192000" cy="3430799"/>
          </a:xfrm>
          <a:prstGeom prst="rect">
            <a:avLst/>
          </a:prstGeom>
          <a:solidFill>
            <a:srgbClr val="6327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itel 5">
            <a:extLst>
              <a:ext uri="{FF2B5EF4-FFF2-40B4-BE49-F238E27FC236}">
                <a16:creationId xmlns:a16="http://schemas.microsoft.com/office/drawing/2014/main" id="{D3C7A5FA-E151-75CE-ECDF-6343E386E8B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85633" y="2156514"/>
            <a:ext cx="4642768" cy="1122948"/>
          </a:xfrm>
        </p:spPr>
        <p:txBody>
          <a:bodyPr vert="horz" lIns="0" tIns="0" rIns="0" bIns="0"/>
          <a:lstStyle>
            <a:lvl1pPr rtl="0">
              <a:defRPr sz="28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16" name="Textplatzhalter 6">
            <a:extLst>
              <a:ext uri="{FF2B5EF4-FFF2-40B4-BE49-F238E27FC236}">
                <a16:creationId xmlns:a16="http://schemas.microsoft.com/office/drawing/2014/main" id="{E6BCCC3E-2FA0-4737-DBF8-CB0B0F5B3F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85632" y="3533876"/>
            <a:ext cx="4642767" cy="276999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13938B3-F822-3B6D-C11D-A155E19CB5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85632" y="4324234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8" name="Textplatzhalter 8">
            <a:extLst>
              <a:ext uri="{FF2B5EF4-FFF2-40B4-BE49-F238E27FC236}">
                <a16:creationId xmlns:a16="http://schemas.microsoft.com/office/drawing/2014/main" id="{DA1E3E98-0932-E0D1-ED6B-F5E915442E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5632" y="4637218"/>
            <a:ext cx="3380763" cy="178898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168271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DE53C"/>
          </p15:clr>
        </p15:guide>
        <p15:guide id="2" pos="438" userDrawn="1">
          <p15:clr>
            <a:srgbClr val="A4A3A4"/>
          </p15:clr>
        </p15:guide>
        <p15:guide id="3" pos="7355" userDrawn="1">
          <p15:clr>
            <a:srgbClr val="A4A3A4"/>
          </p15:clr>
        </p15:guide>
        <p15:guide id="4" orient="horz" pos="3952" userDrawn="1">
          <p15:clr>
            <a:srgbClr val="A4A3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3349587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9999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pt-BR" noProof="0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1" y="333130"/>
            <a:ext cx="11519999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 noProof="0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3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23" name="Espaço Reservado para Texto 21">
            <a:extLst>
              <a:ext uri="{FF2B5EF4-FFF2-40B4-BE49-F238E27FC236}">
                <a16:creationId xmlns:a16="http://schemas.microsoft.com/office/drawing/2014/main" id="{A221802B-CB4D-84DD-14E6-1007D78849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78081" y="1200150"/>
            <a:ext cx="5683240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34" name="Espaço Reservado para Texto 30">
            <a:extLst>
              <a:ext uri="{FF2B5EF4-FFF2-40B4-BE49-F238E27FC236}">
                <a16:creationId xmlns:a16="http://schemas.microsoft.com/office/drawing/2014/main" id="{ED1E9F58-F504-11A1-E312-FD07F2CDEB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35" name="Espaço Reservado para Conteúdo 32">
            <a:extLst>
              <a:ext uri="{FF2B5EF4-FFF2-40B4-BE49-F238E27FC236}">
                <a16:creationId xmlns:a16="http://schemas.microsoft.com/office/drawing/2014/main" id="{DFC69DB4-86B3-D581-B273-C261981F904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994DECD7-0FD8-ADD8-0259-DE86DFAD242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sz="600">
                <a:latin typeface="+mn-lt"/>
              </a:defRPr>
            </a:lvl1pPr>
          </a:lstStyle>
          <a:p>
            <a:pPr>
              <a:defRPr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793635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 userDrawn="1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_Analy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6759934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pt-BR" noProof="0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 noProof="0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B47B375-DF03-14ED-9411-4D61610541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388805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sz="600">
                <a:latin typeface="+mn-lt"/>
              </a:defRPr>
            </a:lvl1pPr>
          </a:lstStyle>
          <a:p>
            <a:pPr>
              <a:defRPr/>
            </a:pPr>
            <a:r>
              <a:rPr lang="pt-BR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66463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486568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4499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White_Analy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>
            <a:extLst>
              <a:ext uri="{FF2B5EF4-FFF2-40B4-BE49-F238E27FC236}">
                <a16:creationId xmlns:a16="http://schemas.microsoft.com/office/drawing/2014/main" id="{5386046F-E65D-43F2-B183-1DEA970D14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02481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Objeto 1" hidden="1">
                        <a:extLst>
                          <a:ext uri="{FF2B5EF4-FFF2-40B4-BE49-F238E27FC236}">
                            <a16:creationId xmlns:a16="http://schemas.microsoft.com/office/drawing/2014/main" id="{5386046F-E65D-43F2-B183-1DEA970D14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m 4">
            <a:extLst>
              <a:ext uri="{FF2B5EF4-FFF2-40B4-BE49-F238E27FC236}">
                <a16:creationId xmlns:a16="http://schemas.microsoft.com/office/drawing/2014/main" id="{9292448E-F500-76A8-72BE-50A5D19ACEA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96834" y="5591462"/>
            <a:ext cx="2731786" cy="68161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37F67F0-14F9-FB6A-B10A-89E832C05F99}"/>
              </a:ext>
            </a:extLst>
          </p:cNvPr>
          <p:cNvSpPr/>
          <p:nvPr userDrawn="1"/>
        </p:nvSpPr>
        <p:spPr>
          <a:xfrm>
            <a:off x="9970323" y="6062079"/>
            <a:ext cx="1393129" cy="16884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rtl="0"/>
            <a:r>
              <a:rPr lang="pt-BR" b="1">
                <a:solidFill>
                  <a:srgbClr val="63277F"/>
                </a:solidFill>
              </a:rPr>
              <a:t>Uncovering insights</a:t>
            </a:r>
          </a:p>
        </p:txBody>
      </p:sp>
    </p:spTree>
    <p:extLst>
      <p:ext uri="{BB962C8B-B14F-4D97-AF65-F5344CB8AC3E}">
        <p14:creationId xmlns:p14="http://schemas.microsoft.com/office/powerpoint/2010/main" val="3555499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" userDrawn="1">
          <p15:clr>
            <a:srgbClr val="A4A3A4"/>
          </p15:clr>
        </p15:guide>
        <p15:guide id="2" orient="horz" pos="3952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Color_Analytics">
    <p:bg>
      <p:bgPr>
        <a:solidFill>
          <a:srgbClr val="6327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B95AFD00-30E2-C40F-B373-0F94E8D5658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458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B95AFD00-30E2-C40F-B373-0F94E8D565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187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 userDrawn="1">
          <p15:clr>
            <a:srgbClr val="A4A3A4"/>
          </p15:clr>
        </p15:guide>
        <p15:guide id="2" pos="438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_A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486568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4B78D9CC-F107-5707-91AD-6EAE4C32CD1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629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ingle_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2278710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Imagem 89" descr="Forma, Círculo&#10;&#10;Descrição gerada automaticamente">
            <a:extLst>
              <a:ext uri="{FF2B5EF4-FFF2-40B4-BE49-F238E27FC236}">
                <a16:creationId xmlns:a16="http://schemas.microsoft.com/office/drawing/2014/main" id="{60CE1164-AB42-D6ED-E2A3-21C1B1F24D8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endParaRPr lang="pt-BR" noProof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endParaRPr lang="pt-BR" noProof="0">
              <a:solidFill>
                <a:srgbClr val="63277F"/>
              </a:solidFill>
            </a:endParaRP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endParaRPr lang="pt-BR" noProof="0">
              <a:solidFill>
                <a:srgbClr val="808080"/>
              </a:solidFill>
            </a:endParaRP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 noProof="0"/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endParaRPr lang="pt-BR" noProof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1B89CB9-9E6F-E7E5-D4F4-8B1C1AEA013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460247" y="6411964"/>
            <a:ext cx="774251" cy="923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r" rtl="0" eaLnBrk="0" hangingPunct="0">
              <a:spcBef>
                <a:spcPct val="50000"/>
              </a:spcBef>
              <a:defRPr sz="600">
                <a:latin typeface="+mn-lt"/>
              </a:defRPr>
            </a:lvl1pPr>
          </a:lstStyle>
          <a:p>
            <a:pPr>
              <a:defRPr/>
            </a:pPr>
            <a:r>
              <a:rPr lang="pt-BR" noProof="0"/>
              <a:t>Template_Widescreen</a:t>
            </a:r>
          </a:p>
        </p:txBody>
      </p:sp>
    </p:spTree>
    <p:extLst>
      <p:ext uri="{BB962C8B-B14F-4D97-AF65-F5344CB8AC3E}">
        <p14:creationId xmlns:p14="http://schemas.microsoft.com/office/powerpoint/2010/main" val="3859485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6FA5C-3B60-E820-0097-32643AE0CB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8847BD-ED7F-14E4-F133-53E74BB833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D48BC6-834B-353E-A2AE-4764BA127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99A45-0693-4E08-8AE4-0362204955FE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B710CE-25D3-42E2-477B-A3293F5C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DF0DCF-A51F-DD3B-8315-216028D6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06FA-AAEB-4883-ABC4-766D94449B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6487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_Consul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EC72729-FD87-43C9-82B8-31DE102923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1891306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EC72729-FD87-43C9-82B8-31DE102923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F6ABA536-E507-40AA-B558-18C31ECA5B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22" y="587229"/>
            <a:ext cx="11515715" cy="543487"/>
          </a:xfrm>
        </p:spPr>
        <p:txBody>
          <a:bodyPr vert="horz">
            <a:noAutofit/>
          </a:bodyPr>
          <a:lstStyle>
            <a:lvl1pPr rtl="0">
              <a:defRPr/>
            </a:lvl1pPr>
          </a:lstStyle>
          <a:p>
            <a:r>
              <a:rPr lang="pt-BR" noProof="0"/>
              <a:t>Clique para editar o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403BD98-54B5-45B0-579D-DB6719DB8A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22" y="333130"/>
            <a:ext cx="11515716" cy="184666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>
                <a:solidFill>
                  <a:srgbClr val="63277F"/>
                </a:solidFill>
              </a:defRPr>
            </a:lvl1pPr>
          </a:lstStyle>
          <a:p>
            <a:pPr lvl="0"/>
            <a:r>
              <a:rPr lang="pt-BR" noProof="0">
                <a:solidFill>
                  <a:srgbClr val="63277F"/>
                </a:solidFill>
              </a:rPr>
              <a:t>Clique para editar os estilos de texto Mestres</a:t>
            </a:r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E99BB7AD-16A0-9F36-2260-DEE43D4C92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322" y="1200150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/>
            </a:pPr>
            <a:r>
              <a:rPr lang="pt-BR" noProof="0">
                <a:solidFill>
                  <a:srgbClr val="808080"/>
                </a:solidFill>
              </a:rPr>
              <a:t>Clique para editar os estilos de texto Mestres</a:t>
            </a:r>
          </a:p>
        </p:txBody>
      </p:sp>
      <p:sp>
        <p:nvSpPr>
          <p:cNvPr id="8" name="Espaço Reservado para Texto 30">
            <a:extLst>
              <a:ext uri="{FF2B5EF4-FFF2-40B4-BE49-F238E27FC236}">
                <a16:creationId xmlns:a16="http://schemas.microsoft.com/office/drawing/2014/main" id="{9E9EE099-57C9-4274-7F29-D9B9CE675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999" y="6425182"/>
            <a:ext cx="5688564" cy="92334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  <p:sp>
        <p:nvSpPr>
          <p:cNvPr id="10" name="Espaço Reservado para Conteúdo 32">
            <a:extLst>
              <a:ext uri="{FF2B5EF4-FFF2-40B4-BE49-F238E27FC236}">
                <a16:creationId xmlns:a16="http://schemas.microsoft.com/office/drawing/2014/main" id="{A8DBD535-1D8D-73E9-B092-F84148C97F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5999" y="6294584"/>
            <a:ext cx="5688564" cy="92333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 rtl="0">
              <a:buNone/>
              <a:defRPr sz="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pt-BR" noProof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556003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DE53C"/>
          </p15:clr>
        </p15:guide>
        <p15:guide id="2" pos="3795">
          <p15:clr>
            <a:srgbClr val="A4A3A4"/>
          </p15:clr>
        </p15:guide>
        <p15:guide id="3" pos="3885">
          <p15:clr>
            <a:srgbClr val="A4A3A4"/>
          </p15:clr>
        </p15:guide>
        <p15:guide id="4" pos="211">
          <p15:clr>
            <a:srgbClr val="A4A3A4"/>
          </p15:clr>
        </p15:guide>
        <p15:guide id="5" pos="166">
          <p15:clr>
            <a:srgbClr val="FDE53C"/>
          </p15:clr>
        </p15:guide>
        <p15:guide id="6" pos="7469">
          <p15:clr>
            <a:srgbClr val="A4A3A4"/>
          </p15:clr>
        </p15:guide>
        <p15:guide id="7" pos="7514">
          <p15:clr>
            <a:srgbClr val="FDE53C"/>
          </p15:clr>
        </p15:guide>
        <p15:guide id="8" orient="horz" pos="1026">
          <p15:clr>
            <a:srgbClr val="FDE53C"/>
          </p15:clr>
        </p15:guide>
        <p15:guide id="9" orient="horz" pos="1071">
          <p15:clr>
            <a:srgbClr val="A4A3A4"/>
          </p15:clr>
        </p15:guide>
        <p15:guide id="10" orient="horz" pos="3906">
          <p15:clr>
            <a:srgbClr val="FDE53C"/>
          </p15:clr>
        </p15:guide>
        <p15:guide id="11" orient="horz" pos="3861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062413173"/>
              </p:ext>
            </p:ext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360" imgH="360" progId="TCLayout.ActiveDocument.1">
                  <p:embed/>
                </p:oleObj>
              </mc:Choice>
              <mc:Fallback>
                <p:oleObj name="think-cell Slide" r:id="rId14" imgW="360" imgH="36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9999" cy="5434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</a:t>
            </a:r>
            <a:r>
              <a:rPr lang="pt-BR" noProof="0" err="1"/>
              <a:t>title</a:t>
            </a:r>
            <a:endParaRPr lang="pt-BR" noProof="0"/>
          </a:p>
        </p:txBody>
      </p:sp>
      <p:sp>
        <p:nvSpPr>
          <p:cNvPr id="17" name="Rectangle 4"/>
          <p:cNvSpPr>
            <a:spLocks noChangeArrowheads="1"/>
          </p:cNvSpPr>
          <p:nvPr userDrawn="1"/>
        </p:nvSpPr>
        <p:spPr bwMode="gray">
          <a:xfrm>
            <a:off x="11708490" y="6583842"/>
            <a:ext cx="142668" cy="1077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lvl="0" algn="r" rtl="0"/>
            <a:fld id="{BD9E6411-2CB3-495D-B4E9-78602717BE5F}" type="slidenum">
              <a:rPr lang="pt-BR" sz="700" noProof="0" smtClean="0">
                <a:solidFill>
                  <a:srgbClr val="808080"/>
                </a:solidFill>
                <a:latin typeface="Arial"/>
                <a:cs typeface="Arial"/>
              </a:rPr>
              <a:pPr lvl="0" algn="r" rtl="0"/>
              <a:t>‹nº›</a:t>
            </a:fld>
            <a:endParaRPr lang="pt-BR" sz="700" noProof="0">
              <a:solidFill>
                <a:srgbClr val="808080"/>
              </a:solidFill>
              <a:latin typeface="Arial"/>
              <a:cs typeface="Arial"/>
            </a:endParaRPr>
          </a:p>
        </p:txBody>
      </p:sp>
      <p:grpSp>
        <p:nvGrpSpPr>
          <p:cNvPr id="19" name="OCC-Grid" hidden="1"/>
          <p:cNvGrpSpPr>
            <a:grpSpLocks/>
          </p:cNvGrpSpPr>
          <p:nvPr userDrawn="1"/>
        </p:nvGrpSpPr>
        <p:grpSpPr bwMode="auto">
          <a:xfrm>
            <a:off x="443078" y="1231"/>
            <a:ext cx="12319001" cy="6064256"/>
            <a:chOff x="258" y="165"/>
            <a:chExt cx="6305" cy="3820"/>
          </a:xfrm>
        </p:grpSpPr>
        <p:sp>
          <p:nvSpPr>
            <p:cNvPr id="20" name="Rectangle 46" hidden="1"/>
            <p:cNvSpPr>
              <a:spLocks noChangeArrowheads="1"/>
            </p:cNvSpPr>
            <p:nvPr/>
          </p:nvSpPr>
          <p:spPr bwMode="auto">
            <a:xfrm>
              <a:off x="6345" y="165"/>
              <a:ext cx="218" cy="15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36000" tIns="36000" rIns="36000" bIns="36000" anchor="ctr"/>
            <a:lstStyle/>
            <a:p>
              <a:pPr rtl="0" eaLnBrk="1">
                <a:defRPr/>
              </a:pPr>
              <a:endParaRPr lang="pt-BR" sz="1000"/>
            </a:p>
          </p:txBody>
        </p:sp>
        <p:sp>
          <p:nvSpPr>
            <p:cNvPr id="21" name="Rectangle 47" hidden="1"/>
            <p:cNvSpPr>
              <a:spLocks noChangeArrowheads="1"/>
            </p:cNvSpPr>
            <p:nvPr/>
          </p:nvSpPr>
          <p:spPr bwMode="auto">
            <a:xfrm>
              <a:off x="258" y="1094"/>
              <a:ext cx="5896" cy="2891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rtl="0" eaLnBrk="1">
                <a:defRPr/>
              </a:pPr>
              <a:endParaRPr lang="pt-BR" sz="1000"/>
            </a:p>
          </p:txBody>
        </p:sp>
      </p:grpSp>
      <p:cxnSp>
        <p:nvCxnSpPr>
          <p:cNvPr id="6" name="Gerader Verbinder 5"/>
          <p:cNvCxnSpPr>
            <a:cxnSpLocks/>
          </p:cNvCxnSpPr>
          <p:nvPr userDrawn="1"/>
        </p:nvCxnSpPr>
        <p:spPr>
          <a:xfrm>
            <a:off x="341322" y="218114"/>
            <a:ext cx="11509356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r Verbinder 29"/>
          <p:cNvCxnSpPr>
            <a:cxnSpLocks/>
          </p:cNvCxnSpPr>
          <p:nvPr userDrawn="1"/>
        </p:nvCxnSpPr>
        <p:spPr>
          <a:xfrm>
            <a:off x="336000" y="6535024"/>
            <a:ext cx="11520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ource"/>
          <p:cNvSpPr/>
          <p:nvPr userDrawn="1"/>
        </p:nvSpPr>
        <p:spPr>
          <a:xfrm>
            <a:off x="11633695" y="6420934"/>
            <a:ext cx="227626" cy="9233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gradFill flip="none" rotWithShape="1">
                  <a:gsLst>
                    <a:gs pos="0">
                      <a:srgbClr val="000000"/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  <a:tileRect/>
                </a:gra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rtl="0"/>
            <a:r>
              <a:rPr lang="pt-BR" sz="600" noProof="0">
                <a:solidFill>
                  <a:srgbClr val="000000"/>
                </a:solidFill>
                <a:latin typeface="Bradley Hand ITC" panose="03070402050302030203" pitchFamily="66" charset="0"/>
                <a:cs typeface="Arial" panose="020B0604020202020204" pitchFamily="34" charset="0"/>
              </a:rPr>
              <a:t>| ATY </a:t>
            </a:r>
          </a:p>
        </p:txBody>
      </p:sp>
    </p:spTree>
    <p:extLst>
      <p:ext uri="{BB962C8B-B14F-4D97-AF65-F5344CB8AC3E}">
        <p14:creationId xmlns:p14="http://schemas.microsoft.com/office/powerpoint/2010/main" val="711977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0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808" r:id="rId8"/>
    <p:sldLayoutId id="2147483810" r:id="rId9"/>
    <p:sldLayoutId id="2147483819" r:id="rId10"/>
    <p:sldLayoutId id="2147483820" r:id="rId11"/>
  </p:sldLayoutIdLst>
  <p:hf sldNum="0" hdr="0" dt="0"/>
  <p:txStyles>
    <p:titleStyle>
      <a:lvl1pPr algn="l" defTabSz="457224" rtl="0" eaLnBrk="1" latinLnBrk="0" hangingPunct="1">
        <a:lnSpc>
          <a:spcPct val="90000"/>
        </a:lnSpc>
        <a:spcBef>
          <a:spcPct val="0"/>
        </a:spcBef>
        <a:buNone/>
        <a:defRPr sz="2000" b="1" i="0" kern="1200" baseline="0">
          <a:solidFill>
            <a:schemeClr val="tx1"/>
          </a:solidFill>
          <a:latin typeface="Arial"/>
          <a:ea typeface="+mj-ea"/>
          <a:cs typeface="Arial"/>
        </a:defRPr>
      </a:lvl1pPr>
    </p:titleStyle>
    <p:bodyStyle>
      <a:lvl1pPr marL="0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anose="05020102010507070707" pitchFamily="18" charset="2"/>
        <a:buChar char=""/>
        <a:tabLst/>
        <a:defRPr lang="nl-NL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7808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Arial" charset="0"/>
        <a:buChar char="–"/>
        <a:tabLst/>
        <a:defRPr lang="nl-NL" sz="14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363556" marR="0" indent="177808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>
          <a:srgbClr val="009796"/>
        </a:buClr>
        <a:buSzTx/>
        <a:buFont typeface="Wingdings 2" pitchFamily="18" charset="2"/>
        <a:buChar char=""/>
        <a:tabLst/>
        <a:defRPr lang="nl-NL" sz="1400" kern="1200" dirty="0" smtClean="0">
          <a:solidFill>
            <a:schemeClr val="tx1"/>
          </a:solidFill>
          <a:latin typeface="+mn-lt"/>
          <a:ea typeface="+mn-ea"/>
          <a:cs typeface="Arial"/>
        </a:defRPr>
      </a:lvl3pPr>
      <a:lvl4pPr marL="0" marR="0" indent="-171459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Wingdings" pitchFamily="2" charset="2"/>
        <a:buChar char="w"/>
        <a:tabLst/>
        <a:defRPr lang="nl-NL" sz="1400" kern="1200" dirty="0">
          <a:solidFill>
            <a:schemeClr val="tx1"/>
          </a:solidFill>
          <a:latin typeface="+mn-lt"/>
          <a:ea typeface="+mn-ea"/>
          <a:cs typeface="Arial"/>
        </a:defRPr>
      </a:lvl4pPr>
      <a:lvl5pPr marL="0" marR="0" indent="-185746" algn="l" defTabSz="914446" rtl="0" eaLnBrk="1" fontAlgn="base" latinLnBrk="0" hangingPunct="1">
        <a:lnSpc>
          <a:spcPct val="100000"/>
        </a:lnSpc>
        <a:spcBef>
          <a:spcPts val="0"/>
        </a:spcBef>
        <a:spcAft>
          <a:spcPct val="0"/>
        </a:spcAft>
        <a:buClrTx/>
        <a:buSzTx/>
        <a:buFont typeface="Arial" charset="0"/>
        <a:buChar char="○"/>
        <a:tabLst/>
        <a:defRPr lang="nl-NL" sz="1400" kern="1200" dirty="0">
          <a:solidFill>
            <a:schemeClr val="tx1"/>
          </a:solidFill>
          <a:latin typeface="+mn-lt"/>
          <a:ea typeface="+mn-ea"/>
          <a:cs typeface="Arial"/>
        </a:defRPr>
      </a:lvl5pPr>
      <a:lvl6pPr marL="2514726" marR="0" indent="-228612" algn="l" defTabSz="457224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 typeface="Arial"/>
        <a:buChar char="•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2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2" algn="l" defTabSz="45722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4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2" algn="l" defTabSz="4572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slideLayout" Target="../slideLayouts/slideLayout10.xml"/><Relationship Id="rId18" Type="http://schemas.openxmlformats.org/officeDocument/2006/relationships/image" Target="../media/image10.png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17" Type="http://schemas.openxmlformats.org/officeDocument/2006/relationships/image" Target="../media/image9.png"/><Relationship Id="rId2" Type="http://schemas.openxmlformats.org/officeDocument/2006/relationships/tags" Target="../tags/tag14.xml"/><Relationship Id="rId16" Type="http://schemas.openxmlformats.org/officeDocument/2006/relationships/image" Target="../media/image8.emf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5" Type="http://schemas.openxmlformats.org/officeDocument/2006/relationships/tags" Target="../tags/tag17.xml"/><Relationship Id="rId15" Type="http://schemas.openxmlformats.org/officeDocument/2006/relationships/oleObject" Target="../embeddings/oleObject11.bin"/><Relationship Id="rId10" Type="http://schemas.openxmlformats.org/officeDocument/2006/relationships/tags" Target="../tags/tag22.xml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7" Type="http://schemas.openxmlformats.org/officeDocument/2006/relationships/image" Target="../media/image12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11.png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9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0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image" Target="../media/image13.emf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oleObject" Target="../embeddings/oleObject12.bin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notesSlide" Target="../notesSlides/notesSlide4.xml"/><Relationship Id="rId5" Type="http://schemas.openxmlformats.org/officeDocument/2006/relationships/tags" Target="../tags/tag35.xml"/><Relationship Id="rId10" Type="http://schemas.openxmlformats.org/officeDocument/2006/relationships/slideLayout" Target="../slideLayouts/slideLayout11.xml"/><Relationship Id="rId4" Type="http://schemas.openxmlformats.org/officeDocument/2006/relationships/tags" Target="../tags/tag34.xml"/><Relationship Id="rId9" Type="http://schemas.openxmlformats.org/officeDocument/2006/relationships/tags" Target="../tags/tag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0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1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2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3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4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5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6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7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8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9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0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1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2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3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4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5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.xml"/><Relationship Id="rId3" Type="http://schemas.openxmlformats.org/officeDocument/2006/relationships/tags" Target="../tags/tag58.xml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10.png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image" Target="../media/image9.png"/><Relationship Id="rId5" Type="http://schemas.openxmlformats.org/officeDocument/2006/relationships/tags" Target="../tags/tag60.xml"/><Relationship Id="rId10" Type="http://schemas.openxmlformats.org/officeDocument/2006/relationships/image" Target="../media/image8.emf"/><Relationship Id="rId4" Type="http://schemas.openxmlformats.org/officeDocument/2006/relationships/tags" Target="../tags/tag59.xml"/><Relationship Id="rId9" Type="http://schemas.openxmlformats.org/officeDocument/2006/relationships/oleObject" Target="../embeddings/oleObject13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2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3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4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5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6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7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68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143A159C-63E7-30DD-64D6-0CED822CD3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728829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21" imgH="423" progId="TCLayout.ActiveDocument.1">
                  <p:embed/>
                </p:oleObj>
              </mc:Choice>
              <mc:Fallback>
                <p:oleObj name="think-cell Slide" r:id="rId15" imgW="421" imgH="423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143A159C-63E7-30DD-64D6-0CED822CD3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Imagem 13" descr="Padrão do plano de fundo&#10;&#10;Descrição gerada automaticamente">
            <a:extLst>
              <a:ext uri="{FF2B5EF4-FFF2-40B4-BE49-F238E27FC236}">
                <a16:creationId xmlns:a16="http://schemas.microsoft.com/office/drawing/2014/main" id="{89F41087-4073-577E-F290-6A788287E16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CaixaDeTexto 11">
            <a:extLst>
              <a:ext uri="{FF2B5EF4-FFF2-40B4-BE49-F238E27FC236}">
                <a16:creationId xmlns:a16="http://schemas.microsoft.com/office/drawing/2014/main" id="{E029C937-7021-5B1F-825C-CDAB217DB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28263" y="3699455"/>
            <a:ext cx="1446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noProof="1">
                <a:solidFill>
                  <a:schemeClr val="bg1"/>
                </a:solidFill>
              </a:rPr>
              <a:t>Setembro de 2026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59AFCA5-30B8-C566-FCFE-446CE57B6201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pt-BR" noProof="1"/>
          </a:p>
        </p:txBody>
      </p:sp>
      <p:sp>
        <p:nvSpPr>
          <p:cNvPr id="9" name="Título 3">
            <a:extLst>
              <a:ext uri="{FF2B5EF4-FFF2-40B4-BE49-F238E27FC236}">
                <a16:creationId xmlns:a16="http://schemas.microsoft.com/office/drawing/2014/main" id="{53819B30-2220-92E2-A29C-D0F965AF447B}"/>
              </a:ext>
            </a:extLst>
          </p:cNvPr>
          <p:cNvSpPr>
            <a:spLocks noGrp="1"/>
          </p:cNvSpPr>
          <p:nvPr>
            <p:ph type="ctrTitle"/>
            <p:custDataLst>
              <p:tags r:id="rId5"/>
            </p:custDataLst>
          </p:nvPr>
        </p:nvSpPr>
        <p:spPr>
          <a:xfrm>
            <a:off x="428263" y="2185331"/>
            <a:ext cx="5899385" cy="1122948"/>
          </a:xfrm>
        </p:spPr>
        <p:txBody>
          <a:bodyPr vert="horz" anchor="ctr"/>
          <a:lstStyle/>
          <a:p>
            <a:pPr algn="l" fontAlgn="auto">
              <a:spcAft>
                <a:spcPts val="600"/>
              </a:spcAft>
            </a:pPr>
            <a:r>
              <a:rPr lang="pt-BR" sz="3600" i="1" noProof="1">
                <a:solidFill>
                  <a:schemeClr val="bg1"/>
                </a:solidFill>
              </a:rPr>
              <a:t>DMS – Rota 2030</a:t>
            </a:r>
            <a:br>
              <a:rPr lang="pt-BR" sz="3600" i="1" noProof="1">
                <a:solidFill>
                  <a:schemeClr val="bg1"/>
                </a:solidFill>
              </a:rPr>
            </a:br>
            <a:endParaRPr lang="pt-BR" sz="2000" i="1" noProof="1">
              <a:solidFill>
                <a:schemeClr val="bg1"/>
              </a:solidFill>
            </a:endParaRPr>
          </a:p>
        </p:txBody>
      </p:sp>
      <p:sp>
        <p:nvSpPr>
          <p:cNvPr id="10" name="Espaço Reservado para Texto 5">
            <a:extLst>
              <a:ext uri="{FF2B5EF4-FFF2-40B4-BE49-F238E27FC236}">
                <a16:creationId xmlns:a16="http://schemas.microsoft.com/office/drawing/2014/main" id="{CADBFD8A-A09B-CD81-2E43-9DA5B137203C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428263" y="3263174"/>
            <a:ext cx="4642767" cy="481387"/>
          </a:xfrm>
        </p:spPr>
        <p:txBody>
          <a:bodyPr/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pt-BR" sz="2000" noProof="1">
                <a:solidFill>
                  <a:schemeClr val="bg1"/>
                </a:solidFill>
              </a:rPr>
              <a:t>Transformando estratégia em ações</a:t>
            </a:r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D851D84D-F111-9039-1F62-2CA0312EA599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 flipH="1">
            <a:off x="311250" y="3816000"/>
            <a:ext cx="368300" cy="347663"/>
          </a:xfrm>
          <a:custGeom>
            <a:avLst/>
            <a:gdLst>
              <a:gd name="T0" fmla="*/ 191 w 232"/>
              <a:gd name="T1" fmla="*/ 0 h 219"/>
              <a:gd name="T2" fmla="*/ 191 w 232"/>
              <a:gd name="T3" fmla="*/ 180 h 219"/>
              <a:gd name="T4" fmla="*/ 0 w 232"/>
              <a:gd name="T5" fmla="*/ 180 h 219"/>
              <a:gd name="T6" fmla="*/ 0 w 232"/>
              <a:gd name="T7" fmla="*/ 219 h 219"/>
              <a:gd name="T8" fmla="*/ 232 w 232"/>
              <a:gd name="T9" fmla="*/ 219 h 219"/>
              <a:gd name="T10" fmla="*/ 232 w 232"/>
              <a:gd name="T11" fmla="*/ 0 h 219"/>
              <a:gd name="T12" fmla="*/ 191 w 232"/>
              <a:gd name="T13" fmla="*/ 0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" h="219">
                <a:moveTo>
                  <a:pt x="191" y="0"/>
                </a:moveTo>
                <a:lnTo>
                  <a:pt x="191" y="180"/>
                </a:lnTo>
                <a:lnTo>
                  <a:pt x="0" y="180"/>
                </a:lnTo>
                <a:lnTo>
                  <a:pt x="0" y="219"/>
                </a:lnTo>
                <a:lnTo>
                  <a:pt x="232" y="219"/>
                </a:lnTo>
                <a:lnTo>
                  <a:pt x="232" y="0"/>
                </a:lnTo>
                <a:lnTo>
                  <a:pt x="19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pt-BR" noProof="1"/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7FFB358-4290-7427-2BBD-7D3DA4AAA4D9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 flipH="1" flipV="1">
            <a:off x="311250" y="1802729"/>
            <a:ext cx="368300" cy="347663"/>
          </a:xfrm>
          <a:custGeom>
            <a:avLst/>
            <a:gdLst>
              <a:gd name="T0" fmla="*/ 191 w 232"/>
              <a:gd name="T1" fmla="*/ 0 h 219"/>
              <a:gd name="T2" fmla="*/ 191 w 232"/>
              <a:gd name="T3" fmla="*/ 180 h 219"/>
              <a:gd name="T4" fmla="*/ 0 w 232"/>
              <a:gd name="T5" fmla="*/ 180 h 219"/>
              <a:gd name="T6" fmla="*/ 0 w 232"/>
              <a:gd name="T7" fmla="*/ 219 h 219"/>
              <a:gd name="T8" fmla="*/ 232 w 232"/>
              <a:gd name="T9" fmla="*/ 219 h 219"/>
              <a:gd name="T10" fmla="*/ 232 w 232"/>
              <a:gd name="T11" fmla="*/ 0 h 219"/>
              <a:gd name="T12" fmla="*/ 191 w 232"/>
              <a:gd name="T13" fmla="*/ 0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" h="219">
                <a:moveTo>
                  <a:pt x="191" y="0"/>
                </a:moveTo>
                <a:lnTo>
                  <a:pt x="191" y="180"/>
                </a:lnTo>
                <a:lnTo>
                  <a:pt x="0" y="180"/>
                </a:lnTo>
                <a:lnTo>
                  <a:pt x="0" y="219"/>
                </a:lnTo>
                <a:lnTo>
                  <a:pt x="232" y="219"/>
                </a:lnTo>
                <a:lnTo>
                  <a:pt x="232" y="0"/>
                </a:lnTo>
                <a:lnTo>
                  <a:pt x="19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pt-BR" noProof="1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E2E678F2-BE98-9C30-AD99-FE7D3939E7F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067328" y="3816000"/>
            <a:ext cx="368300" cy="347663"/>
          </a:xfrm>
          <a:custGeom>
            <a:avLst/>
            <a:gdLst>
              <a:gd name="T0" fmla="*/ 191 w 232"/>
              <a:gd name="T1" fmla="*/ 0 h 219"/>
              <a:gd name="T2" fmla="*/ 191 w 232"/>
              <a:gd name="T3" fmla="*/ 180 h 219"/>
              <a:gd name="T4" fmla="*/ 0 w 232"/>
              <a:gd name="T5" fmla="*/ 180 h 219"/>
              <a:gd name="T6" fmla="*/ 0 w 232"/>
              <a:gd name="T7" fmla="*/ 219 h 219"/>
              <a:gd name="T8" fmla="*/ 232 w 232"/>
              <a:gd name="T9" fmla="*/ 219 h 219"/>
              <a:gd name="T10" fmla="*/ 232 w 232"/>
              <a:gd name="T11" fmla="*/ 0 h 219"/>
              <a:gd name="T12" fmla="*/ 191 w 232"/>
              <a:gd name="T13" fmla="*/ 0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" h="219">
                <a:moveTo>
                  <a:pt x="191" y="0"/>
                </a:moveTo>
                <a:lnTo>
                  <a:pt x="191" y="180"/>
                </a:lnTo>
                <a:lnTo>
                  <a:pt x="0" y="180"/>
                </a:lnTo>
                <a:lnTo>
                  <a:pt x="0" y="219"/>
                </a:lnTo>
                <a:lnTo>
                  <a:pt x="232" y="219"/>
                </a:lnTo>
                <a:lnTo>
                  <a:pt x="232" y="0"/>
                </a:lnTo>
                <a:lnTo>
                  <a:pt x="19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pt-BR" noProof="1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2EC26EB5-2B19-D064-94F9-FAFD488FFDAD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 flipV="1">
            <a:off x="6067328" y="1802729"/>
            <a:ext cx="368300" cy="347663"/>
          </a:xfrm>
          <a:custGeom>
            <a:avLst/>
            <a:gdLst>
              <a:gd name="T0" fmla="*/ 191 w 232"/>
              <a:gd name="T1" fmla="*/ 0 h 219"/>
              <a:gd name="T2" fmla="*/ 191 w 232"/>
              <a:gd name="T3" fmla="*/ 180 h 219"/>
              <a:gd name="T4" fmla="*/ 0 w 232"/>
              <a:gd name="T5" fmla="*/ 180 h 219"/>
              <a:gd name="T6" fmla="*/ 0 w 232"/>
              <a:gd name="T7" fmla="*/ 219 h 219"/>
              <a:gd name="T8" fmla="*/ 232 w 232"/>
              <a:gd name="T9" fmla="*/ 219 h 219"/>
              <a:gd name="T10" fmla="*/ 232 w 232"/>
              <a:gd name="T11" fmla="*/ 0 h 219"/>
              <a:gd name="T12" fmla="*/ 191 w 232"/>
              <a:gd name="T13" fmla="*/ 0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" h="219">
                <a:moveTo>
                  <a:pt x="191" y="0"/>
                </a:moveTo>
                <a:lnTo>
                  <a:pt x="191" y="180"/>
                </a:lnTo>
                <a:lnTo>
                  <a:pt x="0" y="180"/>
                </a:lnTo>
                <a:lnTo>
                  <a:pt x="0" y="219"/>
                </a:lnTo>
                <a:lnTo>
                  <a:pt x="232" y="219"/>
                </a:lnTo>
                <a:lnTo>
                  <a:pt x="232" y="0"/>
                </a:lnTo>
                <a:lnTo>
                  <a:pt x="19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pt-BR" noProof="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5CB8C9-ADAE-91F2-5B1C-E7FAC2A303C9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311250" y="5941982"/>
            <a:ext cx="1368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noProof="1">
                <a:solidFill>
                  <a:schemeClr val="bg1"/>
                </a:solidFill>
                <a:latin typeface="Bradley Hand ITC" panose="03070402050302030203" pitchFamily="66" charset="0"/>
              </a:rPr>
              <a:t>ATY</a:t>
            </a:r>
          </a:p>
        </p:txBody>
      </p:sp>
      <p:pic>
        <p:nvPicPr>
          <p:cNvPr id="42" name="Imagem 15" descr="Pessoa com faca na mão&#10;&#10;Descrição gerada automaticamente com confiança média">
            <a:extLst>
              <a:ext uri="{FF2B5EF4-FFF2-40B4-BE49-F238E27FC236}">
                <a16:creationId xmlns:a16="http://schemas.microsoft.com/office/drawing/2014/main" id="{D52487C3-05F1-8B51-D5B7-AD357A19DFE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5810249" y="4055693"/>
            <a:ext cx="6381751" cy="281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7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E0F9D-58A5-576D-2D06-60621E5D0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29">
            <a:extLst>
              <a:ext uri="{FF2B5EF4-FFF2-40B4-BE49-F238E27FC236}">
                <a16:creationId xmlns:a16="http://schemas.microsoft.com/office/drawing/2014/main" id="{2C34595C-69CF-67A0-3B06-39ECADE799E8}"/>
              </a:ext>
            </a:extLst>
          </p:cNvPr>
          <p:cNvSpPr/>
          <p:nvPr/>
        </p:nvSpPr>
        <p:spPr>
          <a:xfrm>
            <a:off x="5422707" y="2488770"/>
            <a:ext cx="1441469" cy="5135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err="1">
              <a:solidFill>
                <a:schemeClr val="tx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1D1E64-78D4-6509-21D6-E38AC5D7EA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104" name="Título 1">
            <a:extLst>
              <a:ext uri="{FF2B5EF4-FFF2-40B4-BE49-F238E27FC236}">
                <a16:creationId xmlns:a16="http://schemas.microsoft.com/office/drawing/2014/main" id="{8AF82476-BE4D-0BAC-A5D0-9F5F154BD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22" y="587229"/>
            <a:ext cx="11515715" cy="543487"/>
          </a:xfrm>
        </p:spPr>
        <p:txBody>
          <a:bodyPr vert="horz"/>
          <a:lstStyle/>
          <a:p>
            <a:r>
              <a:rPr lang="pt-BR" noProof="1"/>
              <a:t>DMS está entrando em uma nova etapa de profissionalização da gestão, criando as bases para escalar </a:t>
            </a:r>
            <a:endParaRPr lang="pt-BR" i="1" noProof="1"/>
          </a:p>
        </p:txBody>
      </p:sp>
      <p:sp>
        <p:nvSpPr>
          <p:cNvPr id="105" name="Espaço Reservado para Texto 2">
            <a:extLst>
              <a:ext uri="{FF2B5EF4-FFF2-40B4-BE49-F238E27FC236}">
                <a16:creationId xmlns:a16="http://schemas.microsoft.com/office/drawing/2014/main" id="{E3E33A5C-26F0-9740-AD8C-329DA54FDB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106" name="Text Placeholder 6">
            <a:extLst>
              <a:ext uri="{FF2B5EF4-FFF2-40B4-BE49-F238E27FC236}">
                <a16:creationId xmlns:a16="http://schemas.microsoft.com/office/drawing/2014/main" id="{9B85ADB1-C993-806E-D82A-F69003FC70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1322" y="1200150"/>
            <a:ext cx="11515715" cy="184665"/>
          </a:xfrm>
          <a:ln>
            <a:noFill/>
          </a:ln>
        </p:spPr>
        <p:txBody>
          <a:bodyPr/>
          <a:lstStyle/>
          <a:p>
            <a:r>
              <a:rPr lang="pt-BR" noProof="1"/>
              <a:t>Transformação da DMS</a:t>
            </a:r>
          </a:p>
        </p:txBody>
      </p:sp>
      <p:pic>
        <p:nvPicPr>
          <p:cNvPr id="110" name="Picture 2" descr="Página 3 | Crescente seta png | PNGWing">
            <a:extLst>
              <a:ext uri="{FF2B5EF4-FFF2-40B4-BE49-F238E27FC236}">
                <a16:creationId xmlns:a16="http://schemas.microsoft.com/office/drawing/2014/main" id="{C44D8426-8074-CB98-52C8-52A86B7D0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EEEEEE"/>
              </a:clrFrom>
              <a:clrTo>
                <a:srgbClr val="EEEEEE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145320" flipV="1">
            <a:off x="2104481" y="2659735"/>
            <a:ext cx="1056141" cy="88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" name="Retângulo 129">
            <a:extLst>
              <a:ext uri="{FF2B5EF4-FFF2-40B4-BE49-F238E27FC236}">
                <a16:creationId xmlns:a16="http://schemas.microsoft.com/office/drawing/2014/main" id="{9F0DAA47-1599-DC75-B676-923A6DDE8E1F}"/>
              </a:ext>
            </a:extLst>
          </p:cNvPr>
          <p:cNvSpPr/>
          <p:nvPr/>
        </p:nvSpPr>
        <p:spPr>
          <a:xfrm>
            <a:off x="6510103" y="1949116"/>
            <a:ext cx="5346935" cy="10531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err="1">
              <a:solidFill>
                <a:schemeClr val="tx1"/>
              </a:solidFill>
            </a:endParaRPr>
          </a:p>
        </p:txBody>
      </p:sp>
      <p:sp>
        <p:nvSpPr>
          <p:cNvPr id="7" name="Freeform 33">
            <a:extLst>
              <a:ext uri="{FF2B5EF4-FFF2-40B4-BE49-F238E27FC236}">
                <a16:creationId xmlns:a16="http://schemas.microsoft.com/office/drawing/2014/main" id="{A159A607-ECEC-6C33-55B0-7A2A186E9F21}"/>
              </a:ext>
            </a:extLst>
          </p:cNvPr>
          <p:cNvSpPr/>
          <p:nvPr/>
        </p:nvSpPr>
        <p:spPr>
          <a:xfrm>
            <a:off x="5272144" y="1954773"/>
            <a:ext cx="1480533" cy="1086187"/>
          </a:xfrm>
          <a:custGeom>
            <a:avLst/>
            <a:gdLst/>
            <a:ahLst/>
            <a:cxnLst/>
            <a:rect l="l" t="t" r="r" b="b"/>
            <a:pathLst>
              <a:path w="177" h="192">
                <a:moveTo>
                  <a:pt x="0" y="192"/>
                </a:moveTo>
                <a:lnTo>
                  <a:pt x="0" y="170"/>
                </a:lnTo>
                <a:lnTo>
                  <a:pt x="26" y="158"/>
                </a:lnTo>
                <a:lnTo>
                  <a:pt x="26" y="136"/>
                </a:lnTo>
                <a:lnTo>
                  <a:pt x="52" y="124"/>
                </a:lnTo>
                <a:lnTo>
                  <a:pt x="52" y="102"/>
                </a:lnTo>
                <a:lnTo>
                  <a:pt x="78" y="90"/>
                </a:lnTo>
                <a:lnTo>
                  <a:pt x="78" y="68"/>
                </a:lnTo>
                <a:lnTo>
                  <a:pt x="104" y="56"/>
                </a:lnTo>
                <a:lnTo>
                  <a:pt x="104" y="34"/>
                </a:lnTo>
                <a:lnTo>
                  <a:pt x="177" y="0"/>
                </a:lnTo>
                <a:lnTo>
                  <a:pt x="177" y="110"/>
                </a:lnTo>
                <a:close/>
              </a:path>
            </a:pathLst>
          </a:custGeom>
          <a:solidFill>
            <a:srgbClr val="D6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Freeform 34">
            <a:extLst>
              <a:ext uri="{FF2B5EF4-FFF2-40B4-BE49-F238E27FC236}">
                <a16:creationId xmlns:a16="http://schemas.microsoft.com/office/drawing/2014/main" id="{51BA8B75-DE3F-C5E5-97EF-7A958AD70C05}"/>
              </a:ext>
            </a:extLst>
          </p:cNvPr>
          <p:cNvSpPr/>
          <p:nvPr/>
        </p:nvSpPr>
        <p:spPr>
          <a:xfrm>
            <a:off x="6142062" y="1954773"/>
            <a:ext cx="610615" cy="316805"/>
          </a:xfrm>
          <a:custGeom>
            <a:avLst/>
            <a:gdLst/>
            <a:ahLst/>
            <a:cxnLst/>
            <a:rect l="l" t="t" r="r" b="b"/>
            <a:pathLst>
              <a:path w="73" h="56">
                <a:moveTo>
                  <a:pt x="0" y="34"/>
                </a:moveTo>
                <a:lnTo>
                  <a:pt x="73" y="0"/>
                </a:lnTo>
                <a:lnTo>
                  <a:pt x="73" y="22"/>
                </a:lnTo>
                <a:lnTo>
                  <a:pt x="0" y="56"/>
                </a:lnTo>
                <a:close/>
              </a:path>
            </a:pathLst>
          </a:custGeom>
          <a:solidFill>
            <a:srgbClr val="E9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Freeform 35">
            <a:extLst>
              <a:ext uri="{FF2B5EF4-FFF2-40B4-BE49-F238E27FC236}">
                <a16:creationId xmlns:a16="http://schemas.microsoft.com/office/drawing/2014/main" id="{83D52C33-5EA2-BDE2-A64F-4A9F8D1302D9}"/>
              </a:ext>
            </a:extLst>
          </p:cNvPr>
          <p:cNvSpPr/>
          <p:nvPr/>
        </p:nvSpPr>
        <p:spPr>
          <a:xfrm>
            <a:off x="5556541" y="1756770"/>
            <a:ext cx="1196136" cy="390348"/>
          </a:xfrm>
          <a:custGeom>
            <a:avLst/>
            <a:gdLst/>
            <a:ahLst/>
            <a:cxnLst/>
            <a:rect l="l" t="t" r="r" b="b"/>
            <a:pathLst>
              <a:path w="143" h="69">
                <a:moveTo>
                  <a:pt x="0" y="34"/>
                </a:moveTo>
                <a:lnTo>
                  <a:pt x="73" y="0"/>
                </a:lnTo>
                <a:lnTo>
                  <a:pt x="143" y="35"/>
                </a:lnTo>
                <a:lnTo>
                  <a:pt x="70" y="6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Freeform 36">
            <a:extLst>
              <a:ext uri="{FF2B5EF4-FFF2-40B4-BE49-F238E27FC236}">
                <a16:creationId xmlns:a16="http://schemas.microsoft.com/office/drawing/2014/main" id="{9778599C-350F-9409-F854-2FFD949FA994}"/>
              </a:ext>
            </a:extLst>
          </p:cNvPr>
          <p:cNvSpPr/>
          <p:nvPr/>
        </p:nvSpPr>
        <p:spPr>
          <a:xfrm>
            <a:off x="5556541" y="1949115"/>
            <a:ext cx="585521" cy="322462"/>
          </a:xfrm>
          <a:custGeom>
            <a:avLst/>
            <a:gdLst/>
            <a:ahLst/>
            <a:cxnLst/>
            <a:rect l="l" t="t" r="r" b="b"/>
            <a:pathLst>
              <a:path w="70" h="57">
                <a:moveTo>
                  <a:pt x="0" y="0"/>
                </a:moveTo>
                <a:lnTo>
                  <a:pt x="0" y="22"/>
                </a:lnTo>
                <a:lnTo>
                  <a:pt x="70" y="57"/>
                </a:lnTo>
                <a:lnTo>
                  <a:pt x="70" y="35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Freeform 37">
            <a:extLst>
              <a:ext uri="{FF2B5EF4-FFF2-40B4-BE49-F238E27FC236}">
                <a16:creationId xmlns:a16="http://schemas.microsoft.com/office/drawing/2014/main" id="{02807E8F-EEDA-86C8-5360-25688D5B8EC8}"/>
              </a:ext>
            </a:extLst>
          </p:cNvPr>
          <p:cNvSpPr/>
          <p:nvPr/>
        </p:nvSpPr>
        <p:spPr>
          <a:xfrm>
            <a:off x="5924583" y="2271577"/>
            <a:ext cx="217480" cy="192345"/>
          </a:xfrm>
          <a:custGeom>
            <a:avLst/>
            <a:gdLst/>
            <a:ahLst/>
            <a:cxnLst/>
            <a:rect l="l" t="t" r="r" b="b"/>
            <a:pathLst>
              <a:path w="26" h="34">
                <a:moveTo>
                  <a:pt x="0" y="12"/>
                </a:moveTo>
                <a:lnTo>
                  <a:pt x="26" y="0"/>
                </a:lnTo>
                <a:lnTo>
                  <a:pt x="26" y="22"/>
                </a:lnTo>
                <a:lnTo>
                  <a:pt x="0" y="34"/>
                </a:lnTo>
                <a:close/>
              </a:path>
            </a:pathLst>
          </a:custGeom>
          <a:solidFill>
            <a:srgbClr val="E9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Freeform 38">
            <a:extLst>
              <a:ext uri="{FF2B5EF4-FFF2-40B4-BE49-F238E27FC236}">
                <a16:creationId xmlns:a16="http://schemas.microsoft.com/office/drawing/2014/main" id="{4FAC775A-1FE0-F98E-60D4-970B35985B61}"/>
              </a:ext>
            </a:extLst>
          </p:cNvPr>
          <p:cNvSpPr/>
          <p:nvPr/>
        </p:nvSpPr>
        <p:spPr>
          <a:xfrm>
            <a:off x="5339062" y="2073575"/>
            <a:ext cx="803002" cy="265890"/>
          </a:xfrm>
          <a:custGeom>
            <a:avLst/>
            <a:gdLst/>
            <a:ahLst/>
            <a:cxnLst/>
            <a:rect l="l" t="t" r="r" b="b"/>
            <a:pathLst>
              <a:path w="96" h="47">
                <a:moveTo>
                  <a:pt x="0" y="12"/>
                </a:moveTo>
                <a:lnTo>
                  <a:pt x="26" y="0"/>
                </a:lnTo>
                <a:lnTo>
                  <a:pt x="96" y="35"/>
                </a:lnTo>
                <a:lnTo>
                  <a:pt x="70" y="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Freeform 39">
            <a:extLst>
              <a:ext uri="{FF2B5EF4-FFF2-40B4-BE49-F238E27FC236}">
                <a16:creationId xmlns:a16="http://schemas.microsoft.com/office/drawing/2014/main" id="{A95F9B55-CE13-D362-C74D-6A502E5BDA31}"/>
              </a:ext>
            </a:extLst>
          </p:cNvPr>
          <p:cNvSpPr/>
          <p:nvPr/>
        </p:nvSpPr>
        <p:spPr>
          <a:xfrm>
            <a:off x="5339062" y="2141461"/>
            <a:ext cx="585521" cy="322462"/>
          </a:xfrm>
          <a:custGeom>
            <a:avLst/>
            <a:gdLst/>
            <a:ahLst/>
            <a:cxnLst/>
            <a:rect l="l" t="t" r="r" b="b"/>
            <a:pathLst>
              <a:path w="70" h="57">
                <a:moveTo>
                  <a:pt x="0" y="0"/>
                </a:moveTo>
                <a:lnTo>
                  <a:pt x="0" y="22"/>
                </a:lnTo>
                <a:lnTo>
                  <a:pt x="70" y="57"/>
                </a:lnTo>
                <a:lnTo>
                  <a:pt x="70" y="35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Freeform 40">
            <a:extLst>
              <a:ext uri="{FF2B5EF4-FFF2-40B4-BE49-F238E27FC236}">
                <a16:creationId xmlns:a16="http://schemas.microsoft.com/office/drawing/2014/main" id="{116CCC5D-2C7A-F3B5-ABF0-12F090745810}"/>
              </a:ext>
            </a:extLst>
          </p:cNvPr>
          <p:cNvSpPr/>
          <p:nvPr/>
        </p:nvSpPr>
        <p:spPr>
          <a:xfrm>
            <a:off x="5707103" y="2463923"/>
            <a:ext cx="217480" cy="192345"/>
          </a:xfrm>
          <a:custGeom>
            <a:avLst/>
            <a:gdLst/>
            <a:ahLst/>
            <a:cxnLst/>
            <a:rect l="l" t="t" r="r" b="b"/>
            <a:pathLst>
              <a:path w="26" h="34">
                <a:moveTo>
                  <a:pt x="0" y="12"/>
                </a:moveTo>
                <a:lnTo>
                  <a:pt x="26" y="0"/>
                </a:lnTo>
                <a:lnTo>
                  <a:pt x="26" y="22"/>
                </a:lnTo>
                <a:lnTo>
                  <a:pt x="0" y="34"/>
                </a:lnTo>
                <a:close/>
              </a:path>
            </a:pathLst>
          </a:custGeom>
          <a:solidFill>
            <a:srgbClr val="E9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Freeform 41">
            <a:extLst>
              <a:ext uri="{FF2B5EF4-FFF2-40B4-BE49-F238E27FC236}">
                <a16:creationId xmlns:a16="http://schemas.microsoft.com/office/drawing/2014/main" id="{F7255842-5C0D-01A1-2F8C-CB9689431FDF}"/>
              </a:ext>
            </a:extLst>
          </p:cNvPr>
          <p:cNvSpPr/>
          <p:nvPr/>
        </p:nvSpPr>
        <p:spPr>
          <a:xfrm>
            <a:off x="5121582" y="2265920"/>
            <a:ext cx="803002" cy="265890"/>
          </a:xfrm>
          <a:custGeom>
            <a:avLst/>
            <a:gdLst/>
            <a:ahLst/>
            <a:cxnLst/>
            <a:rect l="l" t="t" r="r" b="b"/>
            <a:pathLst>
              <a:path w="96" h="47">
                <a:moveTo>
                  <a:pt x="0" y="12"/>
                </a:moveTo>
                <a:lnTo>
                  <a:pt x="26" y="0"/>
                </a:lnTo>
                <a:lnTo>
                  <a:pt x="96" y="35"/>
                </a:lnTo>
                <a:lnTo>
                  <a:pt x="70" y="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Freeform 42">
            <a:extLst>
              <a:ext uri="{FF2B5EF4-FFF2-40B4-BE49-F238E27FC236}">
                <a16:creationId xmlns:a16="http://schemas.microsoft.com/office/drawing/2014/main" id="{EAC4AF17-C017-689D-027F-797AE6F3B28F}"/>
              </a:ext>
            </a:extLst>
          </p:cNvPr>
          <p:cNvSpPr/>
          <p:nvPr/>
        </p:nvSpPr>
        <p:spPr>
          <a:xfrm>
            <a:off x="5121582" y="2333806"/>
            <a:ext cx="585521" cy="322462"/>
          </a:xfrm>
          <a:custGeom>
            <a:avLst/>
            <a:gdLst/>
            <a:ahLst/>
            <a:cxnLst/>
            <a:rect l="l" t="t" r="r" b="b"/>
            <a:pathLst>
              <a:path w="70" h="57">
                <a:moveTo>
                  <a:pt x="0" y="0"/>
                </a:moveTo>
                <a:lnTo>
                  <a:pt x="0" y="22"/>
                </a:lnTo>
                <a:lnTo>
                  <a:pt x="70" y="57"/>
                </a:lnTo>
                <a:lnTo>
                  <a:pt x="70" y="35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Freeform 43">
            <a:extLst>
              <a:ext uri="{FF2B5EF4-FFF2-40B4-BE49-F238E27FC236}">
                <a16:creationId xmlns:a16="http://schemas.microsoft.com/office/drawing/2014/main" id="{48A0B433-3244-F767-4CBF-CA031248C2BE}"/>
              </a:ext>
            </a:extLst>
          </p:cNvPr>
          <p:cNvSpPr/>
          <p:nvPr/>
        </p:nvSpPr>
        <p:spPr>
          <a:xfrm>
            <a:off x="5489624" y="2656269"/>
            <a:ext cx="217480" cy="192345"/>
          </a:xfrm>
          <a:custGeom>
            <a:avLst/>
            <a:gdLst/>
            <a:ahLst/>
            <a:cxnLst/>
            <a:rect l="l" t="t" r="r" b="b"/>
            <a:pathLst>
              <a:path w="26" h="34">
                <a:moveTo>
                  <a:pt x="0" y="12"/>
                </a:moveTo>
                <a:lnTo>
                  <a:pt x="26" y="0"/>
                </a:lnTo>
                <a:lnTo>
                  <a:pt x="26" y="22"/>
                </a:lnTo>
                <a:lnTo>
                  <a:pt x="0" y="34"/>
                </a:lnTo>
                <a:close/>
              </a:path>
            </a:pathLst>
          </a:custGeom>
          <a:solidFill>
            <a:srgbClr val="E9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Freeform 44">
            <a:extLst>
              <a:ext uri="{FF2B5EF4-FFF2-40B4-BE49-F238E27FC236}">
                <a16:creationId xmlns:a16="http://schemas.microsoft.com/office/drawing/2014/main" id="{9E7344BE-1DF3-CBE0-D2CC-2C980EE98665}"/>
              </a:ext>
            </a:extLst>
          </p:cNvPr>
          <p:cNvSpPr/>
          <p:nvPr/>
        </p:nvSpPr>
        <p:spPr>
          <a:xfrm>
            <a:off x="4904103" y="2458265"/>
            <a:ext cx="803002" cy="265890"/>
          </a:xfrm>
          <a:custGeom>
            <a:avLst/>
            <a:gdLst/>
            <a:ahLst/>
            <a:cxnLst/>
            <a:rect l="l" t="t" r="r" b="b"/>
            <a:pathLst>
              <a:path w="96" h="47">
                <a:moveTo>
                  <a:pt x="0" y="12"/>
                </a:moveTo>
                <a:lnTo>
                  <a:pt x="26" y="0"/>
                </a:lnTo>
                <a:lnTo>
                  <a:pt x="96" y="35"/>
                </a:lnTo>
                <a:lnTo>
                  <a:pt x="70" y="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Freeform 45">
            <a:extLst>
              <a:ext uri="{FF2B5EF4-FFF2-40B4-BE49-F238E27FC236}">
                <a16:creationId xmlns:a16="http://schemas.microsoft.com/office/drawing/2014/main" id="{BB07F174-2205-FF1D-C737-4151CB4535AB}"/>
              </a:ext>
            </a:extLst>
          </p:cNvPr>
          <p:cNvSpPr/>
          <p:nvPr/>
        </p:nvSpPr>
        <p:spPr>
          <a:xfrm>
            <a:off x="4904103" y="2526152"/>
            <a:ext cx="585521" cy="322462"/>
          </a:xfrm>
          <a:custGeom>
            <a:avLst/>
            <a:gdLst/>
            <a:ahLst/>
            <a:cxnLst/>
            <a:rect l="l" t="t" r="r" b="b"/>
            <a:pathLst>
              <a:path w="70" h="57">
                <a:moveTo>
                  <a:pt x="0" y="0"/>
                </a:moveTo>
                <a:lnTo>
                  <a:pt x="0" y="22"/>
                </a:lnTo>
                <a:lnTo>
                  <a:pt x="70" y="57"/>
                </a:lnTo>
                <a:lnTo>
                  <a:pt x="70" y="35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Freeform 46">
            <a:extLst>
              <a:ext uri="{FF2B5EF4-FFF2-40B4-BE49-F238E27FC236}">
                <a16:creationId xmlns:a16="http://schemas.microsoft.com/office/drawing/2014/main" id="{B6CB02D5-B166-8E03-6AE6-DC9F77E83307}"/>
              </a:ext>
            </a:extLst>
          </p:cNvPr>
          <p:cNvSpPr/>
          <p:nvPr/>
        </p:nvSpPr>
        <p:spPr>
          <a:xfrm>
            <a:off x="5272144" y="2848614"/>
            <a:ext cx="217480" cy="192345"/>
          </a:xfrm>
          <a:custGeom>
            <a:avLst/>
            <a:gdLst/>
            <a:ahLst/>
            <a:cxnLst/>
            <a:rect l="l" t="t" r="r" b="b"/>
            <a:pathLst>
              <a:path w="26" h="34">
                <a:moveTo>
                  <a:pt x="0" y="12"/>
                </a:moveTo>
                <a:lnTo>
                  <a:pt x="26" y="0"/>
                </a:lnTo>
                <a:lnTo>
                  <a:pt x="26" y="22"/>
                </a:lnTo>
                <a:lnTo>
                  <a:pt x="0" y="34"/>
                </a:lnTo>
                <a:close/>
              </a:path>
            </a:pathLst>
          </a:custGeom>
          <a:solidFill>
            <a:srgbClr val="E9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Freeform 47">
            <a:extLst>
              <a:ext uri="{FF2B5EF4-FFF2-40B4-BE49-F238E27FC236}">
                <a16:creationId xmlns:a16="http://schemas.microsoft.com/office/drawing/2014/main" id="{37A19908-B9AB-5F4C-C788-EA7A63893943}"/>
              </a:ext>
            </a:extLst>
          </p:cNvPr>
          <p:cNvSpPr/>
          <p:nvPr/>
        </p:nvSpPr>
        <p:spPr>
          <a:xfrm>
            <a:off x="4686623" y="2650611"/>
            <a:ext cx="803002" cy="265890"/>
          </a:xfrm>
          <a:custGeom>
            <a:avLst/>
            <a:gdLst/>
            <a:ahLst/>
            <a:cxnLst/>
            <a:rect l="l" t="t" r="r" b="b"/>
            <a:pathLst>
              <a:path w="96" h="47">
                <a:moveTo>
                  <a:pt x="0" y="12"/>
                </a:moveTo>
                <a:lnTo>
                  <a:pt x="26" y="0"/>
                </a:lnTo>
                <a:lnTo>
                  <a:pt x="96" y="35"/>
                </a:lnTo>
                <a:lnTo>
                  <a:pt x="70" y="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Freeform 48">
            <a:extLst>
              <a:ext uri="{FF2B5EF4-FFF2-40B4-BE49-F238E27FC236}">
                <a16:creationId xmlns:a16="http://schemas.microsoft.com/office/drawing/2014/main" id="{A7112450-F19E-B8CC-3A77-882859A4FA6C}"/>
              </a:ext>
            </a:extLst>
          </p:cNvPr>
          <p:cNvSpPr/>
          <p:nvPr/>
        </p:nvSpPr>
        <p:spPr>
          <a:xfrm>
            <a:off x="4686623" y="2718498"/>
            <a:ext cx="585521" cy="322462"/>
          </a:xfrm>
          <a:custGeom>
            <a:avLst/>
            <a:gdLst/>
            <a:ahLst/>
            <a:cxnLst/>
            <a:rect l="l" t="t" r="r" b="b"/>
            <a:pathLst>
              <a:path w="70" h="57">
                <a:moveTo>
                  <a:pt x="0" y="0"/>
                </a:moveTo>
                <a:lnTo>
                  <a:pt x="0" y="22"/>
                </a:lnTo>
                <a:lnTo>
                  <a:pt x="70" y="57"/>
                </a:lnTo>
                <a:lnTo>
                  <a:pt x="70" y="35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tângulo 129">
            <a:extLst>
              <a:ext uri="{FF2B5EF4-FFF2-40B4-BE49-F238E27FC236}">
                <a16:creationId xmlns:a16="http://schemas.microsoft.com/office/drawing/2014/main" id="{12F62764-BC4A-485D-B820-9DB613B21A55}"/>
              </a:ext>
            </a:extLst>
          </p:cNvPr>
          <p:cNvSpPr/>
          <p:nvPr/>
        </p:nvSpPr>
        <p:spPr>
          <a:xfrm>
            <a:off x="4016485" y="3074218"/>
            <a:ext cx="7840553" cy="95499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err="1">
              <a:solidFill>
                <a:schemeClr val="tx1"/>
              </a:solidFill>
            </a:endParaRPr>
          </a:p>
        </p:txBody>
      </p:sp>
      <p:sp>
        <p:nvSpPr>
          <p:cNvPr id="10" name="Retângulo 131">
            <a:extLst>
              <a:ext uri="{FF2B5EF4-FFF2-40B4-BE49-F238E27FC236}">
                <a16:creationId xmlns:a16="http://schemas.microsoft.com/office/drawing/2014/main" id="{3FEBE102-9FC3-489D-7785-E58F421FF106}"/>
              </a:ext>
            </a:extLst>
          </p:cNvPr>
          <p:cNvSpPr/>
          <p:nvPr/>
        </p:nvSpPr>
        <p:spPr>
          <a:xfrm>
            <a:off x="3981803" y="2940730"/>
            <a:ext cx="247018" cy="3224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err="1">
              <a:solidFill>
                <a:schemeClr val="tx1"/>
              </a:solidFill>
            </a:endParaRPr>
          </a:p>
        </p:txBody>
      </p:sp>
      <p:sp>
        <p:nvSpPr>
          <p:cNvPr id="11" name="Retângulo 125">
            <a:extLst>
              <a:ext uri="{FF2B5EF4-FFF2-40B4-BE49-F238E27FC236}">
                <a16:creationId xmlns:a16="http://schemas.microsoft.com/office/drawing/2014/main" id="{7E6049DB-8623-8911-C50F-9420C17BB3D5}"/>
              </a:ext>
            </a:extLst>
          </p:cNvPr>
          <p:cNvSpPr/>
          <p:nvPr/>
        </p:nvSpPr>
        <p:spPr>
          <a:xfrm>
            <a:off x="2535864" y="4116121"/>
            <a:ext cx="9321173" cy="10305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err="1">
              <a:solidFill>
                <a:schemeClr val="tx1"/>
              </a:solidFill>
            </a:endParaRPr>
          </a:p>
        </p:txBody>
      </p:sp>
      <p:sp>
        <p:nvSpPr>
          <p:cNvPr id="12" name="Retângulo 127">
            <a:extLst>
              <a:ext uri="{FF2B5EF4-FFF2-40B4-BE49-F238E27FC236}">
                <a16:creationId xmlns:a16="http://schemas.microsoft.com/office/drawing/2014/main" id="{511F2B64-480F-3FFE-F8F1-7324C7EAD4BD}"/>
              </a:ext>
            </a:extLst>
          </p:cNvPr>
          <p:cNvSpPr/>
          <p:nvPr/>
        </p:nvSpPr>
        <p:spPr>
          <a:xfrm>
            <a:off x="2479154" y="4033058"/>
            <a:ext cx="247018" cy="3224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err="1">
              <a:solidFill>
                <a:schemeClr val="tx1"/>
              </a:solidFill>
            </a:endParaRPr>
          </a:p>
        </p:txBody>
      </p:sp>
      <p:sp>
        <p:nvSpPr>
          <p:cNvPr id="13" name="Retângulo 121">
            <a:extLst>
              <a:ext uri="{FF2B5EF4-FFF2-40B4-BE49-F238E27FC236}">
                <a16:creationId xmlns:a16="http://schemas.microsoft.com/office/drawing/2014/main" id="{92C6338D-6FF3-B13B-18DF-31D76D612F71}"/>
              </a:ext>
            </a:extLst>
          </p:cNvPr>
          <p:cNvSpPr/>
          <p:nvPr/>
        </p:nvSpPr>
        <p:spPr>
          <a:xfrm>
            <a:off x="1062678" y="5202309"/>
            <a:ext cx="10794359" cy="103058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err="1">
              <a:solidFill>
                <a:schemeClr val="tx1"/>
              </a:solidFill>
            </a:endParaRPr>
          </a:p>
        </p:txBody>
      </p:sp>
      <p:sp>
        <p:nvSpPr>
          <p:cNvPr id="14" name="Retângulo 123">
            <a:extLst>
              <a:ext uri="{FF2B5EF4-FFF2-40B4-BE49-F238E27FC236}">
                <a16:creationId xmlns:a16="http://schemas.microsoft.com/office/drawing/2014/main" id="{1C899472-E1B0-CD11-E194-E2096569CCD3}"/>
              </a:ext>
            </a:extLst>
          </p:cNvPr>
          <p:cNvSpPr/>
          <p:nvPr/>
        </p:nvSpPr>
        <p:spPr>
          <a:xfrm>
            <a:off x="998621" y="5126474"/>
            <a:ext cx="247018" cy="3224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err="1">
              <a:solidFill>
                <a:schemeClr val="tx1"/>
              </a:solidFill>
            </a:endParaRPr>
          </a:p>
        </p:txBody>
      </p:sp>
      <p:grpSp>
        <p:nvGrpSpPr>
          <p:cNvPr id="15" name="Escada 1">
            <a:extLst>
              <a:ext uri="{FF2B5EF4-FFF2-40B4-BE49-F238E27FC236}">
                <a16:creationId xmlns:a16="http://schemas.microsoft.com/office/drawing/2014/main" id="{3D9FF76A-55B4-9895-BFC2-699A58C9868F}"/>
              </a:ext>
            </a:extLst>
          </p:cNvPr>
          <p:cNvGrpSpPr/>
          <p:nvPr/>
        </p:nvGrpSpPr>
        <p:grpSpPr>
          <a:xfrm>
            <a:off x="259678" y="5016103"/>
            <a:ext cx="2066054" cy="1284191"/>
            <a:chOff x="857250" y="4362450"/>
            <a:chExt cx="2352675" cy="2162175"/>
          </a:xfrm>
        </p:grpSpPr>
        <p:sp>
          <p:nvSpPr>
            <p:cNvPr id="16" name="Freeform 1">
              <a:extLst>
                <a:ext uri="{FF2B5EF4-FFF2-40B4-BE49-F238E27FC236}">
                  <a16:creationId xmlns:a16="http://schemas.microsoft.com/office/drawing/2014/main" id="{19DD0C74-E4BE-195F-A757-D40EF23E7911}"/>
                </a:ext>
              </a:extLst>
            </p:cNvPr>
            <p:cNvSpPr/>
            <p:nvPr/>
          </p:nvSpPr>
          <p:spPr>
            <a:xfrm>
              <a:off x="1524000" y="4695825"/>
              <a:ext cx="1685925" cy="1828800"/>
            </a:xfrm>
            <a:custGeom>
              <a:avLst/>
              <a:gdLst/>
              <a:ahLst/>
              <a:cxnLst/>
              <a:rect l="l" t="t" r="r" b="b"/>
              <a:pathLst>
                <a:path w="177" h="192">
                  <a:moveTo>
                    <a:pt x="0" y="192"/>
                  </a:moveTo>
                  <a:lnTo>
                    <a:pt x="0" y="170"/>
                  </a:lnTo>
                  <a:lnTo>
                    <a:pt x="26" y="158"/>
                  </a:lnTo>
                  <a:lnTo>
                    <a:pt x="26" y="136"/>
                  </a:lnTo>
                  <a:lnTo>
                    <a:pt x="52" y="124"/>
                  </a:lnTo>
                  <a:lnTo>
                    <a:pt x="52" y="102"/>
                  </a:lnTo>
                  <a:lnTo>
                    <a:pt x="78" y="90"/>
                  </a:lnTo>
                  <a:lnTo>
                    <a:pt x="78" y="68"/>
                  </a:lnTo>
                  <a:lnTo>
                    <a:pt x="104" y="56"/>
                  </a:lnTo>
                  <a:lnTo>
                    <a:pt x="104" y="34"/>
                  </a:lnTo>
                  <a:lnTo>
                    <a:pt x="177" y="0"/>
                  </a:lnTo>
                  <a:lnTo>
                    <a:pt x="177" y="110"/>
                  </a:lnTo>
                  <a:close/>
                </a:path>
              </a:pathLst>
            </a:custGeom>
            <a:solidFill>
              <a:srgbClr val="D6DBE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Freeform 2">
              <a:extLst>
                <a:ext uri="{FF2B5EF4-FFF2-40B4-BE49-F238E27FC236}">
                  <a16:creationId xmlns:a16="http://schemas.microsoft.com/office/drawing/2014/main" id="{7101060B-8059-8209-97C6-6506F8DDC74B}"/>
                </a:ext>
              </a:extLst>
            </p:cNvPr>
            <p:cNvSpPr/>
            <p:nvPr/>
          </p:nvSpPr>
          <p:spPr>
            <a:xfrm>
              <a:off x="2514600" y="4695825"/>
              <a:ext cx="695325" cy="533400"/>
            </a:xfrm>
            <a:custGeom>
              <a:avLst/>
              <a:gdLst/>
              <a:ahLst/>
              <a:cxnLst/>
              <a:rect l="l" t="t" r="r" b="b"/>
              <a:pathLst>
                <a:path w="73" h="56">
                  <a:moveTo>
                    <a:pt x="0" y="34"/>
                  </a:moveTo>
                  <a:lnTo>
                    <a:pt x="73" y="0"/>
                  </a:lnTo>
                  <a:lnTo>
                    <a:pt x="73" y="22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E9EC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Freeform 3">
              <a:extLst>
                <a:ext uri="{FF2B5EF4-FFF2-40B4-BE49-F238E27FC236}">
                  <a16:creationId xmlns:a16="http://schemas.microsoft.com/office/drawing/2014/main" id="{FC02413E-5C0B-A3C3-61D6-712988D0E767}"/>
                </a:ext>
              </a:extLst>
            </p:cNvPr>
            <p:cNvSpPr/>
            <p:nvPr/>
          </p:nvSpPr>
          <p:spPr>
            <a:xfrm>
              <a:off x="1847850" y="4362450"/>
              <a:ext cx="1362075" cy="657225"/>
            </a:xfrm>
            <a:custGeom>
              <a:avLst/>
              <a:gdLst/>
              <a:ahLst/>
              <a:cxnLst/>
              <a:rect l="l" t="t" r="r" b="b"/>
              <a:pathLst>
                <a:path w="143" h="69">
                  <a:moveTo>
                    <a:pt x="0" y="34"/>
                  </a:moveTo>
                  <a:lnTo>
                    <a:pt x="73" y="0"/>
                  </a:lnTo>
                  <a:lnTo>
                    <a:pt x="143" y="35"/>
                  </a:lnTo>
                  <a:lnTo>
                    <a:pt x="70" y="6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Freeform 4">
              <a:extLst>
                <a:ext uri="{FF2B5EF4-FFF2-40B4-BE49-F238E27FC236}">
                  <a16:creationId xmlns:a16="http://schemas.microsoft.com/office/drawing/2014/main" id="{5F73F558-580C-581F-1954-FA4FE7275091}"/>
                </a:ext>
              </a:extLst>
            </p:cNvPr>
            <p:cNvSpPr/>
            <p:nvPr/>
          </p:nvSpPr>
          <p:spPr>
            <a:xfrm>
              <a:off x="1847850" y="4686300"/>
              <a:ext cx="666750" cy="542925"/>
            </a:xfrm>
            <a:custGeom>
              <a:avLst/>
              <a:gdLst/>
              <a:ahLst/>
              <a:cxnLst/>
              <a:rect l="l" t="t" r="r" b="b"/>
              <a:pathLst>
                <a:path w="70" h="57">
                  <a:moveTo>
                    <a:pt x="0" y="0"/>
                  </a:moveTo>
                  <a:lnTo>
                    <a:pt x="0" y="22"/>
                  </a:lnTo>
                  <a:lnTo>
                    <a:pt x="70" y="57"/>
                  </a:lnTo>
                  <a:lnTo>
                    <a:pt x="70" y="35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2C9558FA-43BD-904C-EAA7-0630CD3A2E70}"/>
                </a:ext>
              </a:extLst>
            </p:cNvPr>
            <p:cNvSpPr/>
            <p:nvPr/>
          </p:nvSpPr>
          <p:spPr>
            <a:xfrm>
              <a:off x="2266950" y="5229225"/>
              <a:ext cx="247650" cy="323850"/>
            </a:xfrm>
            <a:custGeom>
              <a:avLst/>
              <a:gdLst/>
              <a:ahLst/>
              <a:cxnLst/>
              <a:rect l="l" t="t" r="r" b="b"/>
              <a:pathLst>
                <a:path w="26" h="34">
                  <a:moveTo>
                    <a:pt x="0" y="12"/>
                  </a:moveTo>
                  <a:lnTo>
                    <a:pt x="26" y="0"/>
                  </a:lnTo>
                  <a:lnTo>
                    <a:pt x="26" y="22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E9EC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68C8C3C3-C6A8-F714-CD8A-3580E35A9396}"/>
                </a:ext>
              </a:extLst>
            </p:cNvPr>
            <p:cNvSpPr/>
            <p:nvPr/>
          </p:nvSpPr>
          <p:spPr>
            <a:xfrm>
              <a:off x="1600200" y="4895850"/>
              <a:ext cx="914400" cy="447675"/>
            </a:xfrm>
            <a:custGeom>
              <a:avLst/>
              <a:gdLst/>
              <a:ahLst/>
              <a:cxnLst/>
              <a:rect l="l" t="t" r="r" b="b"/>
              <a:pathLst>
                <a:path w="96" h="47">
                  <a:moveTo>
                    <a:pt x="0" y="12"/>
                  </a:moveTo>
                  <a:lnTo>
                    <a:pt x="26" y="0"/>
                  </a:lnTo>
                  <a:lnTo>
                    <a:pt x="96" y="35"/>
                  </a:lnTo>
                  <a:lnTo>
                    <a:pt x="70" y="4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08AF4ADC-9581-9E9D-7F0E-3EB8314BF5D3}"/>
                </a:ext>
              </a:extLst>
            </p:cNvPr>
            <p:cNvSpPr/>
            <p:nvPr/>
          </p:nvSpPr>
          <p:spPr>
            <a:xfrm>
              <a:off x="1600200" y="5010150"/>
              <a:ext cx="666750" cy="542925"/>
            </a:xfrm>
            <a:custGeom>
              <a:avLst/>
              <a:gdLst/>
              <a:ahLst/>
              <a:cxnLst/>
              <a:rect l="l" t="t" r="r" b="b"/>
              <a:pathLst>
                <a:path w="70" h="57">
                  <a:moveTo>
                    <a:pt x="0" y="0"/>
                  </a:moveTo>
                  <a:lnTo>
                    <a:pt x="0" y="22"/>
                  </a:lnTo>
                  <a:lnTo>
                    <a:pt x="70" y="57"/>
                  </a:lnTo>
                  <a:lnTo>
                    <a:pt x="70" y="35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27A39F4B-157B-897F-369A-05C5C5C29903}"/>
                </a:ext>
              </a:extLst>
            </p:cNvPr>
            <p:cNvSpPr/>
            <p:nvPr/>
          </p:nvSpPr>
          <p:spPr>
            <a:xfrm>
              <a:off x="2019300" y="5553075"/>
              <a:ext cx="247650" cy="323850"/>
            </a:xfrm>
            <a:custGeom>
              <a:avLst/>
              <a:gdLst/>
              <a:ahLst/>
              <a:cxnLst/>
              <a:rect l="l" t="t" r="r" b="b"/>
              <a:pathLst>
                <a:path w="26" h="34">
                  <a:moveTo>
                    <a:pt x="0" y="12"/>
                  </a:moveTo>
                  <a:lnTo>
                    <a:pt x="26" y="0"/>
                  </a:lnTo>
                  <a:lnTo>
                    <a:pt x="26" y="22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E9EC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B980FFCF-3F6B-E34C-3AF5-B5F7F4810E5B}"/>
                </a:ext>
              </a:extLst>
            </p:cNvPr>
            <p:cNvSpPr/>
            <p:nvPr/>
          </p:nvSpPr>
          <p:spPr>
            <a:xfrm>
              <a:off x="1352550" y="5219700"/>
              <a:ext cx="914400" cy="447675"/>
            </a:xfrm>
            <a:custGeom>
              <a:avLst/>
              <a:gdLst/>
              <a:ahLst/>
              <a:cxnLst/>
              <a:rect l="l" t="t" r="r" b="b"/>
              <a:pathLst>
                <a:path w="96" h="47">
                  <a:moveTo>
                    <a:pt x="0" y="12"/>
                  </a:moveTo>
                  <a:lnTo>
                    <a:pt x="26" y="0"/>
                  </a:lnTo>
                  <a:lnTo>
                    <a:pt x="96" y="35"/>
                  </a:lnTo>
                  <a:lnTo>
                    <a:pt x="70" y="4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25E3C6BB-ADE8-8584-A593-2A15419B4B38}"/>
                </a:ext>
              </a:extLst>
            </p:cNvPr>
            <p:cNvSpPr/>
            <p:nvPr/>
          </p:nvSpPr>
          <p:spPr>
            <a:xfrm>
              <a:off x="1352550" y="5334000"/>
              <a:ext cx="666750" cy="542925"/>
            </a:xfrm>
            <a:custGeom>
              <a:avLst/>
              <a:gdLst/>
              <a:ahLst/>
              <a:cxnLst/>
              <a:rect l="l" t="t" r="r" b="b"/>
              <a:pathLst>
                <a:path w="70" h="57">
                  <a:moveTo>
                    <a:pt x="0" y="0"/>
                  </a:moveTo>
                  <a:lnTo>
                    <a:pt x="0" y="22"/>
                  </a:lnTo>
                  <a:lnTo>
                    <a:pt x="70" y="57"/>
                  </a:lnTo>
                  <a:lnTo>
                    <a:pt x="70" y="35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823B62A8-B244-BF57-F1E2-12D36C3C8232}"/>
                </a:ext>
              </a:extLst>
            </p:cNvPr>
            <p:cNvSpPr/>
            <p:nvPr/>
          </p:nvSpPr>
          <p:spPr>
            <a:xfrm>
              <a:off x="1771650" y="5876925"/>
              <a:ext cx="247650" cy="323850"/>
            </a:xfrm>
            <a:custGeom>
              <a:avLst/>
              <a:gdLst/>
              <a:ahLst/>
              <a:cxnLst/>
              <a:rect l="l" t="t" r="r" b="b"/>
              <a:pathLst>
                <a:path w="26" h="34">
                  <a:moveTo>
                    <a:pt x="0" y="12"/>
                  </a:moveTo>
                  <a:lnTo>
                    <a:pt x="26" y="0"/>
                  </a:lnTo>
                  <a:lnTo>
                    <a:pt x="26" y="22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E9EC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0BE4470C-2214-1E2A-725B-153C8E83FC77}"/>
                </a:ext>
              </a:extLst>
            </p:cNvPr>
            <p:cNvSpPr/>
            <p:nvPr/>
          </p:nvSpPr>
          <p:spPr>
            <a:xfrm>
              <a:off x="1104900" y="5543550"/>
              <a:ext cx="914400" cy="447675"/>
            </a:xfrm>
            <a:custGeom>
              <a:avLst/>
              <a:gdLst/>
              <a:ahLst/>
              <a:cxnLst/>
              <a:rect l="l" t="t" r="r" b="b"/>
              <a:pathLst>
                <a:path w="96" h="47">
                  <a:moveTo>
                    <a:pt x="0" y="12"/>
                  </a:moveTo>
                  <a:lnTo>
                    <a:pt x="26" y="0"/>
                  </a:lnTo>
                  <a:lnTo>
                    <a:pt x="96" y="35"/>
                  </a:lnTo>
                  <a:lnTo>
                    <a:pt x="70" y="4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7204469E-B86F-CD81-83B2-DC2489117CF3}"/>
                </a:ext>
              </a:extLst>
            </p:cNvPr>
            <p:cNvSpPr/>
            <p:nvPr/>
          </p:nvSpPr>
          <p:spPr>
            <a:xfrm>
              <a:off x="1104900" y="5657850"/>
              <a:ext cx="666750" cy="542925"/>
            </a:xfrm>
            <a:custGeom>
              <a:avLst/>
              <a:gdLst/>
              <a:ahLst/>
              <a:cxnLst/>
              <a:rect l="l" t="t" r="r" b="b"/>
              <a:pathLst>
                <a:path w="70" h="57">
                  <a:moveTo>
                    <a:pt x="0" y="0"/>
                  </a:moveTo>
                  <a:lnTo>
                    <a:pt x="0" y="22"/>
                  </a:lnTo>
                  <a:lnTo>
                    <a:pt x="70" y="57"/>
                  </a:lnTo>
                  <a:lnTo>
                    <a:pt x="70" y="35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Freeform 14">
              <a:extLst>
                <a:ext uri="{FF2B5EF4-FFF2-40B4-BE49-F238E27FC236}">
                  <a16:creationId xmlns:a16="http://schemas.microsoft.com/office/drawing/2014/main" id="{D42ADD4D-D2D8-3BE6-58D4-850BBA4F81F5}"/>
                </a:ext>
              </a:extLst>
            </p:cNvPr>
            <p:cNvSpPr/>
            <p:nvPr/>
          </p:nvSpPr>
          <p:spPr>
            <a:xfrm>
              <a:off x="1524000" y="6200775"/>
              <a:ext cx="247650" cy="323850"/>
            </a:xfrm>
            <a:custGeom>
              <a:avLst/>
              <a:gdLst/>
              <a:ahLst/>
              <a:cxnLst/>
              <a:rect l="l" t="t" r="r" b="b"/>
              <a:pathLst>
                <a:path w="26" h="34">
                  <a:moveTo>
                    <a:pt x="0" y="12"/>
                  </a:moveTo>
                  <a:lnTo>
                    <a:pt x="26" y="0"/>
                  </a:lnTo>
                  <a:lnTo>
                    <a:pt x="26" y="22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E9EC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Freeform 15">
              <a:extLst>
                <a:ext uri="{FF2B5EF4-FFF2-40B4-BE49-F238E27FC236}">
                  <a16:creationId xmlns:a16="http://schemas.microsoft.com/office/drawing/2014/main" id="{0362A18A-3072-0499-8FED-8CF9D047AF5F}"/>
                </a:ext>
              </a:extLst>
            </p:cNvPr>
            <p:cNvSpPr/>
            <p:nvPr/>
          </p:nvSpPr>
          <p:spPr>
            <a:xfrm>
              <a:off x="857250" y="5867400"/>
              <a:ext cx="914400" cy="447675"/>
            </a:xfrm>
            <a:custGeom>
              <a:avLst/>
              <a:gdLst/>
              <a:ahLst/>
              <a:cxnLst/>
              <a:rect l="l" t="t" r="r" b="b"/>
              <a:pathLst>
                <a:path w="96" h="47">
                  <a:moveTo>
                    <a:pt x="0" y="12"/>
                  </a:moveTo>
                  <a:lnTo>
                    <a:pt x="26" y="0"/>
                  </a:lnTo>
                  <a:lnTo>
                    <a:pt x="96" y="35"/>
                  </a:lnTo>
                  <a:lnTo>
                    <a:pt x="70" y="4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Freeform 16">
              <a:extLst>
                <a:ext uri="{FF2B5EF4-FFF2-40B4-BE49-F238E27FC236}">
                  <a16:creationId xmlns:a16="http://schemas.microsoft.com/office/drawing/2014/main" id="{8FCD2A72-1418-1041-6BDA-0D8E3C61219D}"/>
                </a:ext>
              </a:extLst>
            </p:cNvPr>
            <p:cNvSpPr/>
            <p:nvPr/>
          </p:nvSpPr>
          <p:spPr>
            <a:xfrm>
              <a:off x="857250" y="5981700"/>
              <a:ext cx="666750" cy="542925"/>
            </a:xfrm>
            <a:custGeom>
              <a:avLst/>
              <a:gdLst/>
              <a:ahLst/>
              <a:cxnLst/>
              <a:rect l="l" t="t" r="r" b="b"/>
              <a:pathLst>
                <a:path w="70" h="57">
                  <a:moveTo>
                    <a:pt x="0" y="0"/>
                  </a:moveTo>
                  <a:lnTo>
                    <a:pt x="0" y="22"/>
                  </a:lnTo>
                  <a:lnTo>
                    <a:pt x="70" y="57"/>
                  </a:lnTo>
                  <a:lnTo>
                    <a:pt x="70" y="35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2" name="Escada 2">
            <a:extLst>
              <a:ext uri="{FF2B5EF4-FFF2-40B4-BE49-F238E27FC236}">
                <a16:creationId xmlns:a16="http://schemas.microsoft.com/office/drawing/2014/main" id="{AA348EFE-A008-81FA-8CD3-CC1A8572FBD3}"/>
              </a:ext>
            </a:extLst>
          </p:cNvPr>
          <p:cNvGrpSpPr/>
          <p:nvPr/>
        </p:nvGrpSpPr>
        <p:grpSpPr>
          <a:xfrm>
            <a:off x="1733286" y="3929917"/>
            <a:ext cx="2066054" cy="1284191"/>
            <a:chOff x="2952750" y="2724150"/>
            <a:chExt cx="2352675" cy="2162175"/>
          </a:xfrm>
        </p:grpSpPr>
        <p:sp>
          <p:nvSpPr>
            <p:cNvPr id="33" name="Freeform 17">
              <a:extLst>
                <a:ext uri="{FF2B5EF4-FFF2-40B4-BE49-F238E27FC236}">
                  <a16:creationId xmlns:a16="http://schemas.microsoft.com/office/drawing/2014/main" id="{99583494-CF9F-58C6-B681-D097594A6C2C}"/>
                </a:ext>
              </a:extLst>
            </p:cNvPr>
            <p:cNvSpPr/>
            <p:nvPr/>
          </p:nvSpPr>
          <p:spPr>
            <a:xfrm>
              <a:off x="3619500" y="3057525"/>
              <a:ext cx="1685925" cy="1828800"/>
            </a:xfrm>
            <a:custGeom>
              <a:avLst/>
              <a:gdLst/>
              <a:ahLst/>
              <a:cxnLst/>
              <a:rect l="l" t="t" r="r" b="b"/>
              <a:pathLst>
                <a:path w="177" h="192">
                  <a:moveTo>
                    <a:pt x="0" y="192"/>
                  </a:moveTo>
                  <a:lnTo>
                    <a:pt x="0" y="170"/>
                  </a:lnTo>
                  <a:lnTo>
                    <a:pt x="26" y="158"/>
                  </a:lnTo>
                  <a:lnTo>
                    <a:pt x="26" y="136"/>
                  </a:lnTo>
                  <a:lnTo>
                    <a:pt x="52" y="124"/>
                  </a:lnTo>
                  <a:lnTo>
                    <a:pt x="52" y="102"/>
                  </a:lnTo>
                  <a:lnTo>
                    <a:pt x="78" y="90"/>
                  </a:lnTo>
                  <a:lnTo>
                    <a:pt x="78" y="68"/>
                  </a:lnTo>
                  <a:lnTo>
                    <a:pt x="104" y="56"/>
                  </a:lnTo>
                  <a:lnTo>
                    <a:pt x="104" y="34"/>
                  </a:lnTo>
                  <a:lnTo>
                    <a:pt x="177" y="0"/>
                  </a:lnTo>
                  <a:lnTo>
                    <a:pt x="177" y="110"/>
                  </a:lnTo>
                  <a:close/>
                </a:path>
              </a:pathLst>
            </a:custGeom>
            <a:solidFill>
              <a:srgbClr val="D6DBE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Freeform 18">
              <a:extLst>
                <a:ext uri="{FF2B5EF4-FFF2-40B4-BE49-F238E27FC236}">
                  <a16:creationId xmlns:a16="http://schemas.microsoft.com/office/drawing/2014/main" id="{02130B24-CFF2-FCE2-4B16-55542D39E688}"/>
                </a:ext>
              </a:extLst>
            </p:cNvPr>
            <p:cNvSpPr/>
            <p:nvPr/>
          </p:nvSpPr>
          <p:spPr>
            <a:xfrm>
              <a:off x="4610100" y="3057525"/>
              <a:ext cx="695325" cy="533400"/>
            </a:xfrm>
            <a:custGeom>
              <a:avLst/>
              <a:gdLst/>
              <a:ahLst/>
              <a:cxnLst/>
              <a:rect l="l" t="t" r="r" b="b"/>
              <a:pathLst>
                <a:path w="73" h="56">
                  <a:moveTo>
                    <a:pt x="0" y="34"/>
                  </a:moveTo>
                  <a:lnTo>
                    <a:pt x="73" y="0"/>
                  </a:lnTo>
                  <a:lnTo>
                    <a:pt x="73" y="22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E9EC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Freeform 19">
              <a:extLst>
                <a:ext uri="{FF2B5EF4-FFF2-40B4-BE49-F238E27FC236}">
                  <a16:creationId xmlns:a16="http://schemas.microsoft.com/office/drawing/2014/main" id="{C50AB764-D34B-BEC9-1C92-5C5C0B19870D}"/>
                </a:ext>
              </a:extLst>
            </p:cNvPr>
            <p:cNvSpPr/>
            <p:nvPr/>
          </p:nvSpPr>
          <p:spPr>
            <a:xfrm>
              <a:off x="3943350" y="2724150"/>
              <a:ext cx="1362075" cy="657225"/>
            </a:xfrm>
            <a:custGeom>
              <a:avLst/>
              <a:gdLst/>
              <a:ahLst/>
              <a:cxnLst/>
              <a:rect l="l" t="t" r="r" b="b"/>
              <a:pathLst>
                <a:path w="143" h="69">
                  <a:moveTo>
                    <a:pt x="0" y="34"/>
                  </a:moveTo>
                  <a:lnTo>
                    <a:pt x="73" y="0"/>
                  </a:lnTo>
                  <a:lnTo>
                    <a:pt x="143" y="35"/>
                  </a:lnTo>
                  <a:lnTo>
                    <a:pt x="70" y="6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Freeform 20">
              <a:extLst>
                <a:ext uri="{FF2B5EF4-FFF2-40B4-BE49-F238E27FC236}">
                  <a16:creationId xmlns:a16="http://schemas.microsoft.com/office/drawing/2014/main" id="{D8AA7824-8369-CF9D-6B8E-6A3AF71471A3}"/>
                </a:ext>
              </a:extLst>
            </p:cNvPr>
            <p:cNvSpPr/>
            <p:nvPr/>
          </p:nvSpPr>
          <p:spPr>
            <a:xfrm>
              <a:off x="3943350" y="3048000"/>
              <a:ext cx="666750" cy="542925"/>
            </a:xfrm>
            <a:custGeom>
              <a:avLst/>
              <a:gdLst/>
              <a:ahLst/>
              <a:cxnLst/>
              <a:rect l="l" t="t" r="r" b="b"/>
              <a:pathLst>
                <a:path w="70" h="57">
                  <a:moveTo>
                    <a:pt x="0" y="0"/>
                  </a:moveTo>
                  <a:lnTo>
                    <a:pt x="0" y="22"/>
                  </a:lnTo>
                  <a:lnTo>
                    <a:pt x="70" y="57"/>
                  </a:lnTo>
                  <a:lnTo>
                    <a:pt x="70" y="35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Freeform 21">
              <a:extLst>
                <a:ext uri="{FF2B5EF4-FFF2-40B4-BE49-F238E27FC236}">
                  <a16:creationId xmlns:a16="http://schemas.microsoft.com/office/drawing/2014/main" id="{2A8072A9-6C8B-4ED8-FFF0-C5DC2E7E80F4}"/>
                </a:ext>
              </a:extLst>
            </p:cNvPr>
            <p:cNvSpPr/>
            <p:nvPr/>
          </p:nvSpPr>
          <p:spPr>
            <a:xfrm>
              <a:off x="4362450" y="3590925"/>
              <a:ext cx="247650" cy="323850"/>
            </a:xfrm>
            <a:custGeom>
              <a:avLst/>
              <a:gdLst/>
              <a:ahLst/>
              <a:cxnLst/>
              <a:rect l="l" t="t" r="r" b="b"/>
              <a:pathLst>
                <a:path w="26" h="34">
                  <a:moveTo>
                    <a:pt x="0" y="12"/>
                  </a:moveTo>
                  <a:lnTo>
                    <a:pt x="26" y="0"/>
                  </a:lnTo>
                  <a:lnTo>
                    <a:pt x="26" y="22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E9EC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Freeform 22">
              <a:extLst>
                <a:ext uri="{FF2B5EF4-FFF2-40B4-BE49-F238E27FC236}">
                  <a16:creationId xmlns:a16="http://schemas.microsoft.com/office/drawing/2014/main" id="{3FBA046C-4C1F-9BD6-95C8-6CF804848969}"/>
                </a:ext>
              </a:extLst>
            </p:cNvPr>
            <p:cNvSpPr/>
            <p:nvPr/>
          </p:nvSpPr>
          <p:spPr>
            <a:xfrm>
              <a:off x="3695700" y="3257550"/>
              <a:ext cx="914400" cy="447675"/>
            </a:xfrm>
            <a:custGeom>
              <a:avLst/>
              <a:gdLst/>
              <a:ahLst/>
              <a:cxnLst/>
              <a:rect l="l" t="t" r="r" b="b"/>
              <a:pathLst>
                <a:path w="96" h="47">
                  <a:moveTo>
                    <a:pt x="0" y="12"/>
                  </a:moveTo>
                  <a:lnTo>
                    <a:pt x="26" y="0"/>
                  </a:lnTo>
                  <a:lnTo>
                    <a:pt x="96" y="35"/>
                  </a:lnTo>
                  <a:lnTo>
                    <a:pt x="70" y="4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Freeform 23">
              <a:extLst>
                <a:ext uri="{FF2B5EF4-FFF2-40B4-BE49-F238E27FC236}">
                  <a16:creationId xmlns:a16="http://schemas.microsoft.com/office/drawing/2014/main" id="{D3D3C1AC-69C9-3CCA-C035-3620F573957F}"/>
                </a:ext>
              </a:extLst>
            </p:cNvPr>
            <p:cNvSpPr/>
            <p:nvPr/>
          </p:nvSpPr>
          <p:spPr>
            <a:xfrm>
              <a:off x="3695700" y="3371850"/>
              <a:ext cx="666750" cy="542925"/>
            </a:xfrm>
            <a:custGeom>
              <a:avLst/>
              <a:gdLst/>
              <a:ahLst/>
              <a:cxnLst/>
              <a:rect l="l" t="t" r="r" b="b"/>
              <a:pathLst>
                <a:path w="70" h="57">
                  <a:moveTo>
                    <a:pt x="0" y="0"/>
                  </a:moveTo>
                  <a:lnTo>
                    <a:pt x="0" y="22"/>
                  </a:lnTo>
                  <a:lnTo>
                    <a:pt x="70" y="57"/>
                  </a:lnTo>
                  <a:lnTo>
                    <a:pt x="70" y="35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Freeform 24">
              <a:extLst>
                <a:ext uri="{FF2B5EF4-FFF2-40B4-BE49-F238E27FC236}">
                  <a16:creationId xmlns:a16="http://schemas.microsoft.com/office/drawing/2014/main" id="{36D8B626-26A9-63BB-0FF3-AC2C9EC78B30}"/>
                </a:ext>
              </a:extLst>
            </p:cNvPr>
            <p:cNvSpPr/>
            <p:nvPr/>
          </p:nvSpPr>
          <p:spPr>
            <a:xfrm>
              <a:off x="4114800" y="3914775"/>
              <a:ext cx="247650" cy="323850"/>
            </a:xfrm>
            <a:custGeom>
              <a:avLst/>
              <a:gdLst/>
              <a:ahLst/>
              <a:cxnLst/>
              <a:rect l="l" t="t" r="r" b="b"/>
              <a:pathLst>
                <a:path w="26" h="34">
                  <a:moveTo>
                    <a:pt x="0" y="12"/>
                  </a:moveTo>
                  <a:lnTo>
                    <a:pt x="26" y="0"/>
                  </a:lnTo>
                  <a:lnTo>
                    <a:pt x="26" y="22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E9EC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A308AC5C-758E-F550-8984-EF5D9A66925C}"/>
                </a:ext>
              </a:extLst>
            </p:cNvPr>
            <p:cNvSpPr/>
            <p:nvPr/>
          </p:nvSpPr>
          <p:spPr>
            <a:xfrm>
              <a:off x="3448050" y="3581400"/>
              <a:ext cx="914400" cy="447675"/>
            </a:xfrm>
            <a:custGeom>
              <a:avLst/>
              <a:gdLst/>
              <a:ahLst/>
              <a:cxnLst/>
              <a:rect l="l" t="t" r="r" b="b"/>
              <a:pathLst>
                <a:path w="96" h="47">
                  <a:moveTo>
                    <a:pt x="0" y="12"/>
                  </a:moveTo>
                  <a:lnTo>
                    <a:pt x="26" y="0"/>
                  </a:lnTo>
                  <a:lnTo>
                    <a:pt x="96" y="35"/>
                  </a:lnTo>
                  <a:lnTo>
                    <a:pt x="70" y="4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Freeform 26">
              <a:extLst>
                <a:ext uri="{FF2B5EF4-FFF2-40B4-BE49-F238E27FC236}">
                  <a16:creationId xmlns:a16="http://schemas.microsoft.com/office/drawing/2014/main" id="{50377D94-A05D-9224-C451-B0753943701B}"/>
                </a:ext>
              </a:extLst>
            </p:cNvPr>
            <p:cNvSpPr/>
            <p:nvPr/>
          </p:nvSpPr>
          <p:spPr>
            <a:xfrm>
              <a:off x="3448050" y="3695700"/>
              <a:ext cx="666750" cy="542925"/>
            </a:xfrm>
            <a:custGeom>
              <a:avLst/>
              <a:gdLst/>
              <a:ahLst/>
              <a:cxnLst/>
              <a:rect l="l" t="t" r="r" b="b"/>
              <a:pathLst>
                <a:path w="70" h="57">
                  <a:moveTo>
                    <a:pt x="0" y="0"/>
                  </a:moveTo>
                  <a:lnTo>
                    <a:pt x="0" y="22"/>
                  </a:lnTo>
                  <a:lnTo>
                    <a:pt x="70" y="57"/>
                  </a:lnTo>
                  <a:lnTo>
                    <a:pt x="70" y="35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Freeform 27">
              <a:extLst>
                <a:ext uri="{FF2B5EF4-FFF2-40B4-BE49-F238E27FC236}">
                  <a16:creationId xmlns:a16="http://schemas.microsoft.com/office/drawing/2014/main" id="{3264B9A8-B189-B4FE-5960-98DA151AF893}"/>
                </a:ext>
              </a:extLst>
            </p:cNvPr>
            <p:cNvSpPr/>
            <p:nvPr/>
          </p:nvSpPr>
          <p:spPr>
            <a:xfrm>
              <a:off x="3867150" y="4238625"/>
              <a:ext cx="247650" cy="323850"/>
            </a:xfrm>
            <a:custGeom>
              <a:avLst/>
              <a:gdLst/>
              <a:ahLst/>
              <a:cxnLst/>
              <a:rect l="l" t="t" r="r" b="b"/>
              <a:pathLst>
                <a:path w="26" h="34">
                  <a:moveTo>
                    <a:pt x="0" y="12"/>
                  </a:moveTo>
                  <a:lnTo>
                    <a:pt x="26" y="0"/>
                  </a:lnTo>
                  <a:lnTo>
                    <a:pt x="26" y="22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E9EC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Freeform 28">
              <a:extLst>
                <a:ext uri="{FF2B5EF4-FFF2-40B4-BE49-F238E27FC236}">
                  <a16:creationId xmlns:a16="http://schemas.microsoft.com/office/drawing/2014/main" id="{417901F4-058D-A866-95EE-6475ED786A34}"/>
                </a:ext>
              </a:extLst>
            </p:cNvPr>
            <p:cNvSpPr/>
            <p:nvPr/>
          </p:nvSpPr>
          <p:spPr>
            <a:xfrm>
              <a:off x="3200400" y="3905250"/>
              <a:ext cx="914400" cy="447675"/>
            </a:xfrm>
            <a:custGeom>
              <a:avLst/>
              <a:gdLst/>
              <a:ahLst/>
              <a:cxnLst/>
              <a:rect l="l" t="t" r="r" b="b"/>
              <a:pathLst>
                <a:path w="96" h="47">
                  <a:moveTo>
                    <a:pt x="0" y="12"/>
                  </a:moveTo>
                  <a:lnTo>
                    <a:pt x="26" y="0"/>
                  </a:lnTo>
                  <a:lnTo>
                    <a:pt x="96" y="35"/>
                  </a:lnTo>
                  <a:lnTo>
                    <a:pt x="70" y="4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Freeform 29">
              <a:extLst>
                <a:ext uri="{FF2B5EF4-FFF2-40B4-BE49-F238E27FC236}">
                  <a16:creationId xmlns:a16="http://schemas.microsoft.com/office/drawing/2014/main" id="{C030D9E9-1DE1-E702-3D9E-78F4A6D44967}"/>
                </a:ext>
              </a:extLst>
            </p:cNvPr>
            <p:cNvSpPr/>
            <p:nvPr/>
          </p:nvSpPr>
          <p:spPr>
            <a:xfrm>
              <a:off x="3200400" y="4019550"/>
              <a:ext cx="666750" cy="542925"/>
            </a:xfrm>
            <a:custGeom>
              <a:avLst/>
              <a:gdLst/>
              <a:ahLst/>
              <a:cxnLst/>
              <a:rect l="l" t="t" r="r" b="b"/>
              <a:pathLst>
                <a:path w="70" h="57">
                  <a:moveTo>
                    <a:pt x="0" y="0"/>
                  </a:moveTo>
                  <a:lnTo>
                    <a:pt x="0" y="22"/>
                  </a:lnTo>
                  <a:lnTo>
                    <a:pt x="70" y="57"/>
                  </a:lnTo>
                  <a:lnTo>
                    <a:pt x="70" y="35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Freeform 30">
              <a:extLst>
                <a:ext uri="{FF2B5EF4-FFF2-40B4-BE49-F238E27FC236}">
                  <a16:creationId xmlns:a16="http://schemas.microsoft.com/office/drawing/2014/main" id="{F152FE21-629F-B935-79BD-3CF82E482C73}"/>
                </a:ext>
              </a:extLst>
            </p:cNvPr>
            <p:cNvSpPr/>
            <p:nvPr/>
          </p:nvSpPr>
          <p:spPr>
            <a:xfrm>
              <a:off x="3619500" y="4562475"/>
              <a:ext cx="247650" cy="323850"/>
            </a:xfrm>
            <a:custGeom>
              <a:avLst/>
              <a:gdLst/>
              <a:ahLst/>
              <a:cxnLst/>
              <a:rect l="l" t="t" r="r" b="b"/>
              <a:pathLst>
                <a:path w="26" h="34">
                  <a:moveTo>
                    <a:pt x="0" y="12"/>
                  </a:moveTo>
                  <a:lnTo>
                    <a:pt x="26" y="0"/>
                  </a:lnTo>
                  <a:lnTo>
                    <a:pt x="26" y="22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E9EC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Freeform 31">
              <a:extLst>
                <a:ext uri="{FF2B5EF4-FFF2-40B4-BE49-F238E27FC236}">
                  <a16:creationId xmlns:a16="http://schemas.microsoft.com/office/drawing/2014/main" id="{A0E57D15-94C8-2D8A-A914-3F789D1BDDB0}"/>
                </a:ext>
              </a:extLst>
            </p:cNvPr>
            <p:cNvSpPr/>
            <p:nvPr/>
          </p:nvSpPr>
          <p:spPr>
            <a:xfrm>
              <a:off x="2952750" y="4229100"/>
              <a:ext cx="914400" cy="447675"/>
            </a:xfrm>
            <a:custGeom>
              <a:avLst/>
              <a:gdLst/>
              <a:ahLst/>
              <a:cxnLst/>
              <a:rect l="l" t="t" r="r" b="b"/>
              <a:pathLst>
                <a:path w="96" h="47">
                  <a:moveTo>
                    <a:pt x="0" y="12"/>
                  </a:moveTo>
                  <a:lnTo>
                    <a:pt x="26" y="0"/>
                  </a:lnTo>
                  <a:lnTo>
                    <a:pt x="96" y="35"/>
                  </a:lnTo>
                  <a:lnTo>
                    <a:pt x="70" y="4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Freeform 32">
              <a:extLst>
                <a:ext uri="{FF2B5EF4-FFF2-40B4-BE49-F238E27FC236}">
                  <a16:creationId xmlns:a16="http://schemas.microsoft.com/office/drawing/2014/main" id="{80076436-465C-A1BD-B5FB-F81703F451B6}"/>
                </a:ext>
              </a:extLst>
            </p:cNvPr>
            <p:cNvSpPr/>
            <p:nvPr/>
          </p:nvSpPr>
          <p:spPr>
            <a:xfrm>
              <a:off x="2952750" y="4343400"/>
              <a:ext cx="666750" cy="542925"/>
            </a:xfrm>
            <a:custGeom>
              <a:avLst/>
              <a:gdLst/>
              <a:ahLst/>
              <a:cxnLst/>
              <a:rect l="l" t="t" r="r" b="b"/>
              <a:pathLst>
                <a:path w="70" h="57">
                  <a:moveTo>
                    <a:pt x="0" y="0"/>
                  </a:moveTo>
                  <a:lnTo>
                    <a:pt x="0" y="22"/>
                  </a:lnTo>
                  <a:lnTo>
                    <a:pt x="70" y="57"/>
                  </a:lnTo>
                  <a:lnTo>
                    <a:pt x="70" y="35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9" name="Escada 3">
            <a:extLst>
              <a:ext uri="{FF2B5EF4-FFF2-40B4-BE49-F238E27FC236}">
                <a16:creationId xmlns:a16="http://schemas.microsoft.com/office/drawing/2014/main" id="{3DF59DA7-D088-EF7A-D885-968163EC8DDA}"/>
              </a:ext>
            </a:extLst>
          </p:cNvPr>
          <p:cNvGrpSpPr/>
          <p:nvPr/>
        </p:nvGrpSpPr>
        <p:grpSpPr>
          <a:xfrm>
            <a:off x="3213489" y="2840901"/>
            <a:ext cx="2066054" cy="1284191"/>
            <a:chOff x="5048250" y="1085850"/>
            <a:chExt cx="2352675" cy="2162175"/>
          </a:xfrm>
        </p:grpSpPr>
        <p:sp>
          <p:nvSpPr>
            <p:cNvPr id="50" name="Freeform 33">
              <a:extLst>
                <a:ext uri="{FF2B5EF4-FFF2-40B4-BE49-F238E27FC236}">
                  <a16:creationId xmlns:a16="http://schemas.microsoft.com/office/drawing/2014/main" id="{D044CD9E-A6B7-2023-A7B9-36912B998481}"/>
                </a:ext>
              </a:extLst>
            </p:cNvPr>
            <p:cNvSpPr/>
            <p:nvPr/>
          </p:nvSpPr>
          <p:spPr>
            <a:xfrm>
              <a:off x="5715000" y="1419225"/>
              <a:ext cx="1685925" cy="1828800"/>
            </a:xfrm>
            <a:custGeom>
              <a:avLst/>
              <a:gdLst/>
              <a:ahLst/>
              <a:cxnLst/>
              <a:rect l="l" t="t" r="r" b="b"/>
              <a:pathLst>
                <a:path w="177" h="192">
                  <a:moveTo>
                    <a:pt x="0" y="192"/>
                  </a:moveTo>
                  <a:lnTo>
                    <a:pt x="0" y="170"/>
                  </a:lnTo>
                  <a:lnTo>
                    <a:pt x="26" y="158"/>
                  </a:lnTo>
                  <a:lnTo>
                    <a:pt x="26" y="136"/>
                  </a:lnTo>
                  <a:lnTo>
                    <a:pt x="52" y="124"/>
                  </a:lnTo>
                  <a:lnTo>
                    <a:pt x="52" y="102"/>
                  </a:lnTo>
                  <a:lnTo>
                    <a:pt x="78" y="90"/>
                  </a:lnTo>
                  <a:lnTo>
                    <a:pt x="78" y="68"/>
                  </a:lnTo>
                  <a:lnTo>
                    <a:pt x="104" y="56"/>
                  </a:lnTo>
                  <a:lnTo>
                    <a:pt x="104" y="34"/>
                  </a:lnTo>
                  <a:lnTo>
                    <a:pt x="177" y="0"/>
                  </a:lnTo>
                  <a:lnTo>
                    <a:pt x="177" y="110"/>
                  </a:lnTo>
                  <a:close/>
                </a:path>
              </a:pathLst>
            </a:custGeom>
            <a:solidFill>
              <a:srgbClr val="D6DBE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Freeform 34">
              <a:extLst>
                <a:ext uri="{FF2B5EF4-FFF2-40B4-BE49-F238E27FC236}">
                  <a16:creationId xmlns:a16="http://schemas.microsoft.com/office/drawing/2014/main" id="{31906753-9B4D-4CD7-F117-7486BE8B7252}"/>
                </a:ext>
              </a:extLst>
            </p:cNvPr>
            <p:cNvSpPr/>
            <p:nvPr/>
          </p:nvSpPr>
          <p:spPr>
            <a:xfrm>
              <a:off x="6705600" y="1419225"/>
              <a:ext cx="695325" cy="533400"/>
            </a:xfrm>
            <a:custGeom>
              <a:avLst/>
              <a:gdLst/>
              <a:ahLst/>
              <a:cxnLst/>
              <a:rect l="l" t="t" r="r" b="b"/>
              <a:pathLst>
                <a:path w="73" h="56">
                  <a:moveTo>
                    <a:pt x="0" y="34"/>
                  </a:moveTo>
                  <a:lnTo>
                    <a:pt x="73" y="0"/>
                  </a:lnTo>
                  <a:lnTo>
                    <a:pt x="73" y="22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E9EC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Freeform 35">
              <a:extLst>
                <a:ext uri="{FF2B5EF4-FFF2-40B4-BE49-F238E27FC236}">
                  <a16:creationId xmlns:a16="http://schemas.microsoft.com/office/drawing/2014/main" id="{9DBA6F7E-A810-C608-3BB4-B509200BF522}"/>
                </a:ext>
              </a:extLst>
            </p:cNvPr>
            <p:cNvSpPr/>
            <p:nvPr/>
          </p:nvSpPr>
          <p:spPr>
            <a:xfrm>
              <a:off x="6038850" y="1085850"/>
              <a:ext cx="1362075" cy="657225"/>
            </a:xfrm>
            <a:custGeom>
              <a:avLst/>
              <a:gdLst/>
              <a:ahLst/>
              <a:cxnLst/>
              <a:rect l="l" t="t" r="r" b="b"/>
              <a:pathLst>
                <a:path w="143" h="69">
                  <a:moveTo>
                    <a:pt x="0" y="34"/>
                  </a:moveTo>
                  <a:lnTo>
                    <a:pt x="73" y="0"/>
                  </a:lnTo>
                  <a:lnTo>
                    <a:pt x="143" y="35"/>
                  </a:lnTo>
                  <a:lnTo>
                    <a:pt x="70" y="6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Freeform 36">
              <a:extLst>
                <a:ext uri="{FF2B5EF4-FFF2-40B4-BE49-F238E27FC236}">
                  <a16:creationId xmlns:a16="http://schemas.microsoft.com/office/drawing/2014/main" id="{47EA0FBE-94EB-135B-52D9-6593B10D5EC2}"/>
                </a:ext>
              </a:extLst>
            </p:cNvPr>
            <p:cNvSpPr/>
            <p:nvPr/>
          </p:nvSpPr>
          <p:spPr>
            <a:xfrm>
              <a:off x="6038850" y="1409700"/>
              <a:ext cx="666750" cy="542925"/>
            </a:xfrm>
            <a:custGeom>
              <a:avLst/>
              <a:gdLst/>
              <a:ahLst/>
              <a:cxnLst/>
              <a:rect l="l" t="t" r="r" b="b"/>
              <a:pathLst>
                <a:path w="70" h="57">
                  <a:moveTo>
                    <a:pt x="0" y="0"/>
                  </a:moveTo>
                  <a:lnTo>
                    <a:pt x="0" y="22"/>
                  </a:lnTo>
                  <a:lnTo>
                    <a:pt x="70" y="57"/>
                  </a:lnTo>
                  <a:lnTo>
                    <a:pt x="70" y="35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Freeform 37">
              <a:extLst>
                <a:ext uri="{FF2B5EF4-FFF2-40B4-BE49-F238E27FC236}">
                  <a16:creationId xmlns:a16="http://schemas.microsoft.com/office/drawing/2014/main" id="{E1CBD52E-7D10-0E6B-0E54-BB1C5C770022}"/>
                </a:ext>
              </a:extLst>
            </p:cNvPr>
            <p:cNvSpPr/>
            <p:nvPr/>
          </p:nvSpPr>
          <p:spPr>
            <a:xfrm>
              <a:off x="6457950" y="1952625"/>
              <a:ext cx="247650" cy="323850"/>
            </a:xfrm>
            <a:custGeom>
              <a:avLst/>
              <a:gdLst/>
              <a:ahLst/>
              <a:cxnLst/>
              <a:rect l="l" t="t" r="r" b="b"/>
              <a:pathLst>
                <a:path w="26" h="34">
                  <a:moveTo>
                    <a:pt x="0" y="12"/>
                  </a:moveTo>
                  <a:lnTo>
                    <a:pt x="26" y="0"/>
                  </a:lnTo>
                  <a:lnTo>
                    <a:pt x="26" y="22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E9EC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Freeform 38">
              <a:extLst>
                <a:ext uri="{FF2B5EF4-FFF2-40B4-BE49-F238E27FC236}">
                  <a16:creationId xmlns:a16="http://schemas.microsoft.com/office/drawing/2014/main" id="{A530E8DD-6B38-3AA8-2ACE-FC1FE539B34B}"/>
                </a:ext>
              </a:extLst>
            </p:cNvPr>
            <p:cNvSpPr/>
            <p:nvPr/>
          </p:nvSpPr>
          <p:spPr>
            <a:xfrm>
              <a:off x="5791200" y="1619250"/>
              <a:ext cx="914400" cy="447675"/>
            </a:xfrm>
            <a:custGeom>
              <a:avLst/>
              <a:gdLst/>
              <a:ahLst/>
              <a:cxnLst/>
              <a:rect l="l" t="t" r="r" b="b"/>
              <a:pathLst>
                <a:path w="96" h="47">
                  <a:moveTo>
                    <a:pt x="0" y="12"/>
                  </a:moveTo>
                  <a:lnTo>
                    <a:pt x="26" y="0"/>
                  </a:lnTo>
                  <a:lnTo>
                    <a:pt x="96" y="35"/>
                  </a:lnTo>
                  <a:lnTo>
                    <a:pt x="70" y="4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Freeform 39">
              <a:extLst>
                <a:ext uri="{FF2B5EF4-FFF2-40B4-BE49-F238E27FC236}">
                  <a16:creationId xmlns:a16="http://schemas.microsoft.com/office/drawing/2014/main" id="{1467AC98-1F2B-A983-F4A9-FAD24B7FF2D1}"/>
                </a:ext>
              </a:extLst>
            </p:cNvPr>
            <p:cNvSpPr/>
            <p:nvPr/>
          </p:nvSpPr>
          <p:spPr>
            <a:xfrm>
              <a:off x="5791200" y="1733550"/>
              <a:ext cx="666750" cy="542925"/>
            </a:xfrm>
            <a:custGeom>
              <a:avLst/>
              <a:gdLst/>
              <a:ahLst/>
              <a:cxnLst/>
              <a:rect l="l" t="t" r="r" b="b"/>
              <a:pathLst>
                <a:path w="70" h="57">
                  <a:moveTo>
                    <a:pt x="0" y="0"/>
                  </a:moveTo>
                  <a:lnTo>
                    <a:pt x="0" y="22"/>
                  </a:lnTo>
                  <a:lnTo>
                    <a:pt x="70" y="57"/>
                  </a:lnTo>
                  <a:lnTo>
                    <a:pt x="70" y="35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Freeform 40">
              <a:extLst>
                <a:ext uri="{FF2B5EF4-FFF2-40B4-BE49-F238E27FC236}">
                  <a16:creationId xmlns:a16="http://schemas.microsoft.com/office/drawing/2014/main" id="{D473DB98-4744-F512-CBA4-1AD492635AD4}"/>
                </a:ext>
              </a:extLst>
            </p:cNvPr>
            <p:cNvSpPr/>
            <p:nvPr/>
          </p:nvSpPr>
          <p:spPr>
            <a:xfrm>
              <a:off x="6210300" y="2276475"/>
              <a:ext cx="247650" cy="323850"/>
            </a:xfrm>
            <a:custGeom>
              <a:avLst/>
              <a:gdLst/>
              <a:ahLst/>
              <a:cxnLst/>
              <a:rect l="l" t="t" r="r" b="b"/>
              <a:pathLst>
                <a:path w="26" h="34">
                  <a:moveTo>
                    <a:pt x="0" y="12"/>
                  </a:moveTo>
                  <a:lnTo>
                    <a:pt x="26" y="0"/>
                  </a:lnTo>
                  <a:lnTo>
                    <a:pt x="26" y="22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E9EC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Freeform 41">
              <a:extLst>
                <a:ext uri="{FF2B5EF4-FFF2-40B4-BE49-F238E27FC236}">
                  <a16:creationId xmlns:a16="http://schemas.microsoft.com/office/drawing/2014/main" id="{944569C0-AEBF-CBCC-9A7B-AC8BD1FED49D}"/>
                </a:ext>
              </a:extLst>
            </p:cNvPr>
            <p:cNvSpPr/>
            <p:nvPr/>
          </p:nvSpPr>
          <p:spPr>
            <a:xfrm>
              <a:off x="5543550" y="1943100"/>
              <a:ext cx="914400" cy="447675"/>
            </a:xfrm>
            <a:custGeom>
              <a:avLst/>
              <a:gdLst/>
              <a:ahLst/>
              <a:cxnLst/>
              <a:rect l="l" t="t" r="r" b="b"/>
              <a:pathLst>
                <a:path w="96" h="47">
                  <a:moveTo>
                    <a:pt x="0" y="12"/>
                  </a:moveTo>
                  <a:lnTo>
                    <a:pt x="26" y="0"/>
                  </a:lnTo>
                  <a:lnTo>
                    <a:pt x="96" y="35"/>
                  </a:lnTo>
                  <a:lnTo>
                    <a:pt x="70" y="4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Freeform 42">
              <a:extLst>
                <a:ext uri="{FF2B5EF4-FFF2-40B4-BE49-F238E27FC236}">
                  <a16:creationId xmlns:a16="http://schemas.microsoft.com/office/drawing/2014/main" id="{610E8068-6492-0A55-7C09-4C07B56CB89D}"/>
                </a:ext>
              </a:extLst>
            </p:cNvPr>
            <p:cNvSpPr/>
            <p:nvPr/>
          </p:nvSpPr>
          <p:spPr>
            <a:xfrm>
              <a:off x="5543550" y="2057400"/>
              <a:ext cx="666750" cy="542925"/>
            </a:xfrm>
            <a:custGeom>
              <a:avLst/>
              <a:gdLst/>
              <a:ahLst/>
              <a:cxnLst/>
              <a:rect l="l" t="t" r="r" b="b"/>
              <a:pathLst>
                <a:path w="70" h="57">
                  <a:moveTo>
                    <a:pt x="0" y="0"/>
                  </a:moveTo>
                  <a:lnTo>
                    <a:pt x="0" y="22"/>
                  </a:lnTo>
                  <a:lnTo>
                    <a:pt x="70" y="57"/>
                  </a:lnTo>
                  <a:lnTo>
                    <a:pt x="70" y="35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Freeform 43">
              <a:extLst>
                <a:ext uri="{FF2B5EF4-FFF2-40B4-BE49-F238E27FC236}">
                  <a16:creationId xmlns:a16="http://schemas.microsoft.com/office/drawing/2014/main" id="{085BBF77-147D-DDAF-65AA-D903FC86CBAF}"/>
                </a:ext>
              </a:extLst>
            </p:cNvPr>
            <p:cNvSpPr/>
            <p:nvPr/>
          </p:nvSpPr>
          <p:spPr>
            <a:xfrm>
              <a:off x="5962650" y="2600325"/>
              <a:ext cx="247650" cy="323850"/>
            </a:xfrm>
            <a:custGeom>
              <a:avLst/>
              <a:gdLst/>
              <a:ahLst/>
              <a:cxnLst/>
              <a:rect l="l" t="t" r="r" b="b"/>
              <a:pathLst>
                <a:path w="26" h="34">
                  <a:moveTo>
                    <a:pt x="0" y="12"/>
                  </a:moveTo>
                  <a:lnTo>
                    <a:pt x="26" y="0"/>
                  </a:lnTo>
                  <a:lnTo>
                    <a:pt x="26" y="22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E9EC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Freeform 44">
              <a:extLst>
                <a:ext uri="{FF2B5EF4-FFF2-40B4-BE49-F238E27FC236}">
                  <a16:creationId xmlns:a16="http://schemas.microsoft.com/office/drawing/2014/main" id="{6FE55217-D056-369B-6C62-D1173F811BAE}"/>
                </a:ext>
              </a:extLst>
            </p:cNvPr>
            <p:cNvSpPr/>
            <p:nvPr/>
          </p:nvSpPr>
          <p:spPr>
            <a:xfrm>
              <a:off x="5295900" y="2266950"/>
              <a:ext cx="914400" cy="447675"/>
            </a:xfrm>
            <a:custGeom>
              <a:avLst/>
              <a:gdLst/>
              <a:ahLst/>
              <a:cxnLst/>
              <a:rect l="l" t="t" r="r" b="b"/>
              <a:pathLst>
                <a:path w="96" h="47">
                  <a:moveTo>
                    <a:pt x="0" y="12"/>
                  </a:moveTo>
                  <a:lnTo>
                    <a:pt x="26" y="0"/>
                  </a:lnTo>
                  <a:lnTo>
                    <a:pt x="96" y="35"/>
                  </a:lnTo>
                  <a:lnTo>
                    <a:pt x="70" y="4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Freeform 45">
              <a:extLst>
                <a:ext uri="{FF2B5EF4-FFF2-40B4-BE49-F238E27FC236}">
                  <a16:creationId xmlns:a16="http://schemas.microsoft.com/office/drawing/2014/main" id="{EAEBCF91-3DD2-1CE5-1F1E-2BC8AFAB9BF5}"/>
                </a:ext>
              </a:extLst>
            </p:cNvPr>
            <p:cNvSpPr/>
            <p:nvPr/>
          </p:nvSpPr>
          <p:spPr>
            <a:xfrm>
              <a:off x="5295900" y="2381250"/>
              <a:ext cx="666750" cy="542925"/>
            </a:xfrm>
            <a:custGeom>
              <a:avLst/>
              <a:gdLst/>
              <a:ahLst/>
              <a:cxnLst/>
              <a:rect l="l" t="t" r="r" b="b"/>
              <a:pathLst>
                <a:path w="70" h="57">
                  <a:moveTo>
                    <a:pt x="0" y="0"/>
                  </a:moveTo>
                  <a:lnTo>
                    <a:pt x="0" y="22"/>
                  </a:lnTo>
                  <a:lnTo>
                    <a:pt x="70" y="57"/>
                  </a:lnTo>
                  <a:lnTo>
                    <a:pt x="70" y="35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Freeform 46">
              <a:extLst>
                <a:ext uri="{FF2B5EF4-FFF2-40B4-BE49-F238E27FC236}">
                  <a16:creationId xmlns:a16="http://schemas.microsoft.com/office/drawing/2014/main" id="{48E51B33-4627-85A7-681D-2D40BCCF3B66}"/>
                </a:ext>
              </a:extLst>
            </p:cNvPr>
            <p:cNvSpPr/>
            <p:nvPr/>
          </p:nvSpPr>
          <p:spPr>
            <a:xfrm>
              <a:off x="5715000" y="2924175"/>
              <a:ext cx="247650" cy="323850"/>
            </a:xfrm>
            <a:custGeom>
              <a:avLst/>
              <a:gdLst/>
              <a:ahLst/>
              <a:cxnLst/>
              <a:rect l="l" t="t" r="r" b="b"/>
              <a:pathLst>
                <a:path w="26" h="34">
                  <a:moveTo>
                    <a:pt x="0" y="12"/>
                  </a:moveTo>
                  <a:lnTo>
                    <a:pt x="26" y="0"/>
                  </a:lnTo>
                  <a:lnTo>
                    <a:pt x="26" y="22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E9EC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Freeform 47">
              <a:extLst>
                <a:ext uri="{FF2B5EF4-FFF2-40B4-BE49-F238E27FC236}">
                  <a16:creationId xmlns:a16="http://schemas.microsoft.com/office/drawing/2014/main" id="{D27AAC83-BE84-BAC6-2CEB-55F5D64F6054}"/>
                </a:ext>
              </a:extLst>
            </p:cNvPr>
            <p:cNvSpPr/>
            <p:nvPr/>
          </p:nvSpPr>
          <p:spPr>
            <a:xfrm>
              <a:off x="5048250" y="2590800"/>
              <a:ext cx="914400" cy="447675"/>
            </a:xfrm>
            <a:custGeom>
              <a:avLst/>
              <a:gdLst/>
              <a:ahLst/>
              <a:cxnLst/>
              <a:rect l="l" t="t" r="r" b="b"/>
              <a:pathLst>
                <a:path w="96" h="47">
                  <a:moveTo>
                    <a:pt x="0" y="12"/>
                  </a:moveTo>
                  <a:lnTo>
                    <a:pt x="26" y="0"/>
                  </a:lnTo>
                  <a:lnTo>
                    <a:pt x="96" y="35"/>
                  </a:lnTo>
                  <a:lnTo>
                    <a:pt x="70" y="4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Freeform 48">
              <a:extLst>
                <a:ext uri="{FF2B5EF4-FFF2-40B4-BE49-F238E27FC236}">
                  <a16:creationId xmlns:a16="http://schemas.microsoft.com/office/drawing/2014/main" id="{30444FE1-9909-218A-1FFC-6DB14572305F}"/>
                </a:ext>
              </a:extLst>
            </p:cNvPr>
            <p:cNvSpPr/>
            <p:nvPr/>
          </p:nvSpPr>
          <p:spPr>
            <a:xfrm>
              <a:off x="5048250" y="2705100"/>
              <a:ext cx="666750" cy="542925"/>
            </a:xfrm>
            <a:custGeom>
              <a:avLst/>
              <a:gdLst/>
              <a:ahLst/>
              <a:cxnLst/>
              <a:rect l="l" t="t" r="r" b="b"/>
              <a:pathLst>
                <a:path w="70" h="57">
                  <a:moveTo>
                    <a:pt x="0" y="0"/>
                  </a:moveTo>
                  <a:lnTo>
                    <a:pt x="0" y="22"/>
                  </a:lnTo>
                  <a:lnTo>
                    <a:pt x="70" y="57"/>
                  </a:lnTo>
                  <a:lnTo>
                    <a:pt x="70" y="35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66" name="Agrupar 134">
            <a:extLst>
              <a:ext uri="{FF2B5EF4-FFF2-40B4-BE49-F238E27FC236}">
                <a16:creationId xmlns:a16="http://schemas.microsoft.com/office/drawing/2014/main" id="{A2F777AF-DAD1-87C6-1D56-D83CDA370D95}"/>
              </a:ext>
            </a:extLst>
          </p:cNvPr>
          <p:cNvGrpSpPr/>
          <p:nvPr/>
        </p:nvGrpSpPr>
        <p:grpSpPr>
          <a:xfrm>
            <a:off x="1344113" y="4634648"/>
            <a:ext cx="716494" cy="677172"/>
            <a:chOff x="1616645" y="3512633"/>
            <a:chExt cx="892192" cy="856609"/>
          </a:xfrm>
        </p:grpSpPr>
        <p:sp>
          <p:nvSpPr>
            <p:cNvPr id="67" name="Elipse 133">
              <a:extLst>
                <a:ext uri="{FF2B5EF4-FFF2-40B4-BE49-F238E27FC236}">
                  <a16:creationId xmlns:a16="http://schemas.microsoft.com/office/drawing/2014/main" id="{C99E2022-3145-D5B2-A5C1-E05BFE026BE1}"/>
                </a:ext>
              </a:extLst>
            </p:cNvPr>
            <p:cNvSpPr/>
            <p:nvPr/>
          </p:nvSpPr>
          <p:spPr>
            <a:xfrm>
              <a:off x="1657031" y="3512633"/>
              <a:ext cx="811420" cy="811420"/>
            </a:xfrm>
            <a:prstGeom prst="ellipse">
              <a:avLst/>
            </a:prstGeom>
            <a:solidFill>
              <a:schemeClr val="accent6">
                <a:lumMod val="25000"/>
              </a:schemeClr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3200" err="1">
                <a:solidFill>
                  <a:schemeClr val="tx1"/>
                </a:solidFill>
              </a:endParaRPr>
            </a:p>
          </p:txBody>
        </p:sp>
        <p:sp>
          <p:nvSpPr>
            <p:cNvPr id="68" name="CaixaDeTexto 116">
              <a:extLst>
                <a:ext uri="{FF2B5EF4-FFF2-40B4-BE49-F238E27FC236}">
                  <a16:creationId xmlns:a16="http://schemas.microsoft.com/office/drawing/2014/main" id="{B7033A26-4B04-007C-39F4-23379B1373BA}"/>
                </a:ext>
              </a:extLst>
            </p:cNvPr>
            <p:cNvSpPr txBox="1"/>
            <p:nvPr/>
          </p:nvSpPr>
          <p:spPr>
            <a:xfrm>
              <a:off x="1616645" y="3564399"/>
              <a:ext cx="892192" cy="804843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pt-BR" sz="3200" b="1">
                  <a:solidFill>
                    <a:schemeClr val="bg1"/>
                  </a:solidFill>
                </a:rPr>
                <a:t>01</a:t>
              </a:r>
            </a:p>
          </p:txBody>
        </p:sp>
      </p:grpSp>
      <p:grpSp>
        <p:nvGrpSpPr>
          <p:cNvPr id="69" name="Agrupar 135">
            <a:extLst>
              <a:ext uri="{FF2B5EF4-FFF2-40B4-BE49-F238E27FC236}">
                <a16:creationId xmlns:a16="http://schemas.microsoft.com/office/drawing/2014/main" id="{12AED806-719A-F164-CB68-5FDD6EFC425D}"/>
              </a:ext>
            </a:extLst>
          </p:cNvPr>
          <p:cNvGrpSpPr/>
          <p:nvPr/>
        </p:nvGrpSpPr>
        <p:grpSpPr>
          <a:xfrm>
            <a:off x="2849651" y="3535922"/>
            <a:ext cx="716494" cy="652842"/>
            <a:chOff x="1600641" y="3505350"/>
            <a:chExt cx="892192" cy="825833"/>
          </a:xfrm>
        </p:grpSpPr>
        <p:sp>
          <p:nvSpPr>
            <p:cNvPr id="70" name="Elipse 136">
              <a:extLst>
                <a:ext uri="{FF2B5EF4-FFF2-40B4-BE49-F238E27FC236}">
                  <a16:creationId xmlns:a16="http://schemas.microsoft.com/office/drawing/2014/main" id="{5426B3F3-93B5-66CA-6499-D0AF73ACDF2F}"/>
                </a:ext>
              </a:extLst>
            </p:cNvPr>
            <p:cNvSpPr/>
            <p:nvPr/>
          </p:nvSpPr>
          <p:spPr>
            <a:xfrm>
              <a:off x="1641027" y="3505350"/>
              <a:ext cx="811420" cy="811420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3200" err="1">
                <a:solidFill>
                  <a:schemeClr val="tx1"/>
                </a:solidFill>
              </a:endParaRPr>
            </a:p>
          </p:txBody>
        </p:sp>
        <p:sp>
          <p:nvSpPr>
            <p:cNvPr id="71" name="CaixaDeTexto 137">
              <a:extLst>
                <a:ext uri="{FF2B5EF4-FFF2-40B4-BE49-F238E27FC236}">
                  <a16:creationId xmlns:a16="http://schemas.microsoft.com/office/drawing/2014/main" id="{75A2F1CF-010E-B1FF-4529-7F5023AAD170}"/>
                </a:ext>
              </a:extLst>
            </p:cNvPr>
            <p:cNvSpPr txBox="1"/>
            <p:nvPr/>
          </p:nvSpPr>
          <p:spPr>
            <a:xfrm>
              <a:off x="1600641" y="3526340"/>
              <a:ext cx="892192" cy="804843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pt-BR" sz="3200" b="1" dirty="0">
                  <a:solidFill>
                    <a:schemeClr val="bg1"/>
                  </a:solidFill>
                </a:rPr>
                <a:t>02</a:t>
              </a:r>
            </a:p>
          </p:txBody>
        </p:sp>
      </p:grpSp>
      <p:grpSp>
        <p:nvGrpSpPr>
          <p:cNvPr id="72" name="Agrupar 138">
            <a:extLst>
              <a:ext uri="{FF2B5EF4-FFF2-40B4-BE49-F238E27FC236}">
                <a16:creationId xmlns:a16="http://schemas.microsoft.com/office/drawing/2014/main" id="{A60BFAF6-4F4C-3626-4CC7-C4F8EA7A3043}"/>
              </a:ext>
            </a:extLst>
          </p:cNvPr>
          <p:cNvGrpSpPr/>
          <p:nvPr/>
        </p:nvGrpSpPr>
        <p:grpSpPr>
          <a:xfrm>
            <a:off x="4310675" y="2468947"/>
            <a:ext cx="716494" cy="652842"/>
            <a:chOff x="2041942" y="3548842"/>
            <a:chExt cx="892192" cy="825833"/>
          </a:xfrm>
        </p:grpSpPr>
        <p:sp>
          <p:nvSpPr>
            <p:cNvPr id="73" name="Elipse 139">
              <a:extLst>
                <a:ext uri="{FF2B5EF4-FFF2-40B4-BE49-F238E27FC236}">
                  <a16:creationId xmlns:a16="http://schemas.microsoft.com/office/drawing/2014/main" id="{CEA2E689-4768-DDB2-E8C2-AA7084FA4AF8}"/>
                </a:ext>
              </a:extLst>
            </p:cNvPr>
            <p:cNvSpPr/>
            <p:nvPr/>
          </p:nvSpPr>
          <p:spPr>
            <a:xfrm>
              <a:off x="2082328" y="3548842"/>
              <a:ext cx="811420" cy="811420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3200" err="1">
                <a:solidFill>
                  <a:schemeClr val="tx1"/>
                </a:solidFill>
              </a:endParaRPr>
            </a:p>
          </p:txBody>
        </p:sp>
        <p:sp>
          <p:nvSpPr>
            <p:cNvPr id="74" name="CaixaDeTexto 140">
              <a:extLst>
                <a:ext uri="{FF2B5EF4-FFF2-40B4-BE49-F238E27FC236}">
                  <a16:creationId xmlns:a16="http://schemas.microsoft.com/office/drawing/2014/main" id="{E025AC4C-516E-3A95-F52B-69DF67C6F538}"/>
                </a:ext>
              </a:extLst>
            </p:cNvPr>
            <p:cNvSpPr txBox="1"/>
            <p:nvPr/>
          </p:nvSpPr>
          <p:spPr>
            <a:xfrm>
              <a:off x="2041942" y="3569832"/>
              <a:ext cx="892192" cy="804843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pt-BR" sz="3200" b="1" dirty="0">
                  <a:solidFill>
                    <a:schemeClr val="bg1"/>
                  </a:solidFill>
                </a:rPr>
                <a:t>03</a:t>
              </a:r>
            </a:p>
          </p:txBody>
        </p:sp>
      </p:grpSp>
      <p:sp>
        <p:nvSpPr>
          <p:cNvPr id="75" name="txt">
            <a:extLst>
              <a:ext uri="{FF2B5EF4-FFF2-40B4-BE49-F238E27FC236}">
                <a16:creationId xmlns:a16="http://schemas.microsoft.com/office/drawing/2014/main" id="{CE61D5B8-0717-A2C1-B0E6-071E3B71CEE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497017" y="3099067"/>
            <a:ext cx="6360020" cy="900246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4"/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Clr>
                <a:schemeClr val="accent4">
                  <a:lumMod val="75000"/>
                </a:schemeClr>
              </a:buClr>
            </a:pPr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Governança</a:t>
            </a:r>
          </a:p>
          <a:p>
            <a:pPr>
              <a:spcBef>
                <a:spcPts val="0"/>
              </a:spcBef>
              <a:spcAft>
                <a:spcPts val="300"/>
              </a:spcAft>
              <a:buClr>
                <a:schemeClr val="accent4">
                  <a:lumMod val="75000"/>
                </a:schemeClr>
              </a:buClr>
            </a:pPr>
            <a:r>
              <a:rPr lang="pt-BR" sz="1400" dirty="0">
                <a:solidFill>
                  <a:schemeClr val="tx1"/>
                </a:solidFill>
              </a:rPr>
              <a:t>Com a estrutura de gestão e os processos consolidados, o foco evolui para a disciplina na execução e o fortalecimento da governança e da cultura, associados à captura de ganhos contínuos de eficiência e performance.</a:t>
            </a:r>
          </a:p>
        </p:txBody>
      </p:sp>
      <p:sp>
        <p:nvSpPr>
          <p:cNvPr id="76" name="txt">
            <a:extLst>
              <a:ext uri="{FF2B5EF4-FFF2-40B4-BE49-F238E27FC236}">
                <a16:creationId xmlns:a16="http://schemas.microsoft.com/office/drawing/2014/main" id="{A7E5EC0D-2588-15E6-49CB-BE52484835E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255994" y="4168541"/>
            <a:ext cx="7476223" cy="861774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4"/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4">
                  <a:lumMod val="75000"/>
                </a:schemeClr>
              </a:buClr>
            </a:pPr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Profissionalização da gestão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4">
                  <a:lumMod val="75000"/>
                </a:schemeClr>
              </a:buClr>
            </a:pPr>
            <a:r>
              <a:rPr lang="pt-BR" sz="1400" dirty="0">
                <a:solidFill>
                  <a:schemeClr val="tx1"/>
                </a:solidFill>
              </a:rPr>
              <a:t>Executivos são incorporados para estruturar a gestão, fortalecer os processos e preparar a companhia para o próximo ciclo de crescimento, reduzindo a dependência dos sócios na execução e na condução do negócio.</a:t>
            </a:r>
          </a:p>
        </p:txBody>
      </p:sp>
      <p:sp>
        <p:nvSpPr>
          <p:cNvPr id="77" name="txt">
            <a:extLst>
              <a:ext uri="{FF2B5EF4-FFF2-40B4-BE49-F238E27FC236}">
                <a16:creationId xmlns:a16="http://schemas.microsoft.com/office/drawing/2014/main" id="{EB80EDEF-C541-16F7-D78A-07CF9D31F5F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761106" y="5289647"/>
            <a:ext cx="9095931" cy="838691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4"/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1500"/>
              </a:spcAft>
              <a:buClr>
                <a:schemeClr val="accent4">
                  <a:lumMod val="75000"/>
                </a:schemeClr>
              </a:buClr>
            </a:pPr>
            <a:r>
              <a:rPr lang="pt-BR" sz="1400" b="1" dirty="0">
                <a:solidFill>
                  <a:schemeClr val="accent6">
                    <a:lumMod val="25000"/>
                  </a:schemeClr>
                </a:solidFill>
              </a:rPr>
              <a:t>Início e crescimento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accent4">
                  <a:lumMod val="75000"/>
                </a:schemeClr>
              </a:buClr>
            </a:pPr>
            <a:r>
              <a:rPr lang="pt-BR" sz="1400" dirty="0">
                <a:solidFill>
                  <a:schemeClr val="tx1"/>
                </a:solidFill>
              </a:rPr>
              <a:t>Os sócios construíram uma companhia com forte controle e centralização das decisões, impulsionando o crescimento por meio da proximidade, da agilidade e do profundo conhecimento do negócio.</a:t>
            </a:r>
          </a:p>
        </p:txBody>
      </p:sp>
      <p:grpSp>
        <p:nvGrpSpPr>
          <p:cNvPr id="97" name="Agrupar 138">
            <a:extLst>
              <a:ext uri="{FF2B5EF4-FFF2-40B4-BE49-F238E27FC236}">
                <a16:creationId xmlns:a16="http://schemas.microsoft.com/office/drawing/2014/main" id="{EB3B676D-E43D-DA61-3A19-CBD97A1962A5}"/>
              </a:ext>
            </a:extLst>
          </p:cNvPr>
          <p:cNvGrpSpPr/>
          <p:nvPr/>
        </p:nvGrpSpPr>
        <p:grpSpPr>
          <a:xfrm>
            <a:off x="5783815" y="1384815"/>
            <a:ext cx="716494" cy="641840"/>
            <a:chOff x="2041948" y="3548842"/>
            <a:chExt cx="892192" cy="811916"/>
          </a:xfrm>
        </p:grpSpPr>
        <p:sp>
          <p:nvSpPr>
            <p:cNvPr id="98" name="Elipse 139">
              <a:extLst>
                <a:ext uri="{FF2B5EF4-FFF2-40B4-BE49-F238E27FC236}">
                  <a16:creationId xmlns:a16="http://schemas.microsoft.com/office/drawing/2014/main" id="{823BDF52-B207-E00D-7F0A-E336E1DD3894}"/>
                </a:ext>
              </a:extLst>
            </p:cNvPr>
            <p:cNvSpPr/>
            <p:nvPr/>
          </p:nvSpPr>
          <p:spPr>
            <a:xfrm>
              <a:off x="2082328" y="3548842"/>
              <a:ext cx="811420" cy="81142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3200" err="1">
                <a:solidFill>
                  <a:schemeClr val="tx1"/>
                </a:solidFill>
              </a:endParaRPr>
            </a:p>
          </p:txBody>
        </p:sp>
        <p:sp>
          <p:nvSpPr>
            <p:cNvPr id="99" name="CaixaDeTexto 140">
              <a:extLst>
                <a:ext uri="{FF2B5EF4-FFF2-40B4-BE49-F238E27FC236}">
                  <a16:creationId xmlns:a16="http://schemas.microsoft.com/office/drawing/2014/main" id="{F4E402AF-3D95-3B00-3332-138B3585DA39}"/>
                </a:ext>
              </a:extLst>
            </p:cNvPr>
            <p:cNvSpPr txBox="1"/>
            <p:nvPr/>
          </p:nvSpPr>
          <p:spPr>
            <a:xfrm>
              <a:off x="2041948" y="3555915"/>
              <a:ext cx="892192" cy="804843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pt-BR" sz="3200" b="1" dirty="0">
                  <a:solidFill>
                    <a:schemeClr val="bg1"/>
                  </a:solidFill>
                </a:rPr>
                <a:t>04</a:t>
              </a:r>
            </a:p>
          </p:txBody>
        </p:sp>
      </p:grpSp>
      <p:sp>
        <p:nvSpPr>
          <p:cNvPr id="101" name="txt">
            <a:extLst>
              <a:ext uri="{FF2B5EF4-FFF2-40B4-BE49-F238E27FC236}">
                <a16:creationId xmlns:a16="http://schemas.microsoft.com/office/drawing/2014/main" id="{74A3D816-5E2B-719C-CBAA-F052935327C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864176" y="1925269"/>
            <a:ext cx="4992863" cy="111569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accent4"/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accent4">
                  <a:lumMod val="75000"/>
                </a:schemeClr>
              </a:buClr>
            </a:pPr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Perenidade</a:t>
            </a:r>
            <a:endParaRPr lang="pt-BR" sz="1400" b="1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spcAft>
                <a:spcPts val="1500"/>
              </a:spcAft>
              <a:buClr>
                <a:schemeClr val="accent4">
                  <a:lumMod val="75000"/>
                </a:schemeClr>
              </a:buClr>
            </a:pPr>
            <a:r>
              <a:rPr lang="pt-BR" sz="1400" dirty="0">
                <a:solidFill>
                  <a:schemeClr val="tx1"/>
                </a:solidFill>
              </a:rPr>
              <a:t>A organização alcança maturidade para sustentar resultados no longo prazo e avaliar novos ciclos de evolução, incluindo a renovação da liderança, a expansão dos negócios e possíveis movimentos de fusões e aquisições (M&amp;A).</a:t>
            </a:r>
          </a:p>
        </p:txBody>
      </p:sp>
      <p:pic>
        <p:nvPicPr>
          <p:cNvPr id="107" name="Picture 106" descr="logo.png">
            <a:extLst>
              <a:ext uri="{FF2B5EF4-FFF2-40B4-BE49-F238E27FC236}">
                <a16:creationId xmlns:a16="http://schemas.microsoft.com/office/drawing/2014/main" id="{2F56E62B-4A42-18E4-F625-A6E0838AE5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451" y="2423636"/>
            <a:ext cx="1197540" cy="65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686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650E1-592F-D61A-C92B-A4965116D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41">
            <a:extLst>
              <a:ext uri="{FF2B5EF4-FFF2-40B4-BE49-F238E27FC236}">
                <a16:creationId xmlns:a16="http://schemas.microsoft.com/office/drawing/2014/main" id="{FDC0BAB9-2D56-3F7E-68E3-33F1C9B027C9}"/>
              </a:ext>
            </a:extLst>
          </p:cNvPr>
          <p:cNvSpPr>
            <a:spLocks noGrp="1"/>
          </p:cNvSpPr>
          <p:nvPr/>
        </p:nvSpPr>
        <p:spPr>
          <a:xfrm>
            <a:off x="4419600" y="2713468"/>
            <a:ext cx="4629150" cy="612000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11906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52400" tIns="76200" rIns="419100" bIns="76200" anchor="ctr">
            <a:noAutofit/>
          </a:bodyPr>
          <a:lstStyle/>
          <a:p>
            <a:pPr algn="l">
              <a:lnSpc>
                <a:spcPct val="108000"/>
              </a:lnSpc>
              <a:buNone/>
              <a:defRPr sz="1043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pt-BR" sz="1200" noProof="1">
                <a:solidFill>
                  <a:srgbClr val="333333"/>
                </a:solidFill>
                <a:latin typeface="Arial"/>
                <a:ea typeface="Arial"/>
                <a:cs typeface="Arial"/>
              </a:rPr>
              <a:t>Diretrizes devem ser traduzidas em OKRs e KPIs, que por sua vez são traduzidas em iniciativas, responsáveis e prazos</a:t>
            </a:r>
            <a:endParaRPr lang="pt-BR" sz="1200" noProof="1">
              <a:solidFill>
                <a:schemeClr val="tx1"/>
              </a:solidFill>
            </a:endParaRPr>
          </a:p>
        </p:txBody>
      </p:sp>
      <p:sp>
        <p:nvSpPr>
          <p:cNvPr id="24" name="Rectangle: Rounded Corners 42">
            <a:extLst>
              <a:ext uri="{FF2B5EF4-FFF2-40B4-BE49-F238E27FC236}">
                <a16:creationId xmlns:a16="http://schemas.microsoft.com/office/drawing/2014/main" id="{F9B2E610-41D8-21E6-9E87-12DAC82500FC}"/>
              </a:ext>
            </a:extLst>
          </p:cNvPr>
          <p:cNvSpPr>
            <a:spLocks noGrp="1"/>
          </p:cNvSpPr>
          <p:nvPr/>
        </p:nvSpPr>
        <p:spPr>
          <a:xfrm>
            <a:off x="4419600" y="4901634"/>
            <a:ext cx="4629150" cy="612000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11906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52400" tIns="76200" rIns="419100" bIns="7620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pt-BR" sz="1200" noProof="1">
                <a:solidFill>
                  <a:srgbClr val="333333"/>
                </a:solidFill>
                <a:latin typeface="Arial"/>
                <a:cs typeface="Arial"/>
              </a:rPr>
              <a:t>Capabilities exigidas pela cadeira, avaliação da maturidade atual com identificação de  gaps e desenvolvimento on-the-job</a:t>
            </a:r>
          </a:p>
        </p:txBody>
      </p:sp>
      <p:sp>
        <p:nvSpPr>
          <p:cNvPr id="26" name="Rectangle: Rounded Corners 42">
            <a:extLst>
              <a:ext uri="{FF2B5EF4-FFF2-40B4-BE49-F238E27FC236}">
                <a16:creationId xmlns:a16="http://schemas.microsoft.com/office/drawing/2014/main" id="{84A635CC-9F1A-4FAB-5161-696D232CE5CD}"/>
              </a:ext>
            </a:extLst>
          </p:cNvPr>
          <p:cNvSpPr>
            <a:spLocks noGrp="1"/>
          </p:cNvSpPr>
          <p:nvPr/>
        </p:nvSpPr>
        <p:spPr>
          <a:xfrm>
            <a:off x="4419600" y="3425491"/>
            <a:ext cx="4629150" cy="612000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11906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52400" tIns="76200" rIns="419100" bIns="7620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pt-BR" sz="1200" noProof="1">
                <a:solidFill>
                  <a:srgbClr val="333333"/>
                </a:solidFill>
                <a:latin typeface="Arial"/>
                <a:cs typeface="Arial"/>
              </a:rPr>
              <a:t>Processos que habilitam o atingimento de OKRs estabelecidos pela estratégia</a:t>
            </a:r>
          </a:p>
        </p:txBody>
      </p:sp>
      <p:sp>
        <p:nvSpPr>
          <p:cNvPr id="6" name="Rectangle: Rounded Corners 42">
            <a:extLst>
              <a:ext uri="{FF2B5EF4-FFF2-40B4-BE49-F238E27FC236}">
                <a16:creationId xmlns:a16="http://schemas.microsoft.com/office/drawing/2014/main" id="{2C4F0AE0-896A-E610-A384-CA7406B58DD5}"/>
              </a:ext>
            </a:extLst>
          </p:cNvPr>
          <p:cNvSpPr>
            <a:spLocks noGrp="1"/>
          </p:cNvSpPr>
          <p:nvPr/>
        </p:nvSpPr>
        <p:spPr>
          <a:xfrm>
            <a:off x="4419600" y="5657850"/>
            <a:ext cx="4629150" cy="612000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11906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52400" tIns="76200" rIns="419100" bIns="7620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pt-BR" sz="1200" noProof="1">
                <a:solidFill>
                  <a:srgbClr val="333333"/>
                </a:solidFill>
                <a:latin typeface="Arial"/>
                <a:cs typeface="Arial"/>
              </a:rPr>
              <a:t>Definição e alinhamento dos princípios culturais da companhia, traduzindo-os em práticas de gestão para todos os níveis da organização</a:t>
            </a:r>
          </a:p>
        </p:txBody>
      </p:sp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DDCD8C3A-0857-F128-E39F-AD0143FF40F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DCD8C3A-0857-F128-E39F-AD0143FF40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8DD7026A-5225-BD7A-C1F6-F2CFA4E1B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A DMS está passando por um processo de profissionalização da gestão, com o desafio de transformar as diretrizes estratégicas em ações tangíveis e mensuráveis</a:t>
            </a:r>
            <a:endParaRPr lang="pt-BR" i="1" noProof="1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E8C8481-3C50-836C-ACCA-D7FD7D3C78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ATY</a:t>
            </a:r>
          </a:p>
          <a:p>
            <a:endParaRPr lang="pt-BR" noProof="1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6FCDFE18-DAEB-58AB-2CD0-5485825B50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6583C8-05BB-28FD-9DBB-19FA6991A3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pt-BR" noProof="1"/>
              <a:t>Transformação da DMS – Detalhamento do plano</a:t>
            </a:r>
          </a:p>
        </p:txBody>
      </p:sp>
      <p:sp>
        <p:nvSpPr>
          <p:cNvPr id="9" name="Rectangle: Rounded Corners 1">
            <a:extLst>
              <a:ext uri="{FF2B5EF4-FFF2-40B4-BE49-F238E27FC236}">
                <a16:creationId xmlns:a16="http://schemas.microsoft.com/office/drawing/2014/main" id="{AD83357B-0E19-ED83-E5A7-80BA0E420058}"/>
              </a:ext>
            </a:extLst>
          </p:cNvPr>
          <p:cNvSpPr>
            <a:spLocks noGrp="1"/>
          </p:cNvSpPr>
          <p:nvPr/>
        </p:nvSpPr>
        <p:spPr>
          <a:xfrm>
            <a:off x="342900" y="1583974"/>
            <a:ext cx="2095500" cy="376801"/>
          </a:xfrm>
          <a:prstGeom prst="roundRect">
            <a:avLst>
              <a:gd name="adj" fmla="val 20370"/>
            </a:avLst>
          </a:prstGeom>
          <a:solidFill>
            <a:schemeClr val="accent3"/>
          </a:solidFill>
          <a:ln w="9525">
            <a:solidFill>
              <a:schemeClr val="accent3">
                <a:lumMod val="7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6200" tIns="47625" rIns="76200" bIns="47625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0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pt-BR" sz="1200" b="1" noProof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Crescimento</a:t>
            </a:r>
          </a:p>
        </p:txBody>
      </p:sp>
      <p:sp>
        <p:nvSpPr>
          <p:cNvPr id="12" name="Rectangle: Rounded Corners 9">
            <a:extLst>
              <a:ext uri="{FF2B5EF4-FFF2-40B4-BE49-F238E27FC236}">
                <a16:creationId xmlns:a16="http://schemas.microsoft.com/office/drawing/2014/main" id="{58565F6C-9EC6-98D0-28F4-FF57F6DCFE25}"/>
              </a:ext>
            </a:extLst>
          </p:cNvPr>
          <p:cNvSpPr>
            <a:spLocks noGrp="1"/>
          </p:cNvSpPr>
          <p:nvPr/>
        </p:nvSpPr>
        <p:spPr>
          <a:xfrm>
            <a:off x="9334500" y="1583974"/>
            <a:ext cx="2514600" cy="376801"/>
          </a:xfrm>
          <a:prstGeom prst="roundRect">
            <a:avLst>
              <a:gd name="adj" fmla="val 20370"/>
            </a:avLst>
          </a:prstGeom>
          <a:solidFill>
            <a:srgbClr val="009796"/>
          </a:solidFill>
          <a:ln w="9525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6200" tIns="47625" rIns="76200" bIns="47625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0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pt-BR" sz="1200" b="1" noProof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Profissionalização</a:t>
            </a:r>
            <a:endParaRPr lang="pt-BR" sz="1200" b="1" noProof="1">
              <a:solidFill>
                <a:schemeClr val="bg1"/>
              </a:solidFill>
            </a:endParaRPr>
          </a:p>
        </p:txBody>
      </p:sp>
      <p:sp>
        <p:nvSpPr>
          <p:cNvPr id="13" name="Rectangle: Rounded Corners 10">
            <a:extLst>
              <a:ext uri="{FF2B5EF4-FFF2-40B4-BE49-F238E27FC236}">
                <a16:creationId xmlns:a16="http://schemas.microsoft.com/office/drawing/2014/main" id="{2CAC0796-97F1-B53A-6892-EDE68E463AE1}"/>
              </a:ext>
            </a:extLst>
          </p:cNvPr>
          <p:cNvSpPr>
            <a:spLocks noGrp="1"/>
          </p:cNvSpPr>
          <p:nvPr/>
        </p:nvSpPr>
        <p:spPr>
          <a:xfrm>
            <a:off x="2724150" y="2713468"/>
            <a:ext cx="1771650" cy="612000"/>
          </a:xfrm>
          <a:prstGeom prst="roundRect">
            <a:avLst>
              <a:gd name="adj" fmla="val 12500"/>
            </a:avLst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pt-BR" sz="1200" b="1" noProof="1">
                <a:solidFill>
                  <a:schemeClr val="bg1"/>
                </a:solidFill>
                <a:latin typeface="Arial"/>
                <a:ea typeface="Arial"/>
                <a:cs typeface="Arial"/>
              </a:rPr>
              <a:t>1. Estratégia</a:t>
            </a:r>
          </a:p>
        </p:txBody>
      </p:sp>
      <p:sp>
        <p:nvSpPr>
          <p:cNvPr id="14" name="Rectangle: Rounded Corners 10">
            <a:extLst>
              <a:ext uri="{FF2B5EF4-FFF2-40B4-BE49-F238E27FC236}">
                <a16:creationId xmlns:a16="http://schemas.microsoft.com/office/drawing/2014/main" id="{166CDD7D-8181-63F7-9292-D7F4C618F547}"/>
              </a:ext>
            </a:extLst>
          </p:cNvPr>
          <p:cNvSpPr>
            <a:spLocks noGrp="1"/>
          </p:cNvSpPr>
          <p:nvPr/>
        </p:nvSpPr>
        <p:spPr>
          <a:xfrm>
            <a:off x="2724150" y="4901634"/>
            <a:ext cx="1771650" cy="612000"/>
          </a:xfrm>
          <a:prstGeom prst="roundRect">
            <a:avLst>
              <a:gd name="adj" fmla="val 12500"/>
            </a:avLst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pt-BR" sz="1200" b="1" noProof="1">
                <a:solidFill>
                  <a:schemeClr val="bg1"/>
                </a:solidFill>
                <a:latin typeface="Arial"/>
                <a:ea typeface="Arial"/>
                <a:cs typeface="Arial"/>
              </a:rPr>
              <a:t>4. Capabilites</a:t>
            </a:r>
          </a:p>
        </p:txBody>
      </p:sp>
      <p:sp>
        <p:nvSpPr>
          <p:cNvPr id="15" name="Rectangle: Rounded Corners 10">
            <a:extLst>
              <a:ext uri="{FF2B5EF4-FFF2-40B4-BE49-F238E27FC236}">
                <a16:creationId xmlns:a16="http://schemas.microsoft.com/office/drawing/2014/main" id="{199A360A-C188-8E1A-2EA5-80F271883408}"/>
              </a:ext>
            </a:extLst>
          </p:cNvPr>
          <p:cNvSpPr>
            <a:spLocks noGrp="1"/>
          </p:cNvSpPr>
          <p:nvPr/>
        </p:nvSpPr>
        <p:spPr>
          <a:xfrm>
            <a:off x="2724150" y="3425491"/>
            <a:ext cx="1771650" cy="612000"/>
          </a:xfrm>
          <a:prstGeom prst="roundRect">
            <a:avLst>
              <a:gd name="adj" fmla="val 12500"/>
            </a:avLst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pt-BR" sz="1200" b="1" noProof="1">
                <a:solidFill>
                  <a:schemeClr val="bg1"/>
                </a:solidFill>
                <a:latin typeface="Arial"/>
                <a:ea typeface="Arial"/>
                <a:cs typeface="Arial"/>
              </a:rPr>
              <a:t>2. Estruturante</a:t>
            </a:r>
          </a:p>
        </p:txBody>
      </p:sp>
      <p:sp>
        <p:nvSpPr>
          <p:cNvPr id="22" name="Rectangle: Rounded Corners 39">
            <a:extLst>
              <a:ext uri="{FF2B5EF4-FFF2-40B4-BE49-F238E27FC236}">
                <a16:creationId xmlns:a16="http://schemas.microsoft.com/office/drawing/2014/main" id="{98D727BC-C17B-3303-A8D7-0CDA70E931D1}"/>
              </a:ext>
            </a:extLst>
          </p:cNvPr>
          <p:cNvSpPr>
            <a:spLocks noGrp="1"/>
          </p:cNvSpPr>
          <p:nvPr/>
        </p:nvSpPr>
        <p:spPr>
          <a:xfrm>
            <a:off x="342900" y="2045558"/>
            <a:ext cx="2095500" cy="4225213"/>
          </a:xfrm>
          <a:prstGeom prst="roundRect">
            <a:avLst>
              <a:gd name="adj" fmla="val 5455"/>
            </a:avLst>
          </a:prstGeom>
          <a:solidFill>
            <a:schemeClr val="accent3">
              <a:lumMod val="20000"/>
              <a:lumOff val="80000"/>
            </a:schemeClr>
          </a:solidFill>
          <a:ln w="11430">
            <a:solidFill>
              <a:schemeClr val="accent3">
                <a:lumMod val="7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139700" indent="-131763" algn="l"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Font typeface="System Font Regular"/>
              <a:buChar char="●"/>
              <a:defRPr sz="102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pt-BR" sz="1200" noProof="1">
                <a:solidFill>
                  <a:srgbClr val="333333"/>
                </a:solidFill>
                <a:latin typeface="Arial"/>
                <a:ea typeface="Arial"/>
                <a:cs typeface="Arial"/>
              </a:rPr>
              <a:t>Fundador atual em processo de transferência do conhecimento para liderança</a:t>
            </a:r>
            <a:endParaRPr lang="pt-BR" sz="1200" noProof="1">
              <a:solidFill>
                <a:schemeClr val="tx1"/>
              </a:solidFill>
            </a:endParaRPr>
          </a:p>
          <a:p>
            <a:pPr marL="139700" indent="-131763" algn="l"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Font typeface="System Font Regular"/>
              <a:buChar char="●"/>
              <a:defRPr sz="102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pt-BR" sz="1200" noProof="1">
                <a:solidFill>
                  <a:srgbClr val="333333"/>
                </a:solidFill>
                <a:latin typeface="Arial"/>
                <a:ea typeface="Arial"/>
                <a:cs typeface="Arial"/>
              </a:rPr>
              <a:t>Co-CEO lidera a profissionalização</a:t>
            </a:r>
            <a:endParaRPr lang="pt-BR" sz="1200" noProof="1">
              <a:solidFill>
                <a:schemeClr val="tx1"/>
              </a:solidFill>
            </a:endParaRPr>
          </a:p>
          <a:p>
            <a:pPr marL="139700" indent="-131763" algn="l"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Font typeface="System Font Regular"/>
              <a:buChar char="●"/>
              <a:defRPr sz="102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pt-BR" sz="1200" noProof="1">
                <a:solidFill>
                  <a:srgbClr val="333333"/>
                </a:solidFill>
                <a:latin typeface="Arial"/>
                <a:ea typeface="Arial"/>
                <a:cs typeface="Arial"/>
              </a:rPr>
              <a:t>C-levels em sua primeira cadeira executiva e absorvidos pelo operacional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3"/>
              </a:buClr>
              <a:buFont typeface="System Font Regular"/>
              <a:buChar char="●"/>
              <a:defRPr sz="102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pt-BR" sz="1200" dirty="0">
                <a:solidFill>
                  <a:srgbClr val="333333"/>
                </a:solidFill>
                <a:latin typeface="Arial"/>
                <a:cs typeface="Arial"/>
              </a:rPr>
              <a:t>Desassociação entre processos, KPIs, modelo de gestão e cultura, gerando falta de clareza em razão de alterações que descaracterizaram seus propósitos originais</a:t>
            </a:r>
            <a:r>
              <a:rPr lang="pt-BR" sz="1020" dirty="0">
                <a:solidFill>
                  <a:srgbClr val="FF0000"/>
                </a:solidFill>
                <a:latin typeface="Arial"/>
              </a:rPr>
              <a:t>.</a:t>
            </a:r>
            <a:endParaRPr lang="pt-BR" sz="1200" noProof="1">
              <a:solidFill>
                <a:srgbClr val="FF0000"/>
              </a:solidFill>
            </a:endParaRPr>
          </a:p>
        </p:txBody>
      </p:sp>
      <p:sp>
        <p:nvSpPr>
          <p:cNvPr id="25" name="Rectangle: Rounded Corners 42">
            <a:extLst>
              <a:ext uri="{FF2B5EF4-FFF2-40B4-BE49-F238E27FC236}">
                <a16:creationId xmlns:a16="http://schemas.microsoft.com/office/drawing/2014/main" id="{77864566-2B79-1125-9D80-7DB4A805021E}"/>
              </a:ext>
            </a:extLst>
          </p:cNvPr>
          <p:cNvSpPr>
            <a:spLocks noGrp="1"/>
          </p:cNvSpPr>
          <p:nvPr/>
        </p:nvSpPr>
        <p:spPr>
          <a:xfrm>
            <a:off x="9334500" y="2045616"/>
            <a:ext cx="2514600" cy="4224234"/>
          </a:xfrm>
          <a:prstGeom prst="roundRect">
            <a:avLst>
              <a:gd name="adj" fmla="val 4545"/>
            </a:avLst>
          </a:prstGeom>
          <a:solidFill>
            <a:schemeClr val="accent2">
              <a:lumMod val="20000"/>
              <a:lumOff val="80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200" noProof="1">
                <a:solidFill>
                  <a:srgbClr val="333333"/>
                </a:solidFill>
                <a:cs typeface="Arial"/>
              </a:rPr>
              <a:t>Fundadores atuam como Board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200" noProof="1">
                <a:solidFill>
                  <a:srgbClr val="333333"/>
                </a:solidFill>
                <a:latin typeface="Arial"/>
                <a:cs typeface="Arial"/>
              </a:rPr>
              <a:t>Board e CEO definem a estratégia da Cia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200" noProof="1">
                <a:solidFill>
                  <a:srgbClr val="333333"/>
                </a:solidFill>
                <a:latin typeface="Arial"/>
                <a:cs typeface="Arial"/>
              </a:rPr>
              <a:t>C-level deve traduzir estratégia em plano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200" noProof="1">
                <a:solidFill>
                  <a:schemeClr val="tx1"/>
                </a:solidFill>
                <a:latin typeface="Arial"/>
                <a:cs typeface="Arial"/>
              </a:rPr>
              <a:t>Decisões guiadas pelo plano de transição apoiados em dados (OKRs e KPIs) 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200" noProof="1">
                <a:solidFill>
                  <a:schemeClr val="tx1"/>
                </a:solidFill>
                <a:latin typeface="Arial"/>
                <a:cs typeface="Arial"/>
              </a:rPr>
              <a:t>Agenda dedicada à profissionalização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200" noProof="1">
                <a:solidFill>
                  <a:schemeClr val="tx1"/>
                </a:solidFill>
                <a:latin typeface="Arial"/>
                <a:cs typeface="Arial"/>
              </a:rPr>
              <a:t>Escopo e pepéis delimitados por gestão</a:t>
            </a:r>
          </a:p>
        </p:txBody>
      </p:sp>
      <p:sp>
        <p:nvSpPr>
          <p:cNvPr id="58" name="Rectangle: Rounded Corners 1">
            <a:extLst>
              <a:ext uri="{FF2B5EF4-FFF2-40B4-BE49-F238E27FC236}">
                <a16:creationId xmlns:a16="http://schemas.microsoft.com/office/drawing/2014/main" id="{014706EB-57A2-C39B-03FF-E12347F37A08}"/>
              </a:ext>
            </a:extLst>
          </p:cNvPr>
          <p:cNvSpPr>
            <a:spLocks noGrp="1"/>
          </p:cNvSpPr>
          <p:nvPr/>
        </p:nvSpPr>
        <p:spPr>
          <a:xfrm>
            <a:off x="2724150" y="1583974"/>
            <a:ext cx="6324600" cy="376801"/>
          </a:xfrm>
          <a:prstGeom prst="homePlate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6200" tIns="47625" rIns="76200" bIns="47625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0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pt-BR" sz="1200" b="1" noProof="1">
                <a:solidFill>
                  <a:schemeClr val="tx1"/>
                </a:solidFill>
                <a:latin typeface="Arial"/>
                <a:ea typeface="Arial"/>
                <a:cs typeface="Arial"/>
              </a:rPr>
              <a:t>Jornada de Transição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3013975A-B475-2A11-AEAD-18E13680A76A}"/>
              </a:ext>
            </a:extLst>
          </p:cNvPr>
          <p:cNvSpPr/>
          <p:nvPr/>
        </p:nvSpPr>
        <p:spPr>
          <a:xfrm>
            <a:off x="2724150" y="2347706"/>
            <a:ext cx="1154589" cy="260498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 dirty="0">
                <a:solidFill>
                  <a:schemeClr val="bg1"/>
                </a:solidFill>
              </a:rPr>
              <a:t>Finanças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38169FCE-CEAF-AF8E-B8DB-649313EF714B}"/>
              </a:ext>
            </a:extLst>
          </p:cNvPr>
          <p:cNvSpPr/>
          <p:nvPr/>
        </p:nvSpPr>
        <p:spPr>
          <a:xfrm>
            <a:off x="4036102" y="2347706"/>
            <a:ext cx="1154589" cy="260498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 dirty="0">
                <a:solidFill>
                  <a:schemeClr val="bg1"/>
                </a:solidFill>
              </a:rPr>
              <a:t>Operação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A0740E1E-CC34-2AA0-C71D-DAEF9ED149D6}"/>
              </a:ext>
            </a:extLst>
          </p:cNvPr>
          <p:cNvSpPr/>
          <p:nvPr/>
        </p:nvSpPr>
        <p:spPr>
          <a:xfrm>
            <a:off x="5348054" y="2347706"/>
            <a:ext cx="1154589" cy="260498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>
                <a:solidFill>
                  <a:schemeClr val="bg1"/>
                </a:solidFill>
              </a:rPr>
              <a:t>Receita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BE5C5597-7917-6600-B26D-1CD522463C84}"/>
              </a:ext>
            </a:extLst>
          </p:cNvPr>
          <p:cNvSpPr/>
          <p:nvPr/>
        </p:nvSpPr>
        <p:spPr>
          <a:xfrm>
            <a:off x="6628180" y="2347706"/>
            <a:ext cx="1154589" cy="260498"/>
          </a:xfrm>
          <a:prstGeom prst="roundRect">
            <a:avLst/>
          </a:prstGeom>
          <a:solidFill>
            <a:srgbClr val="C6D02C"/>
          </a:solidFill>
          <a:ln>
            <a:solidFill>
              <a:srgbClr val="C6D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 dirty="0">
                <a:solidFill>
                  <a:schemeClr val="bg1"/>
                </a:solidFill>
              </a:rPr>
              <a:t>Cliente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9E23783-DFF4-C1C5-530D-F80549202FB6}"/>
              </a:ext>
            </a:extLst>
          </p:cNvPr>
          <p:cNvSpPr/>
          <p:nvPr/>
        </p:nvSpPr>
        <p:spPr>
          <a:xfrm>
            <a:off x="7894161" y="2347706"/>
            <a:ext cx="1154589" cy="260498"/>
          </a:xfrm>
          <a:prstGeom prst="roundRect">
            <a:avLst/>
          </a:prstGeom>
          <a:solidFill>
            <a:srgbClr val="63277F"/>
          </a:solidFill>
          <a:ln>
            <a:solidFill>
              <a:srgbClr val="632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>
                <a:solidFill>
                  <a:schemeClr val="bg1"/>
                </a:solidFill>
              </a:rPr>
              <a:t>Time</a:t>
            </a:r>
          </a:p>
        </p:txBody>
      </p:sp>
      <p:sp>
        <p:nvSpPr>
          <p:cNvPr id="70" name="Espaço Reservado para Texto 3">
            <a:extLst>
              <a:ext uri="{FF2B5EF4-FFF2-40B4-BE49-F238E27FC236}">
                <a16:creationId xmlns:a16="http://schemas.microsoft.com/office/drawing/2014/main" id="{7D8D0541-4A6D-9D9F-75FC-918DD4434EDB}"/>
              </a:ext>
            </a:extLst>
          </p:cNvPr>
          <p:cNvSpPr txBox="1">
            <a:spLocks/>
          </p:cNvSpPr>
          <p:nvPr/>
        </p:nvSpPr>
        <p:spPr>
          <a:xfrm>
            <a:off x="2724150" y="2045558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nl-NL" sz="12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7808" marR="0" indent="177808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Arial" charset="0"/>
              <a:buChar char="–"/>
              <a:tabLst/>
              <a:defRPr lang="nl-NL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3556" marR="0" indent="177808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itchFamily="18" charset="2"/>
              <a:buChar char=""/>
              <a:tabLst/>
              <a:defRPr lang="nl-NL" sz="1400" kern="1200" dirty="0" smtClean="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3pPr>
            <a:lvl4pPr marL="0" marR="0" indent="-171459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lang="nl-NL" sz="1400" kern="1200" dirty="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4pPr>
            <a:lvl5pPr marL="0" marR="0" indent="-185746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lang="nl-NL" sz="1400" kern="1200" dirty="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5pPr>
            <a:lvl6pPr marL="2514726" marR="0" indent="-228612" algn="l" defTabSz="45722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2" algn="l" defTabSz="45722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2" indent="-228612" algn="l" defTabSz="45722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2" algn="l" defTabSz="45722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noProof="1"/>
              <a:t>Tópicos estratégicos da DMS</a:t>
            </a:r>
          </a:p>
        </p:txBody>
      </p:sp>
      <p:sp>
        <p:nvSpPr>
          <p:cNvPr id="3" name="Disclaimer_Box">
            <a:extLst>
              <a:ext uri="{FF2B5EF4-FFF2-40B4-BE49-F238E27FC236}">
                <a16:creationId xmlns:a16="http://schemas.microsoft.com/office/drawing/2014/main" id="{3B912BC9-2779-6EB1-8B96-AC577F323DC9}"/>
              </a:ext>
            </a:extLst>
          </p:cNvPr>
          <p:cNvSpPr txBox="1">
            <a:spLocks/>
          </p:cNvSpPr>
          <p:nvPr/>
        </p:nvSpPr>
        <p:spPr>
          <a:xfrm>
            <a:off x="9540697" y="1200149"/>
            <a:ext cx="231634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 sz="1200" b="1" kern="1200" baseline="0">
                <a:solidFill>
                  <a:schemeClr val="accent6"/>
                </a:solidFill>
                <a:latin typeface="Arial"/>
                <a:ea typeface="+mn-ea"/>
                <a:cs typeface="Arial"/>
              </a:defRPr>
            </a:lvl1pPr>
            <a:lvl2pPr marL="352425" marR="0" indent="-1651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9750" marR="0" indent="-1857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2" pitchFamily="18" charset="2"/>
              <a:buChar char=""/>
              <a:tabLst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712788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900113" marR="0" indent="-1857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</a:rPr>
              <a:t>Não Exaustivo | Para discussão</a:t>
            </a:r>
          </a:p>
        </p:txBody>
      </p:sp>
      <p:sp>
        <p:nvSpPr>
          <p:cNvPr id="4" name="Rectangle: Rounded Corners 10">
            <a:extLst>
              <a:ext uri="{FF2B5EF4-FFF2-40B4-BE49-F238E27FC236}">
                <a16:creationId xmlns:a16="http://schemas.microsoft.com/office/drawing/2014/main" id="{EF9064BA-8446-C17F-D1E6-BCC7F1B83CFC}"/>
              </a:ext>
            </a:extLst>
          </p:cNvPr>
          <p:cNvSpPr>
            <a:spLocks noGrp="1"/>
          </p:cNvSpPr>
          <p:nvPr/>
        </p:nvSpPr>
        <p:spPr>
          <a:xfrm>
            <a:off x="2724150" y="5657850"/>
            <a:ext cx="1771650" cy="612000"/>
          </a:xfrm>
          <a:prstGeom prst="roundRect">
            <a:avLst>
              <a:gd name="adj" fmla="val 12500"/>
            </a:avLst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pt-BR" sz="1200" b="1" noProof="1">
                <a:solidFill>
                  <a:schemeClr val="bg1"/>
                </a:solidFill>
                <a:latin typeface="Arial"/>
                <a:ea typeface="Arial"/>
                <a:cs typeface="Arial"/>
              </a:rPr>
              <a:t>5. Cultura</a:t>
            </a:r>
          </a:p>
        </p:txBody>
      </p:sp>
      <p:sp>
        <p:nvSpPr>
          <p:cNvPr id="8" name="Rectangle: Rounded Corners 42">
            <a:extLst>
              <a:ext uri="{FF2B5EF4-FFF2-40B4-BE49-F238E27FC236}">
                <a16:creationId xmlns:a16="http://schemas.microsoft.com/office/drawing/2014/main" id="{128BB7D8-1186-8EEB-C669-B092E33BEA48}"/>
              </a:ext>
            </a:extLst>
          </p:cNvPr>
          <p:cNvSpPr>
            <a:spLocks noGrp="1"/>
          </p:cNvSpPr>
          <p:nvPr/>
        </p:nvSpPr>
        <p:spPr>
          <a:xfrm>
            <a:off x="4419600" y="4161587"/>
            <a:ext cx="4629150" cy="612000"/>
          </a:xfrm>
          <a:prstGeom prst="homePlate">
            <a:avLst/>
          </a:prstGeom>
          <a:solidFill>
            <a:schemeClr val="bg1">
              <a:lumMod val="95000"/>
            </a:schemeClr>
          </a:solidFill>
          <a:ln w="11906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52400" tIns="76200" rIns="419100" bIns="7620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pt-BR" sz="1200" noProof="1">
                <a:solidFill>
                  <a:srgbClr val="333333"/>
                </a:solidFill>
                <a:latin typeface="Arial"/>
                <a:cs typeface="Arial"/>
              </a:rPr>
              <a:t>Processos recorrentes da operação da área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8A89B3-DB65-10B4-BE93-928AA522ABC1}"/>
              </a:ext>
            </a:extLst>
          </p:cNvPr>
          <p:cNvSpPr>
            <a:spLocks noGrp="1"/>
          </p:cNvSpPr>
          <p:nvPr/>
        </p:nvSpPr>
        <p:spPr>
          <a:xfrm>
            <a:off x="2724150" y="4172604"/>
            <a:ext cx="1771650" cy="612000"/>
          </a:xfrm>
          <a:prstGeom prst="roundRect">
            <a:avLst>
              <a:gd name="adj" fmla="val 12500"/>
            </a:avLst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75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pt-BR" sz="1200" b="1" noProof="1">
                <a:solidFill>
                  <a:schemeClr val="bg1"/>
                </a:solidFill>
                <a:latin typeface="Arial"/>
                <a:ea typeface="Arial"/>
                <a:cs typeface="Arial"/>
              </a:rPr>
              <a:t>3. Operacional</a:t>
            </a:r>
          </a:p>
        </p:txBody>
      </p:sp>
      <p:grpSp>
        <p:nvGrpSpPr>
          <p:cNvPr id="16" name="Agrupar 134">
            <a:extLst>
              <a:ext uri="{FF2B5EF4-FFF2-40B4-BE49-F238E27FC236}">
                <a16:creationId xmlns:a16="http://schemas.microsoft.com/office/drawing/2014/main" id="{3561B835-135D-B5A6-A193-2B33DD9E4ADD}"/>
              </a:ext>
            </a:extLst>
          </p:cNvPr>
          <p:cNvGrpSpPr>
            <a:grpSpLocks noChangeAspect="1"/>
          </p:cNvGrpSpPr>
          <p:nvPr/>
        </p:nvGrpSpPr>
        <p:grpSpPr>
          <a:xfrm>
            <a:off x="162900" y="1519724"/>
            <a:ext cx="360000" cy="322295"/>
            <a:chOff x="1616645" y="3512633"/>
            <a:chExt cx="892192" cy="811420"/>
          </a:xfrm>
        </p:grpSpPr>
        <p:sp>
          <p:nvSpPr>
            <p:cNvPr id="17" name="Elipse 133">
              <a:extLst>
                <a:ext uri="{FF2B5EF4-FFF2-40B4-BE49-F238E27FC236}">
                  <a16:creationId xmlns:a16="http://schemas.microsoft.com/office/drawing/2014/main" id="{6298F8B2-AE65-6F2E-1072-11693CECAF77}"/>
                </a:ext>
              </a:extLst>
            </p:cNvPr>
            <p:cNvSpPr/>
            <p:nvPr/>
          </p:nvSpPr>
          <p:spPr>
            <a:xfrm>
              <a:off x="1657031" y="3512633"/>
              <a:ext cx="811420" cy="811420"/>
            </a:xfrm>
            <a:prstGeom prst="ellipse">
              <a:avLst/>
            </a:prstGeom>
            <a:solidFill>
              <a:schemeClr val="accent6">
                <a:lumMod val="25000"/>
              </a:schemeClr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err="1">
                <a:solidFill>
                  <a:schemeClr val="tx1"/>
                </a:solidFill>
              </a:endParaRPr>
            </a:p>
          </p:txBody>
        </p:sp>
        <p:sp>
          <p:nvSpPr>
            <p:cNvPr id="18" name="CaixaDeTexto 116">
              <a:extLst>
                <a:ext uri="{FF2B5EF4-FFF2-40B4-BE49-F238E27FC236}">
                  <a16:creationId xmlns:a16="http://schemas.microsoft.com/office/drawing/2014/main" id="{32AFBCB5-AB82-1F05-FC3C-629AA9ED74F7}"/>
                </a:ext>
              </a:extLst>
            </p:cNvPr>
            <p:cNvSpPr txBox="1"/>
            <p:nvPr/>
          </p:nvSpPr>
          <p:spPr>
            <a:xfrm>
              <a:off x="1616645" y="3564399"/>
              <a:ext cx="892192" cy="350398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pt-BR" sz="1200" b="1">
                  <a:solidFill>
                    <a:schemeClr val="bg1"/>
                  </a:solidFill>
                </a:rPr>
                <a:t>01</a:t>
              </a:r>
            </a:p>
          </p:txBody>
        </p:sp>
      </p:grpSp>
      <p:grpSp>
        <p:nvGrpSpPr>
          <p:cNvPr id="19" name="Agrupar 135">
            <a:extLst>
              <a:ext uri="{FF2B5EF4-FFF2-40B4-BE49-F238E27FC236}">
                <a16:creationId xmlns:a16="http://schemas.microsoft.com/office/drawing/2014/main" id="{B676553E-E0D0-3260-C1A2-72806EA4152C}"/>
              </a:ext>
            </a:extLst>
          </p:cNvPr>
          <p:cNvGrpSpPr>
            <a:grpSpLocks noChangeAspect="1"/>
          </p:cNvGrpSpPr>
          <p:nvPr/>
        </p:nvGrpSpPr>
        <p:grpSpPr>
          <a:xfrm>
            <a:off x="9192127" y="1518315"/>
            <a:ext cx="360000" cy="322295"/>
            <a:chOff x="1600641" y="3505350"/>
            <a:chExt cx="892192" cy="811420"/>
          </a:xfrm>
        </p:grpSpPr>
        <p:sp>
          <p:nvSpPr>
            <p:cNvPr id="20" name="Elipse 136">
              <a:extLst>
                <a:ext uri="{FF2B5EF4-FFF2-40B4-BE49-F238E27FC236}">
                  <a16:creationId xmlns:a16="http://schemas.microsoft.com/office/drawing/2014/main" id="{38AFB001-C597-CC75-A09A-AB5CA4704E9E}"/>
                </a:ext>
              </a:extLst>
            </p:cNvPr>
            <p:cNvSpPr/>
            <p:nvPr/>
          </p:nvSpPr>
          <p:spPr>
            <a:xfrm>
              <a:off x="1641027" y="3505350"/>
              <a:ext cx="811420" cy="811420"/>
            </a:xfrm>
            <a:prstGeom prst="ellipse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err="1">
                <a:solidFill>
                  <a:schemeClr val="tx1"/>
                </a:solidFill>
              </a:endParaRPr>
            </a:p>
          </p:txBody>
        </p:sp>
        <p:sp>
          <p:nvSpPr>
            <p:cNvPr id="21" name="CaixaDeTexto 137">
              <a:extLst>
                <a:ext uri="{FF2B5EF4-FFF2-40B4-BE49-F238E27FC236}">
                  <a16:creationId xmlns:a16="http://schemas.microsoft.com/office/drawing/2014/main" id="{58AF73BB-29D3-8F60-0326-F8E34A777D3C}"/>
                </a:ext>
              </a:extLst>
            </p:cNvPr>
            <p:cNvSpPr txBox="1"/>
            <p:nvPr/>
          </p:nvSpPr>
          <p:spPr>
            <a:xfrm>
              <a:off x="1600641" y="3526340"/>
              <a:ext cx="892192" cy="350399"/>
            </a:xfrm>
            <a:prstGeom prst="rect">
              <a:avLst/>
            </a:prstGeom>
            <a:noFill/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pt-BR" sz="1200" b="1" dirty="0">
                  <a:solidFill>
                    <a:schemeClr val="bg1"/>
                  </a:solidFill>
                </a:rPr>
                <a:t>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4271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D060A-E658-7672-F394-539793A28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Página 3 | Crescente seta png | PNGWing">
            <a:extLst>
              <a:ext uri="{FF2B5EF4-FFF2-40B4-BE49-F238E27FC236}">
                <a16:creationId xmlns:a16="http://schemas.microsoft.com/office/drawing/2014/main" id="{4F4FF273-0A92-20E7-BD70-A2AEA7486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EEEEE"/>
              </a:clrFrom>
              <a:clrTo>
                <a:srgbClr val="EEEEEE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466729" flipV="1">
            <a:off x="5469671" y="4293188"/>
            <a:ext cx="1443220" cy="1361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70CF2836-29C8-E80F-E344-2CC57717159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0CF2836-29C8-E80F-E344-2CC5771715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B70137E8-0119-4766-A298-B7BC9634F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Propomos uma abordagem com contrução das atividades, roadmaps e KPIs até novembro de 2026 com inicio ao apoioa a implementação iniciando em seguida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2B602DB-FADB-5C77-457B-60534CD580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ATY</a:t>
            </a:r>
          </a:p>
          <a:p>
            <a:endParaRPr lang="pt-BR" noProof="1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0B10195D-A235-3D47-A695-EDDA57B496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860CA58-9D38-C7C8-B23B-B15ED43522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pt-BR" noProof="1"/>
              <a:t>Cronograma Macro do Projeto</a:t>
            </a:r>
          </a:p>
        </p:txBody>
      </p:sp>
      <p:sp>
        <p:nvSpPr>
          <p:cNvPr id="50" name="Disclaimer_Box">
            <a:extLst>
              <a:ext uri="{FF2B5EF4-FFF2-40B4-BE49-F238E27FC236}">
                <a16:creationId xmlns:a16="http://schemas.microsoft.com/office/drawing/2014/main" id="{BACD55D0-2175-183F-C109-0205A8167836}"/>
              </a:ext>
            </a:extLst>
          </p:cNvPr>
          <p:cNvSpPr txBox="1">
            <a:spLocks/>
          </p:cNvSpPr>
          <p:nvPr/>
        </p:nvSpPr>
        <p:spPr>
          <a:xfrm>
            <a:off x="9540697" y="1200149"/>
            <a:ext cx="231634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 sz="1200" b="1" kern="1200" baseline="0">
                <a:solidFill>
                  <a:schemeClr val="accent6"/>
                </a:solidFill>
                <a:latin typeface="Arial"/>
                <a:ea typeface="+mn-ea"/>
                <a:cs typeface="Arial"/>
              </a:defRPr>
            </a:lvl1pPr>
            <a:lvl2pPr marL="352425" marR="0" indent="-1651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9750" marR="0" indent="-1857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2" pitchFamily="18" charset="2"/>
              <a:buChar char=""/>
              <a:tabLst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712788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900113" marR="0" indent="-1857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</a:rPr>
              <a:t>Não Exaustivo | Para discussão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632F993-D1AF-84FD-AF1C-8630AA72C4CF}"/>
              </a:ext>
            </a:extLst>
          </p:cNvPr>
          <p:cNvCxnSpPr>
            <a:cxnSpLocks/>
          </p:cNvCxnSpPr>
          <p:nvPr/>
        </p:nvCxnSpPr>
        <p:spPr>
          <a:xfrm>
            <a:off x="2415471" y="1598712"/>
            <a:ext cx="972000" cy="0"/>
          </a:xfrm>
          <a:prstGeom prst="line">
            <a:avLst/>
          </a:prstGeom>
          <a:ln w="9525">
            <a:solidFill>
              <a:schemeClr val="accent4"/>
            </a:solidFill>
            <a:headEnd type="oval" w="med" len="med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5ADF4FB-63E7-A752-AB0C-661E8E63CE24}"/>
              </a:ext>
            </a:extLst>
          </p:cNvPr>
          <p:cNvCxnSpPr>
            <a:cxnSpLocks/>
          </p:cNvCxnSpPr>
          <p:nvPr/>
        </p:nvCxnSpPr>
        <p:spPr>
          <a:xfrm>
            <a:off x="3387471" y="1598712"/>
            <a:ext cx="6457459" cy="0"/>
          </a:xfrm>
          <a:prstGeom prst="line">
            <a:avLst/>
          </a:prstGeom>
          <a:ln w="9525">
            <a:solidFill>
              <a:schemeClr val="accent4"/>
            </a:solidFill>
            <a:headEnd type="oval" w="med" len="med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E37AFD9-1434-18A0-FB78-30AECA8CE19C}"/>
              </a:ext>
            </a:extLst>
          </p:cNvPr>
          <p:cNvSpPr txBox="1"/>
          <p:nvPr/>
        </p:nvSpPr>
        <p:spPr>
          <a:xfrm>
            <a:off x="2498381" y="1421571"/>
            <a:ext cx="811441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sz="1600" b="1" dirty="0"/>
              <a:t>2026.1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2B9C70-02BF-23C2-BA85-2C3C534D0E38}"/>
              </a:ext>
            </a:extLst>
          </p:cNvPr>
          <p:cNvSpPr txBox="1"/>
          <p:nvPr/>
        </p:nvSpPr>
        <p:spPr>
          <a:xfrm>
            <a:off x="6196814" y="1391335"/>
            <a:ext cx="811441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sz="1600" b="1" dirty="0"/>
              <a:t>2026.2</a:t>
            </a:r>
          </a:p>
        </p:txBody>
      </p:sp>
      <p:sp>
        <p:nvSpPr>
          <p:cNvPr id="47" name="Rectangle: Rounded Corners 39">
            <a:extLst>
              <a:ext uri="{FF2B5EF4-FFF2-40B4-BE49-F238E27FC236}">
                <a16:creationId xmlns:a16="http://schemas.microsoft.com/office/drawing/2014/main" id="{392A5986-8EDD-595D-9EF3-7AE3A06B0C89}"/>
              </a:ext>
            </a:extLst>
          </p:cNvPr>
          <p:cNvSpPr/>
          <p:nvPr/>
        </p:nvSpPr>
        <p:spPr>
          <a:xfrm>
            <a:off x="10303980" y="6340286"/>
            <a:ext cx="180000" cy="180000"/>
          </a:xfrm>
          <a:prstGeom prst="roundRect">
            <a:avLst/>
          </a:prstGeom>
          <a:pattFill prst="wdUpDiag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err="1">
              <a:solidFill>
                <a:schemeClr val="tx1"/>
              </a:solidFill>
            </a:endParaRPr>
          </a:p>
        </p:txBody>
      </p:sp>
      <p:sp>
        <p:nvSpPr>
          <p:cNvPr id="48" name="Rectangle: Rounded Corners 40">
            <a:extLst>
              <a:ext uri="{FF2B5EF4-FFF2-40B4-BE49-F238E27FC236}">
                <a16:creationId xmlns:a16="http://schemas.microsoft.com/office/drawing/2014/main" id="{F53E9D85-B126-E4FF-A7E2-572DCFFEAC74}"/>
              </a:ext>
            </a:extLst>
          </p:cNvPr>
          <p:cNvSpPr/>
          <p:nvPr/>
        </p:nvSpPr>
        <p:spPr>
          <a:xfrm>
            <a:off x="8182191" y="6340286"/>
            <a:ext cx="180000" cy="18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err="1">
              <a:solidFill>
                <a:schemeClr val="tx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F5B3A1-D2C5-C7EB-5BD3-4E952CF8EA29}"/>
              </a:ext>
            </a:extLst>
          </p:cNvPr>
          <p:cNvSpPr txBox="1"/>
          <p:nvPr/>
        </p:nvSpPr>
        <p:spPr>
          <a:xfrm>
            <a:off x="8362191" y="6307176"/>
            <a:ext cx="18517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/>
              <a:t>Construção/Desenvolvimento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51FDF5-9613-C4BA-CF48-C00AC0B48C6B}"/>
              </a:ext>
            </a:extLst>
          </p:cNvPr>
          <p:cNvSpPr txBox="1"/>
          <p:nvPr/>
        </p:nvSpPr>
        <p:spPr>
          <a:xfrm>
            <a:off x="10497990" y="6307176"/>
            <a:ext cx="10567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/>
              <a:t>Implementação</a:t>
            </a:r>
          </a:p>
        </p:txBody>
      </p:sp>
      <p:sp>
        <p:nvSpPr>
          <p:cNvPr id="3" name="Rectangle: Rounded Corners 37">
            <a:extLst>
              <a:ext uri="{FF2B5EF4-FFF2-40B4-BE49-F238E27FC236}">
                <a16:creationId xmlns:a16="http://schemas.microsoft.com/office/drawing/2014/main" id="{E8BBD8B2-51BC-551C-83D2-FAC397275449}"/>
              </a:ext>
            </a:extLst>
          </p:cNvPr>
          <p:cNvSpPr/>
          <p:nvPr/>
        </p:nvSpPr>
        <p:spPr>
          <a:xfrm>
            <a:off x="3557115" y="5670916"/>
            <a:ext cx="8375147" cy="637755"/>
          </a:xfrm>
          <a:prstGeom prst="roundRect">
            <a:avLst/>
          </a:prstGeom>
          <a:pattFill prst="wdUpDiag">
            <a:fgClr>
              <a:schemeClr val="accent4"/>
            </a:fgClr>
            <a:bgClr>
              <a:schemeClr val="bg1"/>
            </a:bgClr>
          </a:patt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err="1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42E4DC-E9ED-1AED-CC8F-0C972EDEDE7F}"/>
              </a:ext>
            </a:extLst>
          </p:cNvPr>
          <p:cNvGrpSpPr/>
          <p:nvPr/>
        </p:nvGrpSpPr>
        <p:grpSpPr>
          <a:xfrm>
            <a:off x="2415471" y="1858415"/>
            <a:ext cx="4166529" cy="168402"/>
            <a:chOff x="2415471" y="2184400"/>
            <a:chExt cx="4166529" cy="660400"/>
          </a:xfrm>
        </p:grpSpPr>
        <p:sp>
          <p:nvSpPr>
            <p:cNvPr id="24" name="Rectangle: Rounded Corners 7">
              <a:extLst>
                <a:ext uri="{FF2B5EF4-FFF2-40B4-BE49-F238E27FC236}">
                  <a16:creationId xmlns:a16="http://schemas.microsoft.com/office/drawing/2014/main" id="{270FEDFC-8D7C-BFBA-F3F5-ADB05E0269BA}"/>
                </a:ext>
              </a:extLst>
            </p:cNvPr>
            <p:cNvSpPr/>
            <p:nvPr/>
          </p:nvSpPr>
          <p:spPr>
            <a:xfrm>
              <a:off x="2415471" y="2184400"/>
              <a:ext cx="972000" cy="6604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200" b="1" dirty="0">
                  <a:solidFill>
                    <a:schemeClr val="tx1"/>
                  </a:solidFill>
                </a:rPr>
                <a:t>Setembro</a:t>
              </a:r>
            </a:p>
          </p:txBody>
        </p:sp>
        <p:sp>
          <p:nvSpPr>
            <p:cNvPr id="26" name="Rectangle: Rounded Corners 8">
              <a:extLst>
                <a:ext uri="{FF2B5EF4-FFF2-40B4-BE49-F238E27FC236}">
                  <a16:creationId xmlns:a16="http://schemas.microsoft.com/office/drawing/2014/main" id="{340AFB56-3772-D327-7631-4AD80FC0BD97}"/>
                </a:ext>
              </a:extLst>
            </p:cNvPr>
            <p:cNvSpPr/>
            <p:nvPr/>
          </p:nvSpPr>
          <p:spPr>
            <a:xfrm>
              <a:off x="4536201" y="2184400"/>
              <a:ext cx="972000" cy="6604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200" b="1">
                  <a:solidFill>
                    <a:schemeClr val="tx1"/>
                  </a:solidFill>
                </a:rPr>
                <a:t>Novembro</a:t>
              </a:r>
            </a:p>
          </p:txBody>
        </p:sp>
        <p:sp>
          <p:nvSpPr>
            <p:cNvPr id="27" name="Rectangle: Rounded Corners 9">
              <a:extLst>
                <a:ext uri="{FF2B5EF4-FFF2-40B4-BE49-F238E27FC236}">
                  <a16:creationId xmlns:a16="http://schemas.microsoft.com/office/drawing/2014/main" id="{50194A90-1A1D-D9A3-D12A-FACCDC23DC93}"/>
                </a:ext>
              </a:extLst>
            </p:cNvPr>
            <p:cNvSpPr/>
            <p:nvPr/>
          </p:nvSpPr>
          <p:spPr>
            <a:xfrm>
              <a:off x="5610000" y="2184400"/>
              <a:ext cx="972000" cy="6604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200" b="1">
                  <a:solidFill>
                    <a:schemeClr val="tx1"/>
                  </a:solidFill>
                </a:rPr>
                <a:t>Dezembro</a:t>
              </a:r>
            </a:p>
          </p:txBody>
        </p:sp>
        <p:sp>
          <p:nvSpPr>
            <p:cNvPr id="29" name="Rectangle: Rounded Corners 14">
              <a:extLst>
                <a:ext uri="{FF2B5EF4-FFF2-40B4-BE49-F238E27FC236}">
                  <a16:creationId xmlns:a16="http://schemas.microsoft.com/office/drawing/2014/main" id="{792D9BF4-0434-AD58-FED1-EEB7FED09085}"/>
                </a:ext>
              </a:extLst>
            </p:cNvPr>
            <p:cNvSpPr/>
            <p:nvPr/>
          </p:nvSpPr>
          <p:spPr>
            <a:xfrm>
              <a:off x="3475836" y="2184400"/>
              <a:ext cx="972000" cy="6604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200" b="1">
                  <a:solidFill>
                    <a:schemeClr val="tx1"/>
                  </a:solidFill>
                </a:rPr>
                <a:t>Outubro</a:t>
              </a:r>
            </a:p>
          </p:txBody>
        </p:sp>
      </p:grpSp>
      <p:sp>
        <p:nvSpPr>
          <p:cNvPr id="30" name="Rectangle: Rounded Corners 15">
            <a:extLst>
              <a:ext uri="{FF2B5EF4-FFF2-40B4-BE49-F238E27FC236}">
                <a16:creationId xmlns:a16="http://schemas.microsoft.com/office/drawing/2014/main" id="{75E43C02-EF56-841A-D551-9D822065A66B}"/>
              </a:ext>
            </a:extLst>
          </p:cNvPr>
          <p:cNvSpPr/>
          <p:nvPr/>
        </p:nvSpPr>
        <p:spPr>
          <a:xfrm>
            <a:off x="335999" y="2144734"/>
            <a:ext cx="1962701" cy="61900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Focos estratégicos para objetivos e atividades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FF38F0A-C3AE-DC1D-F567-772100631327}"/>
              </a:ext>
            </a:extLst>
          </p:cNvPr>
          <p:cNvGrpSpPr/>
          <p:nvPr/>
        </p:nvGrpSpPr>
        <p:grpSpPr>
          <a:xfrm>
            <a:off x="6665066" y="1858415"/>
            <a:ext cx="5267196" cy="168402"/>
            <a:chOff x="6683799" y="2184400"/>
            <a:chExt cx="5267196" cy="660400"/>
          </a:xfrm>
        </p:grpSpPr>
        <p:sp>
          <p:nvSpPr>
            <p:cNvPr id="32" name="Rectangle: Rounded Corners 11">
              <a:extLst>
                <a:ext uri="{FF2B5EF4-FFF2-40B4-BE49-F238E27FC236}">
                  <a16:creationId xmlns:a16="http://schemas.microsoft.com/office/drawing/2014/main" id="{BB199877-A0AF-B39C-28B3-954557B9CE3E}"/>
                </a:ext>
              </a:extLst>
            </p:cNvPr>
            <p:cNvSpPr/>
            <p:nvPr/>
          </p:nvSpPr>
          <p:spPr>
            <a:xfrm>
              <a:off x="6683799" y="2184400"/>
              <a:ext cx="972000" cy="6604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200" b="1">
                  <a:solidFill>
                    <a:schemeClr val="tx1"/>
                  </a:solidFill>
                </a:rPr>
                <a:t>Janeiro</a:t>
              </a:r>
            </a:p>
          </p:txBody>
        </p:sp>
        <p:sp>
          <p:nvSpPr>
            <p:cNvPr id="33" name="Rectangle: Rounded Corners 13">
              <a:extLst>
                <a:ext uri="{FF2B5EF4-FFF2-40B4-BE49-F238E27FC236}">
                  <a16:creationId xmlns:a16="http://schemas.microsoft.com/office/drawing/2014/main" id="{4E0829B9-21BA-C16D-626D-C40E171BCAA7}"/>
                </a:ext>
              </a:extLst>
            </p:cNvPr>
            <p:cNvSpPr/>
            <p:nvPr/>
          </p:nvSpPr>
          <p:spPr>
            <a:xfrm>
              <a:off x="7757598" y="2184400"/>
              <a:ext cx="972000" cy="6604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200" b="1">
                  <a:solidFill>
                    <a:schemeClr val="tx1"/>
                  </a:solidFill>
                </a:rPr>
                <a:t>Fevereiro</a:t>
              </a:r>
            </a:p>
          </p:txBody>
        </p:sp>
        <p:sp>
          <p:nvSpPr>
            <p:cNvPr id="34" name="Rectangle: Rounded Corners 16">
              <a:extLst>
                <a:ext uri="{FF2B5EF4-FFF2-40B4-BE49-F238E27FC236}">
                  <a16:creationId xmlns:a16="http://schemas.microsoft.com/office/drawing/2014/main" id="{BF906805-CE00-A6CE-4A3D-66E33A1D25E7}"/>
                </a:ext>
              </a:extLst>
            </p:cNvPr>
            <p:cNvSpPr/>
            <p:nvPr/>
          </p:nvSpPr>
          <p:spPr>
            <a:xfrm>
              <a:off x="8831397" y="2184400"/>
              <a:ext cx="972000" cy="6604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200" b="1">
                  <a:solidFill>
                    <a:schemeClr val="tx1"/>
                  </a:solidFill>
                </a:rPr>
                <a:t>Março</a:t>
              </a:r>
            </a:p>
          </p:txBody>
        </p:sp>
        <p:sp>
          <p:nvSpPr>
            <p:cNvPr id="35" name="Rectangle: Rounded Corners 17">
              <a:extLst>
                <a:ext uri="{FF2B5EF4-FFF2-40B4-BE49-F238E27FC236}">
                  <a16:creationId xmlns:a16="http://schemas.microsoft.com/office/drawing/2014/main" id="{84A58AEE-BE30-8644-6B1A-EE602D0944C6}"/>
                </a:ext>
              </a:extLst>
            </p:cNvPr>
            <p:cNvSpPr/>
            <p:nvPr/>
          </p:nvSpPr>
          <p:spPr>
            <a:xfrm>
              <a:off x="9905196" y="2184400"/>
              <a:ext cx="972000" cy="6604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200" b="1">
                  <a:solidFill>
                    <a:schemeClr val="tx1"/>
                  </a:solidFill>
                </a:rPr>
                <a:t>Abril</a:t>
              </a:r>
            </a:p>
          </p:txBody>
        </p:sp>
        <p:sp>
          <p:nvSpPr>
            <p:cNvPr id="36" name="Rectangle: Rounded Corners 18">
              <a:extLst>
                <a:ext uri="{FF2B5EF4-FFF2-40B4-BE49-F238E27FC236}">
                  <a16:creationId xmlns:a16="http://schemas.microsoft.com/office/drawing/2014/main" id="{72E66A74-C59B-76F9-1600-E1FA42DD8C86}"/>
                </a:ext>
              </a:extLst>
            </p:cNvPr>
            <p:cNvSpPr/>
            <p:nvPr/>
          </p:nvSpPr>
          <p:spPr>
            <a:xfrm>
              <a:off x="10978995" y="2184400"/>
              <a:ext cx="972000" cy="6604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200" b="1">
                  <a:solidFill>
                    <a:schemeClr val="tx1"/>
                  </a:solidFill>
                </a:rPr>
                <a:t>Maio</a:t>
              </a:r>
            </a:p>
          </p:txBody>
        </p:sp>
      </p:grpSp>
      <p:sp>
        <p:nvSpPr>
          <p:cNvPr id="42" name="Rectangle: Rounded Corners 27">
            <a:extLst>
              <a:ext uri="{FF2B5EF4-FFF2-40B4-BE49-F238E27FC236}">
                <a16:creationId xmlns:a16="http://schemas.microsoft.com/office/drawing/2014/main" id="{7F440A83-3EA5-17C7-5265-43CD9EA4908B}"/>
              </a:ext>
            </a:extLst>
          </p:cNvPr>
          <p:cNvSpPr/>
          <p:nvPr/>
        </p:nvSpPr>
        <p:spPr>
          <a:xfrm>
            <a:off x="335999" y="2849970"/>
            <a:ext cx="1962701" cy="61900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200" b="1" dirty="0">
                <a:solidFill>
                  <a:schemeClr val="tx1"/>
                </a:solidFill>
              </a:rPr>
              <a:t>Levantamento das atividades e KPIs já em execução pelos C-</a:t>
            </a:r>
            <a:r>
              <a:rPr lang="pt-BR" sz="1200" b="1" dirty="0" err="1">
                <a:solidFill>
                  <a:schemeClr val="tx1"/>
                </a:solidFill>
              </a:rPr>
              <a:t>Level</a:t>
            </a:r>
            <a:endParaRPr lang="pt-BR" sz="1200" b="1" dirty="0">
              <a:solidFill>
                <a:schemeClr val="tx1"/>
              </a:solidFill>
            </a:endParaRPr>
          </a:p>
        </p:txBody>
      </p:sp>
      <p:sp>
        <p:nvSpPr>
          <p:cNvPr id="44" name="Rectangle: Rounded Corners 29">
            <a:extLst>
              <a:ext uri="{FF2B5EF4-FFF2-40B4-BE49-F238E27FC236}">
                <a16:creationId xmlns:a16="http://schemas.microsoft.com/office/drawing/2014/main" id="{21B44454-37EC-4CFE-8F3B-54D49BF29A7F}"/>
              </a:ext>
            </a:extLst>
          </p:cNvPr>
          <p:cNvSpPr/>
          <p:nvPr/>
        </p:nvSpPr>
        <p:spPr>
          <a:xfrm>
            <a:off x="2415471" y="2125107"/>
            <a:ext cx="1504595" cy="6386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err="1">
              <a:solidFill>
                <a:schemeClr val="tx1"/>
              </a:solidFill>
            </a:endParaRPr>
          </a:p>
        </p:txBody>
      </p:sp>
      <p:sp>
        <p:nvSpPr>
          <p:cNvPr id="45" name="Rectangle: Rounded Corners 31">
            <a:extLst>
              <a:ext uri="{FF2B5EF4-FFF2-40B4-BE49-F238E27FC236}">
                <a16:creationId xmlns:a16="http://schemas.microsoft.com/office/drawing/2014/main" id="{1E78777E-A56B-3033-EEDA-937211382215}"/>
              </a:ext>
            </a:extLst>
          </p:cNvPr>
          <p:cNvSpPr/>
          <p:nvPr/>
        </p:nvSpPr>
        <p:spPr>
          <a:xfrm>
            <a:off x="2943242" y="2834269"/>
            <a:ext cx="1298346" cy="6386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err="1">
              <a:solidFill>
                <a:schemeClr val="tx1"/>
              </a:solidFill>
            </a:endParaRPr>
          </a:p>
        </p:txBody>
      </p:sp>
      <p:sp>
        <p:nvSpPr>
          <p:cNvPr id="56" name="Rectangle: Rounded Corners 27">
            <a:extLst>
              <a:ext uri="{FF2B5EF4-FFF2-40B4-BE49-F238E27FC236}">
                <a16:creationId xmlns:a16="http://schemas.microsoft.com/office/drawing/2014/main" id="{FB7EC38A-32B5-BDFC-7A59-A2BAED30E8D9}"/>
              </a:ext>
            </a:extLst>
          </p:cNvPr>
          <p:cNvSpPr/>
          <p:nvPr/>
        </p:nvSpPr>
        <p:spPr>
          <a:xfrm>
            <a:off x="335999" y="3555206"/>
            <a:ext cx="1962701" cy="61900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200" b="1" dirty="0">
                <a:solidFill>
                  <a:schemeClr val="tx1"/>
                </a:solidFill>
              </a:rPr>
              <a:t>Construção das atividades e KPIs que são gaps atuais</a:t>
            </a:r>
          </a:p>
        </p:txBody>
      </p:sp>
      <p:sp>
        <p:nvSpPr>
          <p:cNvPr id="57" name="Rectangle: Rounded Corners 28">
            <a:extLst>
              <a:ext uri="{FF2B5EF4-FFF2-40B4-BE49-F238E27FC236}">
                <a16:creationId xmlns:a16="http://schemas.microsoft.com/office/drawing/2014/main" id="{E815FE4C-1568-F3BB-42DC-C9C296B12467}"/>
              </a:ext>
            </a:extLst>
          </p:cNvPr>
          <p:cNvSpPr/>
          <p:nvPr/>
        </p:nvSpPr>
        <p:spPr>
          <a:xfrm>
            <a:off x="335999" y="5670916"/>
            <a:ext cx="1962701" cy="61900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200" b="1" dirty="0">
                <a:solidFill>
                  <a:schemeClr val="tx1"/>
                </a:solidFill>
              </a:rPr>
              <a:t>Apoio à implementação e medição de resultados</a:t>
            </a:r>
          </a:p>
        </p:txBody>
      </p:sp>
      <p:sp>
        <p:nvSpPr>
          <p:cNvPr id="58" name="Rectangle: Rounded Corners 31">
            <a:extLst>
              <a:ext uri="{FF2B5EF4-FFF2-40B4-BE49-F238E27FC236}">
                <a16:creationId xmlns:a16="http://schemas.microsoft.com/office/drawing/2014/main" id="{5787EA8F-50F8-2455-8AFD-417E10A87C5E}"/>
              </a:ext>
            </a:extLst>
          </p:cNvPr>
          <p:cNvSpPr/>
          <p:nvPr/>
        </p:nvSpPr>
        <p:spPr>
          <a:xfrm>
            <a:off x="3739321" y="3543431"/>
            <a:ext cx="1298346" cy="6386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err="1">
              <a:solidFill>
                <a:schemeClr val="tx1"/>
              </a:solidFill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DCE946A-3F89-29CF-17E4-45368BCAD2F0}"/>
              </a:ext>
            </a:extLst>
          </p:cNvPr>
          <p:cNvCxnSpPr>
            <a:cxnSpLocks/>
          </p:cNvCxnSpPr>
          <p:nvPr/>
        </p:nvCxnSpPr>
        <p:spPr>
          <a:xfrm>
            <a:off x="9839669" y="1598712"/>
            <a:ext cx="2092593" cy="0"/>
          </a:xfrm>
          <a:prstGeom prst="line">
            <a:avLst/>
          </a:prstGeom>
          <a:ln w="9525">
            <a:solidFill>
              <a:schemeClr val="accent4"/>
            </a:solidFill>
            <a:headEnd type="oval" w="med" len="med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40BBF5C-7692-9D2F-0F19-EC1FF130521F}"/>
              </a:ext>
            </a:extLst>
          </p:cNvPr>
          <p:cNvSpPr txBox="1"/>
          <p:nvPr/>
        </p:nvSpPr>
        <p:spPr>
          <a:xfrm>
            <a:off x="10449195" y="1403873"/>
            <a:ext cx="811441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pt-BR" sz="1600" b="1" dirty="0"/>
              <a:t>2027.1</a:t>
            </a:r>
          </a:p>
        </p:txBody>
      </p:sp>
      <p:sp>
        <p:nvSpPr>
          <p:cNvPr id="64" name="Rectangle: Rounded Corners 27">
            <a:extLst>
              <a:ext uri="{FF2B5EF4-FFF2-40B4-BE49-F238E27FC236}">
                <a16:creationId xmlns:a16="http://schemas.microsoft.com/office/drawing/2014/main" id="{C689B663-F544-0413-6973-0B37AF36ADC2}"/>
              </a:ext>
            </a:extLst>
          </p:cNvPr>
          <p:cNvSpPr/>
          <p:nvPr/>
        </p:nvSpPr>
        <p:spPr>
          <a:xfrm>
            <a:off x="335999" y="4965678"/>
            <a:ext cx="1962701" cy="61900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200" b="1" dirty="0">
                <a:solidFill>
                  <a:schemeClr val="tx1"/>
                </a:solidFill>
              </a:rPr>
              <a:t>Priorização das atividades e construção do </a:t>
            </a:r>
            <a:r>
              <a:rPr lang="pt-BR" sz="1200" b="1" dirty="0" err="1">
                <a:solidFill>
                  <a:schemeClr val="tx1"/>
                </a:solidFill>
              </a:rPr>
              <a:t>roadmap</a:t>
            </a:r>
            <a:r>
              <a:rPr lang="pt-BR" sz="12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5" name="Rectangle: Rounded Corners 31">
            <a:extLst>
              <a:ext uri="{FF2B5EF4-FFF2-40B4-BE49-F238E27FC236}">
                <a16:creationId xmlns:a16="http://schemas.microsoft.com/office/drawing/2014/main" id="{DED4CA76-75B3-1DD3-7FAE-D714107A7BC6}"/>
              </a:ext>
            </a:extLst>
          </p:cNvPr>
          <p:cNvSpPr/>
          <p:nvPr/>
        </p:nvSpPr>
        <p:spPr>
          <a:xfrm>
            <a:off x="5037667" y="4961755"/>
            <a:ext cx="572332" cy="6386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err="1">
              <a:solidFill>
                <a:schemeClr val="tx1"/>
              </a:solidFill>
            </a:endParaRPr>
          </a:p>
        </p:txBody>
      </p:sp>
      <p:sp>
        <p:nvSpPr>
          <p:cNvPr id="4" name="Rectangle: Rounded Corners 27">
            <a:extLst>
              <a:ext uri="{FF2B5EF4-FFF2-40B4-BE49-F238E27FC236}">
                <a16:creationId xmlns:a16="http://schemas.microsoft.com/office/drawing/2014/main" id="{4EF92FC3-E484-11D4-7333-A6BA0854F6D0}"/>
              </a:ext>
            </a:extLst>
          </p:cNvPr>
          <p:cNvSpPr/>
          <p:nvPr/>
        </p:nvSpPr>
        <p:spPr>
          <a:xfrm>
            <a:off x="335999" y="4260442"/>
            <a:ext cx="1962701" cy="61900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200" b="1" dirty="0">
                <a:solidFill>
                  <a:schemeClr val="tx1"/>
                </a:solidFill>
              </a:rPr>
              <a:t>Mapeamento de </a:t>
            </a:r>
            <a:r>
              <a:rPr lang="pt-BR" sz="1200" b="1" dirty="0" err="1">
                <a:solidFill>
                  <a:schemeClr val="tx1"/>
                </a:solidFill>
              </a:rPr>
              <a:t>capabilities</a:t>
            </a:r>
            <a:r>
              <a:rPr lang="pt-BR" sz="1200" b="1" dirty="0">
                <a:solidFill>
                  <a:schemeClr val="tx1"/>
                </a:solidFill>
              </a:rPr>
              <a:t> e gaps dos times</a:t>
            </a:r>
          </a:p>
        </p:txBody>
      </p:sp>
      <p:sp>
        <p:nvSpPr>
          <p:cNvPr id="6" name="Rectangle: Rounded Corners 31">
            <a:extLst>
              <a:ext uri="{FF2B5EF4-FFF2-40B4-BE49-F238E27FC236}">
                <a16:creationId xmlns:a16="http://schemas.microsoft.com/office/drawing/2014/main" id="{B8C5993B-CDFE-592E-5CD5-B5F0918F19CE}"/>
              </a:ext>
            </a:extLst>
          </p:cNvPr>
          <p:cNvSpPr/>
          <p:nvPr/>
        </p:nvSpPr>
        <p:spPr>
          <a:xfrm>
            <a:off x="4241588" y="4252593"/>
            <a:ext cx="1037343" cy="63863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err="1">
              <a:solidFill>
                <a:schemeClr val="tx1"/>
              </a:solidFill>
            </a:endParaRPr>
          </a:p>
        </p:txBody>
      </p:sp>
      <p:pic>
        <p:nvPicPr>
          <p:cNvPr id="8" name="Picture 2" descr="Página 3 | Crescente seta png | PNGWing">
            <a:extLst>
              <a:ext uri="{FF2B5EF4-FFF2-40B4-BE49-F238E27FC236}">
                <a16:creationId xmlns:a16="http://schemas.microsoft.com/office/drawing/2014/main" id="{DEC6024B-00D6-E061-1A07-2E8BC6A82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EEEEE"/>
              </a:clrFrom>
              <a:clrTo>
                <a:srgbClr val="EEEEEE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860965" flipH="1" flipV="1">
            <a:off x="2393772" y="4093856"/>
            <a:ext cx="1618667" cy="1361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6759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D0D19-D5D7-5634-DECB-530BC07AA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C4545679-55B7-35C1-5970-8BEAF77BC92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395" imgH="396" progId="TCLayout.ActiveDocument.1">
                  <p:embed/>
                </p:oleObj>
              </mc:Choice>
              <mc:Fallback>
                <p:oleObj name="think-cell Slide" r:id="rId12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545679-55B7-35C1-5970-8BEAF77BC9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D1DBE5C7-3695-317F-42D4-4BD677A92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As frentes do projeto possuem interfaces que retroalimentam o trabalho e geram produtos integrados que possibilitam a implementação de processos estruturantes 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A9AE052-D7D7-4DB2-D30F-9EFAF73047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ATY</a:t>
            </a:r>
          </a:p>
          <a:p>
            <a:endParaRPr lang="pt-BR" noProof="1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E41F26EF-6E73-69BC-9773-C13416FEC8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62A4D0F-E03C-DC68-78D6-7285C13CBEF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pt-BR" noProof="1"/>
              <a:t>Interface entre as frentes dos projetos</a:t>
            </a:r>
          </a:p>
        </p:txBody>
      </p:sp>
      <p:sp>
        <p:nvSpPr>
          <p:cNvPr id="50" name="Disclaimer_Box">
            <a:extLst>
              <a:ext uri="{FF2B5EF4-FFF2-40B4-BE49-F238E27FC236}">
                <a16:creationId xmlns:a16="http://schemas.microsoft.com/office/drawing/2014/main" id="{99D17E9E-5ED4-D724-0969-2AF96C2EDE6B}"/>
              </a:ext>
            </a:extLst>
          </p:cNvPr>
          <p:cNvSpPr txBox="1">
            <a:spLocks/>
          </p:cNvSpPr>
          <p:nvPr/>
        </p:nvSpPr>
        <p:spPr>
          <a:xfrm>
            <a:off x="9540697" y="1200149"/>
            <a:ext cx="231634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 sz="1200" b="1" kern="1200" baseline="0">
                <a:solidFill>
                  <a:schemeClr val="accent6"/>
                </a:solidFill>
                <a:latin typeface="Arial"/>
                <a:ea typeface="+mn-ea"/>
                <a:cs typeface="Arial"/>
              </a:defRPr>
            </a:lvl1pPr>
            <a:lvl2pPr marL="352425" marR="0" indent="-1651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9750" marR="0" indent="-1857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2" pitchFamily="18" charset="2"/>
              <a:buChar char=""/>
              <a:tabLst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712788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900113" marR="0" indent="-1857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</a:rPr>
              <a:t>Não Exaustivo | Para discussão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217FD18-2C03-3FF3-5860-F45F712590A5}"/>
              </a:ext>
            </a:extLst>
          </p:cNvPr>
          <p:cNvGrpSpPr/>
          <p:nvPr/>
        </p:nvGrpSpPr>
        <p:grpSpPr>
          <a:xfrm>
            <a:off x="335997" y="1485319"/>
            <a:ext cx="11515715" cy="4863341"/>
            <a:chOff x="335997" y="1485319"/>
            <a:chExt cx="7160073" cy="4863341"/>
          </a:xfrm>
        </p:grpSpPr>
        <p:cxnSp>
          <p:nvCxnSpPr>
            <p:cNvPr id="106" name="Straight Arrow Connector 77">
              <a:extLst>
                <a:ext uri="{FF2B5EF4-FFF2-40B4-BE49-F238E27FC236}">
                  <a16:creationId xmlns:a16="http://schemas.microsoft.com/office/drawing/2014/main" id="{3CC5D05E-4DCA-0638-2494-FF24666AD9F7}"/>
                </a:ext>
              </a:extLst>
            </p:cNvPr>
            <p:cNvCxnSpPr>
              <a:cxnSpLocks/>
              <a:stCxn id="114" idx="0"/>
              <a:endCxn id="74" idx="1"/>
            </p:cNvCxnSpPr>
            <p:nvPr/>
          </p:nvCxnSpPr>
          <p:spPr>
            <a:xfrm rot="5400000" flipH="1" flipV="1">
              <a:off x="845777" y="2877358"/>
              <a:ext cx="1682438" cy="1270101"/>
            </a:xfrm>
            <a:prstGeom prst="bentConnector2">
              <a:avLst/>
            </a:prstGeom>
            <a:ln w="19050">
              <a:solidFill>
                <a:schemeClr val="tx2">
                  <a:lumMod val="75000"/>
                </a:schemeClr>
              </a:solidFill>
              <a:headEnd w="sm" len="sm"/>
              <a:tailEnd type="triangl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ounded Rectangle 73">
              <a:extLst>
                <a:ext uri="{FF2B5EF4-FFF2-40B4-BE49-F238E27FC236}">
                  <a16:creationId xmlns:a16="http://schemas.microsoft.com/office/drawing/2014/main" id="{27829AB1-990B-D09B-9FAC-40A90FA428B0}"/>
                </a:ext>
              </a:extLst>
            </p:cNvPr>
            <p:cNvSpPr/>
            <p:nvPr/>
          </p:nvSpPr>
          <p:spPr>
            <a:xfrm>
              <a:off x="2322047" y="2037835"/>
              <a:ext cx="3054100" cy="126670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1430">
              <a:solidFill>
                <a:srgbClr val="33726D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6000" tIns="468000" rIns="36000" bIns="95250" anchor="ctr">
              <a:noAutofit/>
            </a:bodyPr>
            <a:lstStyle/>
            <a:p>
              <a:pPr marL="7937" algn="ctr">
                <a:spcBef>
                  <a:spcPts val="300"/>
                </a:spcBef>
                <a:spcAft>
                  <a:spcPts val="300"/>
                </a:spcAft>
                <a:buClr>
                  <a:schemeClr val="accent4"/>
                </a:buClr>
              </a:pPr>
              <a:r>
                <a:rPr lang="pt-BR" sz="1200" b="1" noProof="1">
                  <a:solidFill>
                    <a:schemeClr val="accent4"/>
                  </a:solidFill>
                  <a:latin typeface="Arial"/>
                  <a:cs typeface="Arial"/>
                </a:rPr>
                <a:t>Traduz a estratégia em objetivos, KRs e atividades</a:t>
              </a:r>
            </a:p>
          </p:txBody>
        </p:sp>
        <p:sp>
          <p:nvSpPr>
            <p:cNvPr id="75" name="Rounded Rectangle 74">
              <a:extLst>
                <a:ext uri="{FF2B5EF4-FFF2-40B4-BE49-F238E27FC236}">
                  <a16:creationId xmlns:a16="http://schemas.microsoft.com/office/drawing/2014/main" id="{0CD073F9-6936-7DAD-96FF-C777B295816B}"/>
                </a:ext>
              </a:extLst>
            </p:cNvPr>
            <p:cNvSpPr/>
            <p:nvPr/>
          </p:nvSpPr>
          <p:spPr>
            <a:xfrm>
              <a:off x="335999" y="4353627"/>
              <a:ext cx="2880626" cy="138917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1430">
              <a:solidFill>
                <a:srgbClr val="33726D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6000" tIns="468000" rIns="36000" bIns="95250" anchor="ctr">
              <a:noAutofit/>
            </a:bodyPr>
            <a:lstStyle/>
            <a:p>
              <a:pPr marL="7937" algn="ctr">
                <a:spcBef>
                  <a:spcPts val="300"/>
                </a:spcBef>
                <a:spcAft>
                  <a:spcPts val="300"/>
                </a:spcAft>
                <a:buClr>
                  <a:schemeClr val="accent4"/>
                </a:buClr>
              </a:pPr>
              <a:r>
                <a:rPr lang="pt-BR" sz="1200" b="1" noProof="1">
                  <a:solidFill>
                    <a:schemeClr val="accent4"/>
                  </a:solidFill>
                  <a:latin typeface="Arial"/>
                  <a:cs typeface="Arial"/>
                </a:rPr>
                <a:t>Revisa e concilia os dados em camadas bronze, silver e gold</a:t>
              </a:r>
            </a:p>
          </p:txBody>
        </p:sp>
        <p:sp>
          <p:nvSpPr>
            <p:cNvPr id="76" name="Rounded Rectangle 75">
              <a:extLst>
                <a:ext uri="{FF2B5EF4-FFF2-40B4-BE49-F238E27FC236}">
                  <a16:creationId xmlns:a16="http://schemas.microsoft.com/office/drawing/2014/main" id="{03786588-E17D-53A0-F578-765DD3A5C1D8}"/>
                </a:ext>
              </a:extLst>
            </p:cNvPr>
            <p:cNvSpPr/>
            <p:nvPr/>
          </p:nvSpPr>
          <p:spPr>
            <a:xfrm>
              <a:off x="4437117" y="4353627"/>
              <a:ext cx="2880626" cy="138917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1430">
              <a:solidFill>
                <a:srgbClr val="33726D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36000" tIns="468000" rIns="36000" bIns="95250" anchor="ctr">
              <a:noAutofit/>
            </a:bodyPr>
            <a:lstStyle/>
            <a:p>
              <a:pPr marL="7937" algn="ctr">
                <a:spcBef>
                  <a:spcPts val="300"/>
                </a:spcBef>
                <a:spcAft>
                  <a:spcPts val="300"/>
                </a:spcAft>
                <a:buClr>
                  <a:schemeClr val="accent4"/>
                </a:buClr>
              </a:pPr>
              <a:r>
                <a:rPr lang="pt-BR" sz="1200" b="1" noProof="1">
                  <a:solidFill>
                    <a:schemeClr val="accent4"/>
                  </a:solidFill>
                  <a:latin typeface="Arial"/>
                  <a:cs typeface="Arial"/>
                </a:rPr>
                <a:t>Identifica processos operacionais as-is e propõe melhorias processuais</a:t>
              </a:r>
            </a:p>
          </p:txBody>
        </p: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CDEE63FD-7E01-AB7F-863E-4C2E9C0FAC12}"/>
                </a:ext>
              </a:extLst>
            </p:cNvPr>
            <p:cNvCxnSpPr>
              <a:cxnSpLocks/>
              <a:stCxn id="75" idx="2"/>
              <a:endCxn id="76" idx="2"/>
            </p:cNvCxnSpPr>
            <p:nvPr/>
          </p:nvCxnSpPr>
          <p:spPr>
            <a:xfrm rot="16200000" flipH="1">
              <a:off x="3828219" y="3692241"/>
              <a:ext cx="12700" cy="4101118"/>
            </a:xfrm>
            <a:prstGeom prst="bentConnector3">
              <a:avLst>
                <a:gd name="adj1" fmla="val 2642559"/>
              </a:avLst>
            </a:prstGeom>
            <a:ln w="19050">
              <a:solidFill>
                <a:schemeClr val="tx2">
                  <a:lumMod val="75000"/>
                </a:schemeClr>
              </a:solidFill>
              <a:headEnd w="sm" len="sm"/>
              <a:tailEnd type="triangl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77">
              <a:extLst>
                <a:ext uri="{FF2B5EF4-FFF2-40B4-BE49-F238E27FC236}">
                  <a16:creationId xmlns:a16="http://schemas.microsoft.com/office/drawing/2014/main" id="{A7C21821-BA92-66AD-92A6-5781F8443736}"/>
                </a:ext>
              </a:extLst>
            </p:cNvPr>
            <p:cNvCxnSpPr>
              <a:cxnSpLocks/>
              <a:stCxn id="74" idx="3"/>
              <a:endCxn id="136" idx="0"/>
            </p:cNvCxnSpPr>
            <p:nvPr/>
          </p:nvCxnSpPr>
          <p:spPr>
            <a:xfrm>
              <a:off x="5376146" y="2671189"/>
              <a:ext cx="963441" cy="1682438"/>
            </a:xfrm>
            <a:prstGeom prst="bentConnector2">
              <a:avLst/>
            </a:prstGeom>
            <a:ln w="19050">
              <a:solidFill>
                <a:schemeClr val="tx2">
                  <a:lumMod val="75000"/>
                </a:schemeClr>
              </a:solidFill>
              <a:headEnd w="sm" len="sm"/>
              <a:tailEnd type="triangl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77">
              <a:extLst>
                <a:ext uri="{FF2B5EF4-FFF2-40B4-BE49-F238E27FC236}">
                  <a16:creationId xmlns:a16="http://schemas.microsoft.com/office/drawing/2014/main" id="{F869C12E-B90D-AF4C-1A59-A36C3CE3F6C3}"/>
                </a:ext>
              </a:extLst>
            </p:cNvPr>
            <p:cNvCxnSpPr>
              <a:cxnSpLocks/>
              <a:stCxn id="76" idx="1"/>
              <a:endCxn id="117" idx="2"/>
            </p:cNvCxnSpPr>
            <p:nvPr/>
          </p:nvCxnSpPr>
          <p:spPr>
            <a:xfrm rot="10800000">
              <a:off x="4221223" y="3304542"/>
              <a:ext cx="215894" cy="1743672"/>
            </a:xfrm>
            <a:prstGeom prst="bentConnector2">
              <a:avLst/>
            </a:prstGeom>
            <a:ln w="19050">
              <a:solidFill>
                <a:schemeClr val="tx2">
                  <a:lumMod val="75000"/>
                </a:schemeClr>
              </a:solidFill>
              <a:headEnd w="sm" len="sm"/>
              <a:tailEnd type="triangl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Retângulo: Cantos Arredondados 26">
              <a:extLst>
                <a:ext uri="{FF2B5EF4-FFF2-40B4-BE49-F238E27FC236}">
                  <a16:creationId xmlns:a16="http://schemas.microsoft.com/office/drawing/2014/main" id="{4B98B6B9-F2E3-B6D6-BBCB-25903EA65E8D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322047" y="2037834"/>
              <a:ext cx="3054101" cy="397007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2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Rumo 2030: Projeto implementação da estratégia</a:t>
              </a:r>
            </a:p>
          </p:txBody>
        </p:sp>
        <p:sp>
          <p:nvSpPr>
            <p:cNvPr id="95" name="Retângulo: Cantos Arredondados 26">
              <a:extLst>
                <a:ext uri="{FF2B5EF4-FFF2-40B4-BE49-F238E27FC236}">
                  <a16:creationId xmlns:a16="http://schemas.microsoft.com/office/drawing/2014/main" id="{692A973F-0D3E-81DF-7A40-84A7B36C9A2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437117" y="4353627"/>
              <a:ext cx="2880626" cy="397007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2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Projeto de mapeamento de processos</a:t>
              </a:r>
            </a:p>
          </p:txBody>
        </p:sp>
        <p:sp>
          <p:nvSpPr>
            <p:cNvPr id="96" name="Retângulo: Cantos Arredondados 26">
              <a:extLst>
                <a:ext uri="{FF2B5EF4-FFF2-40B4-BE49-F238E27FC236}">
                  <a16:creationId xmlns:a16="http://schemas.microsoft.com/office/drawing/2014/main" id="{210CAF57-6FB0-A187-B79D-9FFAC34F4D84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335998" y="4353627"/>
              <a:ext cx="2880626" cy="397007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20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Projeto de revisão dos dados</a:t>
              </a:r>
            </a:p>
          </p:txBody>
        </p:sp>
        <p:sp>
          <p:nvSpPr>
            <p:cNvPr id="99" name="Retângulo: Cantos Arredondados 26">
              <a:extLst>
                <a:ext uri="{FF2B5EF4-FFF2-40B4-BE49-F238E27FC236}">
                  <a16:creationId xmlns:a16="http://schemas.microsoft.com/office/drawing/2014/main" id="{81C3BD5F-B75E-8E51-9A34-040C7B0D113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3900730" y="3772272"/>
              <a:ext cx="1425601" cy="52200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05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Processos e </a:t>
              </a:r>
              <a:r>
                <a:rPr lang="pt-BR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KPIs operacionais </a:t>
              </a:r>
              <a:r>
                <a:rPr lang="pt-BR" sz="1050" b="1" noProof="0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as-is</a:t>
              </a:r>
              <a:endParaRPr lang="pt-BR" sz="105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Retângulo: Cantos Arredondados 26">
              <a:extLst>
                <a:ext uri="{FF2B5EF4-FFF2-40B4-BE49-F238E27FC236}">
                  <a16:creationId xmlns:a16="http://schemas.microsoft.com/office/drawing/2014/main" id="{88920FAF-50BF-7CE4-A017-ECD7213A3C0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5626788" y="3540891"/>
              <a:ext cx="1425601" cy="52200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05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Processos e </a:t>
              </a:r>
              <a:r>
                <a:rPr lang="pt-BR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KPIs</a:t>
              </a:r>
              <a:r>
                <a:rPr lang="pt-BR" sz="105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BR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estruturantes</a:t>
              </a:r>
              <a:endParaRPr lang="pt-BR" sz="105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Retângulo: Cantos Arredondados 26">
              <a:extLst>
                <a:ext uri="{FF2B5EF4-FFF2-40B4-BE49-F238E27FC236}">
                  <a16:creationId xmlns:a16="http://schemas.microsoft.com/office/drawing/2014/main" id="{3F645EA4-6837-F539-B293-EDB1811D64E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349120" y="3545909"/>
              <a:ext cx="1425601" cy="52200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do conjunto de dados disponível</a:t>
              </a:r>
              <a:endParaRPr lang="pt-BR" sz="1050" b="1" noProof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Retângulo: Cantos Arredondados 26">
              <a:extLst>
                <a:ext uri="{FF2B5EF4-FFF2-40B4-BE49-F238E27FC236}">
                  <a16:creationId xmlns:a16="http://schemas.microsoft.com/office/drawing/2014/main" id="{5D008A91-F422-CBF9-6D69-105399D39C7D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2845977" y="5846126"/>
              <a:ext cx="1876771" cy="502534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05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Enabler</a:t>
              </a:r>
              <a:r>
                <a:rPr lang="pt-BR" sz="105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das atividades estruturantes</a:t>
              </a:r>
            </a:p>
          </p:txBody>
        </p:sp>
        <p:cxnSp>
          <p:nvCxnSpPr>
            <p:cNvPr id="110" name="Conector reto 11">
              <a:extLst>
                <a:ext uri="{FF2B5EF4-FFF2-40B4-BE49-F238E27FC236}">
                  <a16:creationId xmlns:a16="http://schemas.microsoft.com/office/drawing/2014/main" id="{E1E65D4C-D80C-C072-5A9D-5B275AEBFE99}"/>
                </a:ext>
              </a:extLst>
            </p:cNvPr>
            <p:cNvCxnSpPr/>
            <p:nvPr/>
          </p:nvCxnSpPr>
          <p:spPr>
            <a:xfrm>
              <a:off x="422804" y="1862884"/>
              <a:ext cx="7073266" cy="0"/>
            </a:xfrm>
            <a:prstGeom prst="line">
              <a:avLst/>
            </a:prstGeom>
            <a:ln w="9525">
              <a:solidFill>
                <a:schemeClr val="accent4">
                  <a:lumMod val="75000"/>
                </a:schemeClr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CaixaDeTexto 13">
              <a:extLst>
                <a:ext uri="{FF2B5EF4-FFF2-40B4-BE49-F238E27FC236}">
                  <a16:creationId xmlns:a16="http://schemas.microsoft.com/office/drawing/2014/main" id="{4EC65BC6-671E-84F6-EDDB-DB1B76BA811C}"/>
                </a:ext>
              </a:extLst>
            </p:cNvPr>
            <p:cNvSpPr txBox="1"/>
            <p:nvPr/>
          </p:nvSpPr>
          <p:spPr>
            <a:xfrm>
              <a:off x="335997" y="1485319"/>
              <a:ext cx="4677763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pt-BR" sz="2000" b="1" dirty="0">
                  <a:solidFill>
                    <a:schemeClr val="accent4">
                      <a:lumMod val="75000"/>
                    </a:schemeClr>
                  </a:solidFill>
                </a:rPr>
                <a:t>Interface entre os projetos</a:t>
              </a: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37A5007A-3A99-C2CD-BDA6-850F076CDD8D}"/>
                </a:ext>
              </a:extLst>
            </p:cNvPr>
            <p:cNvSpPr/>
            <p:nvPr/>
          </p:nvSpPr>
          <p:spPr>
            <a:xfrm>
              <a:off x="908332" y="4353627"/>
              <a:ext cx="287227" cy="22039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BR" dirty="0" err="1">
                <a:solidFill>
                  <a:schemeClr val="tx1"/>
                </a:solidFill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36F1B942-EAC0-70EC-3694-1CC002AD7771}"/>
                </a:ext>
              </a:extLst>
            </p:cNvPr>
            <p:cNvSpPr/>
            <p:nvPr/>
          </p:nvSpPr>
          <p:spPr>
            <a:xfrm>
              <a:off x="4077609" y="3084145"/>
              <a:ext cx="287227" cy="22039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BR" dirty="0" err="1">
                <a:solidFill>
                  <a:schemeClr val="tx1"/>
                </a:solidFill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7F627FB2-97C5-03CC-D7EC-72C8224684FF}"/>
                </a:ext>
              </a:extLst>
            </p:cNvPr>
            <p:cNvSpPr/>
            <p:nvPr/>
          </p:nvSpPr>
          <p:spPr>
            <a:xfrm>
              <a:off x="3364806" y="3084145"/>
              <a:ext cx="287227" cy="22039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BR" dirty="0" err="1">
                <a:solidFill>
                  <a:schemeClr val="tx1"/>
                </a:solidFill>
              </a:endParaRPr>
            </a:p>
          </p:txBody>
        </p:sp>
        <p:cxnSp>
          <p:nvCxnSpPr>
            <p:cNvPr id="130" name="Straight Arrow Connector 77">
              <a:extLst>
                <a:ext uri="{FF2B5EF4-FFF2-40B4-BE49-F238E27FC236}">
                  <a16:creationId xmlns:a16="http://schemas.microsoft.com/office/drawing/2014/main" id="{60420C78-843F-E6A2-9F3B-65EDDA2EFE23}"/>
                </a:ext>
              </a:extLst>
            </p:cNvPr>
            <p:cNvCxnSpPr>
              <a:cxnSpLocks/>
              <a:stCxn id="129" idx="2"/>
              <a:endCxn id="75" idx="3"/>
            </p:cNvCxnSpPr>
            <p:nvPr/>
          </p:nvCxnSpPr>
          <p:spPr>
            <a:xfrm rot="5400000">
              <a:off x="2490688" y="4030481"/>
              <a:ext cx="1743672" cy="291796"/>
            </a:xfrm>
            <a:prstGeom prst="bentConnector2">
              <a:avLst/>
            </a:prstGeom>
            <a:ln w="19050">
              <a:solidFill>
                <a:schemeClr val="tx2">
                  <a:lumMod val="75000"/>
                </a:schemeClr>
              </a:solidFill>
              <a:headEnd w="sm" len="sm"/>
              <a:tailEnd type="triangl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ECA8065D-442D-903A-DF29-6C7E328FC1E3}"/>
                </a:ext>
              </a:extLst>
            </p:cNvPr>
            <p:cNvSpPr/>
            <p:nvPr/>
          </p:nvSpPr>
          <p:spPr>
            <a:xfrm>
              <a:off x="6195974" y="4353627"/>
              <a:ext cx="287227" cy="220397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BR" dirty="0" err="1">
                <a:solidFill>
                  <a:schemeClr val="tx1"/>
                </a:solidFill>
              </a:endParaRPr>
            </a:p>
          </p:txBody>
        </p:sp>
        <p:sp>
          <p:nvSpPr>
            <p:cNvPr id="142" name="Retângulo: Cantos Arredondados 26">
              <a:extLst>
                <a:ext uri="{FF2B5EF4-FFF2-40B4-BE49-F238E27FC236}">
                  <a16:creationId xmlns:a16="http://schemas.microsoft.com/office/drawing/2014/main" id="{D1B9CD97-971B-DD69-D486-64A3E9F0BCD2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2408968" y="3755096"/>
              <a:ext cx="1425601" cy="522009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050" b="1" noProof="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Requisitos dos processos estruturantes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8593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43E10-9EE9-B236-220A-5F7CDAD0D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186D7-A057-759C-0997-359EAEBA1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dirty="0"/>
              <a:t>Ações estruturantes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9DBB5-C925-C0FB-A862-8B435E3EC3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noProof="1"/>
              <a:t>Estratégia</a:t>
            </a:r>
          </a:p>
          <a:p>
            <a:endParaRPr lang="en-B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047B1-FE32-2647-51AB-2AA278EFE8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0C387-0D29-761D-8D17-C0535F3847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53D8B1-E853-46A1-B20C-CD810568BB8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8407674-6CDF-781C-64FF-C9688E05FE78}"/>
              </a:ext>
            </a:extLst>
          </p:cNvPr>
          <p:cNvSpPr>
            <a:spLocks noChangeAspect="1"/>
          </p:cNvSpPr>
          <p:nvPr/>
        </p:nvSpPr>
        <p:spPr>
          <a:xfrm>
            <a:off x="916341" y="3104445"/>
            <a:ext cx="1865066" cy="936977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 dirty="0">
                <a:solidFill>
                  <a:schemeClr val="bg1"/>
                </a:solidFill>
              </a:rPr>
              <a:t>Finanças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47804AE-E6C7-F060-9E47-D829D4761A6D}"/>
              </a:ext>
            </a:extLst>
          </p:cNvPr>
          <p:cNvSpPr>
            <a:spLocks noChangeAspect="1"/>
          </p:cNvSpPr>
          <p:nvPr/>
        </p:nvSpPr>
        <p:spPr>
          <a:xfrm>
            <a:off x="3035603" y="3104445"/>
            <a:ext cx="1865066" cy="9369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 dirty="0">
                <a:solidFill>
                  <a:schemeClr val="bg1">
                    <a:lumMod val="65000"/>
                  </a:schemeClr>
                </a:solidFill>
              </a:rPr>
              <a:t>Operação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1CAA295-C443-88A0-003C-336502C9B80A}"/>
              </a:ext>
            </a:extLst>
          </p:cNvPr>
          <p:cNvSpPr>
            <a:spLocks noChangeAspect="1"/>
          </p:cNvSpPr>
          <p:nvPr/>
        </p:nvSpPr>
        <p:spPr>
          <a:xfrm>
            <a:off x="5154865" y="3104445"/>
            <a:ext cx="1865066" cy="9369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>
                <a:solidFill>
                  <a:schemeClr val="bg1">
                    <a:lumMod val="65000"/>
                  </a:schemeClr>
                </a:solidFill>
              </a:rPr>
              <a:t>Receita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EA1B925-884F-3FFD-6911-8715C5A4CD2F}"/>
              </a:ext>
            </a:extLst>
          </p:cNvPr>
          <p:cNvSpPr>
            <a:spLocks noChangeAspect="1"/>
          </p:cNvSpPr>
          <p:nvPr/>
        </p:nvSpPr>
        <p:spPr>
          <a:xfrm>
            <a:off x="7222717" y="3104445"/>
            <a:ext cx="1865066" cy="9369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 dirty="0">
                <a:solidFill>
                  <a:schemeClr val="bg1">
                    <a:lumMod val="65000"/>
                  </a:schemeClr>
                </a:solidFill>
              </a:rPr>
              <a:t>Cliente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BDC003E-DF52-2DD5-456D-32172E298DA8}"/>
              </a:ext>
            </a:extLst>
          </p:cNvPr>
          <p:cNvSpPr>
            <a:spLocks noChangeAspect="1"/>
          </p:cNvSpPr>
          <p:nvPr/>
        </p:nvSpPr>
        <p:spPr>
          <a:xfrm>
            <a:off x="9267719" y="3104445"/>
            <a:ext cx="1865066" cy="9369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>
                <a:solidFill>
                  <a:schemeClr val="bg1">
                    <a:lumMod val="65000"/>
                  </a:schemeClr>
                </a:solidFill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990288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B31F3-283A-8292-3673-AFDEE848A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46777649-F636-5EFE-D4FC-6999191A76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6777649-F636-5EFE-D4FC-6999191A76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8CB5D94F-37F3-977B-AF85-CC17DE7F3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Garantir liquidez e previsibilidade financeira podem ser atingidos através de três objetivos estruturantes 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8619D1F-BBD7-E0C6-0392-4A6CFD361B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DMS, ATY</a:t>
            </a:r>
          </a:p>
          <a:p>
            <a:endParaRPr lang="pt-BR" noProof="1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C4284269-2C55-9ED3-D58D-8EF5CBB9F2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029379-C2D4-ED72-4A07-1FA762E10D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pt-BR" noProof="1"/>
              <a:t>Ações estruturantes – Financeiro - Liquidez</a:t>
            </a:r>
          </a:p>
        </p:txBody>
      </p:sp>
      <p:sp>
        <p:nvSpPr>
          <p:cNvPr id="50" name="Disclaimer_Box">
            <a:extLst>
              <a:ext uri="{FF2B5EF4-FFF2-40B4-BE49-F238E27FC236}">
                <a16:creationId xmlns:a16="http://schemas.microsoft.com/office/drawing/2014/main" id="{570E32E0-665B-892D-287D-CB344B95E469}"/>
              </a:ext>
            </a:extLst>
          </p:cNvPr>
          <p:cNvSpPr txBox="1">
            <a:spLocks/>
          </p:cNvSpPr>
          <p:nvPr/>
        </p:nvSpPr>
        <p:spPr>
          <a:xfrm>
            <a:off x="9540697" y="1200149"/>
            <a:ext cx="231634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 sz="1200" b="1" kern="1200" baseline="0">
                <a:solidFill>
                  <a:schemeClr val="accent6"/>
                </a:solidFill>
                <a:latin typeface="Arial"/>
                <a:ea typeface="+mn-ea"/>
                <a:cs typeface="Arial"/>
              </a:defRPr>
            </a:lvl1pPr>
            <a:lvl2pPr marL="352425" marR="0" indent="-1651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9750" marR="0" indent="-1857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2" pitchFamily="18" charset="2"/>
              <a:buChar char=""/>
              <a:tabLst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712788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900113" marR="0" indent="-1857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</a:rPr>
              <a:t>Não Exaustivo | Para discussão</a:t>
            </a:r>
          </a:p>
        </p:txBody>
      </p:sp>
      <p:sp>
        <p:nvSpPr>
          <p:cNvPr id="4" name="step-circle-1">
            <a:extLst>
              <a:ext uri="{FF2B5EF4-FFF2-40B4-BE49-F238E27FC236}">
                <a16:creationId xmlns:a16="http://schemas.microsoft.com/office/drawing/2014/main" id="{1F4E1540-291A-D40A-1C28-499E06396F57}"/>
              </a:ext>
            </a:extLst>
          </p:cNvPr>
          <p:cNvSpPr>
            <a:spLocks noGrp="1"/>
          </p:cNvSpPr>
          <p:nvPr/>
        </p:nvSpPr>
        <p:spPr>
          <a:xfrm>
            <a:off x="4000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1</a:t>
            </a:r>
          </a:p>
        </p:txBody>
      </p:sp>
      <p:sp>
        <p:nvSpPr>
          <p:cNvPr id="8" name="step-title-1">
            <a:extLst>
              <a:ext uri="{FF2B5EF4-FFF2-40B4-BE49-F238E27FC236}">
                <a16:creationId xmlns:a16="http://schemas.microsoft.com/office/drawing/2014/main" id="{78C57CC8-7123-1730-6EBD-8C33D0855714}"/>
              </a:ext>
            </a:extLst>
          </p:cNvPr>
          <p:cNvSpPr>
            <a:spLocks noGrp="1"/>
          </p:cNvSpPr>
          <p:nvPr/>
        </p:nvSpPr>
        <p:spPr>
          <a:xfrm>
            <a:off x="9617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Projeção de caixa</a:t>
            </a:r>
          </a:p>
        </p:txBody>
      </p:sp>
      <p:sp>
        <p:nvSpPr>
          <p:cNvPr id="11" name="step-metric-1">
            <a:extLst>
              <a:ext uri="{FF2B5EF4-FFF2-40B4-BE49-F238E27FC236}">
                <a16:creationId xmlns:a16="http://schemas.microsoft.com/office/drawing/2014/main" id="{B3E35254-2C2C-6015-17E1-224066A23177}"/>
              </a:ext>
            </a:extLst>
          </p:cNvPr>
          <p:cNvSpPr>
            <a:spLocks noGrp="1"/>
          </p:cNvSpPr>
          <p:nvPr/>
        </p:nvSpPr>
        <p:spPr>
          <a:xfrm>
            <a:off x="400050" y="3263072"/>
            <a:ext cx="333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r>
              <a:rPr lang="pt-BR" sz="2400" b="1" dirty="0">
                <a:latin typeface="Abadi" panose="020B0604020104020204" pitchFamily="34" charset="77"/>
                <a:cs typeface="Arial"/>
              </a:rPr>
              <a:t>6–12 meses</a:t>
            </a:r>
          </a:p>
        </p:txBody>
      </p:sp>
      <p:sp>
        <p:nvSpPr>
          <p:cNvPr id="12" name="metric-rule-1">
            <a:extLst>
              <a:ext uri="{FF2B5EF4-FFF2-40B4-BE49-F238E27FC236}">
                <a16:creationId xmlns:a16="http://schemas.microsoft.com/office/drawing/2014/main" id="{1D509A60-D975-33F1-FAF7-AF64D74CDFE8}"/>
              </a:ext>
            </a:extLst>
          </p:cNvPr>
          <p:cNvSpPr>
            <a:spLocks noGrp="1"/>
          </p:cNvSpPr>
          <p:nvPr/>
        </p:nvSpPr>
        <p:spPr>
          <a:xfrm>
            <a:off x="4000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3" name="step-body-1">
            <a:extLst>
              <a:ext uri="{FF2B5EF4-FFF2-40B4-BE49-F238E27FC236}">
                <a16:creationId xmlns:a16="http://schemas.microsoft.com/office/drawing/2014/main" id="{2F9FA217-DDF6-9497-EAE5-0B1A3AE85231}"/>
              </a:ext>
            </a:extLst>
          </p:cNvPr>
          <p:cNvSpPr>
            <a:spLocks noGrp="1"/>
          </p:cNvSpPr>
          <p:nvPr/>
        </p:nvSpPr>
        <p:spPr>
          <a:xfrm>
            <a:off x="4000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Desenvolver projeção mínima de 6 meses; desejável de 12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cs typeface="Arial"/>
              </a:rPr>
              <a:t>Projetar o caixa via métodos direto ou indireto, com cenários base estresse</a:t>
            </a:r>
            <a:endParaRPr lang="pt-BR" sz="1400" dirty="0">
              <a:solidFill>
                <a:srgbClr val="333333"/>
              </a:solidFill>
              <a:latin typeface="Arial"/>
              <a:cs typeface="Arial"/>
            </a:endParaRP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Revisar recorrentemente realizado × projetado </a:t>
            </a:r>
            <a:r>
              <a:rPr lang="pt-BR" sz="1400" dirty="0" err="1">
                <a:solidFill>
                  <a:srgbClr val="333333"/>
                </a:solidFill>
                <a:latin typeface="Arial"/>
                <a:cs typeface="Arial"/>
              </a:rPr>
              <a:t>x</a:t>
            </a: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 orçado</a:t>
            </a:r>
          </a:p>
        </p:txBody>
      </p:sp>
      <p:sp>
        <p:nvSpPr>
          <p:cNvPr id="14" name="step-circle-2">
            <a:extLst>
              <a:ext uri="{FF2B5EF4-FFF2-40B4-BE49-F238E27FC236}">
                <a16:creationId xmlns:a16="http://schemas.microsoft.com/office/drawing/2014/main" id="{FE00F141-45E2-B5A7-AC7C-F7F4CEBADAA3}"/>
              </a:ext>
            </a:extLst>
          </p:cNvPr>
          <p:cNvSpPr>
            <a:spLocks noGrp="1"/>
          </p:cNvSpPr>
          <p:nvPr/>
        </p:nvSpPr>
        <p:spPr>
          <a:xfrm>
            <a:off x="43243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2</a:t>
            </a:r>
          </a:p>
        </p:txBody>
      </p:sp>
      <p:sp>
        <p:nvSpPr>
          <p:cNvPr id="15" name="step-title-2">
            <a:extLst>
              <a:ext uri="{FF2B5EF4-FFF2-40B4-BE49-F238E27FC236}">
                <a16:creationId xmlns:a16="http://schemas.microsoft.com/office/drawing/2014/main" id="{C11CDC79-CC5B-975A-457E-1099DE850600}"/>
              </a:ext>
            </a:extLst>
          </p:cNvPr>
          <p:cNvSpPr>
            <a:spLocks noGrp="1"/>
          </p:cNvSpPr>
          <p:nvPr/>
        </p:nvSpPr>
        <p:spPr>
          <a:xfrm>
            <a:off x="48860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Reserva operacional</a:t>
            </a:r>
          </a:p>
        </p:txBody>
      </p:sp>
      <p:sp>
        <p:nvSpPr>
          <p:cNvPr id="16" name="step-metric-2">
            <a:extLst>
              <a:ext uri="{FF2B5EF4-FFF2-40B4-BE49-F238E27FC236}">
                <a16:creationId xmlns:a16="http://schemas.microsoft.com/office/drawing/2014/main" id="{201AE11F-EBBE-A0CE-918F-1371D1B154C3}"/>
              </a:ext>
            </a:extLst>
          </p:cNvPr>
          <p:cNvSpPr>
            <a:spLocks noGrp="1"/>
          </p:cNvSpPr>
          <p:nvPr/>
        </p:nvSpPr>
        <p:spPr>
          <a:xfrm>
            <a:off x="4324350" y="3263072"/>
            <a:ext cx="333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r>
              <a:rPr lang="pt-BR" sz="2400" b="1" dirty="0">
                <a:latin typeface="Abadi" panose="020B0604020104020204" pitchFamily="34" charset="77"/>
                <a:cs typeface="Arial"/>
              </a:rPr>
              <a:t>≥ 3 meses</a:t>
            </a:r>
          </a:p>
        </p:txBody>
      </p:sp>
      <p:sp>
        <p:nvSpPr>
          <p:cNvPr id="17" name="metric-rule-2">
            <a:extLst>
              <a:ext uri="{FF2B5EF4-FFF2-40B4-BE49-F238E27FC236}">
                <a16:creationId xmlns:a16="http://schemas.microsoft.com/office/drawing/2014/main" id="{E1F9FD16-17EA-6665-5FC3-121FDF98F57E}"/>
              </a:ext>
            </a:extLst>
          </p:cNvPr>
          <p:cNvSpPr>
            <a:spLocks noGrp="1"/>
          </p:cNvSpPr>
          <p:nvPr/>
        </p:nvSpPr>
        <p:spPr>
          <a:xfrm>
            <a:off x="43243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8" name="step-body-2">
            <a:extLst>
              <a:ext uri="{FF2B5EF4-FFF2-40B4-BE49-F238E27FC236}">
                <a16:creationId xmlns:a16="http://schemas.microsoft.com/office/drawing/2014/main" id="{67A3DF6E-9901-4877-B2AA-3114806FA40E}"/>
              </a:ext>
            </a:extLst>
          </p:cNvPr>
          <p:cNvSpPr>
            <a:spLocks noGrp="1"/>
          </p:cNvSpPr>
          <p:nvPr/>
        </p:nvSpPr>
        <p:spPr>
          <a:xfrm>
            <a:off x="43243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Cobrir os custos essenciais sem depender de novas captações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Definir gatilhos de uso e recomposição da reserva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Adicionar buffer para picos pontuais de necessidade de caixa</a:t>
            </a:r>
          </a:p>
        </p:txBody>
      </p:sp>
      <p:sp>
        <p:nvSpPr>
          <p:cNvPr id="19" name="step-circle-3">
            <a:extLst>
              <a:ext uri="{FF2B5EF4-FFF2-40B4-BE49-F238E27FC236}">
                <a16:creationId xmlns:a16="http://schemas.microsoft.com/office/drawing/2014/main" id="{3BA7CB38-8B41-33B1-639D-FFC3770FBED9}"/>
              </a:ext>
            </a:extLst>
          </p:cNvPr>
          <p:cNvSpPr>
            <a:spLocks noGrp="1"/>
          </p:cNvSpPr>
          <p:nvPr/>
        </p:nvSpPr>
        <p:spPr>
          <a:xfrm>
            <a:off x="82486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3</a:t>
            </a:r>
          </a:p>
        </p:txBody>
      </p:sp>
      <p:sp>
        <p:nvSpPr>
          <p:cNvPr id="20" name="step-title-3">
            <a:extLst>
              <a:ext uri="{FF2B5EF4-FFF2-40B4-BE49-F238E27FC236}">
                <a16:creationId xmlns:a16="http://schemas.microsoft.com/office/drawing/2014/main" id="{10D164B8-6814-7360-459B-A9936BA68AD0}"/>
              </a:ext>
            </a:extLst>
          </p:cNvPr>
          <p:cNvSpPr>
            <a:spLocks noGrp="1"/>
          </p:cNvSpPr>
          <p:nvPr/>
        </p:nvSpPr>
        <p:spPr>
          <a:xfrm>
            <a:off x="88103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err="1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Funding</a:t>
            </a:r>
            <a:r>
              <a:rPr lang="pt-BR" sz="2000" b="1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 de menor custo</a:t>
            </a:r>
          </a:p>
        </p:txBody>
      </p:sp>
      <p:sp>
        <p:nvSpPr>
          <p:cNvPr id="21" name="step-metric-3">
            <a:extLst>
              <a:ext uri="{FF2B5EF4-FFF2-40B4-BE49-F238E27FC236}">
                <a16:creationId xmlns:a16="http://schemas.microsoft.com/office/drawing/2014/main" id="{1B0D7B48-924A-D01B-ABE9-F9623E738C97}"/>
              </a:ext>
            </a:extLst>
          </p:cNvPr>
          <p:cNvSpPr>
            <a:spLocks noGrp="1"/>
          </p:cNvSpPr>
          <p:nvPr/>
        </p:nvSpPr>
        <p:spPr>
          <a:xfrm>
            <a:off x="8248650" y="3263072"/>
            <a:ext cx="333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r>
              <a:rPr lang="pt-BR" sz="2400" b="1" dirty="0">
                <a:latin typeface="Abadi" panose="020B0604020104020204" pitchFamily="34" charset="77"/>
                <a:cs typeface="Arial"/>
              </a:rPr>
              <a:t>Reduzir risco sacado</a:t>
            </a:r>
          </a:p>
        </p:txBody>
      </p:sp>
      <p:sp>
        <p:nvSpPr>
          <p:cNvPr id="22" name="metric-rule-3">
            <a:extLst>
              <a:ext uri="{FF2B5EF4-FFF2-40B4-BE49-F238E27FC236}">
                <a16:creationId xmlns:a16="http://schemas.microsoft.com/office/drawing/2014/main" id="{E2E3A821-39B7-1F21-2819-11EC83E8F40E}"/>
              </a:ext>
            </a:extLst>
          </p:cNvPr>
          <p:cNvSpPr>
            <a:spLocks noGrp="1"/>
          </p:cNvSpPr>
          <p:nvPr/>
        </p:nvSpPr>
        <p:spPr>
          <a:xfrm>
            <a:off x="82486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23" name="step-body-3">
            <a:extLst>
              <a:ext uri="{FF2B5EF4-FFF2-40B4-BE49-F238E27FC236}">
                <a16:creationId xmlns:a16="http://schemas.microsoft.com/office/drawing/2014/main" id="{234E7A8B-A48C-3CCD-4D7D-07C8A23A555C}"/>
              </a:ext>
            </a:extLst>
          </p:cNvPr>
          <p:cNvSpPr>
            <a:spLocks noGrp="1"/>
          </p:cNvSpPr>
          <p:nvPr/>
        </p:nvSpPr>
        <p:spPr>
          <a:xfrm>
            <a:off x="8248649" y="3997812"/>
            <a:ext cx="3608387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Mapear alternativas: FGI, Empréstimo 4.131 e linhas estruturadas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Comparar CET, prazo, garantias e flexibilidade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Casar os vencimentos com a geração de caixa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Buscar incentivos fiscais Lei do Bem, Lei Rouanet, entre outros</a:t>
            </a:r>
          </a:p>
        </p:txBody>
      </p:sp>
      <p:sp>
        <p:nvSpPr>
          <p:cNvPr id="25" name="objective-band">
            <a:extLst>
              <a:ext uri="{FF2B5EF4-FFF2-40B4-BE49-F238E27FC236}">
                <a16:creationId xmlns:a16="http://schemas.microsoft.com/office/drawing/2014/main" id="{A0537039-432A-A138-1088-82258AFBC8CE}"/>
              </a:ext>
            </a:extLst>
          </p:cNvPr>
          <p:cNvSpPr>
            <a:spLocks noGrp="1"/>
          </p:cNvSpPr>
          <p:nvPr/>
        </p:nvSpPr>
        <p:spPr>
          <a:xfrm>
            <a:off x="335998" y="1616891"/>
            <a:ext cx="9972000" cy="714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 lIns="1692000" anchor="ctr"/>
          <a:lstStyle/>
          <a:p>
            <a:pPr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b="1" dirty="0">
                <a:solidFill>
                  <a:srgbClr val="0B1220"/>
                </a:solidFill>
                <a:latin typeface="Abadi" panose="020B0604020104020204" pitchFamily="34" charset="77"/>
                <a:ea typeface="Arial"/>
                <a:cs typeface="Arial"/>
              </a:rPr>
              <a:t>Garantir liquidez e previsibilidade financeira por meio de gestão disciplinada do caixa, suportando decisões estratégicas e a sustentabilidade do negócio.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F226BFF-8359-CB99-78C4-2A2F6E9C5014}"/>
              </a:ext>
            </a:extLst>
          </p:cNvPr>
          <p:cNvSpPr/>
          <p:nvPr/>
        </p:nvSpPr>
        <p:spPr>
          <a:xfrm>
            <a:off x="341322" y="1601598"/>
            <a:ext cx="1515836" cy="71469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Liquidez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6BD3D0F-BA1C-92DE-1D68-68BFD32414C9}"/>
              </a:ext>
            </a:extLst>
          </p:cNvPr>
          <p:cNvSpPr/>
          <p:nvPr/>
        </p:nvSpPr>
        <p:spPr>
          <a:xfrm>
            <a:off x="10476089" y="1609244"/>
            <a:ext cx="1380948" cy="714699"/>
          </a:xfrm>
          <a:prstGeom prst="roundRect">
            <a:avLst/>
          </a:prstGeom>
          <a:solidFill>
            <a:srgbClr val="E36800"/>
          </a:solidFill>
          <a:ln w="11430">
            <a:solidFill>
              <a:srgbClr val="E368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CFSO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4EAFCD-3136-F58E-5FF0-C9E29DBDBE61}"/>
              </a:ext>
            </a:extLst>
          </p:cNvPr>
          <p:cNvSpPr/>
          <p:nvPr/>
        </p:nvSpPr>
        <p:spPr>
          <a:xfrm>
            <a:off x="10341201" y="296016"/>
            <a:ext cx="1515836" cy="246735"/>
          </a:xfrm>
          <a:prstGeom prst="rect">
            <a:avLst/>
          </a:prstGeom>
          <a:solidFill>
            <a:schemeClr val="accent4"/>
          </a:solidFill>
          <a:ln w="11430">
            <a:solidFill>
              <a:schemeClr val="accent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Finanças</a:t>
            </a:r>
          </a:p>
        </p:txBody>
      </p:sp>
    </p:spTree>
    <p:extLst>
      <p:ext uri="{BB962C8B-B14F-4D97-AF65-F5344CB8AC3E}">
        <p14:creationId xmlns:p14="http://schemas.microsoft.com/office/powerpoint/2010/main" val="2646398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7147A-CDC5-665E-0F60-9FA3E7110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AB97CA56-0A95-C541-7041-2FDB7B66DDD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97CA56-0A95-C541-7041-2FDB7B66DD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DBBA2333-6FAF-E748-FC90-5E3B35C52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O P&amp;L será utilizado como driver e balizador dos resultados esperados dos ciclos da CIA, garantindo margem operacional mínima e alvo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BEB3455-F140-24CF-BC5E-6E5E7556D5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ATY</a:t>
            </a:r>
          </a:p>
          <a:p>
            <a:endParaRPr lang="pt-BR" noProof="1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421CEC45-0AD9-EFB3-A6C6-D180680E8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85DF0A5-94CA-C3DA-540E-44ECE98F01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pt-BR" noProof="1"/>
              <a:t>Ações estruturantes – Financeiro - P&amp;L</a:t>
            </a:r>
          </a:p>
        </p:txBody>
      </p:sp>
      <p:sp>
        <p:nvSpPr>
          <p:cNvPr id="50" name="Disclaimer_Box">
            <a:extLst>
              <a:ext uri="{FF2B5EF4-FFF2-40B4-BE49-F238E27FC236}">
                <a16:creationId xmlns:a16="http://schemas.microsoft.com/office/drawing/2014/main" id="{E35AAF3D-AEEB-12EB-37DB-ADD43354E903}"/>
              </a:ext>
            </a:extLst>
          </p:cNvPr>
          <p:cNvSpPr txBox="1">
            <a:spLocks/>
          </p:cNvSpPr>
          <p:nvPr/>
        </p:nvSpPr>
        <p:spPr>
          <a:xfrm>
            <a:off x="9540697" y="1200149"/>
            <a:ext cx="231634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 sz="1200" b="1" kern="1200" baseline="0">
                <a:solidFill>
                  <a:schemeClr val="accent6"/>
                </a:solidFill>
                <a:latin typeface="Arial"/>
                <a:ea typeface="+mn-ea"/>
                <a:cs typeface="Arial"/>
              </a:defRPr>
            </a:lvl1pPr>
            <a:lvl2pPr marL="352425" marR="0" indent="-1651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9750" marR="0" indent="-1857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2" pitchFamily="18" charset="2"/>
              <a:buChar char=""/>
              <a:tabLst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712788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900113" marR="0" indent="-1857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</a:rPr>
              <a:t>Não Exaustivo | Para discussão</a:t>
            </a:r>
          </a:p>
        </p:txBody>
      </p:sp>
      <p:sp>
        <p:nvSpPr>
          <p:cNvPr id="4" name="step-circle-1">
            <a:extLst>
              <a:ext uri="{FF2B5EF4-FFF2-40B4-BE49-F238E27FC236}">
                <a16:creationId xmlns:a16="http://schemas.microsoft.com/office/drawing/2014/main" id="{B3AA8047-1858-0D2E-8B2A-A989A3E7BB25}"/>
              </a:ext>
            </a:extLst>
          </p:cNvPr>
          <p:cNvSpPr>
            <a:spLocks noGrp="1"/>
          </p:cNvSpPr>
          <p:nvPr/>
        </p:nvSpPr>
        <p:spPr>
          <a:xfrm>
            <a:off x="4000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1</a:t>
            </a:r>
          </a:p>
        </p:txBody>
      </p:sp>
      <p:sp>
        <p:nvSpPr>
          <p:cNvPr id="8" name="step-title-1">
            <a:extLst>
              <a:ext uri="{FF2B5EF4-FFF2-40B4-BE49-F238E27FC236}">
                <a16:creationId xmlns:a16="http://schemas.microsoft.com/office/drawing/2014/main" id="{9101F148-DDA6-1677-3FC3-5F6E10255C27}"/>
              </a:ext>
            </a:extLst>
          </p:cNvPr>
          <p:cNvSpPr>
            <a:spLocks noGrp="1"/>
          </p:cNvSpPr>
          <p:nvPr/>
        </p:nvSpPr>
        <p:spPr>
          <a:xfrm>
            <a:off x="9617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Planejamento</a:t>
            </a:r>
          </a:p>
        </p:txBody>
      </p:sp>
      <p:sp>
        <p:nvSpPr>
          <p:cNvPr id="11" name="step-metric-1">
            <a:extLst>
              <a:ext uri="{FF2B5EF4-FFF2-40B4-BE49-F238E27FC236}">
                <a16:creationId xmlns:a16="http://schemas.microsoft.com/office/drawing/2014/main" id="{DBAF741E-E05B-874C-97C9-4EAA1A2C3DA1}"/>
              </a:ext>
            </a:extLst>
          </p:cNvPr>
          <p:cNvSpPr>
            <a:spLocks noGrp="1"/>
          </p:cNvSpPr>
          <p:nvPr/>
        </p:nvSpPr>
        <p:spPr>
          <a:xfrm>
            <a:off x="400050" y="3263072"/>
            <a:ext cx="333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r>
              <a:rPr lang="pt-BR" sz="2400" b="1">
                <a:latin typeface="Abadi" panose="020B0604020104020204" pitchFamily="34" charset="77"/>
                <a:cs typeface="Arial"/>
              </a:rPr>
              <a:t>P&amp;L por operação</a:t>
            </a:r>
          </a:p>
        </p:txBody>
      </p:sp>
      <p:sp>
        <p:nvSpPr>
          <p:cNvPr id="12" name="metric-rule-1">
            <a:extLst>
              <a:ext uri="{FF2B5EF4-FFF2-40B4-BE49-F238E27FC236}">
                <a16:creationId xmlns:a16="http://schemas.microsoft.com/office/drawing/2014/main" id="{DACAE0E2-5645-A9B8-435F-7BFEE1771E63}"/>
              </a:ext>
            </a:extLst>
          </p:cNvPr>
          <p:cNvSpPr>
            <a:spLocks noGrp="1"/>
          </p:cNvSpPr>
          <p:nvPr/>
        </p:nvSpPr>
        <p:spPr>
          <a:xfrm>
            <a:off x="4000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3" name="step-body-1">
            <a:extLst>
              <a:ext uri="{FF2B5EF4-FFF2-40B4-BE49-F238E27FC236}">
                <a16:creationId xmlns:a16="http://schemas.microsoft.com/office/drawing/2014/main" id="{CE852132-14FE-C42E-CF8F-5C10032E9AD4}"/>
              </a:ext>
            </a:extLst>
          </p:cNvPr>
          <p:cNvSpPr>
            <a:spLocks noGrp="1"/>
          </p:cNvSpPr>
          <p:nvPr/>
        </p:nvSpPr>
        <p:spPr>
          <a:xfrm>
            <a:off x="400050" y="4049076"/>
            <a:ext cx="3333750" cy="2221696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cs typeface="Arial"/>
              </a:rPr>
              <a:t>Estruturação de bases de dados saneados e granulares do </a:t>
            </a:r>
            <a:r>
              <a:rPr lang="pt-BR" sz="1400" dirty="0" err="1">
                <a:solidFill>
                  <a:srgbClr val="333333"/>
                </a:solidFill>
                <a:cs typeface="Arial"/>
              </a:rPr>
              <a:t>négocio</a:t>
            </a:r>
            <a:endParaRPr lang="pt-BR" sz="1400" dirty="0">
              <a:solidFill>
                <a:srgbClr val="333333"/>
              </a:solidFill>
              <a:latin typeface="Arial"/>
              <a:cs typeface="Arial"/>
            </a:endParaRP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Visão integrada de receita, custos e rentabilidade por BU, segmento e cliente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Margens bruta, operacional e líquida, além de DSO e DPO</a:t>
            </a:r>
          </a:p>
        </p:txBody>
      </p:sp>
      <p:sp>
        <p:nvSpPr>
          <p:cNvPr id="14" name="step-circle-2">
            <a:extLst>
              <a:ext uri="{FF2B5EF4-FFF2-40B4-BE49-F238E27FC236}">
                <a16:creationId xmlns:a16="http://schemas.microsoft.com/office/drawing/2014/main" id="{85BF2EC8-16C3-6156-0810-184CFAF62F02}"/>
              </a:ext>
            </a:extLst>
          </p:cNvPr>
          <p:cNvSpPr>
            <a:spLocks noGrp="1"/>
          </p:cNvSpPr>
          <p:nvPr/>
        </p:nvSpPr>
        <p:spPr>
          <a:xfrm>
            <a:off x="43243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2</a:t>
            </a:r>
          </a:p>
        </p:txBody>
      </p:sp>
      <p:sp>
        <p:nvSpPr>
          <p:cNvPr id="15" name="step-title-2">
            <a:extLst>
              <a:ext uri="{FF2B5EF4-FFF2-40B4-BE49-F238E27FC236}">
                <a16:creationId xmlns:a16="http://schemas.microsoft.com/office/drawing/2014/main" id="{86B5DA33-4F5E-4BDE-182D-04A29D2A4E69}"/>
              </a:ext>
            </a:extLst>
          </p:cNvPr>
          <p:cNvSpPr>
            <a:spLocks noGrp="1"/>
          </p:cNvSpPr>
          <p:nvPr/>
        </p:nvSpPr>
        <p:spPr>
          <a:xfrm>
            <a:off x="48860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FP&amp;A Integrado</a:t>
            </a:r>
          </a:p>
        </p:txBody>
      </p:sp>
      <p:sp>
        <p:nvSpPr>
          <p:cNvPr id="16" name="step-metric-2">
            <a:extLst>
              <a:ext uri="{FF2B5EF4-FFF2-40B4-BE49-F238E27FC236}">
                <a16:creationId xmlns:a16="http://schemas.microsoft.com/office/drawing/2014/main" id="{9C2619B4-EF8D-0953-F437-EBA1A5DA380E}"/>
              </a:ext>
            </a:extLst>
          </p:cNvPr>
          <p:cNvSpPr>
            <a:spLocks noGrp="1"/>
          </p:cNvSpPr>
          <p:nvPr/>
        </p:nvSpPr>
        <p:spPr>
          <a:xfrm>
            <a:off x="4324350" y="3263072"/>
            <a:ext cx="333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r>
              <a:rPr lang="pt-BR" sz="2400" b="1">
                <a:latin typeface="Abadi" panose="020B0604020104020204" pitchFamily="34" charset="77"/>
                <a:cs typeface="Arial"/>
              </a:rPr>
              <a:t>Real </a:t>
            </a:r>
            <a:r>
              <a:rPr lang="pt-BR" sz="2400" b="1" err="1">
                <a:latin typeface="Abadi" panose="020B0604020104020204" pitchFamily="34" charset="77"/>
                <a:cs typeface="Arial"/>
              </a:rPr>
              <a:t>x</a:t>
            </a:r>
            <a:r>
              <a:rPr lang="pt-BR" sz="2400" b="1">
                <a:latin typeface="Abadi" panose="020B0604020104020204" pitchFamily="34" charset="77"/>
                <a:cs typeface="Arial"/>
              </a:rPr>
              <a:t> Forecast</a:t>
            </a:r>
          </a:p>
        </p:txBody>
      </p:sp>
      <p:sp>
        <p:nvSpPr>
          <p:cNvPr id="17" name="metric-rule-2">
            <a:extLst>
              <a:ext uri="{FF2B5EF4-FFF2-40B4-BE49-F238E27FC236}">
                <a16:creationId xmlns:a16="http://schemas.microsoft.com/office/drawing/2014/main" id="{6045E63F-60D8-B61B-9E4D-1498BDCC5E50}"/>
              </a:ext>
            </a:extLst>
          </p:cNvPr>
          <p:cNvSpPr>
            <a:spLocks noGrp="1"/>
          </p:cNvSpPr>
          <p:nvPr/>
        </p:nvSpPr>
        <p:spPr>
          <a:xfrm>
            <a:off x="43243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8" name="step-body-2">
            <a:extLst>
              <a:ext uri="{FF2B5EF4-FFF2-40B4-BE49-F238E27FC236}">
                <a16:creationId xmlns:a16="http://schemas.microsoft.com/office/drawing/2014/main" id="{7E689954-17FC-76E4-E0D1-18CA954E0F77}"/>
              </a:ext>
            </a:extLst>
          </p:cNvPr>
          <p:cNvSpPr>
            <a:spLocks noGrp="1"/>
          </p:cNvSpPr>
          <p:nvPr/>
        </p:nvSpPr>
        <p:spPr>
          <a:xfrm>
            <a:off x="4324350" y="4049076"/>
            <a:ext cx="3333750" cy="2076292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>
                <a:solidFill>
                  <a:srgbClr val="333333"/>
                </a:solidFill>
                <a:latin typeface="Arial"/>
                <a:cs typeface="Arial"/>
              </a:rPr>
              <a:t>Rolling </a:t>
            </a:r>
            <a:r>
              <a:rPr lang="pt-BR" sz="1400" err="1">
                <a:solidFill>
                  <a:srgbClr val="333333"/>
                </a:solidFill>
                <a:latin typeface="Arial"/>
                <a:cs typeface="Arial"/>
              </a:rPr>
              <a:t>forecast</a:t>
            </a:r>
            <a:r>
              <a:rPr lang="pt-BR" sz="1400">
                <a:solidFill>
                  <a:srgbClr val="333333"/>
                </a:solidFill>
                <a:latin typeface="Arial"/>
                <a:cs typeface="Arial"/>
              </a:rPr>
              <a:t> de resultado, caixa e capital de giro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>
                <a:solidFill>
                  <a:srgbClr val="333333"/>
                </a:solidFill>
                <a:latin typeface="Arial"/>
                <a:cs typeface="Arial"/>
              </a:rPr>
              <a:t>Cenários base, stress e oportunidades e mapeamento dos desvios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>
                <a:solidFill>
                  <a:srgbClr val="333333"/>
                </a:solidFill>
                <a:latin typeface="Arial"/>
                <a:cs typeface="Arial"/>
              </a:rPr>
              <a:t>Drivers, responsáveis e planos de ação claramente definidos</a:t>
            </a:r>
          </a:p>
        </p:txBody>
      </p:sp>
      <p:sp>
        <p:nvSpPr>
          <p:cNvPr id="19" name="step-circle-3">
            <a:extLst>
              <a:ext uri="{FF2B5EF4-FFF2-40B4-BE49-F238E27FC236}">
                <a16:creationId xmlns:a16="http://schemas.microsoft.com/office/drawing/2014/main" id="{BA8E4312-4ACE-0A43-692D-784E995842E5}"/>
              </a:ext>
            </a:extLst>
          </p:cNvPr>
          <p:cNvSpPr>
            <a:spLocks noGrp="1"/>
          </p:cNvSpPr>
          <p:nvPr/>
        </p:nvSpPr>
        <p:spPr>
          <a:xfrm>
            <a:off x="82486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3</a:t>
            </a:r>
          </a:p>
        </p:txBody>
      </p:sp>
      <p:sp>
        <p:nvSpPr>
          <p:cNvPr id="20" name="step-title-3">
            <a:extLst>
              <a:ext uri="{FF2B5EF4-FFF2-40B4-BE49-F238E27FC236}">
                <a16:creationId xmlns:a16="http://schemas.microsoft.com/office/drawing/2014/main" id="{040D96CA-CFA7-494A-DCC4-9B029C7859C7}"/>
              </a:ext>
            </a:extLst>
          </p:cNvPr>
          <p:cNvSpPr>
            <a:spLocks noGrp="1"/>
          </p:cNvSpPr>
          <p:nvPr/>
        </p:nvSpPr>
        <p:spPr>
          <a:xfrm>
            <a:off x="88103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Governança financeira</a:t>
            </a:r>
          </a:p>
        </p:txBody>
      </p:sp>
      <p:sp>
        <p:nvSpPr>
          <p:cNvPr id="21" name="step-metric-3">
            <a:extLst>
              <a:ext uri="{FF2B5EF4-FFF2-40B4-BE49-F238E27FC236}">
                <a16:creationId xmlns:a16="http://schemas.microsoft.com/office/drawing/2014/main" id="{D002A248-B0FA-4EA8-96AF-772EC8B10378}"/>
              </a:ext>
            </a:extLst>
          </p:cNvPr>
          <p:cNvSpPr>
            <a:spLocks noGrp="1"/>
          </p:cNvSpPr>
          <p:nvPr/>
        </p:nvSpPr>
        <p:spPr>
          <a:xfrm>
            <a:off x="8248650" y="3263072"/>
            <a:ext cx="333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r>
              <a:rPr lang="pt-BR" sz="2400" b="1" dirty="0">
                <a:latin typeface="Abadi" panose="020B0604020104020204" pitchFamily="34" charset="77"/>
                <a:cs typeface="Arial"/>
              </a:rPr>
              <a:t>Construção de Alçadas </a:t>
            </a:r>
          </a:p>
        </p:txBody>
      </p:sp>
      <p:sp>
        <p:nvSpPr>
          <p:cNvPr id="22" name="metric-rule-3">
            <a:extLst>
              <a:ext uri="{FF2B5EF4-FFF2-40B4-BE49-F238E27FC236}">
                <a16:creationId xmlns:a16="http://schemas.microsoft.com/office/drawing/2014/main" id="{45498803-EB04-CBC2-988E-66966EDE50BE}"/>
              </a:ext>
            </a:extLst>
          </p:cNvPr>
          <p:cNvSpPr>
            <a:spLocks noGrp="1"/>
          </p:cNvSpPr>
          <p:nvPr/>
        </p:nvSpPr>
        <p:spPr>
          <a:xfrm>
            <a:off x="82486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23" name="step-body-3">
            <a:extLst>
              <a:ext uri="{FF2B5EF4-FFF2-40B4-BE49-F238E27FC236}">
                <a16:creationId xmlns:a16="http://schemas.microsoft.com/office/drawing/2014/main" id="{B2CB7CEB-75BA-D45E-9D59-AD2333C8D28D}"/>
              </a:ext>
            </a:extLst>
          </p:cNvPr>
          <p:cNvSpPr>
            <a:spLocks noGrp="1"/>
          </p:cNvSpPr>
          <p:nvPr/>
        </p:nvSpPr>
        <p:spPr>
          <a:xfrm>
            <a:off x="8248650" y="4049076"/>
            <a:ext cx="3333750" cy="2076292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cs typeface="Arial"/>
              </a:rPr>
              <a:t>Alçadas de vendas e compras escaladas conforme volume do contrato e segmentação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TIR, margem e custo financeiro validados pelo FP&amp;A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Critérios financeiros incorporados ao direcionamento comercial</a:t>
            </a:r>
          </a:p>
        </p:txBody>
      </p:sp>
      <p:sp>
        <p:nvSpPr>
          <p:cNvPr id="25" name="objective-band">
            <a:extLst>
              <a:ext uri="{FF2B5EF4-FFF2-40B4-BE49-F238E27FC236}">
                <a16:creationId xmlns:a16="http://schemas.microsoft.com/office/drawing/2014/main" id="{4B10B69C-73F7-3969-3EA4-FCC2E62F1C66}"/>
              </a:ext>
            </a:extLst>
          </p:cNvPr>
          <p:cNvSpPr>
            <a:spLocks noGrp="1"/>
          </p:cNvSpPr>
          <p:nvPr/>
        </p:nvSpPr>
        <p:spPr>
          <a:xfrm>
            <a:off x="335999" y="1616891"/>
            <a:ext cx="9972000" cy="714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 lIns="1692000" anchor="ctr"/>
          <a:lstStyle/>
          <a:p>
            <a:pPr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b="1">
                <a:solidFill>
                  <a:srgbClr val="0B1220"/>
                </a:solidFill>
                <a:latin typeface="Abadi" panose="020B0604020104020204" pitchFamily="34" charset="77"/>
                <a:ea typeface="Arial"/>
                <a:cs typeface="Arial"/>
              </a:rPr>
              <a:t>Estruturar o P&amp;L de forma clara e consistente, garantindo visibilidade dos resultados e suporte efetivo à tomada de decisão.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48BD137-0900-2804-A23C-3490AB4CC65D}"/>
              </a:ext>
            </a:extLst>
          </p:cNvPr>
          <p:cNvSpPr/>
          <p:nvPr/>
        </p:nvSpPr>
        <p:spPr>
          <a:xfrm>
            <a:off x="341322" y="1601598"/>
            <a:ext cx="1515836" cy="71469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P&amp;L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68669B3-9D11-B38F-E77C-FDF12FD8B6EB}"/>
              </a:ext>
            </a:extLst>
          </p:cNvPr>
          <p:cNvSpPr/>
          <p:nvPr/>
        </p:nvSpPr>
        <p:spPr>
          <a:xfrm>
            <a:off x="10476089" y="1609244"/>
            <a:ext cx="1380948" cy="714699"/>
          </a:xfrm>
          <a:prstGeom prst="roundRect">
            <a:avLst/>
          </a:prstGeom>
          <a:solidFill>
            <a:srgbClr val="E36800"/>
          </a:solidFill>
          <a:ln w="11430">
            <a:solidFill>
              <a:srgbClr val="E368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CFSO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BF014C-0CBA-5371-4B69-6F3B44847A18}"/>
              </a:ext>
            </a:extLst>
          </p:cNvPr>
          <p:cNvSpPr/>
          <p:nvPr/>
        </p:nvSpPr>
        <p:spPr>
          <a:xfrm>
            <a:off x="10341201" y="296016"/>
            <a:ext cx="1515836" cy="246735"/>
          </a:xfrm>
          <a:prstGeom prst="rect">
            <a:avLst/>
          </a:prstGeom>
          <a:solidFill>
            <a:schemeClr val="accent4"/>
          </a:solidFill>
          <a:ln w="11430">
            <a:solidFill>
              <a:schemeClr val="accent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Finanças</a:t>
            </a:r>
          </a:p>
        </p:txBody>
      </p:sp>
    </p:spTree>
    <p:extLst>
      <p:ext uri="{BB962C8B-B14F-4D97-AF65-F5344CB8AC3E}">
        <p14:creationId xmlns:p14="http://schemas.microsoft.com/office/powerpoint/2010/main" val="4087375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30898-9440-7531-A0CA-A420D5713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EE29EBE4-6720-21F1-1F52-15F6E1F38C4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E29EBE4-6720-21F1-1F52-15F6E1F38C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AF50A481-88F0-2072-58A6-F97D18ADB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A gestão dos custos garante controle de despesas e eficiência operacional apoiando a gestão saudável da margem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6A47608-F42C-147F-2654-40F8C42353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ATY</a:t>
            </a:r>
          </a:p>
          <a:p>
            <a:endParaRPr lang="pt-BR" noProof="1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0495539E-E623-9B2E-F9A9-E1605F58E0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5C51020-F272-F281-881C-A3142DC8AF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pt-BR" noProof="1"/>
              <a:t>Ações estruturantes – Financeiro - Gestão de custos</a:t>
            </a:r>
          </a:p>
        </p:txBody>
      </p:sp>
      <p:sp>
        <p:nvSpPr>
          <p:cNvPr id="50" name="Disclaimer_Box">
            <a:extLst>
              <a:ext uri="{FF2B5EF4-FFF2-40B4-BE49-F238E27FC236}">
                <a16:creationId xmlns:a16="http://schemas.microsoft.com/office/drawing/2014/main" id="{6F51A2AC-81D1-9A5A-299E-9CB5F0BA8B8C}"/>
              </a:ext>
            </a:extLst>
          </p:cNvPr>
          <p:cNvSpPr txBox="1">
            <a:spLocks/>
          </p:cNvSpPr>
          <p:nvPr/>
        </p:nvSpPr>
        <p:spPr>
          <a:xfrm>
            <a:off x="9540697" y="1200149"/>
            <a:ext cx="231634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 sz="1200" b="1" kern="1200" baseline="0">
                <a:solidFill>
                  <a:schemeClr val="accent6"/>
                </a:solidFill>
                <a:latin typeface="Arial"/>
                <a:ea typeface="+mn-ea"/>
                <a:cs typeface="Arial"/>
              </a:defRPr>
            </a:lvl1pPr>
            <a:lvl2pPr marL="352425" marR="0" indent="-1651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9750" marR="0" indent="-1857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2" pitchFamily="18" charset="2"/>
              <a:buChar char=""/>
              <a:tabLst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712788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900113" marR="0" indent="-1857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</a:rPr>
              <a:t>Não Exaustivo | Para discussão</a:t>
            </a:r>
          </a:p>
        </p:txBody>
      </p:sp>
      <p:sp>
        <p:nvSpPr>
          <p:cNvPr id="4" name="step-circle-1">
            <a:extLst>
              <a:ext uri="{FF2B5EF4-FFF2-40B4-BE49-F238E27FC236}">
                <a16:creationId xmlns:a16="http://schemas.microsoft.com/office/drawing/2014/main" id="{C4EB2C53-212C-5345-2F78-2A6DAA4992BD}"/>
              </a:ext>
            </a:extLst>
          </p:cNvPr>
          <p:cNvSpPr>
            <a:spLocks noGrp="1"/>
          </p:cNvSpPr>
          <p:nvPr/>
        </p:nvSpPr>
        <p:spPr>
          <a:xfrm>
            <a:off x="4000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1</a:t>
            </a:r>
          </a:p>
        </p:txBody>
      </p:sp>
      <p:sp>
        <p:nvSpPr>
          <p:cNvPr id="8" name="step-title-1">
            <a:extLst>
              <a:ext uri="{FF2B5EF4-FFF2-40B4-BE49-F238E27FC236}">
                <a16:creationId xmlns:a16="http://schemas.microsoft.com/office/drawing/2014/main" id="{D9FB7315-12AA-1959-BB42-8D7A13D7B546}"/>
              </a:ext>
            </a:extLst>
          </p:cNvPr>
          <p:cNvSpPr>
            <a:spLocks noGrp="1"/>
          </p:cNvSpPr>
          <p:nvPr/>
        </p:nvSpPr>
        <p:spPr>
          <a:xfrm>
            <a:off x="9617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Estrutura de custos</a:t>
            </a:r>
          </a:p>
        </p:txBody>
      </p:sp>
      <p:sp>
        <p:nvSpPr>
          <p:cNvPr id="11" name="step-metric-1">
            <a:extLst>
              <a:ext uri="{FF2B5EF4-FFF2-40B4-BE49-F238E27FC236}">
                <a16:creationId xmlns:a16="http://schemas.microsoft.com/office/drawing/2014/main" id="{640722A3-E240-778F-2CD5-35BBB880F705}"/>
              </a:ext>
            </a:extLst>
          </p:cNvPr>
          <p:cNvSpPr>
            <a:spLocks noGrp="1"/>
          </p:cNvSpPr>
          <p:nvPr/>
        </p:nvSpPr>
        <p:spPr>
          <a:xfrm>
            <a:off x="400050" y="3263072"/>
            <a:ext cx="333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r>
              <a:rPr lang="pt-BR" sz="2400" b="1">
                <a:latin typeface="Abadi" panose="020B0604020104020204" pitchFamily="34" charset="77"/>
                <a:cs typeface="Arial"/>
              </a:rPr>
              <a:t>Centro de Custos</a:t>
            </a:r>
          </a:p>
        </p:txBody>
      </p:sp>
      <p:sp>
        <p:nvSpPr>
          <p:cNvPr id="12" name="metric-rule-1">
            <a:extLst>
              <a:ext uri="{FF2B5EF4-FFF2-40B4-BE49-F238E27FC236}">
                <a16:creationId xmlns:a16="http://schemas.microsoft.com/office/drawing/2014/main" id="{7698C7DC-9515-05B3-004B-B9ABABEE3329}"/>
              </a:ext>
            </a:extLst>
          </p:cNvPr>
          <p:cNvSpPr>
            <a:spLocks noGrp="1"/>
          </p:cNvSpPr>
          <p:nvPr/>
        </p:nvSpPr>
        <p:spPr>
          <a:xfrm>
            <a:off x="4000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3" name="step-body-1">
            <a:extLst>
              <a:ext uri="{FF2B5EF4-FFF2-40B4-BE49-F238E27FC236}">
                <a16:creationId xmlns:a16="http://schemas.microsoft.com/office/drawing/2014/main" id="{DD9E3EDF-701B-9B89-A7FE-0D1D1906851B}"/>
              </a:ext>
            </a:extLst>
          </p:cNvPr>
          <p:cNvSpPr>
            <a:spLocks noGrp="1"/>
          </p:cNvSpPr>
          <p:nvPr/>
        </p:nvSpPr>
        <p:spPr>
          <a:xfrm>
            <a:off x="400050" y="4049076"/>
            <a:ext cx="3333750" cy="2076292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>
                <a:solidFill>
                  <a:srgbClr val="333333"/>
                </a:solidFill>
                <a:latin typeface="Arial"/>
                <a:cs typeface="Arial"/>
              </a:rPr>
              <a:t>Classificar custos por BU, centro, operação e geografia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>
                <a:solidFill>
                  <a:srgbClr val="333333"/>
                </a:solidFill>
                <a:latin typeface="Arial"/>
                <a:cs typeface="Arial"/>
              </a:rPr>
              <a:t>Separar custos fixos, variáveis, diretos e indiretos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>
                <a:solidFill>
                  <a:srgbClr val="333333"/>
                </a:solidFill>
                <a:latin typeface="Arial"/>
                <a:cs typeface="Arial"/>
              </a:rPr>
              <a:t>Definir critérios de rateio</a:t>
            </a:r>
          </a:p>
        </p:txBody>
      </p:sp>
      <p:sp>
        <p:nvSpPr>
          <p:cNvPr id="14" name="step-circle-2">
            <a:extLst>
              <a:ext uri="{FF2B5EF4-FFF2-40B4-BE49-F238E27FC236}">
                <a16:creationId xmlns:a16="http://schemas.microsoft.com/office/drawing/2014/main" id="{06A24432-11C7-9201-46F6-CEFD2AB8A5B9}"/>
              </a:ext>
            </a:extLst>
          </p:cNvPr>
          <p:cNvSpPr>
            <a:spLocks noGrp="1"/>
          </p:cNvSpPr>
          <p:nvPr/>
        </p:nvSpPr>
        <p:spPr>
          <a:xfrm>
            <a:off x="43243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2</a:t>
            </a:r>
          </a:p>
        </p:txBody>
      </p:sp>
      <p:sp>
        <p:nvSpPr>
          <p:cNvPr id="15" name="step-title-2">
            <a:extLst>
              <a:ext uri="{FF2B5EF4-FFF2-40B4-BE49-F238E27FC236}">
                <a16:creationId xmlns:a16="http://schemas.microsoft.com/office/drawing/2014/main" id="{47A46570-5759-6E0F-E8A4-78200D13E64C}"/>
              </a:ext>
            </a:extLst>
          </p:cNvPr>
          <p:cNvSpPr>
            <a:spLocks noGrp="1"/>
          </p:cNvSpPr>
          <p:nvPr/>
        </p:nvSpPr>
        <p:spPr>
          <a:xfrm>
            <a:off x="48860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Gestão de custos</a:t>
            </a:r>
          </a:p>
        </p:txBody>
      </p:sp>
      <p:sp>
        <p:nvSpPr>
          <p:cNvPr id="16" name="step-metric-2">
            <a:extLst>
              <a:ext uri="{FF2B5EF4-FFF2-40B4-BE49-F238E27FC236}">
                <a16:creationId xmlns:a16="http://schemas.microsoft.com/office/drawing/2014/main" id="{7BBE4A2B-7B09-FB76-F2CF-49759E7119F1}"/>
              </a:ext>
            </a:extLst>
          </p:cNvPr>
          <p:cNvSpPr>
            <a:spLocks noGrp="1"/>
          </p:cNvSpPr>
          <p:nvPr/>
        </p:nvSpPr>
        <p:spPr>
          <a:xfrm>
            <a:off x="4324350" y="3263072"/>
            <a:ext cx="333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r>
              <a:rPr lang="pt-BR" sz="2400" b="1">
                <a:latin typeface="Abadi" panose="020B0604020104020204" pitchFamily="34" charset="77"/>
                <a:cs typeface="Arial"/>
              </a:rPr>
              <a:t>Real </a:t>
            </a:r>
            <a:r>
              <a:rPr lang="pt-BR" sz="2400" b="1" err="1">
                <a:latin typeface="Abadi" panose="020B0604020104020204" pitchFamily="34" charset="77"/>
                <a:cs typeface="Arial"/>
              </a:rPr>
              <a:t>x</a:t>
            </a:r>
            <a:r>
              <a:rPr lang="pt-BR" sz="2400" b="1">
                <a:latin typeface="Abadi" panose="020B0604020104020204" pitchFamily="34" charset="77"/>
                <a:cs typeface="Arial"/>
              </a:rPr>
              <a:t> Realizado</a:t>
            </a:r>
          </a:p>
        </p:txBody>
      </p:sp>
      <p:sp>
        <p:nvSpPr>
          <p:cNvPr id="17" name="metric-rule-2">
            <a:extLst>
              <a:ext uri="{FF2B5EF4-FFF2-40B4-BE49-F238E27FC236}">
                <a16:creationId xmlns:a16="http://schemas.microsoft.com/office/drawing/2014/main" id="{DDF53627-CFE3-40AF-6256-90BDE2FE4C63}"/>
              </a:ext>
            </a:extLst>
          </p:cNvPr>
          <p:cNvSpPr>
            <a:spLocks noGrp="1"/>
          </p:cNvSpPr>
          <p:nvPr/>
        </p:nvSpPr>
        <p:spPr>
          <a:xfrm>
            <a:off x="43243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8" name="step-body-2">
            <a:extLst>
              <a:ext uri="{FF2B5EF4-FFF2-40B4-BE49-F238E27FC236}">
                <a16:creationId xmlns:a16="http://schemas.microsoft.com/office/drawing/2014/main" id="{5AEC6F48-0C7C-5755-5A7D-E2B2AA37731F}"/>
              </a:ext>
            </a:extLst>
          </p:cNvPr>
          <p:cNvSpPr>
            <a:spLocks noGrp="1"/>
          </p:cNvSpPr>
          <p:nvPr/>
        </p:nvSpPr>
        <p:spPr>
          <a:xfrm>
            <a:off x="4324350" y="4049076"/>
            <a:ext cx="3333750" cy="2076292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>
                <a:solidFill>
                  <a:srgbClr val="333333"/>
                </a:solidFill>
                <a:latin typeface="Arial"/>
                <a:cs typeface="Arial"/>
              </a:rPr>
              <a:t>Acompanhar desvios por driver, responsável e período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>
                <a:solidFill>
                  <a:srgbClr val="333333"/>
                </a:solidFill>
                <a:latin typeface="Arial"/>
                <a:cs typeface="Arial"/>
              </a:rPr>
              <a:t>Integrar custos ao P&amp;L, </a:t>
            </a:r>
            <a:r>
              <a:rPr lang="pt-BR" sz="1400" err="1">
                <a:solidFill>
                  <a:srgbClr val="333333"/>
                </a:solidFill>
                <a:latin typeface="Arial"/>
                <a:cs typeface="Arial"/>
              </a:rPr>
              <a:t>forecast</a:t>
            </a:r>
            <a:r>
              <a:rPr lang="pt-BR" sz="1400">
                <a:solidFill>
                  <a:srgbClr val="333333"/>
                </a:solidFill>
                <a:latin typeface="Arial"/>
                <a:cs typeface="Arial"/>
              </a:rPr>
              <a:t> e rentabilidade por operação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>
                <a:solidFill>
                  <a:srgbClr val="333333"/>
                </a:solidFill>
                <a:latin typeface="Arial"/>
                <a:cs typeface="Arial"/>
              </a:rPr>
              <a:t>Estabelecer metas, gatilhos e planos de ação</a:t>
            </a:r>
          </a:p>
        </p:txBody>
      </p:sp>
      <p:sp>
        <p:nvSpPr>
          <p:cNvPr id="19" name="step-circle-3">
            <a:extLst>
              <a:ext uri="{FF2B5EF4-FFF2-40B4-BE49-F238E27FC236}">
                <a16:creationId xmlns:a16="http://schemas.microsoft.com/office/drawing/2014/main" id="{D45627D1-95B3-1C82-9EFF-3E5150EB3E52}"/>
              </a:ext>
            </a:extLst>
          </p:cNvPr>
          <p:cNvSpPr>
            <a:spLocks noGrp="1"/>
          </p:cNvSpPr>
          <p:nvPr/>
        </p:nvSpPr>
        <p:spPr>
          <a:xfrm>
            <a:off x="82486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3</a:t>
            </a:r>
          </a:p>
        </p:txBody>
      </p:sp>
      <p:sp>
        <p:nvSpPr>
          <p:cNvPr id="20" name="step-title-3">
            <a:extLst>
              <a:ext uri="{FF2B5EF4-FFF2-40B4-BE49-F238E27FC236}">
                <a16:creationId xmlns:a16="http://schemas.microsoft.com/office/drawing/2014/main" id="{71758A55-6680-1A35-BD37-4505D1BA5D4F}"/>
              </a:ext>
            </a:extLst>
          </p:cNvPr>
          <p:cNvSpPr>
            <a:spLocks noGrp="1"/>
          </p:cNvSpPr>
          <p:nvPr/>
        </p:nvSpPr>
        <p:spPr>
          <a:xfrm>
            <a:off x="88103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Eficiência</a:t>
            </a:r>
          </a:p>
        </p:txBody>
      </p:sp>
      <p:sp>
        <p:nvSpPr>
          <p:cNvPr id="21" name="step-metric-3">
            <a:extLst>
              <a:ext uri="{FF2B5EF4-FFF2-40B4-BE49-F238E27FC236}">
                <a16:creationId xmlns:a16="http://schemas.microsoft.com/office/drawing/2014/main" id="{91B1CAC5-F370-F1D7-3D35-EAE70803EB5D}"/>
              </a:ext>
            </a:extLst>
          </p:cNvPr>
          <p:cNvSpPr>
            <a:spLocks noGrp="1"/>
          </p:cNvSpPr>
          <p:nvPr/>
        </p:nvSpPr>
        <p:spPr>
          <a:xfrm>
            <a:off x="8248650" y="3263072"/>
            <a:ext cx="333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r>
              <a:rPr lang="pt-BR" sz="2400" b="1" dirty="0">
                <a:latin typeface="Abadi" panose="020B0604020104020204" pitchFamily="34" charset="77"/>
                <a:cs typeface="Arial"/>
              </a:rPr>
              <a:t>Reduzir custos</a:t>
            </a:r>
          </a:p>
        </p:txBody>
      </p:sp>
      <p:sp>
        <p:nvSpPr>
          <p:cNvPr id="22" name="metric-rule-3">
            <a:extLst>
              <a:ext uri="{FF2B5EF4-FFF2-40B4-BE49-F238E27FC236}">
                <a16:creationId xmlns:a16="http://schemas.microsoft.com/office/drawing/2014/main" id="{3233687D-FC2C-5646-F305-E88DFB590318}"/>
              </a:ext>
            </a:extLst>
          </p:cNvPr>
          <p:cNvSpPr>
            <a:spLocks noGrp="1"/>
          </p:cNvSpPr>
          <p:nvPr/>
        </p:nvSpPr>
        <p:spPr>
          <a:xfrm>
            <a:off x="82486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23" name="step-body-3">
            <a:extLst>
              <a:ext uri="{FF2B5EF4-FFF2-40B4-BE49-F238E27FC236}">
                <a16:creationId xmlns:a16="http://schemas.microsoft.com/office/drawing/2014/main" id="{2729E9C1-94F9-659F-F3BE-C88A15566994}"/>
              </a:ext>
            </a:extLst>
          </p:cNvPr>
          <p:cNvSpPr>
            <a:spLocks noGrp="1"/>
          </p:cNvSpPr>
          <p:nvPr/>
        </p:nvSpPr>
        <p:spPr>
          <a:xfrm>
            <a:off x="8248650" y="4049076"/>
            <a:ext cx="3333750" cy="2076292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>
                <a:solidFill>
                  <a:srgbClr val="333333"/>
                </a:solidFill>
                <a:cs typeface="Arial"/>
              </a:rPr>
              <a:t>Priorizar iniciativas por impacto, esforço e recorrência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>
                <a:solidFill>
                  <a:srgbClr val="333333"/>
                </a:solidFill>
                <a:cs typeface="Arial"/>
              </a:rPr>
              <a:t>Avaliar terceirização de atividades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>
                <a:solidFill>
                  <a:srgbClr val="333333"/>
                </a:solidFill>
                <a:cs typeface="Arial"/>
              </a:rPr>
              <a:t>Capturar reduções recorrentes sem comprometer qualidade ou crescimento</a:t>
            </a:r>
          </a:p>
        </p:txBody>
      </p:sp>
      <p:sp>
        <p:nvSpPr>
          <p:cNvPr id="25" name="objective-band">
            <a:extLst>
              <a:ext uri="{FF2B5EF4-FFF2-40B4-BE49-F238E27FC236}">
                <a16:creationId xmlns:a16="http://schemas.microsoft.com/office/drawing/2014/main" id="{CB090297-587F-C322-79E2-9BB20D1B8194}"/>
              </a:ext>
            </a:extLst>
          </p:cNvPr>
          <p:cNvSpPr>
            <a:spLocks noGrp="1"/>
          </p:cNvSpPr>
          <p:nvPr/>
        </p:nvSpPr>
        <p:spPr>
          <a:xfrm>
            <a:off x="335999" y="1616891"/>
            <a:ext cx="9972000" cy="714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 lIns="1692000" anchor="ctr"/>
          <a:lstStyle/>
          <a:p>
            <a:pPr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b="1" dirty="0">
                <a:solidFill>
                  <a:srgbClr val="0B1220"/>
                </a:solidFill>
                <a:latin typeface="Abadi" panose="020B0604020104020204" pitchFamily="34" charset="77"/>
                <a:ea typeface="Arial"/>
                <a:cs typeface="Arial"/>
              </a:rPr>
              <a:t>Ter disciplina e controle sobre a estrutura de custos, com foco em eficiência, priorização dos recursos e sustentabilidade dos resultados.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ED513DB-C424-591E-B84A-D9B0CFACD46F}"/>
              </a:ext>
            </a:extLst>
          </p:cNvPr>
          <p:cNvSpPr/>
          <p:nvPr/>
        </p:nvSpPr>
        <p:spPr>
          <a:xfrm>
            <a:off x="341322" y="1601598"/>
            <a:ext cx="1515836" cy="71469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Gestão de Custos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3842D1C-99F7-5A72-4118-D790D07DE3F3}"/>
              </a:ext>
            </a:extLst>
          </p:cNvPr>
          <p:cNvSpPr/>
          <p:nvPr/>
        </p:nvSpPr>
        <p:spPr>
          <a:xfrm>
            <a:off x="10476089" y="1609244"/>
            <a:ext cx="1380948" cy="714699"/>
          </a:xfrm>
          <a:prstGeom prst="roundRect">
            <a:avLst/>
          </a:prstGeom>
          <a:solidFill>
            <a:srgbClr val="E36800"/>
          </a:solidFill>
          <a:ln w="11430">
            <a:solidFill>
              <a:srgbClr val="E368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CFSO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3FFFF5-B88F-E1B2-6BD4-98239C9139A0}"/>
              </a:ext>
            </a:extLst>
          </p:cNvPr>
          <p:cNvSpPr/>
          <p:nvPr/>
        </p:nvSpPr>
        <p:spPr>
          <a:xfrm>
            <a:off x="10341201" y="296016"/>
            <a:ext cx="1515836" cy="246735"/>
          </a:xfrm>
          <a:prstGeom prst="rect">
            <a:avLst/>
          </a:prstGeom>
          <a:solidFill>
            <a:schemeClr val="accent4"/>
          </a:solidFill>
          <a:ln w="11430">
            <a:solidFill>
              <a:schemeClr val="accent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Finanças</a:t>
            </a:r>
          </a:p>
        </p:txBody>
      </p:sp>
    </p:spTree>
    <p:extLst>
      <p:ext uri="{BB962C8B-B14F-4D97-AF65-F5344CB8AC3E}">
        <p14:creationId xmlns:p14="http://schemas.microsoft.com/office/powerpoint/2010/main" val="602360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289B3-FFDD-EC91-DE39-15D1D1F1F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8A9C2-1279-3D31-F25A-EE1DE3522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dirty="0"/>
              <a:t>Ações estruturantes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2A7F2-85F7-D398-3C2F-3D5EDD8C67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noProof="1"/>
              <a:t>Estratégia</a:t>
            </a:r>
          </a:p>
          <a:p>
            <a:endParaRPr lang="en-B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6F6997-1618-D0DD-64C3-5B79423C52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566F44-3314-BDA7-9401-172896981B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25ABAF-BC41-6BFE-726A-634D579C421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D0C64B1-81DD-A38E-0B84-AF172DEE4B56}"/>
              </a:ext>
            </a:extLst>
          </p:cNvPr>
          <p:cNvSpPr>
            <a:spLocks noChangeAspect="1"/>
          </p:cNvSpPr>
          <p:nvPr/>
        </p:nvSpPr>
        <p:spPr>
          <a:xfrm>
            <a:off x="916341" y="3104445"/>
            <a:ext cx="1865066" cy="9369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 dirty="0">
                <a:solidFill>
                  <a:schemeClr val="bg1"/>
                </a:solidFill>
              </a:rPr>
              <a:t>Finanças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647064C-9750-631E-D110-6327A2F985C3}"/>
              </a:ext>
            </a:extLst>
          </p:cNvPr>
          <p:cNvSpPr>
            <a:spLocks noChangeAspect="1"/>
          </p:cNvSpPr>
          <p:nvPr/>
        </p:nvSpPr>
        <p:spPr>
          <a:xfrm>
            <a:off x="3035603" y="3104445"/>
            <a:ext cx="1865066" cy="936977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 dirty="0">
                <a:solidFill>
                  <a:schemeClr val="bg1"/>
                </a:solidFill>
              </a:rPr>
              <a:t>Operação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F7D6EBB-AAE9-8584-4713-9F4CD4AC9B66}"/>
              </a:ext>
            </a:extLst>
          </p:cNvPr>
          <p:cNvSpPr>
            <a:spLocks noChangeAspect="1"/>
          </p:cNvSpPr>
          <p:nvPr/>
        </p:nvSpPr>
        <p:spPr>
          <a:xfrm>
            <a:off x="5154865" y="3104445"/>
            <a:ext cx="1865066" cy="9369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>
                <a:solidFill>
                  <a:schemeClr val="bg1"/>
                </a:solidFill>
              </a:rPr>
              <a:t>Receita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2BE7D8F-9CC6-77EE-80F4-C6B87E4727E8}"/>
              </a:ext>
            </a:extLst>
          </p:cNvPr>
          <p:cNvSpPr>
            <a:spLocks noChangeAspect="1"/>
          </p:cNvSpPr>
          <p:nvPr/>
        </p:nvSpPr>
        <p:spPr>
          <a:xfrm>
            <a:off x="7222717" y="3104445"/>
            <a:ext cx="1865066" cy="9369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 dirty="0">
                <a:solidFill>
                  <a:schemeClr val="bg1"/>
                </a:solidFill>
              </a:rPr>
              <a:t>Cliente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B1C6122-3D91-689C-9D06-2AAC052FCA0F}"/>
              </a:ext>
            </a:extLst>
          </p:cNvPr>
          <p:cNvSpPr>
            <a:spLocks noChangeAspect="1"/>
          </p:cNvSpPr>
          <p:nvPr/>
        </p:nvSpPr>
        <p:spPr>
          <a:xfrm>
            <a:off x="9267719" y="3104445"/>
            <a:ext cx="1865066" cy="9369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>
                <a:solidFill>
                  <a:schemeClr val="bg1"/>
                </a:solidFill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737903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5C2C5-AF82-3B3A-03BF-42BEBBF4E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A5FDD07D-07B1-240F-D994-4FA1BA4D26E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5FDD07D-07B1-240F-D994-4FA1BA4D26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3149D053-8F0E-C76A-E9EE-40F11BACD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A excelência operacional exige disciplina na gestão do SLA, atuação sobre causas recorrentes e redução contínua do custo dos desvios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71B2447-6A7E-D8F4-6F32-31039DD829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ATY</a:t>
            </a:r>
          </a:p>
          <a:p>
            <a:endParaRPr lang="pt-BR" noProof="1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5F541074-8577-F1D8-B5B1-EE914208A6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8A5F23-EA31-9CEA-8D48-DE229EB32E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pt-BR" noProof="1"/>
              <a:t>Ações estruturantes – Operação - Desempenho Operacional</a:t>
            </a:r>
          </a:p>
        </p:txBody>
      </p:sp>
      <p:sp>
        <p:nvSpPr>
          <p:cNvPr id="50" name="Disclaimer_Box">
            <a:extLst>
              <a:ext uri="{FF2B5EF4-FFF2-40B4-BE49-F238E27FC236}">
                <a16:creationId xmlns:a16="http://schemas.microsoft.com/office/drawing/2014/main" id="{532B180D-001F-790A-03A0-473382A4F62B}"/>
              </a:ext>
            </a:extLst>
          </p:cNvPr>
          <p:cNvSpPr txBox="1">
            <a:spLocks/>
          </p:cNvSpPr>
          <p:nvPr/>
        </p:nvSpPr>
        <p:spPr>
          <a:xfrm>
            <a:off x="9540697" y="1200149"/>
            <a:ext cx="231634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 sz="1200" b="1" kern="1200" baseline="0">
                <a:solidFill>
                  <a:schemeClr val="accent6"/>
                </a:solidFill>
                <a:latin typeface="Arial"/>
                <a:ea typeface="+mn-ea"/>
                <a:cs typeface="Arial"/>
              </a:defRPr>
            </a:lvl1pPr>
            <a:lvl2pPr marL="352425" marR="0" indent="-1651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9750" marR="0" indent="-1857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2" pitchFamily="18" charset="2"/>
              <a:buChar char=""/>
              <a:tabLst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712788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900113" marR="0" indent="-1857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</a:rPr>
              <a:t>Não Exaustivo | Para discussão</a:t>
            </a:r>
          </a:p>
        </p:txBody>
      </p:sp>
      <p:sp>
        <p:nvSpPr>
          <p:cNvPr id="4" name="step-circle-1">
            <a:extLst>
              <a:ext uri="{FF2B5EF4-FFF2-40B4-BE49-F238E27FC236}">
                <a16:creationId xmlns:a16="http://schemas.microsoft.com/office/drawing/2014/main" id="{E9637020-A2DF-222E-82F1-3588B9CDE6DE}"/>
              </a:ext>
            </a:extLst>
          </p:cNvPr>
          <p:cNvSpPr>
            <a:spLocks noGrp="1"/>
          </p:cNvSpPr>
          <p:nvPr/>
        </p:nvSpPr>
        <p:spPr>
          <a:xfrm>
            <a:off x="4000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1</a:t>
            </a:r>
          </a:p>
        </p:txBody>
      </p:sp>
      <p:sp>
        <p:nvSpPr>
          <p:cNvPr id="8" name="step-title-1">
            <a:extLst>
              <a:ext uri="{FF2B5EF4-FFF2-40B4-BE49-F238E27FC236}">
                <a16:creationId xmlns:a16="http://schemas.microsoft.com/office/drawing/2014/main" id="{EAEA6DA7-EDC7-7F04-57E9-0E10544F2F8E}"/>
              </a:ext>
            </a:extLst>
          </p:cNvPr>
          <p:cNvSpPr>
            <a:spLocks noGrp="1"/>
          </p:cNvSpPr>
          <p:nvPr/>
        </p:nvSpPr>
        <p:spPr>
          <a:xfrm>
            <a:off x="9617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Gestão de SLA</a:t>
            </a:r>
          </a:p>
        </p:txBody>
      </p:sp>
      <p:sp>
        <p:nvSpPr>
          <p:cNvPr id="11" name="step-metric-1">
            <a:extLst>
              <a:ext uri="{FF2B5EF4-FFF2-40B4-BE49-F238E27FC236}">
                <a16:creationId xmlns:a16="http://schemas.microsoft.com/office/drawing/2014/main" id="{D2D63F08-60A2-92E4-D18F-E047931F328C}"/>
              </a:ext>
            </a:extLst>
          </p:cNvPr>
          <p:cNvSpPr>
            <a:spLocks noGrp="1"/>
          </p:cNvSpPr>
          <p:nvPr/>
        </p:nvSpPr>
        <p:spPr>
          <a:xfrm>
            <a:off x="400050" y="3263072"/>
            <a:ext cx="3599194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Garantir SLA </a:t>
            </a:r>
            <a:r>
              <a:rPr lang="pt-BR" sz="2400" b="1" spc="-30" dirty="0" err="1">
                <a:latin typeface="Abadi" panose="020B0604020104020204" pitchFamily="34" charset="77"/>
                <a:cs typeface="Arial"/>
              </a:rPr>
              <a:t>end-to-end</a:t>
            </a:r>
            <a:endParaRPr lang="pt-BR" sz="2400" b="1" spc="-30" dirty="0">
              <a:latin typeface="Abadi" panose="020B0604020104020204" pitchFamily="34" charset="77"/>
              <a:cs typeface="Arial"/>
            </a:endParaRPr>
          </a:p>
        </p:txBody>
      </p:sp>
      <p:sp>
        <p:nvSpPr>
          <p:cNvPr id="12" name="metric-rule-1">
            <a:extLst>
              <a:ext uri="{FF2B5EF4-FFF2-40B4-BE49-F238E27FC236}">
                <a16:creationId xmlns:a16="http://schemas.microsoft.com/office/drawing/2014/main" id="{9CC0A91C-5CA3-21ED-575B-BA048B58163A}"/>
              </a:ext>
            </a:extLst>
          </p:cNvPr>
          <p:cNvSpPr>
            <a:spLocks noGrp="1"/>
          </p:cNvSpPr>
          <p:nvPr/>
        </p:nvSpPr>
        <p:spPr>
          <a:xfrm>
            <a:off x="4000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3" name="step-body-1">
            <a:extLst>
              <a:ext uri="{FF2B5EF4-FFF2-40B4-BE49-F238E27FC236}">
                <a16:creationId xmlns:a16="http://schemas.microsoft.com/office/drawing/2014/main" id="{611DEF4D-4227-F4E6-183B-F046D0C151F0}"/>
              </a:ext>
            </a:extLst>
          </p:cNvPr>
          <p:cNvSpPr>
            <a:spLocks noGrp="1"/>
          </p:cNvSpPr>
          <p:nvPr/>
        </p:nvSpPr>
        <p:spPr>
          <a:xfrm>
            <a:off x="4000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Medir SLA por etapa e </a:t>
            </a:r>
            <a:r>
              <a:rPr lang="pt-BR" sz="1400" dirty="0" err="1">
                <a:solidFill>
                  <a:srgbClr val="333333"/>
                </a:solidFill>
                <a:latin typeface="Arial"/>
                <a:cs typeface="Arial"/>
              </a:rPr>
              <a:t>end-to-end</a:t>
            </a:r>
            <a:endParaRPr lang="pt-BR" sz="1400" dirty="0">
              <a:solidFill>
                <a:srgbClr val="333333"/>
              </a:solidFill>
              <a:latin typeface="Arial"/>
              <a:cs typeface="Arial"/>
            </a:endParaRPr>
          </a:p>
          <a:p>
            <a:pPr marL="139700" indent="-131763">
              <a:spcBef>
                <a:spcPts val="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Alertar antecipadamente operações com risco de ruptura do SLA</a:t>
            </a:r>
          </a:p>
          <a:p>
            <a:pPr marL="139700" indent="-131763">
              <a:spcBef>
                <a:spcPts val="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Comunicar proativamente o cliente antes que o desvio seja percebido</a:t>
            </a:r>
          </a:p>
          <a:p>
            <a:pPr marL="139700" indent="-131763">
              <a:spcBef>
                <a:spcPts val="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Priorizar atendimento de SLA por segmentação de cliente</a:t>
            </a:r>
          </a:p>
          <a:p>
            <a:pPr marL="139700" indent="-131763">
              <a:spcBef>
                <a:spcPts val="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chemeClr val="tx2">
                    <a:lumMod val="50000"/>
                  </a:schemeClr>
                </a:solidFill>
                <a:latin typeface="Arial"/>
                <a:cs typeface="Arial"/>
              </a:rPr>
              <a:t>Definir SLA, workflow e responsável de cada SVA</a:t>
            </a:r>
          </a:p>
        </p:txBody>
      </p:sp>
      <p:sp>
        <p:nvSpPr>
          <p:cNvPr id="14" name="step-circle-2">
            <a:extLst>
              <a:ext uri="{FF2B5EF4-FFF2-40B4-BE49-F238E27FC236}">
                <a16:creationId xmlns:a16="http://schemas.microsoft.com/office/drawing/2014/main" id="{1DC92A2F-441D-65A8-138F-7D3C3D0FA670}"/>
              </a:ext>
            </a:extLst>
          </p:cNvPr>
          <p:cNvSpPr>
            <a:spLocks noGrp="1"/>
          </p:cNvSpPr>
          <p:nvPr/>
        </p:nvSpPr>
        <p:spPr>
          <a:xfrm>
            <a:off x="43243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2</a:t>
            </a:r>
          </a:p>
        </p:txBody>
      </p:sp>
      <p:sp>
        <p:nvSpPr>
          <p:cNvPr id="15" name="step-title-2">
            <a:extLst>
              <a:ext uri="{FF2B5EF4-FFF2-40B4-BE49-F238E27FC236}">
                <a16:creationId xmlns:a16="http://schemas.microsoft.com/office/drawing/2014/main" id="{7C484764-CD64-E0DD-B417-1B1F4DD4BB38}"/>
              </a:ext>
            </a:extLst>
          </p:cNvPr>
          <p:cNvSpPr>
            <a:spLocks noGrp="1"/>
          </p:cNvSpPr>
          <p:nvPr/>
        </p:nvSpPr>
        <p:spPr>
          <a:xfrm>
            <a:off x="48860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Aumento do desempenho</a:t>
            </a:r>
          </a:p>
        </p:txBody>
      </p:sp>
      <p:sp>
        <p:nvSpPr>
          <p:cNvPr id="16" name="step-metric-2">
            <a:extLst>
              <a:ext uri="{FF2B5EF4-FFF2-40B4-BE49-F238E27FC236}">
                <a16:creationId xmlns:a16="http://schemas.microsoft.com/office/drawing/2014/main" id="{1ED00540-9159-4C62-030D-5E2568B6D7A8}"/>
              </a:ext>
            </a:extLst>
          </p:cNvPr>
          <p:cNvSpPr>
            <a:spLocks noGrp="1"/>
          </p:cNvSpPr>
          <p:nvPr/>
        </p:nvSpPr>
        <p:spPr>
          <a:xfrm>
            <a:off x="4324350" y="3263072"/>
            <a:ext cx="333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Reduzir reincidências </a:t>
            </a:r>
          </a:p>
        </p:txBody>
      </p:sp>
      <p:sp>
        <p:nvSpPr>
          <p:cNvPr id="17" name="metric-rule-2">
            <a:extLst>
              <a:ext uri="{FF2B5EF4-FFF2-40B4-BE49-F238E27FC236}">
                <a16:creationId xmlns:a16="http://schemas.microsoft.com/office/drawing/2014/main" id="{5C6BCCA5-B7C1-136C-4AE9-A97312E0CB67}"/>
              </a:ext>
            </a:extLst>
          </p:cNvPr>
          <p:cNvSpPr>
            <a:spLocks noGrp="1"/>
          </p:cNvSpPr>
          <p:nvPr/>
        </p:nvSpPr>
        <p:spPr>
          <a:xfrm>
            <a:off x="43243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8" name="step-body-2">
            <a:extLst>
              <a:ext uri="{FF2B5EF4-FFF2-40B4-BE49-F238E27FC236}">
                <a16:creationId xmlns:a16="http://schemas.microsoft.com/office/drawing/2014/main" id="{B4938A9C-5660-E459-5BDF-0571AF458C80}"/>
              </a:ext>
            </a:extLst>
          </p:cNvPr>
          <p:cNvSpPr>
            <a:spLocks noGrp="1"/>
          </p:cNvSpPr>
          <p:nvPr/>
        </p:nvSpPr>
        <p:spPr>
          <a:xfrm>
            <a:off x="43243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chemeClr val="tx1"/>
                </a:solidFill>
                <a:cs typeface="Arial"/>
              </a:rPr>
              <a:t>Padronizar </a:t>
            </a:r>
            <a:r>
              <a:rPr lang="pt-BR" sz="1400" dirty="0" err="1">
                <a:solidFill>
                  <a:schemeClr val="tx1"/>
                </a:solidFill>
                <a:cs typeface="Arial"/>
              </a:rPr>
              <a:t>SOPs</a:t>
            </a:r>
            <a:r>
              <a:rPr lang="pt-BR" sz="1400" dirty="0">
                <a:solidFill>
                  <a:schemeClr val="tx1"/>
                </a:solidFill>
                <a:cs typeface="Arial"/>
              </a:rPr>
              <a:t> e workflows dos principais processo</a:t>
            </a:r>
            <a:endParaRPr lang="pt-BR" sz="1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39700" indent="-131763">
              <a:spcBef>
                <a:spcPts val="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chemeClr val="tx1"/>
                </a:solidFill>
                <a:latin typeface="Arial"/>
                <a:cs typeface="Arial"/>
              </a:rPr>
              <a:t>Implementar Six Sigma (eliminar desperdício)  e processos de Melhoria contínua</a:t>
            </a:r>
          </a:p>
          <a:p>
            <a:pPr marL="139700" indent="-131763">
              <a:spcBef>
                <a:spcPts val="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chemeClr val="tx2">
                    <a:lumMod val="50000"/>
                  </a:schemeClr>
                </a:solidFill>
              </a:rPr>
              <a:t>Criar padrões operacionais replicáveis para os Serviços de Valor Agregado (</a:t>
            </a:r>
            <a:r>
              <a:rPr lang="pt-BR" sz="1400" dirty="0" err="1">
                <a:solidFill>
                  <a:schemeClr val="tx2">
                    <a:lumMod val="50000"/>
                  </a:schemeClr>
                </a:solidFill>
              </a:rPr>
              <a:t>SVAs</a:t>
            </a:r>
            <a:r>
              <a:rPr lang="pt-BR" sz="1400" dirty="0">
                <a:solidFill>
                  <a:schemeClr val="tx2">
                    <a:lumMod val="50000"/>
                  </a:schemeClr>
                </a:solidFill>
              </a:rPr>
              <a:t>).</a:t>
            </a:r>
            <a:endParaRPr lang="pt-BR" sz="1400" dirty="0">
              <a:solidFill>
                <a:schemeClr val="tx2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9" name="step-circle-3">
            <a:extLst>
              <a:ext uri="{FF2B5EF4-FFF2-40B4-BE49-F238E27FC236}">
                <a16:creationId xmlns:a16="http://schemas.microsoft.com/office/drawing/2014/main" id="{EE700192-0037-39F6-3CAF-5195076E42BD}"/>
              </a:ext>
            </a:extLst>
          </p:cNvPr>
          <p:cNvSpPr>
            <a:spLocks noGrp="1"/>
          </p:cNvSpPr>
          <p:nvPr/>
        </p:nvSpPr>
        <p:spPr>
          <a:xfrm>
            <a:off x="82486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3</a:t>
            </a:r>
          </a:p>
        </p:txBody>
      </p:sp>
      <p:sp>
        <p:nvSpPr>
          <p:cNvPr id="20" name="step-title-3">
            <a:extLst>
              <a:ext uri="{FF2B5EF4-FFF2-40B4-BE49-F238E27FC236}">
                <a16:creationId xmlns:a16="http://schemas.microsoft.com/office/drawing/2014/main" id="{685C9517-CB48-4585-F7D3-9838906BC567}"/>
              </a:ext>
            </a:extLst>
          </p:cNvPr>
          <p:cNvSpPr>
            <a:spLocks noGrp="1"/>
          </p:cNvSpPr>
          <p:nvPr/>
        </p:nvSpPr>
        <p:spPr>
          <a:xfrm>
            <a:off x="88103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Redução de custos</a:t>
            </a:r>
          </a:p>
        </p:txBody>
      </p:sp>
      <p:sp>
        <p:nvSpPr>
          <p:cNvPr id="21" name="step-metric-3">
            <a:extLst>
              <a:ext uri="{FF2B5EF4-FFF2-40B4-BE49-F238E27FC236}">
                <a16:creationId xmlns:a16="http://schemas.microsoft.com/office/drawing/2014/main" id="{2D3D13C9-07AF-31DD-FD07-CB35D05229F7}"/>
              </a:ext>
            </a:extLst>
          </p:cNvPr>
          <p:cNvSpPr>
            <a:spLocks noGrp="1"/>
          </p:cNvSpPr>
          <p:nvPr/>
        </p:nvSpPr>
        <p:spPr>
          <a:xfrm>
            <a:off x="8248649" y="3263072"/>
            <a:ext cx="3608387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Reduzir custos de desvios</a:t>
            </a:r>
          </a:p>
        </p:txBody>
      </p:sp>
      <p:sp>
        <p:nvSpPr>
          <p:cNvPr id="22" name="metric-rule-3">
            <a:extLst>
              <a:ext uri="{FF2B5EF4-FFF2-40B4-BE49-F238E27FC236}">
                <a16:creationId xmlns:a16="http://schemas.microsoft.com/office/drawing/2014/main" id="{BF4DB45D-FB3C-37F6-930C-4A9071C806BE}"/>
              </a:ext>
            </a:extLst>
          </p:cNvPr>
          <p:cNvSpPr>
            <a:spLocks noGrp="1"/>
          </p:cNvSpPr>
          <p:nvPr/>
        </p:nvSpPr>
        <p:spPr>
          <a:xfrm>
            <a:off x="82486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23" name="step-body-3">
            <a:extLst>
              <a:ext uri="{FF2B5EF4-FFF2-40B4-BE49-F238E27FC236}">
                <a16:creationId xmlns:a16="http://schemas.microsoft.com/office/drawing/2014/main" id="{7214A034-A6CE-87C2-6C1A-A64C368DCBE2}"/>
              </a:ext>
            </a:extLst>
          </p:cNvPr>
          <p:cNvSpPr>
            <a:spLocks noGrp="1"/>
          </p:cNvSpPr>
          <p:nvPr/>
        </p:nvSpPr>
        <p:spPr>
          <a:xfrm>
            <a:off x="82486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Medir custo associado a hora extra, retrabalho, urgência e recursos emergenciais</a:t>
            </a:r>
          </a:p>
          <a:p>
            <a:pPr marL="139700" indent="-131763">
              <a:spcBef>
                <a:spcPts val="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Implementar processos e métodos que garantam eficiência na alocação de recursos para atendimento à demanda</a:t>
            </a:r>
          </a:p>
          <a:p>
            <a:pPr marL="139700" indent="-131763">
              <a:spcBef>
                <a:spcPts val="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chemeClr val="tx2">
                    <a:lumMod val="50000"/>
                  </a:schemeClr>
                </a:solidFill>
                <a:latin typeface="Arial"/>
                <a:cs typeface="Arial"/>
              </a:rPr>
              <a:t>Mensurar custo operacional e produtividade dos </a:t>
            </a:r>
            <a:r>
              <a:rPr lang="pt-BR" sz="1400" dirty="0" err="1">
                <a:solidFill>
                  <a:schemeClr val="tx2">
                    <a:lumMod val="50000"/>
                  </a:schemeClr>
                </a:solidFill>
                <a:latin typeface="Arial"/>
                <a:cs typeface="Arial"/>
              </a:rPr>
              <a:t>SVAs</a:t>
            </a:r>
            <a:r>
              <a:rPr lang="pt-BR" sz="1400" dirty="0">
                <a:solidFill>
                  <a:schemeClr val="tx2">
                    <a:lumMod val="50000"/>
                  </a:schemeClr>
                </a:solidFill>
                <a:latin typeface="Arial"/>
                <a:cs typeface="Arial"/>
              </a:rPr>
              <a:t>, garantindo margem adequada</a:t>
            </a:r>
          </a:p>
        </p:txBody>
      </p:sp>
      <p:sp>
        <p:nvSpPr>
          <p:cNvPr id="25" name="objective-band">
            <a:extLst>
              <a:ext uri="{FF2B5EF4-FFF2-40B4-BE49-F238E27FC236}">
                <a16:creationId xmlns:a16="http://schemas.microsoft.com/office/drawing/2014/main" id="{CEBF1AEC-73F9-39ED-3175-F3C9A5825FF1}"/>
              </a:ext>
            </a:extLst>
          </p:cNvPr>
          <p:cNvSpPr>
            <a:spLocks noGrp="1"/>
          </p:cNvSpPr>
          <p:nvPr/>
        </p:nvSpPr>
        <p:spPr>
          <a:xfrm>
            <a:off x="335998" y="1616891"/>
            <a:ext cx="9972000" cy="714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 lIns="1692000" anchor="ctr"/>
          <a:lstStyle/>
          <a:p>
            <a:pPr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b="1" dirty="0">
                <a:solidFill>
                  <a:srgbClr val="0B1220"/>
                </a:solidFill>
                <a:latin typeface="Abadi" panose="020B0604020104020204" pitchFamily="34" charset="77"/>
                <a:ea typeface="Arial"/>
                <a:cs typeface="Arial"/>
              </a:rPr>
              <a:t>Alcançar patamares consistentes de performance (SLA), assegurando alto nível de serviço de forma equilibrada, com disciplina na relação entre custo e desempenho.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B9571DB-5C87-DC10-3F96-645945DB17BF}"/>
              </a:ext>
            </a:extLst>
          </p:cNvPr>
          <p:cNvSpPr/>
          <p:nvPr/>
        </p:nvSpPr>
        <p:spPr>
          <a:xfrm>
            <a:off x="341322" y="1601598"/>
            <a:ext cx="1515836" cy="71469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Desempenho Operacional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6027BC1-90BD-839A-D35A-FD5B9104FDB9}"/>
              </a:ext>
            </a:extLst>
          </p:cNvPr>
          <p:cNvSpPr/>
          <p:nvPr/>
        </p:nvSpPr>
        <p:spPr>
          <a:xfrm>
            <a:off x="10476089" y="1609244"/>
            <a:ext cx="1380948" cy="272771"/>
          </a:xfrm>
          <a:prstGeom prst="roundRect">
            <a:avLst/>
          </a:prstGeom>
          <a:solidFill>
            <a:srgbClr val="E36800"/>
          </a:solidFill>
          <a:ln w="11430">
            <a:solidFill>
              <a:srgbClr val="E368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COO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5C6A81-5C67-BB8F-1571-E20A9DEED3B2}"/>
              </a:ext>
            </a:extLst>
          </p:cNvPr>
          <p:cNvSpPr/>
          <p:nvPr/>
        </p:nvSpPr>
        <p:spPr>
          <a:xfrm>
            <a:off x="10341201" y="296016"/>
            <a:ext cx="1515836" cy="246735"/>
          </a:xfrm>
          <a:prstGeom prst="rect">
            <a:avLst/>
          </a:prstGeom>
          <a:solidFill>
            <a:schemeClr val="accent3"/>
          </a:solidFill>
          <a:ln w="11430">
            <a:solidFill>
              <a:schemeClr val="accent3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Operação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A64FB30-E763-4622-196E-36FEECFC653B}"/>
              </a:ext>
            </a:extLst>
          </p:cNvPr>
          <p:cNvSpPr/>
          <p:nvPr/>
        </p:nvSpPr>
        <p:spPr>
          <a:xfrm>
            <a:off x="10476089" y="2043526"/>
            <a:ext cx="1380948" cy="272772"/>
          </a:xfrm>
          <a:prstGeom prst="roundRect">
            <a:avLst/>
          </a:prstGeom>
          <a:solidFill>
            <a:srgbClr val="E36800"/>
          </a:solidFill>
          <a:ln w="11430">
            <a:solidFill>
              <a:srgbClr val="E368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Head Serv.</a:t>
            </a:r>
          </a:p>
        </p:txBody>
      </p:sp>
    </p:spTree>
    <p:extLst>
      <p:ext uri="{BB962C8B-B14F-4D97-AF65-F5344CB8AC3E}">
        <p14:creationId xmlns:p14="http://schemas.microsoft.com/office/powerpoint/2010/main" val="4086589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25BEA-834B-CA7F-83F8-E0DB224A9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001D7DC6-782D-D2E6-2D62-C73AEF97012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01D7DC6-782D-D2E6-2D62-C73AEF9701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F424BCE2-36AC-061D-E248-AAFDF90FD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A eficiência do Warehouse será sustentada por processos padronizados, gestão disciplinada do lead time e redução contínua das ineficiências operacionais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E171C1F-13AB-E976-F5FD-21EA2791CA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ATY</a:t>
            </a:r>
          </a:p>
          <a:p>
            <a:endParaRPr lang="pt-BR" noProof="1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0C1ECDA6-DCDE-C9F0-2988-12CA48D51F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1CEAB60-5FCB-CD2A-F3AA-753E8D5D81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pt-BR" noProof="1"/>
              <a:t>Ações estruturantes – Operação - Warehouse</a:t>
            </a:r>
          </a:p>
        </p:txBody>
      </p:sp>
      <p:sp>
        <p:nvSpPr>
          <p:cNvPr id="50" name="Disclaimer_Box">
            <a:extLst>
              <a:ext uri="{FF2B5EF4-FFF2-40B4-BE49-F238E27FC236}">
                <a16:creationId xmlns:a16="http://schemas.microsoft.com/office/drawing/2014/main" id="{949D7DAA-CA3D-505F-AC68-A3675FB6FC56}"/>
              </a:ext>
            </a:extLst>
          </p:cNvPr>
          <p:cNvSpPr txBox="1">
            <a:spLocks/>
          </p:cNvSpPr>
          <p:nvPr/>
        </p:nvSpPr>
        <p:spPr>
          <a:xfrm>
            <a:off x="9540697" y="1200149"/>
            <a:ext cx="231634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 sz="1200" b="1" kern="1200" baseline="0">
                <a:solidFill>
                  <a:schemeClr val="accent6"/>
                </a:solidFill>
                <a:latin typeface="Arial"/>
                <a:ea typeface="+mn-ea"/>
                <a:cs typeface="Arial"/>
              </a:defRPr>
            </a:lvl1pPr>
            <a:lvl2pPr marL="352425" marR="0" indent="-1651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9750" marR="0" indent="-1857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2" pitchFamily="18" charset="2"/>
              <a:buChar char=""/>
              <a:tabLst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712788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900113" marR="0" indent="-1857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</a:rPr>
              <a:t>Não Exaustivo | Para discussão</a:t>
            </a:r>
          </a:p>
        </p:txBody>
      </p:sp>
      <p:sp>
        <p:nvSpPr>
          <p:cNvPr id="4" name="step-circle-1">
            <a:extLst>
              <a:ext uri="{FF2B5EF4-FFF2-40B4-BE49-F238E27FC236}">
                <a16:creationId xmlns:a16="http://schemas.microsoft.com/office/drawing/2014/main" id="{1EF7C713-1414-CD81-013E-5BD5A49AF466}"/>
              </a:ext>
            </a:extLst>
          </p:cNvPr>
          <p:cNvSpPr>
            <a:spLocks noGrp="1"/>
          </p:cNvSpPr>
          <p:nvPr/>
        </p:nvSpPr>
        <p:spPr>
          <a:xfrm>
            <a:off x="4000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1</a:t>
            </a:r>
          </a:p>
        </p:txBody>
      </p:sp>
      <p:sp>
        <p:nvSpPr>
          <p:cNvPr id="8" name="step-title-1">
            <a:extLst>
              <a:ext uri="{FF2B5EF4-FFF2-40B4-BE49-F238E27FC236}">
                <a16:creationId xmlns:a16="http://schemas.microsoft.com/office/drawing/2014/main" id="{19B981F9-94CA-C002-A0A9-25B8B267DCAD}"/>
              </a:ext>
            </a:extLst>
          </p:cNvPr>
          <p:cNvSpPr>
            <a:spLocks noGrp="1"/>
          </p:cNvSpPr>
          <p:nvPr/>
        </p:nvSpPr>
        <p:spPr>
          <a:xfrm>
            <a:off x="9617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Melhoria contínua</a:t>
            </a:r>
          </a:p>
        </p:txBody>
      </p:sp>
      <p:sp>
        <p:nvSpPr>
          <p:cNvPr id="11" name="step-metric-1">
            <a:extLst>
              <a:ext uri="{FF2B5EF4-FFF2-40B4-BE49-F238E27FC236}">
                <a16:creationId xmlns:a16="http://schemas.microsoft.com/office/drawing/2014/main" id="{B4768862-9C22-71CF-3661-EF0AF3EBA54D}"/>
              </a:ext>
            </a:extLst>
          </p:cNvPr>
          <p:cNvSpPr>
            <a:spLocks noGrp="1"/>
          </p:cNvSpPr>
          <p:nvPr/>
        </p:nvSpPr>
        <p:spPr>
          <a:xfrm>
            <a:off x="400050" y="3263072"/>
            <a:ext cx="3599194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Padronizar processos</a:t>
            </a:r>
          </a:p>
        </p:txBody>
      </p:sp>
      <p:sp>
        <p:nvSpPr>
          <p:cNvPr id="12" name="metric-rule-1">
            <a:extLst>
              <a:ext uri="{FF2B5EF4-FFF2-40B4-BE49-F238E27FC236}">
                <a16:creationId xmlns:a16="http://schemas.microsoft.com/office/drawing/2014/main" id="{37667ABD-AF64-C17D-A82B-F61379C4AC39}"/>
              </a:ext>
            </a:extLst>
          </p:cNvPr>
          <p:cNvSpPr>
            <a:spLocks noGrp="1"/>
          </p:cNvSpPr>
          <p:nvPr/>
        </p:nvSpPr>
        <p:spPr>
          <a:xfrm>
            <a:off x="4000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3" name="step-body-1">
            <a:extLst>
              <a:ext uri="{FF2B5EF4-FFF2-40B4-BE49-F238E27FC236}">
                <a16:creationId xmlns:a16="http://schemas.microsoft.com/office/drawing/2014/main" id="{72C6F234-9B96-2363-C201-CC111D04D479}"/>
              </a:ext>
            </a:extLst>
          </p:cNvPr>
          <p:cNvSpPr>
            <a:spLocks noGrp="1"/>
          </p:cNvSpPr>
          <p:nvPr/>
        </p:nvSpPr>
        <p:spPr>
          <a:xfrm>
            <a:off x="4000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Padronizar workflows e </a:t>
            </a:r>
            <a:r>
              <a:rPr lang="pt-BR" sz="1400" dirty="0" err="1">
                <a:solidFill>
                  <a:srgbClr val="333333"/>
                </a:solidFill>
                <a:latin typeface="Arial"/>
                <a:cs typeface="Arial"/>
              </a:rPr>
              <a:t>stages</a:t>
            </a: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 das principais atividades do armazém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Definir padrões operacionais e responsabilidades na interface com da operação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Comparar performance entre bases próprias e terceiros, disseminando melhores práticas</a:t>
            </a:r>
          </a:p>
        </p:txBody>
      </p:sp>
      <p:sp>
        <p:nvSpPr>
          <p:cNvPr id="14" name="step-circle-2">
            <a:extLst>
              <a:ext uri="{FF2B5EF4-FFF2-40B4-BE49-F238E27FC236}">
                <a16:creationId xmlns:a16="http://schemas.microsoft.com/office/drawing/2014/main" id="{ABF7972A-3DCE-5A0C-BAED-5ADCD9D2A0DC}"/>
              </a:ext>
            </a:extLst>
          </p:cNvPr>
          <p:cNvSpPr>
            <a:spLocks noGrp="1"/>
          </p:cNvSpPr>
          <p:nvPr/>
        </p:nvSpPr>
        <p:spPr>
          <a:xfrm>
            <a:off x="43243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2</a:t>
            </a:r>
          </a:p>
        </p:txBody>
      </p:sp>
      <p:sp>
        <p:nvSpPr>
          <p:cNvPr id="15" name="step-title-2">
            <a:extLst>
              <a:ext uri="{FF2B5EF4-FFF2-40B4-BE49-F238E27FC236}">
                <a16:creationId xmlns:a16="http://schemas.microsoft.com/office/drawing/2014/main" id="{F666E67A-D8AD-43CC-9991-CB8E7821B8E6}"/>
              </a:ext>
            </a:extLst>
          </p:cNvPr>
          <p:cNvSpPr>
            <a:spLocks noGrp="1"/>
          </p:cNvSpPr>
          <p:nvPr/>
        </p:nvSpPr>
        <p:spPr>
          <a:xfrm>
            <a:off x="48860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Gerencia de Lead time</a:t>
            </a:r>
          </a:p>
        </p:txBody>
      </p:sp>
      <p:sp>
        <p:nvSpPr>
          <p:cNvPr id="16" name="step-metric-2">
            <a:extLst>
              <a:ext uri="{FF2B5EF4-FFF2-40B4-BE49-F238E27FC236}">
                <a16:creationId xmlns:a16="http://schemas.microsoft.com/office/drawing/2014/main" id="{21C607F5-91D5-B615-63FF-3CA4284D3035}"/>
              </a:ext>
            </a:extLst>
          </p:cNvPr>
          <p:cNvSpPr>
            <a:spLocks noGrp="1"/>
          </p:cNvSpPr>
          <p:nvPr/>
        </p:nvSpPr>
        <p:spPr>
          <a:xfrm>
            <a:off x="4324350" y="3263072"/>
            <a:ext cx="333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Garantir Lead time</a:t>
            </a:r>
          </a:p>
        </p:txBody>
      </p:sp>
      <p:sp>
        <p:nvSpPr>
          <p:cNvPr id="17" name="metric-rule-2">
            <a:extLst>
              <a:ext uri="{FF2B5EF4-FFF2-40B4-BE49-F238E27FC236}">
                <a16:creationId xmlns:a16="http://schemas.microsoft.com/office/drawing/2014/main" id="{3987B190-EB9C-837E-B1F9-5135434D05A6}"/>
              </a:ext>
            </a:extLst>
          </p:cNvPr>
          <p:cNvSpPr>
            <a:spLocks noGrp="1"/>
          </p:cNvSpPr>
          <p:nvPr/>
        </p:nvSpPr>
        <p:spPr>
          <a:xfrm>
            <a:off x="43243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8" name="step-body-2">
            <a:extLst>
              <a:ext uri="{FF2B5EF4-FFF2-40B4-BE49-F238E27FC236}">
                <a16:creationId xmlns:a16="http://schemas.microsoft.com/office/drawing/2014/main" id="{BA3F2270-2A27-54A9-016F-E3B922FA43BB}"/>
              </a:ext>
            </a:extLst>
          </p:cNvPr>
          <p:cNvSpPr>
            <a:spLocks noGrp="1"/>
          </p:cNvSpPr>
          <p:nvPr/>
        </p:nvSpPr>
        <p:spPr>
          <a:xfrm>
            <a:off x="43243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chemeClr val="tx1"/>
                </a:solidFill>
                <a:cs typeface="Arial"/>
              </a:rPr>
              <a:t>Implementar Six Sigma (eliminar desperdício) e processos de Melhoria contínua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cs typeface="Arial"/>
              </a:rPr>
              <a:t>Definir e monitorar lead times por etapa e tipo de serviço</a:t>
            </a:r>
          </a:p>
        </p:txBody>
      </p:sp>
      <p:sp>
        <p:nvSpPr>
          <p:cNvPr id="19" name="step-circle-3">
            <a:extLst>
              <a:ext uri="{FF2B5EF4-FFF2-40B4-BE49-F238E27FC236}">
                <a16:creationId xmlns:a16="http://schemas.microsoft.com/office/drawing/2014/main" id="{C5C5155E-C542-2C2B-1D0D-81AA05D85915}"/>
              </a:ext>
            </a:extLst>
          </p:cNvPr>
          <p:cNvSpPr>
            <a:spLocks noGrp="1"/>
          </p:cNvSpPr>
          <p:nvPr/>
        </p:nvSpPr>
        <p:spPr>
          <a:xfrm>
            <a:off x="82486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3</a:t>
            </a:r>
          </a:p>
        </p:txBody>
      </p:sp>
      <p:sp>
        <p:nvSpPr>
          <p:cNvPr id="20" name="step-title-3">
            <a:extLst>
              <a:ext uri="{FF2B5EF4-FFF2-40B4-BE49-F238E27FC236}">
                <a16:creationId xmlns:a16="http://schemas.microsoft.com/office/drawing/2014/main" id="{59DD1212-B8C6-1FB1-A139-1CE68D185100}"/>
              </a:ext>
            </a:extLst>
          </p:cNvPr>
          <p:cNvSpPr>
            <a:spLocks noGrp="1"/>
          </p:cNvSpPr>
          <p:nvPr/>
        </p:nvSpPr>
        <p:spPr>
          <a:xfrm>
            <a:off x="88103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Custo Operacional</a:t>
            </a:r>
          </a:p>
        </p:txBody>
      </p:sp>
      <p:sp>
        <p:nvSpPr>
          <p:cNvPr id="21" name="step-metric-3">
            <a:extLst>
              <a:ext uri="{FF2B5EF4-FFF2-40B4-BE49-F238E27FC236}">
                <a16:creationId xmlns:a16="http://schemas.microsoft.com/office/drawing/2014/main" id="{7F8AFEBB-DE2B-1155-95A4-4423977BBAE8}"/>
              </a:ext>
            </a:extLst>
          </p:cNvPr>
          <p:cNvSpPr>
            <a:spLocks noGrp="1"/>
          </p:cNvSpPr>
          <p:nvPr/>
        </p:nvSpPr>
        <p:spPr>
          <a:xfrm>
            <a:off x="8248649" y="3263072"/>
            <a:ext cx="3608387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Tratar ineficiências</a:t>
            </a:r>
          </a:p>
        </p:txBody>
      </p:sp>
      <p:sp>
        <p:nvSpPr>
          <p:cNvPr id="22" name="metric-rule-3">
            <a:extLst>
              <a:ext uri="{FF2B5EF4-FFF2-40B4-BE49-F238E27FC236}">
                <a16:creationId xmlns:a16="http://schemas.microsoft.com/office/drawing/2014/main" id="{1A350B2F-6CA7-BDF1-07EF-AC6CAB4230AB}"/>
              </a:ext>
            </a:extLst>
          </p:cNvPr>
          <p:cNvSpPr>
            <a:spLocks noGrp="1"/>
          </p:cNvSpPr>
          <p:nvPr/>
        </p:nvSpPr>
        <p:spPr>
          <a:xfrm>
            <a:off x="82486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23" name="step-body-3">
            <a:extLst>
              <a:ext uri="{FF2B5EF4-FFF2-40B4-BE49-F238E27FC236}">
                <a16:creationId xmlns:a16="http://schemas.microsoft.com/office/drawing/2014/main" id="{0C71DB2D-9125-DABF-6F41-34FDF1AF7E9A}"/>
              </a:ext>
            </a:extLst>
          </p:cNvPr>
          <p:cNvSpPr>
            <a:spLocks noGrp="1"/>
          </p:cNvSpPr>
          <p:nvPr/>
        </p:nvSpPr>
        <p:spPr>
          <a:xfrm>
            <a:off x="82486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Mensurar custo por serviço e operação, garantindo visibilidade dos principais drivers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 Eliminar desperdícios e atividades sem valor agregado, capturando reduções recorrentes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Avaliar custos que performam </a:t>
            </a:r>
            <a:r>
              <a:rPr lang="pt-BR" sz="1400" dirty="0" err="1">
                <a:solidFill>
                  <a:srgbClr val="333333"/>
                </a:solidFill>
                <a:latin typeface="Arial"/>
                <a:cs typeface="Arial"/>
              </a:rPr>
              <a:t>x</a:t>
            </a: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 que não performam com ganho de escala</a:t>
            </a:r>
          </a:p>
        </p:txBody>
      </p:sp>
      <p:sp>
        <p:nvSpPr>
          <p:cNvPr id="25" name="objective-band">
            <a:extLst>
              <a:ext uri="{FF2B5EF4-FFF2-40B4-BE49-F238E27FC236}">
                <a16:creationId xmlns:a16="http://schemas.microsoft.com/office/drawing/2014/main" id="{3F9A1DF6-F049-9D47-FCEC-3031527116CE}"/>
              </a:ext>
            </a:extLst>
          </p:cNvPr>
          <p:cNvSpPr>
            <a:spLocks noGrp="1"/>
          </p:cNvSpPr>
          <p:nvPr/>
        </p:nvSpPr>
        <p:spPr>
          <a:xfrm>
            <a:off x="335998" y="1616891"/>
            <a:ext cx="9972000" cy="714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 lIns="1692000" anchor="ctr"/>
          <a:lstStyle/>
          <a:p>
            <a:pPr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b="1" dirty="0">
                <a:solidFill>
                  <a:srgbClr val="0B1220"/>
                </a:solidFill>
                <a:latin typeface="Abadi" panose="020B0604020104020204" pitchFamily="34" charset="77"/>
                <a:ea typeface="Arial"/>
                <a:cs typeface="Arial"/>
              </a:rPr>
              <a:t>Construir processos eficientes e orientados às necessidades dos clientes, otimizando o tempo de processamento e assegurando a redução sustentável do custo operacional.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C293EC4-26DC-9A1B-04F2-3725381348C4}"/>
              </a:ext>
            </a:extLst>
          </p:cNvPr>
          <p:cNvSpPr/>
          <p:nvPr/>
        </p:nvSpPr>
        <p:spPr>
          <a:xfrm>
            <a:off x="341322" y="1601598"/>
            <a:ext cx="1515836" cy="71469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Warehouse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13E490D-787C-3A0A-EFAD-B0FD389CEE16}"/>
              </a:ext>
            </a:extLst>
          </p:cNvPr>
          <p:cNvSpPr/>
          <p:nvPr/>
        </p:nvSpPr>
        <p:spPr>
          <a:xfrm>
            <a:off x="10476089" y="1609244"/>
            <a:ext cx="1380948" cy="714699"/>
          </a:xfrm>
          <a:prstGeom prst="roundRect">
            <a:avLst/>
          </a:prstGeom>
          <a:solidFill>
            <a:srgbClr val="E36800"/>
          </a:solidFill>
          <a:ln w="11430">
            <a:solidFill>
              <a:srgbClr val="E368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COO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EC079E-6E70-348B-77C5-013215747C16}"/>
              </a:ext>
            </a:extLst>
          </p:cNvPr>
          <p:cNvSpPr/>
          <p:nvPr/>
        </p:nvSpPr>
        <p:spPr>
          <a:xfrm>
            <a:off x="10341201" y="296016"/>
            <a:ext cx="1515836" cy="246735"/>
          </a:xfrm>
          <a:prstGeom prst="rect">
            <a:avLst/>
          </a:prstGeom>
          <a:solidFill>
            <a:schemeClr val="accent3"/>
          </a:solidFill>
          <a:ln w="11430">
            <a:solidFill>
              <a:schemeClr val="accent3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Operação</a:t>
            </a:r>
          </a:p>
        </p:txBody>
      </p:sp>
    </p:spTree>
    <p:extLst>
      <p:ext uri="{BB962C8B-B14F-4D97-AF65-F5344CB8AC3E}">
        <p14:creationId xmlns:p14="http://schemas.microsoft.com/office/powerpoint/2010/main" val="273575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7FD0D-429E-DDCA-34F3-27E3B2398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5FC5C347-6A72-5FED-4F2B-9982F3959F2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FC5C347-6A72-5FED-4F2B-9982F3959F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07E06188-E630-24DD-0168-437627BE0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Elevar a produtividade exige priorizar automações de maior impacto, construir soluções replicáveis e direcionar recursos tecnológicos para onde geram mais valor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8ECBF22-9F59-A2CF-9F45-289E05609F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ATY</a:t>
            </a:r>
          </a:p>
          <a:p>
            <a:endParaRPr lang="pt-BR" noProof="1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2A5351DA-310D-9AF2-69E1-4D579B6BBA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EF85CC5-155B-CFA6-28F8-C906BCD0C7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pt-BR" noProof="1"/>
              <a:t>Ações estruturantes – Operação - Produtividade</a:t>
            </a:r>
          </a:p>
        </p:txBody>
      </p:sp>
      <p:sp>
        <p:nvSpPr>
          <p:cNvPr id="50" name="Disclaimer_Box">
            <a:extLst>
              <a:ext uri="{FF2B5EF4-FFF2-40B4-BE49-F238E27FC236}">
                <a16:creationId xmlns:a16="http://schemas.microsoft.com/office/drawing/2014/main" id="{DA1A1D37-EABC-571F-C405-B462498A1BB1}"/>
              </a:ext>
            </a:extLst>
          </p:cNvPr>
          <p:cNvSpPr txBox="1">
            <a:spLocks/>
          </p:cNvSpPr>
          <p:nvPr/>
        </p:nvSpPr>
        <p:spPr>
          <a:xfrm>
            <a:off x="9540697" y="1200149"/>
            <a:ext cx="231634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 sz="1200" b="1" kern="1200" baseline="0">
                <a:solidFill>
                  <a:schemeClr val="accent6"/>
                </a:solidFill>
                <a:latin typeface="Arial"/>
                <a:ea typeface="+mn-ea"/>
                <a:cs typeface="Arial"/>
              </a:defRPr>
            </a:lvl1pPr>
            <a:lvl2pPr marL="352425" marR="0" indent="-1651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9750" marR="0" indent="-1857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2" pitchFamily="18" charset="2"/>
              <a:buChar char=""/>
              <a:tabLst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712788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900113" marR="0" indent="-1857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</a:rPr>
              <a:t>Não Exaustivo | Para discussão</a:t>
            </a:r>
          </a:p>
        </p:txBody>
      </p:sp>
      <p:sp>
        <p:nvSpPr>
          <p:cNvPr id="4" name="step-circle-1">
            <a:extLst>
              <a:ext uri="{FF2B5EF4-FFF2-40B4-BE49-F238E27FC236}">
                <a16:creationId xmlns:a16="http://schemas.microsoft.com/office/drawing/2014/main" id="{C92984F2-C82C-9F2E-07F2-06FA758BDBDB}"/>
              </a:ext>
            </a:extLst>
          </p:cNvPr>
          <p:cNvSpPr>
            <a:spLocks noGrp="1"/>
          </p:cNvSpPr>
          <p:nvPr/>
        </p:nvSpPr>
        <p:spPr>
          <a:xfrm>
            <a:off x="4000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1</a:t>
            </a:r>
          </a:p>
        </p:txBody>
      </p:sp>
      <p:sp>
        <p:nvSpPr>
          <p:cNvPr id="8" name="step-title-1">
            <a:extLst>
              <a:ext uri="{FF2B5EF4-FFF2-40B4-BE49-F238E27FC236}">
                <a16:creationId xmlns:a16="http://schemas.microsoft.com/office/drawing/2014/main" id="{70A6FE26-C01B-3A35-BC01-9DD9E89A2EF8}"/>
              </a:ext>
            </a:extLst>
          </p:cNvPr>
          <p:cNvSpPr>
            <a:spLocks noGrp="1"/>
          </p:cNvSpPr>
          <p:nvPr/>
        </p:nvSpPr>
        <p:spPr>
          <a:xfrm>
            <a:off x="9617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Alavancar Inovação</a:t>
            </a:r>
          </a:p>
        </p:txBody>
      </p:sp>
      <p:sp>
        <p:nvSpPr>
          <p:cNvPr id="11" name="step-metric-1">
            <a:extLst>
              <a:ext uri="{FF2B5EF4-FFF2-40B4-BE49-F238E27FC236}">
                <a16:creationId xmlns:a16="http://schemas.microsoft.com/office/drawing/2014/main" id="{DDE4C12B-1C0D-3BF6-A1B2-0536069F55C5}"/>
              </a:ext>
            </a:extLst>
          </p:cNvPr>
          <p:cNvSpPr>
            <a:spLocks noGrp="1"/>
          </p:cNvSpPr>
          <p:nvPr/>
        </p:nvSpPr>
        <p:spPr>
          <a:xfrm>
            <a:off x="400050" y="3263072"/>
            <a:ext cx="3599194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Automatizar por custo</a:t>
            </a:r>
          </a:p>
        </p:txBody>
      </p:sp>
      <p:sp>
        <p:nvSpPr>
          <p:cNvPr id="12" name="metric-rule-1">
            <a:extLst>
              <a:ext uri="{FF2B5EF4-FFF2-40B4-BE49-F238E27FC236}">
                <a16:creationId xmlns:a16="http://schemas.microsoft.com/office/drawing/2014/main" id="{C8094677-DAC1-E817-DE4B-99F1D8A85564}"/>
              </a:ext>
            </a:extLst>
          </p:cNvPr>
          <p:cNvSpPr>
            <a:spLocks noGrp="1"/>
          </p:cNvSpPr>
          <p:nvPr/>
        </p:nvSpPr>
        <p:spPr>
          <a:xfrm>
            <a:off x="4000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3" name="step-body-1">
            <a:extLst>
              <a:ext uri="{FF2B5EF4-FFF2-40B4-BE49-F238E27FC236}">
                <a16:creationId xmlns:a16="http://schemas.microsoft.com/office/drawing/2014/main" id="{9BE914B7-B060-65EB-D2D8-A3406BFD83F9}"/>
              </a:ext>
            </a:extLst>
          </p:cNvPr>
          <p:cNvSpPr>
            <a:spLocks noGrp="1"/>
          </p:cNvSpPr>
          <p:nvPr/>
        </p:nvSpPr>
        <p:spPr>
          <a:xfrm>
            <a:off x="4000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Mensurar custo e horas consumidas pelos processos para priorização das automações</a:t>
            </a:r>
          </a:p>
          <a:p>
            <a:pPr marL="139700" indent="-131763">
              <a:spcBef>
                <a:spcPts val="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Priorizar atividades manuais, recorrentes e de </a:t>
            </a:r>
            <a:r>
              <a:rPr lang="pt-BR" sz="1400" dirty="0">
                <a:solidFill>
                  <a:srgbClr val="333333"/>
                </a:solidFill>
                <a:cs typeface="Arial"/>
              </a:rPr>
              <a:t>maior retrabalho, evitando automações específicas para casos isolados</a:t>
            </a:r>
            <a:endParaRPr lang="pt-BR" sz="1400" dirty="0">
              <a:solidFill>
                <a:srgbClr val="333333"/>
              </a:solidFill>
              <a:latin typeface="Arial"/>
              <a:cs typeface="Arial"/>
            </a:endParaRPr>
          </a:p>
          <a:p>
            <a:pPr marL="139700" indent="-131763">
              <a:spcBef>
                <a:spcPts val="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chemeClr val="tx1"/>
                </a:solidFill>
                <a:latin typeface="Arial"/>
                <a:cs typeface="Arial"/>
              </a:rPr>
              <a:t>Acelerar e priorizar iniciativas de uso de tecnologia para maximizar a eficiência operacional </a:t>
            </a:r>
            <a:endParaRPr lang="pt-BR" sz="1400" dirty="0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14" name="step-circle-2">
            <a:extLst>
              <a:ext uri="{FF2B5EF4-FFF2-40B4-BE49-F238E27FC236}">
                <a16:creationId xmlns:a16="http://schemas.microsoft.com/office/drawing/2014/main" id="{C8AB3E5E-708C-1A46-1B33-BE4A4AD41E8A}"/>
              </a:ext>
            </a:extLst>
          </p:cNvPr>
          <p:cNvSpPr>
            <a:spLocks noGrp="1"/>
          </p:cNvSpPr>
          <p:nvPr/>
        </p:nvSpPr>
        <p:spPr>
          <a:xfrm>
            <a:off x="43243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2</a:t>
            </a:r>
          </a:p>
        </p:txBody>
      </p:sp>
      <p:sp>
        <p:nvSpPr>
          <p:cNvPr id="15" name="step-title-2">
            <a:extLst>
              <a:ext uri="{FF2B5EF4-FFF2-40B4-BE49-F238E27FC236}">
                <a16:creationId xmlns:a16="http://schemas.microsoft.com/office/drawing/2014/main" id="{20CF5459-B089-0A0C-16B8-AA0B4A699F8F}"/>
              </a:ext>
            </a:extLst>
          </p:cNvPr>
          <p:cNvSpPr>
            <a:spLocks noGrp="1"/>
          </p:cNvSpPr>
          <p:nvPr/>
        </p:nvSpPr>
        <p:spPr>
          <a:xfrm>
            <a:off x="48860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Permitir replicabilidade</a:t>
            </a:r>
          </a:p>
        </p:txBody>
      </p:sp>
      <p:sp>
        <p:nvSpPr>
          <p:cNvPr id="16" name="step-metric-2">
            <a:extLst>
              <a:ext uri="{FF2B5EF4-FFF2-40B4-BE49-F238E27FC236}">
                <a16:creationId xmlns:a16="http://schemas.microsoft.com/office/drawing/2014/main" id="{38053A1E-97E0-9CCF-5576-B3EBEE59FF26}"/>
              </a:ext>
            </a:extLst>
          </p:cNvPr>
          <p:cNvSpPr>
            <a:spLocks noGrp="1"/>
          </p:cNvSpPr>
          <p:nvPr/>
        </p:nvSpPr>
        <p:spPr>
          <a:xfrm>
            <a:off x="4324350" y="3263072"/>
            <a:ext cx="333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Soluções escaláveis</a:t>
            </a:r>
          </a:p>
        </p:txBody>
      </p:sp>
      <p:sp>
        <p:nvSpPr>
          <p:cNvPr id="17" name="metric-rule-2">
            <a:extLst>
              <a:ext uri="{FF2B5EF4-FFF2-40B4-BE49-F238E27FC236}">
                <a16:creationId xmlns:a16="http://schemas.microsoft.com/office/drawing/2014/main" id="{4BEC8485-977A-C223-5761-DAF5A395D1E5}"/>
              </a:ext>
            </a:extLst>
          </p:cNvPr>
          <p:cNvSpPr>
            <a:spLocks noGrp="1"/>
          </p:cNvSpPr>
          <p:nvPr/>
        </p:nvSpPr>
        <p:spPr>
          <a:xfrm>
            <a:off x="43243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8" name="step-body-2">
            <a:extLst>
              <a:ext uri="{FF2B5EF4-FFF2-40B4-BE49-F238E27FC236}">
                <a16:creationId xmlns:a16="http://schemas.microsoft.com/office/drawing/2014/main" id="{E9C9144F-7367-9322-CDC7-02488244EB89}"/>
              </a:ext>
            </a:extLst>
          </p:cNvPr>
          <p:cNvSpPr>
            <a:spLocks noGrp="1"/>
          </p:cNvSpPr>
          <p:nvPr/>
        </p:nvSpPr>
        <p:spPr>
          <a:xfrm>
            <a:off x="43243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Identificar automações replicáveis em outras gerências / Bus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Garantir integração sistêmica e de dados para agilidade de replicação</a:t>
            </a:r>
          </a:p>
        </p:txBody>
      </p:sp>
      <p:sp>
        <p:nvSpPr>
          <p:cNvPr id="19" name="step-circle-3">
            <a:extLst>
              <a:ext uri="{FF2B5EF4-FFF2-40B4-BE49-F238E27FC236}">
                <a16:creationId xmlns:a16="http://schemas.microsoft.com/office/drawing/2014/main" id="{BB0CC7BA-ACD1-5847-8C5B-5C3265C8CBF4}"/>
              </a:ext>
            </a:extLst>
          </p:cNvPr>
          <p:cNvSpPr>
            <a:spLocks noGrp="1"/>
          </p:cNvSpPr>
          <p:nvPr/>
        </p:nvSpPr>
        <p:spPr>
          <a:xfrm>
            <a:off x="82486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3</a:t>
            </a:r>
          </a:p>
        </p:txBody>
      </p:sp>
      <p:sp>
        <p:nvSpPr>
          <p:cNvPr id="20" name="step-title-3">
            <a:extLst>
              <a:ext uri="{FF2B5EF4-FFF2-40B4-BE49-F238E27FC236}">
                <a16:creationId xmlns:a16="http://schemas.microsoft.com/office/drawing/2014/main" id="{BFAE25DC-E298-65F3-5B3F-C26A13CD202B}"/>
              </a:ext>
            </a:extLst>
          </p:cNvPr>
          <p:cNvSpPr>
            <a:spLocks noGrp="1"/>
          </p:cNvSpPr>
          <p:nvPr/>
        </p:nvSpPr>
        <p:spPr>
          <a:xfrm>
            <a:off x="8724901" y="2699611"/>
            <a:ext cx="3132136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Arquitetura de tecnologia</a:t>
            </a:r>
          </a:p>
        </p:txBody>
      </p:sp>
      <p:sp>
        <p:nvSpPr>
          <p:cNvPr id="21" name="step-metric-3">
            <a:extLst>
              <a:ext uri="{FF2B5EF4-FFF2-40B4-BE49-F238E27FC236}">
                <a16:creationId xmlns:a16="http://schemas.microsoft.com/office/drawing/2014/main" id="{B85FD604-D202-A6B9-A79F-1F70E339C346}"/>
              </a:ext>
            </a:extLst>
          </p:cNvPr>
          <p:cNvSpPr>
            <a:spLocks noGrp="1"/>
          </p:cNvSpPr>
          <p:nvPr/>
        </p:nvSpPr>
        <p:spPr>
          <a:xfrm>
            <a:off x="8248649" y="3263072"/>
            <a:ext cx="3608387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Alocação eficiente</a:t>
            </a:r>
          </a:p>
        </p:txBody>
      </p:sp>
      <p:sp>
        <p:nvSpPr>
          <p:cNvPr id="22" name="metric-rule-3">
            <a:extLst>
              <a:ext uri="{FF2B5EF4-FFF2-40B4-BE49-F238E27FC236}">
                <a16:creationId xmlns:a16="http://schemas.microsoft.com/office/drawing/2014/main" id="{EE3740EF-9973-1C5A-2543-EED76CC099C7}"/>
              </a:ext>
            </a:extLst>
          </p:cNvPr>
          <p:cNvSpPr>
            <a:spLocks noGrp="1"/>
          </p:cNvSpPr>
          <p:nvPr/>
        </p:nvSpPr>
        <p:spPr>
          <a:xfrm>
            <a:off x="82486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23" name="step-body-3">
            <a:extLst>
              <a:ext uri="{FF2B5EF4-FFF2-40B4-BE49-F238E27FC236}">
                <a16:creationId xmlns:a16="http://schemas.microsoft.com/office/drawing/2014/main" id="{3466F0DF-487D-BE7D-FF5C-3DA9FB4F24E0}"/>
              </a:ext>
            </a:extLst>
          </p:cNvPr>
          <p:cNvSpPr>
            <a:spLocks noGrp="1"/>
          </p:cNvSpPr>
          <p:nvPr/>
        </p:nvSpPr>
        <p:spPr>
          <a:xfrm>
            <a:off x="8248650" y="3997812"/>
            <a:ext cx="3608386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Direcionar recursos de tecnologia conforme impacto e prioridade do negócio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Dimensionar capacidade necessária para desenvolvimento, sustentação e automação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Acompanhar custo, utilização e retorno das soluções tecnológicas implantadas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Política de tecnologia</a:t>
            </a:r>
          </a:p>
        </p:txBody>
      </p:sp>
      <p:sp>
        <p:nvSpPr>
          <p:cNvPr id="25" name="objective-band">
            <a:extLst>
              <a:ext uri="{FF2B5EF4-FFF2-40B4-BE49-F238E27FC236}">
                <a16:creationId xmlns:a16="http://schemas.microsoft.com/office/drawing/2014/main" id="{A57855B5-F7BC-62BF-0EBA-5AA4C73580A6}"/>
              </a:ext>
            </a:extLst>
          </p:cNvPr>
          <p:cNvSpPr>
            <a:spLocks noGrp="1"/>
          </p:cNvSpPr>
          <p:nvPr/>
        </p:nvSpPr>
        <p:spPr>
          <a:xfrm>
            <a:off x="335998" y="1616891"/>
            <a:ext cx="9972000" cy="714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 lIns="1692000" anchor="ctr"/>
          <a:lstStyle/>
          <a:p>
            <a:pPr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b="1" dirty="0">
                <a:solidFill>
                  <a:srgbClr val="0B1220"/>
                </a:solidFill>
                <a:latin typeface="Abadi" panose="020B0604020104020204" pitchFamily="34" charset="77"/>
                <a:ea typeface="Arial"/>
                <a:cs typeface="Arial"/>
              </a:rPr>
              <a:t>Elevar a produtividade com avanço contínuo em tecnologia, permitindo ganhos de escala, eficiência operacional e otimização de recurso.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79CBD79-D04C-CA08-658D-6B467C543361}"/>
              </a:ext>
            </a:extLst>
          </p:cNvPr>
          <p:cNvSpPr/>
          <p:nvPr/>
        </p:nvSpPr>
        <p:spPr>
          <a:xfrm>
            <a:off x="341322" y="1601598"/>
            <a:ext cx="1515836" cy="71469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Produtividade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D8BD5BC-7C24-6329-1A64-C40E903639DD}"/>
              </a:ext>
            </a:extLst>
          </p:cNvPr>
          <p:cNvSpPr/>
          <p:nvPr/>
        </p:nvSpPr>
        <p:spPr>
          <a:xfrm>
            <a:off x="10476089" y="1609244"/>
            <a:ext cx="1380948" cy="714699"/>
          </a:xfrm>
          <a:prstGeom prst="roundRect">
            <a:avLst/>
          </a:prstGeom>
          <a:solidFill>
            <a:srgbClr val="E36800"/>
          </a:solidFill>
          <a:ln w="11430">
            <a:solidFill>
              <a:srgbClr val="E368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COO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33088F-FC20-F052-6196-1EB75353EB52}"/>
              </a:ext>
            </a:extLst>
          </p:cNvPr>
          <p:cNvSpPr/>
          <p:nvPr/>
        </p:nvSpPr>
        <p:spPr>
          <a:xfrm>
            <a:off x="10341201" y="296016"/>
            <a:ext cx="1515836" cy="246735"/>
          </a:xfrm>
          <a:prstGeom prst="rect">
            <a:avLst/>
          </a:prstGeom>
          <a:solidFill>
            <a:schemeClr val="accent3"/>
          </a:solidFill>
          <a:ln w="11430">
            <a:solidFill>
              <a:schemeClr val="accent3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Operação</a:t>
            </a:r>
          </a:p>
        </p:txBody>
      </p:sp>
    </p:spTree>
    <p:extLst>
      <p:ext uri="{BB962C8B-B14F-4D97-AF65-F5344CB8AC3E}">
        <p14:creationId xmlns:p14="http://schemas.microsoft.com/office/powerpoint/2010/main" val="1568347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17B70-6644-5BAE-39D8-17809DA4D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D7D601B7-FFDC-DB47-CA38-00609698FF2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7D601B7-FFDC-DB47-CA38-00609698FF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8CE8D315-85C0-F5E5-25EB-5557B7357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Elevar a produtividade exige priorizar automações de maior impacto, construir soluções replicáveis e direcionar recursos tecnológicos para onde geram mais valor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17861CA-28EB-F6D9-931E-3DB8811F82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ATY</a:t>
            </a:r>
          </a:p>
          <a:p>
            <a:endParaRPr lang="pt-BR" noProof="1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A09430A9-F476-5524-DAEB-C24C269925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4A3F106-A944-5CC2-5220-992115F1FB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pt-BR" noProof="1"/>
              <a:t>Ações estruturantes – Operação - Eficiência no dimensionamento de Time</a:t>
            </a:r>
          </a:p>
        </p:txBody>
      </p:sp>
      <p:sp>
        <p:nvSpPr>
          <p:cNvPr id="50" name="Disclaimer_Box">
            <a:extLst>
              <a:ext uri="{FF2B5EF4-FFF2-40B4-BE49-F238E27FC236}">
                <a16:creationId xmlns:a16="http://schemas.microsoft.com/office/drawing/2014/main" id="{9BF72153-AD58-8825-65D6-A45C3782CE53}"/>
              </a:ext>
            </a:extLst>
          </p:cNvPr>
          <p:cNvSpPr txBox="1">
            <a:spLocks/>
          </p:cNvSpPr>
          <p:nvPr/>
        </p:nvSpPr>
        <p:spPr>
          <a:xfrm>
            <a:off x="9540697" y="1200149"/>
            <a:ext cx="231634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 sz="1200" b="1" kern="1200" baseline="0">
                <a:solidFill>
                  <a:schemeClr val="accent6"/>
                </a:solidFill>
                <a:latin typeface="Arial"/>
                <a:ea typeface="+mn-ea"/>
                <a:cs typeface="Arial"/>
              </a:defRPr>
            </a:lvl1pPr>
            <a:lvl2pPr marL="352425" marR="0" indent="-1651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9750" marR="0" indent="-1857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2" pitchFamily="18" charset="2"/>
              <a:buChar char=""/>
              <a:tabLst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712788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900113" marR="0" indent="-1857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</a:rPr>
              <a:t>Não Exaustivo | Para discussão</a:t>
            </a:r>
          </a:p>
        </p:txBody>
      </p:sp>
      <p:sp>
        <p:nvSpPr>
          <p:cNvPr id="4" name="step-circle-1">
            <a:extLst>
              <a:ext uri="{FF2B5EF4-FFF2-40B4-BE49-F238E27FC236}">
                <a16:creationId xmlns:a16="http://schemas.microsoft.com/office/drawing/2014/main" id="{B7D24C10-58AA-6F65-6A78-5F4D0D30BFDD}"/>
              </a:ext>
            </a:extLst>
          </p:cNvPr>
          <p:cNvSpPr>
            <a:spLocks noGrp="1"/>
          </p:cNvSpPr>
          <p:nvPr/>
        </p:nvSpPr>
        <p:spPr>
          <a:xfrm>
            <a:off x="4000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1</a:t>
            </a:r>
          </a:p>
        </p:txBody>
      </p:sp>
      <p:sp>
        <p:nvSpPr>
          <p:cNvPr id="8" name="step-title-1">
            <a:extLst>
              <a:ext uri="{FF2B5EF4-FFF2-40B4-BE49-F238E27FC236}">
                <a16:creationId xmlns:a16="http://schemas.microsoft.com/office/drawing/2014/main" id="{82A5B291-7402-4090-F271-80C5420ABE4D}"/>
              </a:ext>
            </a:extLst>
          </p:cNvPr>
          <p:cNvSpPr>
            <a:spLocks noGrp="1"/>
          </p:cNvSpPr>
          <p:nvPr/>
        </p:nvSpPr>
        <p:spPr>
          <a:xfrm>
            <a:off x="9617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Visibilidade de capacidade</a:t>
            </a:r>
          </a:p>
        </p:txBody>
      </p:sp>
      <p:sp>
        <p:nvSpPr>
          <p:cNvPr id="11" name="step-metric-1">
            <a:extLst>
              <a:ext uri="{FF2B5EF4-FFF2-40B4-BE49-F238E27FC236}">
                <a16:creationId xmlns:a16="http://schemas.microsoft.com/office/drawing/2014/main" id="{D24C322C-D546-EBAE-A0FA-69DF69DB6F90}"/>
              </a:ext>
            </a:extLst>
          </p:cNvPr>
          <p:cNvSpPr>
            <a:spLocks noGrp="1"/>
          </p:cNvSpPr>
          <p:nvPr/>
        </p:nvSpPr>
        <p:spPr>
          <a:xfrm>
            <a:off x="400050" y="3263072"/>
            <a:ext cx="3599194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Times com </a:t>
            </a:r>
            <a:r>
              <a:rPr lang="pt-BR" sz="2400" b="1" spc="-30" dirty="0" err="1">
                <a:latin typeface="Abadi" panose="020B0604020104020204" pitchFamily="34" charset="77"/>
                <a:cs typeface="Arial"/>
              </a:rPr>
              <a:t>Capacity</a:t>
            </a:r>
            <a:r>
              <a:rPr lang="pt-BR" sz="2400" b="1" spc="-30" dirty="0">
                <a:latin typeface="Abadi" panose="020B0604020104020204" pitchFamily="34" charset="77"/>
                <a:cs typeface="Arial"/>
              </a:rPr>
              <a:t> </a:t>
            </a:r>
            <a:r>
              <a:rPr lang="pt-BR" sz="2400" b="1" spc="-30" dirty="0" err="1">
                <a:latin typeface="Abadi" panose="020B0604020104020204" pitchFamily="34" charset="77"/>
                <a:cs typeface="Arial"/>
              </a:rPr>
              <a:t>View</a:t>
            </a:r>
            <a:endParaRPr lang="pt-BR" sz="2400" b="1" spc="-30" dirty="0">
              <a:latin typeface="Abadi" panose="020B0604020104020204" pitchFamily="34" charset="77"/>
              <a:cs typeface="Arial"/>
            </a:endParaRPr>
          </a:p>
        </p:txBody>
      </p:sp>
      <p:sp>
        <p:nvSpPr>
          <p:cNvPr id="12" name="metric-rule-1">
            <a:extLst>
              <a:ext uri="{FF2B5EF4-FFF2-40B4-BE49-F238E27FC236}">
                <a16:creationId xmlns:a16="http://schemas.microsoft.com/office/drawing/2014/main" id="{798DB197-2231-3247-64D2-7180BFB52908}"/>
              </a:ext>
            </a:extLst>
          </p:cNvPr>
          <p:cNvSpPr>
            <a:spLocks noGrp="1"/>
          </p:cNvSpPr>
          <p:nvPr/>
        </p:nvSpPr>
        <p:spPr>
          <a:xfrm>
            <a:off x="4000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3" name="step-body-1">
            <a:extLst>
              <a:ext uri="{FF2B5EF4-FFF2-40B4-BE49-F238E27FC236}">
                <a16:creationId xmlns:a16="http://schemas.microsoft.com/office/drawing/2014/main" id="{5742E8C0-938A-27EE-236D-127228067D53}"/>
              </a:ext>
            </a:extLst>
          </p:cNvPr>
          <p:cNvSpPr>
            <a:spLocks noGrp="1"/>
          </p:cNvSpPr>
          <p:nvPr/>
        </p:nvSpPr>
        <p:spPr>
          <a:xfrm>
            <a:off x="400050" y="3997812"/>
            <a:ext cx="5016012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Construir visão de demanda × capacidade por time, função e atividade, baseado em dados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Projetar capacidade futura considerando volume, produtividade, curva de aprendizado e tecnologia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Criar cenários dos impactos de novos clientes e </a:t>
            </a:r>
            <a:r>
              <a:rPr lang="pt-BR" sz="1400" dirty="0" err="1">
                <a:solidFill>
                  <a:srgbClr val="333333"/>
                </a:solidFill>
                <a:latin typeface="Arial"/>
                <a:cs typeface="Arial"/>
              </a:rPr>
              <a:t>BIDs</a:t>
            </a: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 antes da entrada da operação</a:t>
            </a:r>
          </a:p>
        </p:txBody>
      </p:sp>
      <p:sp>
        <p:nvSpPr>
          <p:cNvPr id="14" name="step-circle-2">
            <a:extLst>
              <a:ext uri="{FF2B5EF4-FFF2-40B4-BE49-F238E27FC236}">
                <a16:creationId xmlns:a16="http://schemas.microsoft.com/office/drawing/2014/main" id="{A989ACD7-2168-22D6-BEFC-F52A7F33D328}"/>
              </a:ext>
            </a:extLst>
          </p:cNvPr>
          <p:cNvSpPr>
            <a:spLocks noGrp="1"/>
          </p:cNvSpPr>
          <p:nvPr/>
        </p:nvSpPr>
        <p:spPr>
          <a:xfrm>
            <a:off x="6206947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2</a:t>
            </a:r>
          </a:p>
        </p:txBody>
      </p:sp>
      <p:sp>
        <p:nvSpPr>
          <p:cNvPr id="15" name="step-title-2">
            <a:extLst>
              <a:ext uri="{FF2B5EF4-FFF2-40B4-BE49-F238E27FC236}">
                <a16:creationId xmlns:a16="http://schemas.microsoft.com/office/drawing/2014/main" id="{F1825857-42F3-8130-F5E4-A3B2FBEFAFDA}"/>
              </a:ext>
            </a:extLst>
          </p:cNvPr>
          <p:cNvSpPr>
            <a:spLocks noGrp="1"/>
          </p:cNvSpPr>
          <p:nvPr/>
        </p:nvSpPr>
        <p:spPr>
          <a:xfrm>
            <a:off x="6768642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Time</a:t>
            </a:r>
          </a:p>
        </p:txBody>
      </p:sp>
      <p:sp>
        <p:nvSpPr>
          <p:cNvPr id="16" name="step-metric-2">
            <a:extLst>
              <a:ext uri="{FF2B5EF4-FFF2-40B4-BE49-F238E27FC236}">
                <a16:creationId xmlns:a16="http://schemas.microsoft.com/office/drawing/2014/main" id="{8E917356-F984-9DEE-DC1D-16CC230AC9EB}"/>
              </a:ext>
            </a:extLst>
          </p:cNvPr>
          <p:cNvSpPr>
            <a:spLocks noGrp="1"/>
          </p:cNvSpPr>
          <p:nvPr/>
        </p:nvSpPr>
        <p:spPr>
          <a:xfrm>
            <a:off x="6206947" y="3263072"/>
            <a:ext cx="333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Capacitação do time</a:t>
            </a:r>
          </a:p>
        </p:txBody>
      </p:sp>
      <p:sp>
        <p:nvSpPr>
          <p:cNvPr id="17" name="metric-rule-2">
            <a:extLst>
              <a:ext uri="{FF2B5EF4-FFF2-40B4-BE49-F238E27FC236}">
                <a16:creationId xmlns:a16="http://schemas.microsoft.com/office/drawing/2014/main" id="{7E009697-1ACE-27F3-73B3-2A4D59860E6E}"/>
              </a:ext>
            </a:extLst>
          </p:cNvPr>
          <p:cNvSpPr>
            <a:spLocks noGrp="1"/>
          </p:cNvSpPr>
          <p:nvPr/>
        </p:nvSpPr>
        <p:spPr>
          <a:xfrm>
            <a:off x="6206947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8" name="step-body-2">
            <a:extLst>
              <a:ext uri="{FF2B5EF4-FFF2-40B4-BE49-F238E27FC236}">
                <a16:creationId xmlns:a16="http://schemas.microsoft.com/office/drawing/2014/main" id="{B57C677E-1B00-BBD4-FAAB-381660113A87}"/>
              </a:ext>
            </a:extLst>
          </p:cNvPr>
          <p:cNvSpPr>
            <a:spLocks noGrp="1"/>
          </p:cNvSpPr>
          <p:nvPr/>
        </p:nvSpPr>
        <p:spPr>
          <a:xfrm>
            <a:off x="6206947" y="3997812"/>
            <a:ext cx="565009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Compreender o </a:t>
            </a:r>
            <a:r>
              <a:rPr lang="pt-BR" sz="1400" dirty="0" err="1">
                <a:solidFill>
                  <a:srgbClr val="333333"/>
                </a:solidFill>
                <a:latin typeface="Arial"/>
                <a:cs typeface="Arial"/>
              </a:rPr>
              <a:t>job</a:t>
            </a: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pt-BR" sz="1400" dirty="0" err="1">
                <a:solidFill>
                  <a:srgbClr val="333333"/>
                </a:solidFill>
                <a:latin typeface="Arial"/>
                <a:cs typeface="Arial"/>
              </a:rPr>
              <a:t>description</a:t>
            </a: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 e identificar personas para função, entendendo gaps atuais e nivelamento da equipe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Estruturar capacitação cruzada para ampliar flexibilidade na alocação dos times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Reduzir dependência de especialistas e aumentar cobertura das atividades críticas</a:t>
            </a:r>
          </a:p>
        </p:txBody>
      </p:sp>
      <p:sp>
        <p:nvSpPr>
          <p:cNvPr id="25" name="objective-band">
            <a:extLst>
              <a:ext uri="{FF2B5EF4-FFF2-40B4-BE49-F238E27FC236}">
                <a16:creationId xmlns:a16="http://schemas.microsoft.com/office/drawing/2014/main" id="{C7EBFFFC-942E-6DAA-5434-C3D16CD1E9E6}"/>
              </a:ext>
            </a:extLst>
          </p:cNvPr>
          <p:cNvSpPr>
            <a:spLocks noGrp="1"/>
          </p:cNvSpPr>
          <p:nvPr/>
        </p:nvSpPr>
        <p:spPr>
          <a:xfrm>
            <a:off x="335998" y="1616891"/>
            <a:ext cx="9972000" cy="714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 lIns="1692000" anchor="ctr"/>
          <a:lstStyle/>
          <a:p>
            <a:pPr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b="1" dirty="0">
                <a:solidFill>
                  <a:srgbClr val="0B1220"/>
                </a:solidFill>
                <a:latin typeface="Abadi" panose="020B0604020104020204" pitchFamily="34" charset="77"/>
                <a:ea typeface="Arial"/>
                <a:cs typeface="Arial"/>
              </a:rPr>
              <a:t>Orientar a gestão contínua de recursos, assegurando alocação adequada, equilíbrio entre demanda e capacidade e suporte qualificado à tomada de decisão, potencializando a geração de resultados.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6A71597-D128-CC8F-2E55-251DA9922711}"/>
              </a:ext>
            </a:extLst>
          </p:cNvPr>
          <p:cNvSpPr/>
          <p:nvPr/>
        </p:nvSpPr>
        <p:spPr>
          <a:xfrm>
            <a:off x="341322" y="1601598"/>
            <a:ext cx="1515836" cy="71469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Eficiência no dimensionamento de Times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CE85405-9C76-DBE1-BB9D-10920E3D3AFF}"/>
              </a:ext>
            </a:extLst>
          </p:cNvPr>
          <p:cNvSpPr/>
          <p:nvPr/>
        </p:nvSpPr>
        <p:spPr>
          <a:xfrm>
            <a:off x="10476089" y="1609244"/>
            <a:ext cx="1380948" cy="714699"/>
          </a:xfrm>
          <a:prstGeom prst="roundRect">
            <a:avLst/>
          </a:prstGeom>
          <a:solidFill>
            <a:srgbClr val="E36800"/>
          </a:solidFill>
          <a:ln w="11430">
            <a:solidFill>
              <a:srgbClr val="E368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COO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1083DF-A418-513E-F4DA-A2DA1864C872}"/>
              </a:ext>
            </a:extLst>
          </p:cNvPr>
          <p:cNvSpPr/>
          <p:nvPr/>
        </p:nvSpPr>
        <p:spPr>
          <a:xfrm>
            <a:off x="10341201" y="296016"/>
            <a:ext cx="1515836" cy="246735"/>
          </a:xfrm>
          <a:prstGeom prst="rect">
            <a:avLst/>
          </a:prstGeom>
          <a:solidFill>
            <a:schemeClr val="accent3"/>
          </a:solidFill>
          <a:ln w="11430">
            <a:solidFill>
              <a:schemeClr val="accent3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Operação</a:t>
            </a:r>
          </a:p>
        </p:txBody>
      </p:sp>
    </p:spTree>
    <p:extLst>
      <p:ext uri="{BB962C8B-B14F-4D97-AF65-F5344CB8AC3E}">
        <p14:creationId xmlns:p14="http://schemas.microsoft.com/office/powerpoint/2010/main" val="417523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8A9A6-D6FE-C92B-B989-99D29B250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063AE3D4-D20D-59BD-400A-404C66B318E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63AE3D4-D20D-59BD-400A-404C66B318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2539FD0-B181-FED4-E4DB-AB1BC91DD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segurança cibernética deve ser fortalecida em três frentes complementares: proteção dos dados, continuidade operacional e mitigação dos elos mais vulneráveis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5B5936A-6E36-6FED-32F5-AA438AF474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ATY</a:t>
            </a:r>
          </a:p>
          <a:p>
            <a:endParaRPr lang="pt-BR" noProof="1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49BD41D1-8757-4D70-24A2-8CA58C2978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67B12D-5252-A8CA-8109-DF7F07BAF0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pt-BR" noProof="1"/>
              <a:t>Ações estruturantes – Operação - Desempenho Operacional</a:t>
            </a:r>
          </a:p>
        </p:txBody>
      </p:sp>
      <p:sp>
        <p:nvSpPr>
          <p:cNvPr id="50" name="Disclaimer_Box">
            <a:extLst>
              <a:ext uri="{FF2B5EF4-FFF2-40B4-BE49-F238E27FC236}">
                <a16:creationId xmlns:a16="http://schemas.microsoft.com/office/drawing/2014/main" id="{87BC1009-0778-B279-2577-536B0CB6E1DA}"/>
              </a:ext>
            </a:extLst>
          </p:cNvPr>
          <p:cNvSpPr txBox="1">
            <a:spLocks/>
          </p:cNvSpPr>
          <p:nvPr/>
        </p:nvSpPr>
        <p:spPr>
          <a:xfrm>
            <a:off x="9540697" y="1200149"/>
            <a:ext cx="231634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 sz="1200" b="1" kern="1200" baseline="0">
                <a:solidFill>
                  <a:schemeClr val="accent6"/>
                </a:solidFill>
                <a:latin typeface="Arial"/>
                <a:ea typeface="+mn-ea"/>
                <a:cs typeface="Arial"/>
              </a:defRPr>
            </a:lvl1pPr>
            <a:lvl2pPr marL="352425" marR="0" indent="-1651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9750" marR="0" indent="-1857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2" pitchFamily="18" charset="2"/>
              <a:buChar char=""/>
              <a:tabLst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712788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900113" marR="0" indent="-1857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</a:rPr>
              <a:t>Não Exaustivo | Para discussão</a:t>
            </a:r>
          </a:p>
        </p:txBody>
      </p:sp>
      <p:sp>
        <p:nvSpPr>
          <p:cNvPr id="25" name="objective-band">
            <a:extLst>
              <a:ext uri="{FF2B5EF4-FFF2-40B4-BE49-F238E27FC236}">
                <a16:creationId xmlns:a16="http://schemas.microsoft.com/office/drawing/2014/main" id="{A84CDEE4-0944-FA4D-A1D8-211B3003ECF8}"/>
              </a:ext>
            </a:extLst>
          </p:cNvPr>
          <p:cNvSpPr>
            <a:spLocks noGrp="1"/>
          </p:cNvSpPr>
          <p:nvPr/>
        </p:nvSpPr>
        <p:spPr>
          <a:xfrm>
            <a:off x="335998" y="1616891"/>
            <a:ext cx="9972000" cy="714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 lIns="1692000" anchor="ctr"/>
          <a:lstStyle/>
          <a:p>
            <a:pPr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b="1" dirty="0">
                <a:solidFill>
                  <a:srgbClr val="0B1220"/>
                </a:solidFill>
                <a:latin typeface="Abadi" panose="020B0604020104020204" pitchFamily="34" charset="77"/>
                <a:ea typeface="Arial"/>
                <a:cs typeface="Arial"/>
              </a:rPr>
              <a:t>Estruturar e fortalecer a segurança da informação, garantindo proteção dos dados, continuidade operacional e mitigação de riscos cibernéticos.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6B9430F-5BD2-A543-D286-355A0D52D193}"/>
              </a:ext>
            </a:extLst>
          </p:cNvPr>
          <p:cNvSpPr/>
          <p:nvPr/>
        </p:nvSpPr>
        <p:spPr>
          <a:xfrm>
            <a:off x="341322" y="1601598"/>
            <a:ext cx="1515836" cy="71469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Segurança-Cyber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323890C-7244-CEFE-525D-6DE8B8D023B1}"/>
              </a:ext>
            </a:extLst>
          </p:cNvPr>
          <p:cNvSpPr/>
          <p:nvPr/>
        </p:nvSpPr>
        <p:spPr>
          <a:xfrm>
            <a:off x="10476089" y="1609244"/>
            <a:ext cx="1380948" cy="714699"/>
          </a:xfrm>
          <a:prstGeom prst="roundRect">
            <a:avLst/>
          </a:prstGeom>
          <a:solidFill>
            <a:srgbClr val="E36800"/>
          </a:solidFill>
          <a:ln w="11430">
            <a:solidFill>
              <a:srgbClr val="E368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CITO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5B3B25-FBF3-5039-1EAE-7FAEB561B7AC}"/>
              </a:ext>
            </a:extLst>
          </p:cNvPr>
          <p:cNvSpPr/>
          <p:nvPr/>
        </p:nvSpPr>
        <p:spPr>
          <a:xfrm>
            <a:off x="10341201" y="296016"/>
            <a:ext cx="1515836" cy="246735"/>
          </a:xfrm>
          <a:prstGeom prst="rect">
            <a:avLst/>
          </a:prstGeom>
          <a:solidFill>
            <a:schemeClr val="accent3"/>
          </a:solidFill>
          <a:ln w="11430">
            <a:solidFill>
              <a:schemeClr val="accent3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Operação</a:t>
            </a:r>
          </a:p>
        </p:txBody>
      </p:sp>
      <p:sp>
        <p:nvSpPr>
          <p:cNvPr id="4" name="step-circle-1">
            <a:extLst>
              <a:ext uri="{FF2B5EF4-FFF2-40B4-BE49-F238E27FC236}">
                <a16:creationId xmlns:a16="http://schemas.microsoft.com/office/drawing/2014/main" id="{226D9152-FA07-E0A2-7EFB-598B2FF386A7}"/>
              </a:ext>
            </a:extLst>
          </p:cNvPr>
          <p:cNvSpPr>
            <a:spLocks noGrp="1"/>
          </p:cNvSpPr>
          <p:nvPr/>
        </p:nvSpPr>
        <p:spPr>
          <a:xfrm>
            <a:off x="4000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1</a:t>
            </a:r>
          </a:p>
        </p:txBody>
      </p:sp>
      <p:sp>
        <p:nvSpPr>
          <p:cNvPr id="8" name="step-title-1">
            <a:extLst>
              <a:ext uri="{FF2B5EF4-FFF2-40B4-BE49-F238E27FC236}">
                <a16:creationId xmlns:a16="http://schemas.microsoft.com/office/drawing/2014/main" id="{A8FF4FD2-6F37-1879-620F-751FCC95E8DE}"/>
              </a:ext>
            </a:extLst>
          </p:cNvPr>
          <p:cNvSpPr>
            <a:spLocks noGrp="1"/>
          </p:cNvSpPr>
          <p:nvPr/>
        </p:nvSpPr>
        <p:spPr>
          <a:xfrm>
            <a:off x="9617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Proteção dos dados</a:t>
            </a:r>
          </a:p>
        </p:txBody>
      </p:sp>
      <p:sp>
        <p:nvSpPr>
          <p:cNvPr id="11" name="step-circle-2">
            <a:extLst>
              <a:ext uri="{FF2B5EF4-FFF2-40B4-BE49-F238E27FC236}">
                <a16:creationId xmlns:a16="http://schemas.microsoft.com/office/drawing/2014/main" id="{C0C19C20-9FB4-AA4E-89BD-9C9CA4BB4623}"/>
              </a:ext>
            </a:extLst>
          </p:cNvPr>
          <p:cNvSpPr>
            <a:spLocks noGrp="1"/>
          </p:cNvSpPr>
          <p:nvPr/>
        </p:nvSpPr>
        <p:spPr>
          <a:xfrm>
            <a:off x="43243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2</a:t>
            </a:r>
          </a:p>
        </p:txBody>
      </p:sp>
      <p:sp>
        <p:nvSpPr>
          <p:cNvPr id="12" name="step-title-2">
            <a:extLst>
              <a:ext uri="{FF2B5EF4-FFF2-40B4-BE49-F238E27FC236}">
                <a16:creationId xmlns:a16="http://schemas.microsoft.com/office/drawing/2014/main" id="{0AE9C2AF-0F62-697E-A810-0863236BD4F6}"/>
              </a:ext>
            </a:extLst>
          </p:cNvPr>
          <p:cNvSpPr>
            <a:spLocks noGrp="1"/>
          </p:cNvSpPr>
          <p:nvPr/>
        </p:nvSpPr>
        <p:spPr>
          <a:xfrm>
            <a:off x="48860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Continuidade operacional</a:t>
            </a:r>
          </a:p>
        </p:txBody>
      </p:sp>
      <p:sp>
        <p:nvSpPr>
          <p:cNvPr id="13" name="step-circle-3">
            <a:extLst>
              <a:ext uri="{FF2B5EF4-FFF2-40B4-BE49-F238E27FC236}">
                <a16:creationId xmlns:a16="http://schemas.microsoft.com/office/drawing/2014/main" id="{732627C6-3E2F-B4D6-79B5-5B2214CB2B6B}"/>
              </a:ext>
            </a:extLst>
          </p:cNvPr>
          <p:cNvSpPr>
            <a:spLocks noGrp="1"/>
          </p:cNvSpPr>
          <p:nvPr/>
        </p:nvSpPr>
        <p:spPr>
          <a:xfrm>
            <a:off x="82486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3</a:t>
            </a:r>
          </a:p>
        </p:txBody>
      </p:sp>
      <p:sp>
        <p:nvSpPr>
          <p:cNvPr id="14" name="step-title-3">
            <a:extLst>
              <a:ext uri="{FF2B5EF4-FFF2-40B4-BE49-F238E27FC236}">
                <a16:creationId xmlns:a16="http://schemas.microsoft.com/office/drawing/2014/main" id="{52E2B63F-FDCD-DB73-ECF2-A25D65609F5B}"/>
              </a:ext>
            </a:extLst>
          </p:cNvPr>
          <p:cNvSpPr>
            <a:spLocks noGrp="1"/>
          </p:cNvSpPr>
          <p:nvPr/>
        </p:nvSpPr>
        <p:spPr>
          <a:xfrm>
            <a:off x="88103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Mitigação de risco cyber</a:t>
            </a:r>
          </a:p>
        </p:txBody>
      </p:sp>
      <p:sp>
        <p:nvSpPr>
          <p:cNvPr id="15" name="step-metric-1">
            <a:extLst>
              <a:ext uri="{FF2B5EF4-FFF2-40B4-BE49-F238E27FC236}">
                <a16:creationId xmlns:a16="http://schemas.microsoft.com/office/drawing/2014/main" id="{6BC51EBD-A7CC-954B-E54A-75CDDB40061A}"/>
              </a:ext>
            </a:extLst>
          </p:cNvPr>
          <p:cNvSpPr>
            <a:spLocks noGrp="1"/>
          </p:cNvSpPr>
          <p:nvPr/>
        </p:nvSpPr>
        <p:spPr>
          <a:xfrm>
            <a:off x="400050" y="3263072"/>
            <a:ext cx="3599194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Blindar bases</a:t>
            </a:r>
          </a:p>
        </p:txBody>
      </p:sp>
      <p:sp>
        <p:nvSpPr>
          <p:cNvPr id="16" name="step-metric-2">
            <a:extLst>
              <a:ext uri="{FF2B5EF4-FFF2-40B4-BE49-F238E27FC236}">
                <a16:creationId xmlns:a16="http://schemas.microsoft.com/office/drawing/2014/main" id="{B68A717D-5902-5738-F4F6-9DDA2E2D7DAC}"/>
              </a:ext>
            </a:extLst>
          </p:cNvPr>
          <p:cNvSpPr>
            <a:spLocks noGrp="1"/>
          </p:cNvSpPr>
          <p:nvPr/>
        </p:nvSpPr>
        <p:spPr>
          <a:xfrm>
            <a:off x="4324350" y="3263072"/>
            <a:ext cx="333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Impacto zero</a:t>
            </a:r>
          </a:p>
        </p:txBody>
      </p:sp>
      <p:sp>
        <p:nvSpPr>
          <p:cNvPr id="17" name="step-metric-3">
            <a:extLst>
              <a:ext uri="{FF2B5EF4-FFF2-40B4-BE49-F238E27FC236}">
                <a16:creationId xmlns:a16="http://schemas.microsoft.com/office/drawing/2014/main" id="{B75B17F1-56B1-7967-CAEB-3631B20AF526}"/>
              </a:ext>
            </a:extLst>
          </p:cNvPr>
          <p:cNvSpPr>
            <a:spLocks noGrp="1"/>
          </p:cNvSpPr>
          <p:nvPr/>
        </p:nvSpPr>
        <p:spPr>
          <a:xfrm>
            <a:off x="8248649" y="3263072"/>
            <a:ext cx="3608387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Foco no elo frágil</a:t>
            </a:r>
          </a:p>
        </p:txBody>
      </p:sp>
      <p:sp>
        <p:nvSpPr>
          <p:cNvPr id="18" name="metric-rule-1">
            <a:extLst>
              <a:ext uri="{FF2B5EF4-FFF2-40B4-BE49-F238E27FC236}">
                <a16:creationId xmlns:a16="http://schemas.microsoft.com/office/drawing/2014/main" id="{FF5DDA2A-CAB6-1990-BA6A-A0F6B42E700D}"/>
              </a:ext>
            </a:extLst>
          </p:cNvPr>
          <p:cNvSpPr>
            <a:spLocks noGrp="1"/>
          </p:cNvSpPr>
          <p:nvPr/>
        </p:nvSpPr>
        <p:spPr>
          <a:xfrm>
            <a:off x="4000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9" name="metric-rule-2">
            <a:extLst>
              <a:ext uri="{FF2B5EF4-FFF2-40B4-BE49-F238E27FC236}">
                <a16:creationId xmlns:a16="http://schemas.microsoft.com/office/drawing/2014/main" id="{A6FB1C95-49DF-A36E-8B84-9DF34B838E66}"/>
              </a:ext>
            </a:extLst>
          </p:cNvPr>
          <p:cNvSpPr>
            <a:spLocks noGrp="1"/>
          </p:cNvSpPr>
          <p:nvPr/>
        </p:nvSpPr>
        <p:spPr>
          <a:xfrm>
            <a:off x="43243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20" name="metric-rule-3">
            <a:extLst>
              <a:ext uri="{FF2B5EF4-FFF2-40B4-BE49-F238E27FC236}">
                <a16:creationId xmlns:a16="http://schemas.microsoft.com/office/drawing/2014/main" id="{35530CD6-3F4F-F57D-85C4-08F279A1C064}"/>
              </a:ext>
            </a:extLst>
          </p:cNvPr>
          <p:cNvSpPr>
            <a:spLocks noGrp="1"/>
          </p:cNvSpPr>
          <p:nvPr/>
        </p:nvSpPr>
        <p:spPr>
          <a:xfrm>
            <a:off x="82486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21" name="step-body-1">
            <a:extLst>
              <a:ext uri="{FF2B5EF4-FFF2-40B4-BE49-F238E27FC236}">
                <a16:creationId xmlns:a16="http://schemas.microsoft.com/office/drawing/2014/main" id="{A35F879F-F430-7638-F686-6FE3B3B22FD1}"/>
              </a:ext>
            </a:extLst>
          </p:cNvPr>
          <p:cNvSpPr>
            <a:spLocks noGrp="1"/>
          </p:cNvSpPr>
          <p:nvPr/>
        </p:nvSpPr>
        <p:spPr>
          <a:xfrm>
            <a:off x="4000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Estruturação de controle de acessos com base nas melhores práticas de mercado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Gerencia e controle de dispositivos operacionais da equipe 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Implementação de agentes de IA para vigilância contínua dos sistemas, bases e acessos</a:t>
            </a:r>
          </a:p>
        </p:txBody>
      </p:sp>
      <p:sp>
        <p:nvSpPr>
          <p:cNvPr id="22" name="step-body-2">
            <a:extLst>
              <a:ext uri="{FF2B5EF4-FFF2-40B4-BE49-F238E27FC236}">
                <a16:creationId xmlns:a16="http://schemas.microsoft.com/office/drawing/2014/main" id="{F58763B9-5C8A-40F7-C0E7-E7A1551EE822}"/>
              </a:ext>
            </a:extLst>
          </p:cNvPr>
          <p:cNvSpPr>
            <a:spLocks noGrp="1"/>
          </p:cNvSpPr>
          <p:nvPr/>
        </p:nvSpPr>
        <p:spPr>
          <a:xfrm>
            <a:off x="43243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Levantamento de sistema e processos críticos para operação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Mapeamento e elaboração de matriz de desastre </a:t>
            </a:r>
            <a:r>
              <a:rPr lang="pt-BR" sz="1400" dirty="0" err="1">
                <a:solidFill>
                  <a:srgbClr val="333333"/>
                </a:solidFill>
                <a:latin typeface="Arial"/>
                <a:cs typeface="Arial"/>
              </a:rPr>
              <a:t>vs</a:t>
            </a: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 impacto para operação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Implementação do plano de </a:t>
            </a:r>
            <a:r>
              <a:rPr lang="pt-BR" sz="1400" dirty="0" err="1">
                <a:solidFill>
                  <a:srgbClr val="333333"/>
                </a:solidFill>
                <a:latin typeface="Arial"/>
                <a:cs typeface="Arial"/>
              </a:rPr>
              <a:t>Disaster</a:t>
            </a: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 Recovery, com definição do tempo de recuperação e ponto de recuperação</a:t>
            </a:r>
          </a:p>
          <a:p>
            <a:pPr marL="7937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</a:pPr>
            <a:endParaRPr lang="pt-BR" sz="1400" dirty="0">
              <a:solidFill>
                <a:srgbClr val="333333"/>
              </a:solidFill>
              <a:latin typeface="Arial"/>
              <a:cs typeface="Arial"/>
            </a:endParaRP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endParaRPr lang="pt-BR" sz="1400" dirty="0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23" name="step-body-3">
            <a:extLst>
              <a:ext uri="{FF2B5EF4-FFF2-40B4-BE49-F238E27FC236}">
                <a16:creationId xmlns:a16="http://schemas.microsoft.com/office/drawing/2014/main" id="{1B692A03-305C-DB9C-4FEE-01B6E1106D06}"/>
              </a:ext>
            </a:extLst>
          </p:cNvPr>
          <p:cNvSpPr>
            <a:spLocks noGrp="1"/>
          </p:cNvSpPr>
          <p:nvPr/>
        </p:nvSpPr>
        <p:spPr>
          <a:xfrm>
            <a:off x="82486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cs typeface="Arial"/>
              </a:rPr>
              <a:t>Educação e conscientização e dos </a:t>
            </a: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colaboradores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Estudo de seguros para mitigação do impacto financeiro de um ataque bem sucedido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Estruturação de sistema de teste antes do </a:t>
            </a:r>
            <a:r>
              <a:rPr lang="pt-BR" sz="1400" dirty="0" err="1">
                <a:solidFill>
                  <a:srgbClr val="333333"/>
                </a:solidFill>
                <a:latin typeface="Arial"/>
                <a:cs typeface="Arial"/>
              </a:rPr>
              <a:t>deploy</a:t>
            </a: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 com estresse de segurança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endParaRPr lang="pt-BR" sz="1400" dirty="0">
              <a:solidFill>
                <a:srgbClr val="333333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98361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53611-774A-9C52-C0CA-3AE255317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1A8E7-8F2F-5B3C-75B5-2A207D0B7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dirty="0"/>
              <a:t>Ações estruturantes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6467B-AE77-1BAE-008A-881F0EEBC3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noProof="1"/>
              <a:t>Estratégia</a:t>
            </a:r>
          </a:p>
          <a:p>
            <a:endParaRPr lang="en-B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0B578-2CE4-EFF7-4B4A-722A3202CF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21BCA-7B1F-E86E-5FAD-90FFC7EF12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7AAC15-5BBC-C233-7D2B-8F11AE51436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DEC200F-0323-D568-E27C-2F4A445CA50F}"/>
              </a:ext>
            </a:extLst>
          </p:cNvPr>
          <p:cNvSpPr>
            <a:spLocks noChangeAspect="1"/>
          </p:cNvSpPr>
          <p:nvPr/>
        </p:nvSpPr>
        <p:spPr>
          <a:xfrm>
            <a:off x="916341" y="3104445"/>
            <a:ext cx="1865066" cy="9369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 dirty="0">
                <a:solidFill>
                  <a:schemeClr val="bg1"/>
                </a:solidFill>
              </a:rPr>
              <a:t>Finanças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495675C-D57C-245C-9123-082504D48143}"/>
              </a:ext>
            </a:extLst>
          </p:cNvPr>
          <p:cNvSpPr>
            <a:spLocks noChangeAspect="1"/>
          </p:cNvSpPr>
          <p:nvPr/>
        </p:nvSpPr>
        <p:spPr>
          <a:xfrm>
            <a:off x="3035603" y="3104445"/>
            <a:ext cx="1865066" cy="9369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 dirty="0">
                <a:solidFill>
                  <a:schemeClr val="bg1"/>
                </a:solidFill>
              </a:rPr>
              <a:t>Operação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116A0C3-4B69-E58F-2FED-30B6912F2064}"/>
              </a:ext>
            </a:extLst>
          </p:cNvPr>
          <p:cNvSpPr>
            <a:spLocks noChangeAspect="1"/>
          </p:cNvSpPr>
          <p:nvPr/>
        </p:nvSpPr>
        <p:spPr>
          <a:xfrm>
            <a:off x="5154865" y="3104445"/>
            <a:ext cx="1865066" cy="936977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>
                <a:solidFill>
                  <a:schemeClr val="bg1"/>
                </a:solidFill>
              </a:rPr>
              <a:t>Receita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BBD0E19-5EC4-7795-81FA-D2008EADC8CE}"/>
              </a:ext>
            </a:extLst>
          </p:cNvPr>
          <p:cNvSpPr>
            <a:spLocks noChangeAspect="1"/>
          </p:cNvSpPr>
          <p:nvPr/>
        </p:nvSpPr>
        <p:spPr>
          <a:xfrm>
            <a:off x="7222717" y="3104445"/>
            <a:ext cx="1865066" cy="9369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 dirty="0">
                <a:solidFill>
                  <a:schemeClr val="bg1"/>
                </a:solidFill>
              </a:rPr>
              <a:t>Cliente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6A70A6C-4B91-4D4C-6874-9CF39FFC256E}"/>
              </a:ext>
            </a:extLst>
          </p:cNvPr>
          <p:cNvSpPr>
            <a:spLocks noChangeAspect="1"/>
          </p:cNvSpPr>
          <p:nvPr/>
        </p:nvSpPr>
        <p:spPr>
          <a:xfrm>
            <a:off x="9267719" y="3104445"/>
            <a:ext cx="1865066" cy="9369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>
                <a:solidFill>
                  <a:schemeClr val="bg1"/>
                </a:solidFill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449591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2D8F3-A484-6959-AF19-9A3B9B58F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41BDC60B-BF93-A0B1-7A74-15166A7913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1BDC60B-BF93-A0B1-7A74-15166A7913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F6667CE5-C4A5-0698-66D3-70E802D1D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Fortalecer o Pricing Power permite capturar valor de forma disciplinada, protegendo margens e ampliando a recorrência dos clientes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4C940FA-DFCC-617F-0656-260AA81FAC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ATY</a:t>
            </a:r>
          </a:p>
          <a:p>
            <a:endParaRPr lang="pt-BR" noProof="1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3A582DC4-B432-DF98-2C5A-FD41D7CE82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38EC7C2-03D6-0610-C8A2-506C446CA0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pt-BR" noProof="1"/>
              <a:t>Ações estruturantes – Receita - Pricing Power</a:t>
            </a:r>
          </a:p>
          <a:p>
            <a:endParaRPr lang="pt-BR" noProof="1"/>
          </a:p>
          <a:p>
            <a:endParaRPr lang="pt-BR" noProof="1"/>
          </a:p>
        </p:txBody>
      </p:sp>
      <p:sp>
        <p:nvSpPr>
          <p:cNvPr id="50" name="Disclaimer_Box">
            <a:extLst>
              <a:ext uri="{FF2B5EF4-FFF2-40B4-BE49-F238E27FC236}">
                <a16:creationId xmlns:a16="http://schemas.microsoft.com/office/drawing/2014/main" id="{5A0DB987-163F-27AF-9515-186254DC05AC}"/>
              </a:ext>
            </a:extLst>
          </p:cNvPr>
          <p:cNvSpPr txBox="1">
            <a:spLocks/>
          </p:cNvSpPr>
          <p:nvPr/>
        </p:nvSpPr>
        <p:spPr>
          <a:xfrm>
            <a:off x="9540697" y="1200149"/>
            <a:ext cx="231634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 sz="1200" b="1" kern="1200" baseline="0">
                <a:solidFill>
                  <a:schemeClr val="accent6"/>
                </a:solidFill>
                <a:latin typeface="Arial"/>
                <a:ea typeface="+mn-ea"/>
                <a:cs typeface="Arial"/>
              </a:defRPr>
            </a:lvl1pPr>
            <a:lvl2pPr marL="352425" marR="0" indent="-1651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9750" marR="0" indent="-1857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2" pitchFamily="18" charset="2"/>
              <a:buChar char=""/>
              <a:tabLst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712788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900113" marR="0" indent="-1857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</a:rPr>
              <a:t>Não Exaustivo | Para discussão</a:t>
            </a:r>
          </a:p>
        </p:txBody>
      </p:sp>
      <p:sp>
        <p:nvSpPr>
          <p:cNvPr id="4" name="step-circle-1">
            <a:extLst>
              <a:ext uri="{FF2B5EF4-FFF2-40B4-BE49-F238E27FC236}">
                <a16:creationId xmlns:a16="http://schemas.microsoft.com/office/drawing/2014/main" id="{940AC6E1-AF43-6675-D0B6-7A9BAB7F535B}"/>
              </a:ext>
            </a:extLst>
          </p:cNvPr>
          <p:cNvSpPr>
            <a:spLocks noGrp="1"/>
          </p:cNvSpPr>
          <p:nvPr/>
        </p:nvSpPr>
        <p:spPr>
          <a:xfrm>
            <a:off x="4000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1</a:t>
            </a:r>
          </a:p>
        </p:txBody>
      </p:sp>
      <p:sp>
        <p:nvSpPr>
          <p:cNvPr id="8" name="step-title-1">
            <a:extLst>
              <a:ext uri="{FF2B5EF4-FFF2-40B4-BE49-F238E27FC236}">
                <a16:creationId xmlns:a16="http://schemas.microsoft.com/office/drawing/2014/main" id="{ED89612E-A4A5-7C54-B509-81D6F2DEE212}"/>
              </a:ext>
            </a:extLst>
          </p:cNvPr>
          <p:cNvSpPr>
            <a:spLocks noGrp="1"/>
          </p:cNvSpPr>
          <p:nvPr/>
        </p:nvSpPr>
        <p:spPr>
          <a:xfrm>
            <a:off x="9617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Políticas de precificação</a:t>
            </a:r>
          </a:p>
        </p:txBody>
      </p:sp>
      <p:sp>
        <p:nvSpPr>
          <p:cNvPr id="11" name="step-metric-1">
            <a:extLst>
              <a:ext uri="{FF2B5EF4-FFF2-40B4-BE49-F238E27FC236}">
                <a16:creationId xmlns:a16="http://schemas.microsoft.com/office/drawing/2014/main" id="{8515BF7A-2E4C-7ED4-86E3-850E1FB35F87}"/>
              </a:ext>
            </a:extLst>
          </p:cNvPr>
          <p:cNvSpPr>
            <a:spLocks noGrp="1"/>
          </p:cNvSpPr>
          <p:nvPr/>
        </p:nvSpPr>
        <p:spPr>
          <a:xfrm>
            <a:off x="400050" y="3263072"/>
            <a:ext cx="3599194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Prever </a:t>
            </a:r>
            <a:r>
              <a:rPr lang="pt-BR" sz="2400" b="1" spc="-30" dirty="0" err="1">
                <a:latin typeface="Abadi" panose="020B0604020104020204" pitchFamily="34" charset="77"/>
                <a:cs typeface="Arial"/>
              </a:rPr>
              <a:t>guardrails</a:t>
            </a:r>
            <a:endParaRPr lang="pt-BR" sz="2400" b="1" spc="-30" dirty="0">
              <a:latin typeface="Abadi" panose="020B0604020104020204" pitchFamily="34" charset="77"/>
              <a:cs typeface="Arial"/>
            </a:endParaRPr>
          </a:p>
        </p:txBody>
      </p:sp>
      <p:sp>
        <p:nvSpPr>
          <p:cNvPr id="12" name="metric-rule-1">
            <a:extLst>
              <a:ext uri="{FF2B5EF4-FFF2-40B4-BE49-F238E27FC236}">
                <a16:creationId xmlns:a16="http://schemas.microsoft.com/office/drawing/2014/main" id="{77CDFBAF-CE16-66DF-8944-8F4488F76775}"/>
              </a:ext>
            </a:extLst>
          </p:cNvPr>
          <p:cNvSpPr>
            <a:spLocks noGrp="1"/>
          </p:cNvSpPr>
          <p:nvPr/>
        </p:nvSpPr>
        <p:spPr>
          <a:xfrm>
            <a:off x="4000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3" name="step-body-1">
            <a:extLst>
              <a:ext uri="{FF2B5EF4-FFF2-40B4-BE49-F238E27FC236}">
                <a16:creationId xmlns:a16="http://schemas.microsoft.com/office/drawing/2014/main" id="{65419780-B71D-87C6-88DF-AC00AF5A42F3}"/>
              </a:ext>
            </a:extLst>
          </p:cNvPr>
          <p:cNvSpPr>
            <a:spLocks noGrp="1"/>
          </p:cNvSpPr>
          <p:nvPr/>
        </p:nvSpPr>
        <p:spPr>
          <a:xfrm>
            <a:off x="4000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Definir parâmetros mínimos de margem e rentabilidade por perfil de negócio, segmentação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Estabelecer alçadas para descontos e exceções comerciais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Decompor alavancas de custo e preço para elaboração da política</a:t>
            </a:r>
          </a:p>
        </p:txBody>
      </p:sp>
      <p:sp>
        <p:nvSpPr>
          <p:cNvPr id="14" name="step-circle-2">
            <a:extLst>
              <a:ext uri="{FF2B5EF4-FFF2-40B4-BE49-F238E27FC236}">
                <a16:creationId xmlns:a16="http://schemas.microsoft.com/office/drawing/2014/main" id="{8BC41E5E-41A0-95EB-DF29-5D419BD5C46F}"/>
              </a:ext>
            </a:extLst>
          </p:cNvPr>
          <p:cNvSpPr>
            <a:spLocks noGrp="1"/>
          </p:cNvSpPr>
          <p:nvPr/>
        </p:nvSpPr>
        <p:spPr>
          <a:xfrm>
            <a:off x="43243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2</a:t>
            </a:r>
          </a:p>
        </p:txBody>
      </p:sp>
      <p:sp>
        <p:nvSpPr>
          <p:cNvPr id="15" name="step-title-2">
            <a:extLst>
              <a:ext uri="{FF2B5EF4-FFF2-40B4-BE49-F238E27FC236}">
                <a16:creationId xmlns:a16="http://schemas.microsoft.com/office/drawing/2014/main" id="{A100901C-D2F5-8644-1B16-F515E3308A57}"/>
              </a:ext>
            </a:extLst>
          </p:cNvPr>
          <p:cNvSpPr>
            <a:spLocks noGrp="1"/>
          </p:cNvSpPr>
          <p:nvPr/>
        </p:nvSpPr>
        <p:spPr>
          <a:xfrm>
            <a:off x="48860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Captura de valor</a:t>
            </a:r>
          </a:p>
        </p:txBody>
      </p:sp>
      <p:sp>
        <p:nvSpPr>
          <p:cNvPr id="16" name="step-metric-2">
            <a:extLst>
              <a:ext uri="{FF2B5EF4-FFF2-40B4-BE49-F238E27FC236}">
                <a16:creationId xmlns:a16="http://schemas.microsoft.com/office/drawing/2014/main" id="{51A0A6FB-1A50-C280-65B9-0CE1A7C0C62C}"/>
              </a:ext>
            </a:extLst>
          </p:cNvPr>
          <p:cNvSpPr>
            <a:spLocks noGrp="1"/>
          </p:cNvSpPr>
          <p:nvPr/>
        </p:nvSpPr>
        <p:spPr>
          <a:xfrm>
            <a:off x="4324350" y="3263072"/>
            <a:ext cx="333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Focar em rentabilidade</a:t>
            </a:r>
          </a:p>
        </p:txBody>
      </p:sp>
      <p:sp>
        <p:nvSpPr>
          <p:cNvPr id="17" name="metric-rule-2">
            <a:extLst>
              <a:ext uri="{FF2B5EF4-FFF2-40B4-BE49-F238E27FC236}">
                <a16:creationId xmlns:a16="http://schemas.microsoft.com/office/drawing/2014/main" id="{B211228D-91F1-3950-42F7-BECC4FA03E22}"/>
              </a:ext>
            </a:extLst>
          </p:cNvPr>
          <p:cNvSpPr>
            <a:spLocks noGrp="1"/>
          </p:cNvSpPr>
          <p:nvPr/>
        </p:nvSpPr>
        <p:spPr>
          <a:xfrm>
            <a:off x="43243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8" name="step-body-2">
            <a:extLst>
              <a:ext uri="{FF2B5EF4-FFF2-40B4-BE49-F238E27FC236}">
                <a16:creationId xmlns:a16="http://schemas.microsoft.com/office/drawing/2014/main" id="{4F1C01F4-C9B7-DB0F-D2B0-F581EB1EB90C}"/>
              </a:ext>
            </a:extLst>
          </p:cNvPr>
          <p:cNvSpPr>
            <a:spLocks noGrp="1"/>
          </p:cNvSpPr>
          <p:nvPr/>
        </p:nvSpPr>
        <p:spPr>
          <a:xfrm>
            <a:off x="43243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Garantir acesso à melhor condição de compra disponível antes da formação do preço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Monitorar preço cheio × contratado × praticado, identificando perda de valor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Mensurar ganho potencial versus ganho efetivamente capturado</a:t>
            </a:r>
          </a:p>
        </p:txBody>
      </p:sp>
      <p:sp>
        <p:nvSpPr>
          <p:cNvPr id="19" name="step-circle-3">
            <a:extLst>
              <a:ext uri="{FF2B5EF4-FFF2-40B4-BE49-F238E27FC236}">
                <a16:creationId xmlns:a16="http://schemas.microsoft.com/office/drawing/2014/main" id="{A20DE04B-1E06-05EA-770F-72A54B559EAB}"/>
              </a:ext>
            </a:extLst>
          </p:cNvPr>
          <p:cNvSpPr>
            <a:spLocks noGrp="1"/>
          </p:cNvSpPr>
          <p:nvPr/>
        </p:nvSpPr>
        <p:spPr>
          <a:xfrm>
            <a:off x="82486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3</a:t>
            </a:r>
          </a:p>
        </p:txBody>
      </p:sp>
      <p:sp>
        <p:nvSpPr>
          <p:cNvPr id="20" name="step-title-3">
            <a:extLst>
              <a:ext uri="{FF2B5EF4-FFF2-40B4-BE49-F238E27FC236}">
                <a16:creationId xmlns:a16="http://schemas.microsoft.com/office/drawing/2014/main" id="{D3BE7061-0B95-DA75-892E-5DF604AD19D4}"/>
              </a:ext>
            </a:extLst>
          </p:cNvPr>
          <p:cNvSpPr>
            <a:spLocks noGrp="1"/>
          </p:cNvSpPr>
          <p:nvPr/>
        </p:nvSpPr>
        <p:spPr>
          <a:xfrm>
            <a:off x="88103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Expansão da base</a:t>
            </a:r>
          </a:p>
        </p:txBody>
      </p:sp>
      <p:sp>
        <p:nvSpPr>
          <p:cNvPr id="21" name="step-metric-3">
            <a:extLst>
              <a:ext uri="{FF2B5EF4-FFF2-40B4-BE49-F238E27FC236}">
                <a16:creationId xmlns:a16="http://schemas.microsoft.com/office/drawing/2014/main" id="{A291389C-2EF0-74B6-9C5A-594EB678C135}"/>
              </a:ext>
            </a:extLst>
          </p:cNvPr>
          <p:cNvSpPr>
            <a:spLocks noGrp="1"/>
          </p:cNvSpPr>
          <p:nvPr/>
        </p:nvSpPr>
        <p:spPr>
          <a:xfrm>
            <a:off x="8248649" y="3263072"/>
            <a:ext cx="3608387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Aumento de </a:t>
            </a:r>
            <a:r>
              <a:rPr lang="pt-BR" sz="2400" b="1" spc="-30" dirty="0" err="1">
                <a:latin typeface="Abadi" panose="020B0604020104020204" pitchFamily="34" charset="77"/>
                <a:cs typeface="Arial"/>
              </a:rPr>
              <a:t>share</a:t>
            </a:r>
            <a:endParaRPr lang="pt-BR" sz="2400" b="1" spc="-30" dirty="0">
              <a:latin typeface="Abadi" panose="020B0604020104020204" pitchFamily="34" charset="77"/>
              <a:cs typeface="Arial"/>
            </a:endParaRPr>
          </a:p>
        </p:txBody>
      </p:sp>
      <p:sp>
        <p:nvSpPr>
          <p:cNvPr id="22" name="metric-rule-3">
            <a:extLst>
              <a:ext uri="{FF2B5EF4-FFF2-40B4-BE49-F238E27FC236}">
                <a16:creationId xmlns:a16="http://schemas.microsoft.com/office/drawing/2014/main" id="{3E7E0F4B-6FE1-4EA9-2EF2-CF3E1259CA3F}"/>
              </a:ext>
            </a:extLst>
          </p:cNvPr>
          <p:cNvSpPr>
            <a:spLocks noGrp="1"/>
          </p:cNvSpPr>
          <p:nvPr/>
        </p:nvSpPr>
        <p:spPr>
          <a:xfrm>
            <a:off x="82486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23" name="step-body-3">
            <a:extLst>
              <a:ext uri="{FF2B5EF4-FFF2-40B4-BE49-F238E27FC236}">
                <a16:creationId xmlns:a16="http://schemas.microsoft.com/office/drawing/2014/main" id="{9934F484-96CF-5263-5884-2434DB1AC709}"/>
              </a:ext>
            </a:extLst>
          </p:cNvPr>
          <p:cNvSpPr>
            <a:spLocks noGrp="1"/>
          </p:cNvSpPr>
          <p:nvPr/>
        </p:nvSpPr>
        <p:spPr>
          <a:xfrm>
            <a:off x="82486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Vincular concessões comerciais a contrapartidas de volume, recorrência e </a:t>
            </a:r>
            <a:r>
              <a:rPr lang="pt-BR" sz="1400" dirty="0" err="1">
                <a:solidFill>
                  <a:srgbClr val="333333"/>
                </a:solidFill>
                <a:latin typeface="Arial"/>
                <a:cs typeface="Arial"/>
              </a:rPr>
              <a:t>share</a:t>
            </a: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pt-BR" sz="1400" dirty="0" err="1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 wallet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Direcionar volumes para acordos e consolidadas DMS quando economicamente vantajoso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Usar </a:t>
            </a:r>
            <a:r>
              <a:rPr lang="pt-BR" sz="1400" dirty="0" err="1">
                <a:solidFill>
                  <a:srgbClr val="333333"/>
                </a:solidFill>
                <a:latin typeface="Arial"/>
                <a:cs typeface="Arial"/>
              </a:rPr>
              <a:t>pricing</a:t>
            </a: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 como alavanca de expansão da carteira, preservando a rentabilidade</a:t>
            </a:r>
          </a:p>
        </p:txBody>
      </p:sp>
      <p:sp>
        <p:nvSpPr>
          <p:cNvPr id="25" name="objective-band">
            <a:extLst>
              <a:ext uri="{FF2B5EF4-FFF2-40B4-BE49-F238E27FC236}">
                <a16:creationId xmlns:a16="http://schemas.microsoft.com/office/drawing/2014/main" id="{D0C78E35-AB5E-EEF3-915C-CFB2E87C41D4}"/>
              </a:ext>
            </a:extLst>
          </p:cNvPr>
          <p:cNvSpPr>
            <a:spLocks noGrp="1"/>
          </p:cNvSpPr>
          <p:nvPr/>
        </p:nvSpPr>
        <p:spPr>
          <a:xfrm>
            <a:off x="335998" y="1616891"/>
            <a:ext cx="9972000" cy="714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 lIns="1692000" anchor="ctr"/>
          <a:lstStyle/>
          <a:p>
            <a:pPr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b="1" dirty="0">
                <a:solidFill>
                  <a:srgbClr val="0B1220"/>
                </a:solidFill>
                <a:latin typeface="Abadi" panose="020B0604020104020204" pitchFamily="34" charset="77"/>
                <a:ea typeface="Arial"/>
                <a:cs typeface="Arial"/>
              </a:rPr>
              <a:t>Construir políticas e mecanismos de precificação (compra e venda) que garantam captura de valor e sustentabilidade das margens.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ECC5BD9-3B22-AAB4-0C7D-974EC0FF6D7E}"/>
              </a:ext>
            </a:extLst>
          </p:cNvPr>
          <p:cNvSpPr/>
          <p:nvPr/>
        </p:nvSpPr>
        <p:spPr>
          <a:xfrm>
            <a:off x="341322" y="1601598"/>
            <a:ext cx="1515836" cy="71469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Pricing Power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AEADAC4-D16B-D386-EB73-DD799B35F479}"/>
              </a:ext>
            </a:extLst>
          </p:cNvPr>
          <p:cNvSpPr/>
          <p:nvPr/>
        </p:nvSpPr>
        <p:spPr>
          <a:xfrm>
            <a:off x="10476089" y="1609244"/>
            <a:ext cx="1380948" cy="714699"/>
          </a:xfrm>
          <a:prstGeom prst="roundRect">
            <a:avLst/>
          </a:prstGeom>
          <a:solidFill>
            <a:srgbClr val="E36800"/>
          </a:solidFill>
          <a:ln w="11430">
            <a:solidFill>
              <a:srgbClr val="E368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CCO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543438-5BC3-DD0C-603E-F7C613BD769F}"/>
              </a:ext>
            </a:extLst>
          </p:cNvPr>
          <p:cNvSpPr/>
          <p:nvPr/>
        </p:nvSpPr>
        <p:spPr>
          <a:xfrm>
            <a:off x="10341201" y="296016"/>
            <a:ext cx="1515836" cy="246735"/>
          </a:xfrm>
          <a:prstGeom prst="rect">
            <a:avLst/>
          </a:prstGeom>
          <a:solidFill>
            <a:schemeClr val="accent1"/>
          </a:solidFill>
          <a:ln w="11430">
            <a:solidFill>
              <a:schemeClr val="accent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Receita</a:t>
            </a:r>
          </a:p>
        </p:txBody>
      </p:sp>
    </p:spTree>
    <p:extLst>
      <p:ext uri="{BB962C8B-B14F-4D97-AF65-F5344CB8AC3E}">
        <p14:creationId xmlns:p14="http://schemas.microsoft.com/office/powerpoint/2010/main" val="77056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E631C-B3E7-718B-8859-483EFA9CB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FF29FD66-2D37-68AC-EDC8-0B4E7F79390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29FD66-2D37-68AC-EDC8-0B4E7F7939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B50F04A3-A37E-0349-2FFC-EBB83C1E9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Excelência comercial deve direcionar os esforços para as oportunidades de maior potencial e garantir disciplina na execução para acelerar o crescimento da receita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3D015E5-1749-CAC8-C6AF-6C0E69EA77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ATY</a:t>
            </a:r>
          </a:p>
          <a:p>
            <a:endParaRPr lang="pt-BR" noProof="1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5FF1B8B7-5487-294A-195E-76005A7C9D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CCAB7AB-99C5-4492-7FAC-516E1B602E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pt-BR" noProof="1"/>
              <a:t>Ações estruturantes – Receita - Excelência Comercial</a:t>
            </a:r>
          </a:p>
          <a:p>
            <a:endParaRPr lang="pt-BR" noProof="1"/>
          </a:p>
          <a:p>
            <a:endParaRPr lang="pt-BR" noProof="1"/>
          </a:p>
        </p:txBody>
      </p:sp>
      <p:sp>
        <p:nvSpPr>
          <p:cNvPr id="50" name="Disclaimer_Box">
            <a:extLst>
              <a:ext uri="{FF2B5EF4-FFF2-40B4-BE49-F238E27FC236}">
                <a16:creationId xmlns:a16="http://schemas.microsoft.com/office/drawing/2014/main" id="{59EE0735-F0FF-087C-75C7-6606DACD9F4C}"/>
              </a:ext>
            </a:extLst>
          </p:cNvPr>
          <p:cNvSpPr txBox="1">
            <a:spLocks/>
          </p:cNvSpPr>
          <p:nvPr/>
        </p:nvSpPr>
        <p:spPr>
          <a:xfrm>
            <a:off x="9540697" y="1200149"/>
            <a:ext cx="231634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 sz="1200" b="1" kern="1200" baseline="0">
                <a:solidFill>
                  <a:schemeClr val="accent6"/>
                </a:solidFill>
                <a:latin typeface="Arial"/>
                <a:ea typeface="+mn-ea"/>
                <a:cs typeface="Arial"/>
              </a:defRPr>
            </a:lvl1pPr>
            <a:lvl2pPr marL="352425" marR="0" indent="-1651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9750" marR="0" indent="-1857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2" pitchFamily="18" charset="2"/>
              <a:buChar char=""/>
              <a:tabLst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712788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900113" marR="0" indent="-1857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</a:rPr>
              <a:t>Não Exaustivo | Para discussão</a:t>
            </a:r>
          </a:p>
        </p:txBody>
      </p:sp>
      <p:sp>
        <p:nvSpPr>
          <p:cNvPr id="4" name="step-circle-1">
            <a:extLst>
              <a:ext uri="{FF2B5EF4-FFF2-40B4-BE49-F238E27FC236}">
                <a16:creationId xmlns:a16="http://schemas.microsoft.com/office/drawing/2014/main" id="{5E95E7EC-BD35-2B03-F7AD-3176BACC20A1}"/>
              </a:ext>
            </a:extLst>
          </p:cNvPr>
          <p:cNvSpPr>
            <a:spLocks noGrp="1"/>
          </p:cNvSpPr>
          <p:nvPr/>
        </p:nvSpPr>
        <p:spPr>
          <a:xfrm>
            <a:off x="4000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1</a:t>
            </a:r>
          </a:p>
        </p:txBody>
      </p:sp>
      <p:sp>
        <p:nvSpPr>
          <p:cNvPr id="8" name="step-title-1">
            <a:extLst>
              <a:ext uri="{FF2B5EF4-FFF2-40B4-BE49-F238E27FC236}">
                <a16:creationId xmlns:a16="http://schemas.microsoft.com/office/drawing/2014/main" id="{B9A39B12-8FDD-3FF2-81EC-8E4E92D791C4}"/>
              </a:ext>
            </a:extLst>
          </p:cNvPr>
          <p:cNvSpPr>
            <a:spLocks noGrp="1"/>
          </p:cNvSpPr>
          <p:nvPr/>
        </p:nvSpPr>
        <p:spPr>
          <a:xfrm>
            <a:off x="9617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Estratégia comercial</a:t>
            </a:r>
          </a:p>
        </p:txBody>
      </p:sp>
      <p:sp>
        <p:nvSpPr>
          <p:cNvPr id="11" name="step-metric-1">
            <a:extLst>
              <a:ext uri="{FF2B5EF4-FFF2-40B4-BE49-F238E27FC236}">
                <a16:creationId xmlns:a16="http://schemas.microsoft.com/office/drawing/2014/main" id="{29D58AE5-7051-867B-DC5D-9E85CE13CB6E}"/>
              </a:ext>
            </a:extLst>
          </p:cNvPr>
          <p:cNvSpPr>
            <a:spLocks noGrp="1"/>
          </p:cNvSpPr>
          <p:nvPr/>
        </p:nvSpPr>
        <p:spPr>
          <a:xfrm>
            <a:off x="400050" y="3263072"/>
            <a:ext cx="3599194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Capturar </a:t>
            </a:r>
            <a:r>
              <a:rPr lang="pt-BR" sz="2400" b="1" spc="-30" dirty="0" err="1">
                <a:latin typeface="Abadi" panose="020B0604020104020204" pitchFamily="34" charset="77"/>
                <a:cs typeface="Arial"/>
              </a:rPr>
              <a:t>market</a:t>
            </a:r>
            <a:r>
              <a:rPr lang="pt-BR" sz="2400" b="1" spc="-30" dirty="0">
                <a:latin typeface="Abadi" panose="020B0604020104020204" pitchFamily="34" charset="77"/>
                <a:cs typeface="Arial"/>
              </a:rPr>
              <a:t> </a:t>
            </a:r>
            <a:r>
              <a:rPr lang="pt-BR" sz="2400" b="1" spc="-30" dirty="0" err="1">
                <a:latin typeface="Abadi" panose="020B0604020104020204" pitchFamily="34" charset="77"/>
                <a:cs typeface="Arial"/>
              </a:rPr>
              <a:t>share</a:t>
            </a:r>
            <a:endParaRPr lang="pt-BR" sz="2400" b="1" spc="-30" dirty="0">
              <a:latin typeface="Abadi" panose="020B0604020104020204" pitchFamily="34" charset="77"/>
              <a:cs typeface="Arial"/>
            </a:endParaRPr>
          </a:p>
        </p:txBody>
      </p:sp>
      <p:sp>
        <p:nvSpPr>
          <p:cNvPr id="12" name="metric-rule-1">
            <a:extLst>
              <a:ext uri="{FF2B5EF4-FFF2-40B4-BE49-F238E27FC236}">
                <a16:creationId xmlns:a16="http://schemas.microsoft.com/office/drawing/2014/main" id="{CAC559B0-5CFB-FA1D-C4B5-E32812478C16}"/>
              </a:ext>
            </a:extLst>
          </p:cNvPr>
          <p:cNvSpPr>
            <a:spLocks noGrp="1"/>
          </p:cNvSpPr>
          <p:nvPr/>
        </p:nvSpPr>
        <p:spPr>
          <a:xfrm>
            <a:off x="4000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3" name="step-body-1">
            <a:extLst>
              <a:ext uri="{FF2B5EF4-FFF2-40B4-BE49-F238E27FC236}">
                <a16:creationId xmlns:a16="http://schemas.microsoft.com/office/drawing/2014/main" id="{DC833342-2A9E-7109-562D-536F525616E7}"/>
              </a:ext>
            </a:extLst>
          </p:cNvPr>
          <p:cNvSpPr>
            <a:spLocks noGrp="1"/>
          </p:cNvSpPr>
          <p:nvPr/>
        </p:nvSpPr>
        <p:spPr>
          <a:xfrm>
            <a:off x="4000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Identificar MS por indústrias, segmentos e mapear maior potencial de crescimento e rentabilidade</a:t>
            </a:r>
          </a:p>
          <a:p>
            <a:pPr marL="139700" indent="-13176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Estruturar planos de contas estratégicas, definindo objetivos de aquisição, penetração e </a:t>
            </a:r>
            <a:r>
              <a:rPr lang="pt-BR" sz="1400" dirty="0" err="1">
                <a:solidFill>
                  <a:srgbClr val="333333"/>
                </a:solidFill>
                <a:latin typeface="Arial"/>
                <a:cs typeface="Arial"/>
              </a:rPr>
              <a:t>share</a:t>
            </a:r>
            <a:endParaRPr lang="pt-BR" sz="1400" dirty="0">
              <a:solidFill>
                <a:srgbClr val="333333"/>
              </a:solidFill>
              <a:latin typeface="Arial"/>
              <a:cs typeface="Arial"/>
            </a:endParaRPr>
          </a:p>
          <a:p>
            <a:pPr marL="139700" indent="-13176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chemeClr val="tx1"/>
                </a:solidFill>
                <a:latin typeface="Arial"/>
                <a:cs typeface="Arial"/>
              </a:rPr>
              <a:t>Aumentar presença em clientes validados, com relacionamento gerando leads </a:t>
            </a:r>
          </a:p>
          <a:p>
            <a:pPr marL="139700" indent="-13176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chemeClr val="tx2">
                    <a:lumMod val="50000"/>
                  </a:schemeClr>
                </a:solidFill>
                <a:latin typeface="Arial"/>
                <a:cs typeface="Arial"/>
              </a:rPr>
              <a:t>Mapear oportunidades de </a:t>
            </a:r>
            <a:r>
              <a:rPr lang="pt-BR" sz="1400" dirty="0" err="1">
                <a:solidFill>
                  <a:schemeClr val="tx2">
                    <a:lumMod val="50000"/>
                  </a:schemeClr>
                </a:solidFill>
                <a:latin typeface="Arial"/>
                <a:cs typeface="Arial"/>
              </a:rPr>
              <a:t>SVAs</a:t>
            </a:r>
            <a:r>
              <a:rPr lang="pt-BR" sz="1400" dirty="0">
                <a:solidFill>
                  <a:schemeClr val="tx2">
                    <a:lumMod val="50000"/>
                  </a:schemeClr>
                </a:solidFill>
                <a:latin typeface="Arial"/>
                <a:cs typeface="Arial"/>
              </a:rPr>
              <a:t> na base atual e em novos clientes</a:t>
            </a:r>
          </a:p>
        </p:txBody>
      </p:sp>
      <p:sp>
        <p:nvSpPr>
          <p:cNvPr id="14" name="step-circle-2">
            <a:extLst>
              <a:ext uri="{FF2B5EF4-FFF2-40B4-BE49-F238E27FC236}">
                <a16:creationId xmlns:a16="http://schemas.microsoft.com/office/drawing/2014/main" id="{B78C5E46-9AF2-BDE9-F9A4-20A5AAA4A2B2}"/>
              </a:ext>
            </a:extLst>
          </p:cNvPr>
          <p:cNvSpPr>
            <a:spLocks noGrp="1"/>
          </p:cNvSpPr>
          <p:nvPr/>
        </p:nvSpPr>
        <p:spPr>
          <a:xfrm>
            <a:off x="43243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2</a:t>
            </a:r>
          </a:p>
        </p:txBody>
      </p:sp>
      <p:sp>
        <p:nvSpPr>
          <p:cNvPr id="15" name="step-title-2">
            <a:extLst>
              <a:ext uri="{FF2B5EF4-FFF2-40B4-BE49-F238E27FC236}">
                <a16:creationId xmlns:a16="http://schemas.microsoft.com/office/drawing/2014/main" id="{1324BF56-1794-4021-C46E-E5520986A42E}"/>
              </a:ext>
            </a:extLst>
          </p:cNvPr>
          <p:cNvSpPr>
            <a:spLocks noGrp="1"/>
          </p:cNvSpPr>
          <p:nvPr/>
        </p:nvSpPr>
        <p:spPr>
          <a:xfrm>
            <a:off x="48860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Políticas comerciais</a:t>
            </a:r>
          </a:p>
        </p:txBody>
      </p:sp>
      <p:sp>
        <p:nvSpPr>
          <p:cNvPr id="16" name="step-metric-2">
            <a:extLst>
              <a:ext uri="{FF2B5EF4-FFF2-40B4-BE49-F238E27FC236}">
                <a16:creationId xmlns:a16="http://schemas.microsoft.com/office/drawing/2014/main" id="{8BD04AB4-CDA3-E93D-7F45-4A5BD4207785}"/>
              </a:ext>
            </a:extLst>
          </p:cNvPr>
          <p:cNvSpPr>
            <a:spLocks noGrp="1"/>
          </p:cNvSpPr>
          <p:nvPr/>
        </p:nvSpPr>
        <p:spPr>
          <a:xfrm>
            <a:off x="4324350" y="3263072"/>
            <a:ext cx="333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Priorização do comercial</a:t>
            </a:r>
          </a:p>
        </p:txBody>
      </p:sp>
      <p:sp>
        <p:nvSpPr>
          <p:cNvPr id="17" name="metric-rule-2">
            <a:extLst>
              <a:ext uri="{FF2B5EF4-FFF2-40B4-BE49-F238E27FC236}">
                <a16:creationId xmlns:a16="http://schemas.microsoft.com/office/drawing/2014/main" id="{C6B123EB-907A-4742-D5D7-2FBB9299A745}"/>
              </a:ext>
            </a:extLst>
          </p:cNvPr>
          <p:cNvSpPr>
            <a:spLocks noGrp="1"/>
          </p:cNvSpPr>
          <p:nvPr/>
        </p:nvSpPr>
        <p:spPr>
          <a:xfrm>
            <a:off x="43243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8" name="step-body-2">
            <a:extLst>
              <a:ext uri="{FF2B5EF4-FFF2-40B4-BE49-F238E27FC236}">
                <a16:creationId xmlns:a16="http://schemas.microsoft.com/office/drawing/2014/main" id="{1DE2AD3A-C6B6-540A-F01F-2BF7283A4F13}"/>
              </a:ext>
            </a:extLst>
          </p:cNvPr>
          <p:cNvSpPr>
            <a:spLocks noGrp="1"/>
          </p:cNvSpPr>
          <p:nvPr/>
        </p:nvSpPr>
        <p:spPr>
          <a:xfrm>
            <a:off x="43243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Definir critérios objetivos de priorização considerando potencial, margem, recorrência e probabilidade de conversão</a:t>
            </a:r>
          </a:p>
          <a:p>
            <a:pPr marL="139700" indent="-13176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chemeClr val="tx1"/>
                </a:solidFill>
                <a:latin typeface="Arial"/>
                <a:cs typeface="Arial"/>
              </a:rPr>
              <a:t>Padronizar metodologia e cadência comercial</a:t>
            </a:r>
          </a:p>
          <a:p>
            <a:pPr marL="139700" indent="-13176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chemeClr val="tx2">
                    <a:lumMod val="50000"/>
                  </a:schemeClr>
                </a:solidFill>
                <a:latin typeface="Arial"/>
                <a:cs typeface="Arial"/>
              </a:rPr>
              <a:t>Definir modelo comercial e critérios de qualificação para </a:t>
            </a:r>
            <a:r>
              <a:rPr lang="pt-BR" sz="1400" dirty="0" err="1">
                <a:solidFill>
                  <a:schemeClr val="tx2">
                    <a:lumMod val="50000"/>
                  </a:schemeClr>
                </a:solidFill>
                <a:latin typeface="Arial"/>
                <a:cs typeface="Arial"/>
              </a:rPr>
              <a:t>SVAs</a:t>
            </a:r>
            <a:r>
              <a:rPr lang="pt-BR" sz="1400" dirty="0">
                <a:solidFill>
                  <a:schemeClr val="tx2">
                    <a:lumMod val="50000"/>
                  </a:schemeClr>
                </a:solidFill>
                <a:latin typeface="Arial"/>
                <a:cs typeface="Arial"/>
              </a:rPr>
              <a:t>, incluindo escopo, </a:t>
            </a:r>
            <a:r>
              <a:rPr lang="pt-BR" sz="1400" dirty="0" err="1">
                <a:solidFill>
                  <a:schemeClr val="tx2">
                    <a:lumMod val="50000"/>
                  </a:schemeClr>
                </a:solidFill>
                <a:latin typeface="Arial"/>
                <a:cs typeface="Arial"/>
              </a:rPr>
              <a:t>pricing</a:t>
            </a:r>
            <a:r>
              <a:rPr lang="pt-BR" sz="1400" dirty="0">
                <a:solidFill>
                  <a:schemeClr val="tx2">
                    <a:lumMod val="50000"/>
                  </a:schemeClr>
                </a:solidFill>
                <a:latin typeface="Arial"/>
                <a:cs typeface="Arial"/>
              </a:rPr>
              <a:t>, capacidade operacional e rentabilidade</a:t>
            </a:r>
          </a:p>
        </p:txBody>
      </p:sp>
      <p:sp>
        <p:nvSpPr>
          <p:cNvPr id="19" name="step-circle-3">
            <a:extLst>
              <a:ext uri="{FF2B5EF4-FFF2-40B4-BE49-F238E27FC236}">
                <a16:creationId xmlns:a16="http://schemas.microsoft.com/office/drawing/2014/main" id="{64DD74E8-BC58-86EF-E329-67D9F6CCD6DC}"/>
              </a:ext>
            </a:extLst>
          </p:cNvPr>
          <p:cNvSpPr>
            <a:spLocks noGrp="1"/>
          </p:cNvSpPr>
          <p:nvPr/>
        </p:nvSpPr>
        <p:spPr>
          <a:xfrm>
            <a:off x="82486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3</a:t>
            </a:r>
          </a:p>
        </p:txBody>
      </p:sp>
      <p:sp>
        <p:nvSpPr>
          <p:cNvPr id="20" name="step-title-3">
            <a:extLst>
              <a:ext uri="{FF2B5EF4-FFF2-40B4-BE49-F238E27FC236}">
                <a16:creationId xmlns:a16="http://schemas.microsoft.com/office/drawing/2014/main" id="{198C4A26-AE9A-D408-1DFE-9E5CAF744104}"/>
              </a:ext>
            </a:extLst>
          </p:cNvPr>
          <p:cNvSpPr>
            <a:spLocks noGrp="1"/>
          </p:cNvSpPr>
          <p:nvPr/>
        </p:nvSpPr>
        <p:spPr>
          <a:xfrm>
            <a:off x="88103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Gestão dos resultados</a:t>
            </a:r>
          </a:p>
        </p:txBody>
      </p:sp>
      <p:sp>
        <p:nvSpPr>
          <p:cNvPr id="21" name="step-metric-3">
            <a:extLst>
              <a:ext uri="{FF2B5EF4-FFF2-40B4-BE49-F238E27FC236}">
                <a16:creationId xmlns:a16="http://schemas.microsoft.com/office/drawing/2014/main" id="{2674ECEE-536C-99C8-4FDF-29E15932D03F}"/>
              </a:ext>
            </a:extLst>
          </p:cNvPr>
          <p:cNvSpPr>
            <a:spLocks noGrp="1"/>
          </p:cNvSpPr>
          <p:nvPr/>
        </p:nvSpPr>
        <p:spPr>
          <a:xfrm>
            <a:off x="8248649" y="3263072"/>
            <a:ext cx="3608387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endParaRPr lang="pt-BR" sz="2400" b="1" spc="-30" dirty="0">
              <a:latin typeface="Abadi" panose="020B0604020104020204" pitchFamily="34" charset="77"/>
              <a:cs typeface="Arial"/>
            </a:endParaRPr>
          </a:p>
        </p:txBody>
      </p:sp>
      <p:sp>
        <p:nvSpPr>
          <p:cNvPr id="22" name="metric-rule-3">
            <a:extLst>
              <a:ext uri="{FF2B5EF4-FFF2-40B4-BE49-F238E27FC236}">
                <a16:creationId xmlns:a16="http://schemas.microsoft.com/office/drawing/2014/main" id="{A7D57741-E8A9-26E6-0F45-2C96D6292040}"/>
              </a:ext>
            </a:extLst>
          </p:cNvPr>
          <p:cNvSpPr>
            <a:spLocks noGrp="1"/>
          </p:cNvSpPr>
          <p:nvPr/>
        </p:nvSpPr>
        <p:spPr>
          <a:xfrm>
            <a:off x="82486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23" name="step-body-3">
            <a:extLst>
              <a:ext uri="{FF2B5EF4-FFF2-40B4-BE49-F238E27FC236}">
                <a16:creationId xmlns:a16="http://schemas.microsoft.com/office/drawing/2014/main" id="{D0C485B3-4D2E-3A23-4404-7FED95E3885F}"/>
              </a:ext>
            </a:extLst>
          </p:cNvPr>
          <p:cNvSpPr>
            <a:spLocks noGrp="1"/>
          </p:cNvSpPr>
          <p:nvPr/>
        </p:nvSpPr>
        <p:spPr>
          <a:xfrm>
            <a:off x="82486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Gerir pipeline, carteira, conversão e expansão com visão estruturada e recorrente</a:t>
            </a:r>
          </a:p>
          <a:p>
            <a:pPr marL="139700" indent="-13176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Acompanhar metas e indicadores comerciais por indústria, cliente e responsável</a:t>
            </a:r>
          </a:p>
          <a:p>
            <a:pPr marL="139700" indent="-13176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chemeClr val="tx2">
                    <a:lumMod val="50000"/>
                  </a:schemeClr>
                </a:solidFill>
                <a:latin typeface="Arial"/>
                <a:cs typeface="Arial"/>
              </a:rPr>
              <a:t>Acompanhar receita, margem e pipeline de </a:t>
            </a:r>
            <a:r>
              <a:rPr lang="pt-BR" sz="1400" dirty="0" err="1">
                <a:solidFill>
                  <a:schemeClr val="tx2">
                    <a:lumMod val="50000"/>
                  </a:schemeClr>
                </a:solidFill>
                <a:latin typeface="Arial"/>
                <a:cs typeface="Arial"/>
              </a:rPr>
              <a:t>SVAs</a:t>
            </a:r>
            <a:r>
              <a:rPr lang="pt-BR" sz="1400" dirty="0">
                <a:solidFill>
                  <a:schemeClr val="tx2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lang="pt-BR" sz="1400" dirty="0" err="1">
                <a:solidFill>
                  <a:schemeClr val="tx2">
                    <a:lumMod val="50000"/>
                  </a:schemeClr>
                </a:solidFill>
                <a:latin typeface="Arial"/>
                <a:cs typeface="Arial"/>
              </a:rPr>
              <a:t>ex-agenciamento</a:t>
            </a:r>
            <a:endParaRPr lang="pt-BR" sz="1400" dirty="0">
              <a:solidFill>
                <a:schemeClr val="tx2">
                  <a:lumMod val="50000"/>
                </a:schemeClr>
              </a:solidFill>
              <a:latin typeface="Arial"/>
              <a:cs typeface="Arial"/>
            </a:endParaRPr>
          </a:p>
          <a:p>
            <a:pPr marL="139700" indent="-13176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Atuar sobre desvios com planos de ação, garantindo próximos passos, responsáveis e prazos</a:t>
            </a:r>
          </a:p>
        </p:txBody>
      </p:sp>
      <p:sp>
        <p:nvSpPr>
          <p:cNvPr id="25" name="objective-band">
            <a:extLst>
              <a:ext uri="{FF2B5EF4-FFF2-40B4-BE49-F238E27FC236}">
                <a16:creationId xmlns:a16="http://schemas.microsoft.com/office/drawing/2014/main" id="{52201321-800A-1C96-36E7-4D3659920A37}"/>
              </a:ext>
            </a:extLst>
          </p:cNvPr>
          <p:cNvSpPr>
            <a:spLocks noGrp="1"/>
          </p:cNvSpPr>
          <p:nvPr/>
        </p:nvSpPr>
        <p:spPr>
          <a:xfrm>
            <a:off x="335998" y="1616891"/>
            <a:ext cx="9972000" cy="714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 lIns="1692000" anchor="ctr"/>
          <a:lstStyle/>
          <a:p>
            <a:pPr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b="1" dirty="0">
                <a:solidFill>
                  <a:srgbClr val="0B1220"/>
                </a:solidFill>
                <a:latin typeface="Abadi" panose="020B0604020104020204" pitchFamily="34" charset="77"/>
                <a:ea typeface="Arial"/>
                <a:cs typeface="Arial"/>
              </a:rPr>
              <a:t>Estruturar a gestão comercial para transformar a estratégia definida em oportunidades concretas, maximizando a geração de receita por meio de presença ativa no cliente, disciplina de execução e acompanhamento consistente dos resultados.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FE3F1F7-90E9-182D-554E-674D2E93D07C}"/>
              </a:ext>
            </a:extLst>
          </p:cNvPr>
          <p:cNvSpPr/>
          <p:nvPr/>
        </p:nvSpPr>
        <p:spPr>
          <a:xfrm>
            <a:off x="341322" y="1601598"/>
            <a:ext cx="1515836" cy="71469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Excelência Comercial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F76B2D2-1D25-933C-CB1D-A0032DBB5680}"/>
              </a:ext>
            </a:extLst>
          </p:cNvPr>
          <p:cNvSpPr/>
          <p:nvPr/>
        </p:nvSpPr>
        <p:spPr>
          <a:xfrm>
            <a:off x="10476089" y="1609244"/>
            <a:ext cx="1380948" cy="714699"/>
          </a:xfrm>
          <a:prstGeom prst="roundRect">
            <a:avLst/>
          </a:prstGeom>
          <a:solidFill>
            <a:srgbClr val="E36800"/>
          </a:solidFill>
          <a:ln w="11430">
            <a:solidFill>
              <a:srgbClr val="E368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CCO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787912-30AD-3318-D669-A6D9A244FA71}"/>
              </a:ext>
            </a:extLst>
          </p:cNvPr>
          <p:cNvSpPr/>
          <p:nvPr/>
        </p:nvSpPr>
        <p:spPr>
          <a:xfrm>
            <a:off x="10341201" y="296016"/>
            <a:ext cx="1515836" cy="246735"/>
          </a:xfrm>
          <a:prstGeom prst="rect">
            <a:avLst/>
          </a:prstGeom>
          <a:solidFill>
            <a:schemeClr val="accent1"/>
          </a:solidFill>
          <a:ln w="11430">
            <a:solidFill>
              <a:schemeClr val="accent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Receita</a:t>
            </a:r>
          </a:p>
        </p:txBody>
      </p:sp>
      <p:sp>
        <p:nvSpPr>
          <p:cNvPr id="9" name="step-metric-2">
            <a:extLst>
              <a:ext uri="{FF2B5EF4-FFF2-40B4-BE49-F238E27FC236}">
                <a16:creationId xmlns:a16="http://schemas.microsoft.com/office/drawing/2014/main" id="{74F0883B-CB91-27C4-414D-968955DBE506}"/>
              </a:ext>
            </a:extLst>
          </p:cNvPr>
          <p:cNvSpPr>
            <a:spLocks noGrp="1"/>
          </p:cNvSpPr>
          <p:nvPr/>
        </p:nvSpPr>
        <p:spPr>
          <a:xfrm>
            <a:off x="8219795" y="3263072"/>
            <a:ext cx="333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Disciplina de execução</a:t>
            </a:r>
          </a:p>
        </p:txBody>
      </p:sp>
    </p:spTree>
    <p:extLst>
      <p:ext uri="{BB962C8B-B14F-4D97-AF65-F5344CB8AC3E}">
        <p14:creationId xmlns:p14="http://schemas.microsoft.com/office/powerpoint/2010/main" val="3765127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FC909-130F-C391-5B93-0A50D8402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4459127B-0C66-6D4A-20B0-92EE1E825FC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59127B-0C66-6D4A-20B0-92EE1E825F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1EA5D9BD-D5BA-DA0E-DF58-F2D5D06F3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Maximizar a captura de receitas exige visibilidade end-to-end, disciplina de cobrança e atuação sistemática sobre desvios e oportunidades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C10B7DF-7BF2-A672-30B7-19D5D252ED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ATY</a:t>
            </a:r>
          </a:p>
          <a:p>
            <a:endParaRPr lang="pt-BR" noProof="1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B9E5F1C6-1BE4-BCB0-238E-1B8AC34D5C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43D906-043B-3A48-D6B5-FBE6E8C588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pt-BR" noProof="1"/>
              <a:t>Ações estruturantes – Receita – Gestão de receitas</a:t>
            </a:r>
          </a:p>
        </p:txBody>
      </p:sp>
      <p:sp>
        <p:nvSpPr>
          <p:cNvPr id="50" name="Disclaimer_Box">
            <a:extLst>
              <a:ext uri="{FF2B5EF4-FFF2-40B4-BE49-F238E27FC236}">
                <a16:creationId xmlns:a16="http://schemas.microsoft.com/office/drawing/2014/main" id="{FAE7C339-7B5E-FA33-A13B-16A5DD57D0D2}"/>
              </a:ext>
            </a:extLst>
          </p:cNvPr>
          <p:cNvSpPr txBox="1">
            <a:spLocks/>
          </p:cNvSpPr>
          <p:nvPr/>
        </p:nvSpPr>
        <p:spPr>
          <a:xfrm>
            <a:off x="9540697" y="1200149"/>
            <a:ext cx="231634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 sz="1200" b="1" kern="1200" baseline="0">
                <a:solidFill>
                  <a:schemeClr val="accent6"/>
                </a:solidFill>
                <a:latin typeface="Arial"/>
                <a:ea typeface="+mn-ea"/>
                <a:cs typeface="Arial"/>
              </a:defRPr>
            </a:lvl1pPr>
            <a:lvl2pPr marL="352425" marR="0" indent="-1651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9750" marR="0" indent="-1857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2" pitchFamily="18" charset="2"/>
              <a:buChar char=""/>
              <a:tabLst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712788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900113" marR="0" indent="-1857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</a:rPr>
              <a:t>Não Exaustivo | Para discussão</a:t>
            </a:r>
          </a:p>
        </p:txBody>
      </p:sp>
      <p:sp>
        <p:nvSpPr>
          <p:cNvPr id="4" name="step-circle-1">
            <a:extLst>
              <a:ext uri="{FF2B5EF4-FFF2-40B4-BE49-F238E27FC236}">
                <a16:creationId xmlns:a16="http://schemas.microsoft.com/office/drawing/2014/main" id="{79315288-E704-32AF-D568-A1FC064BF7FB}"/>
              </a:ext>
            </a:extLst>
          </p:cNvPr>
          <p:cNvSpPr>
            <a:spLocks noGrp="1"/>
          </p:cNvSpPr>
          <p:nvPr/>
        </p:nvSpPr>
        <p:spPr>
          <a:xfrm>
            <a:off x="4000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1</a:t>
            </a:r>
          </a:p>
        </p:txBody>
      </p:sp>
      <p:sp>
        <p:nvSpPr>
          <p:cNvPr id="8" name="step-title-1">
            <a:extLst>
              <a:ext uri="{FF2B5EF4-FFF2-40B4-BE49-F238E27FC236}">
                <a16:creationId xmlns:a16="http://schemas.microsoft.com/office/drawing/2014/main" id="{9E0D7E3B-3001-C9B7-4CD0-62D2807BB5F1}"/>
              </a:ext>
            </a:extLst>
          </p:cNvPr>
          <p:cNvSpPr>
            <a:spLocks noGrp="1"/>
          </p:cNvSpPr>
          <p:nvPr/>
        </p:nvSpPr>
        <p:spPr>
          <a:xfrm>
            <a:off x="9617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Visibilidade </a:t>
            </a:r>
            <a:r>
              <a:rPr lang="pt-BR" sz="2000" b="1" dirty="0" err="1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cross</a:t>
            </a:r>
            <a:endParaRPr lang="pt-BR" sz="2000" b="1" dirty="0">
              <a:solidFill>
                <a:schemeClr val="accent4"/>
              </a:solidFill>
              <a:latin typeface="Abadi" panose="020B0604020104020204" pitchFamily="34" charset="77"/>
              <a:ea typeface="Arial"/>
              <a:cs typeface="Arial"/>
            </a:endParaRPr>
          </a:p>
        </p:txBody>
      </p:sp>
      <p:sp>
        <p:nvSpPr>
          <p:cNvPr id="11" name="step-metric-1">
            <a:extLst>
              <a:ext uri="{FF2B5EF4-FFF2-40B4-BE49-F238E27FC236}">
                <a16:creationId xmlns:a16="http://schemas.microsoft.com/office/drawing/2014/main" id="{B55BDA22-39A3-EE85-BFDA-18039D2B0DD7}"/>
              </a:ext>
            </a:extLst>
          </p:cNvPr>
          <p:cNvSpPr>
            <a:spLocks noGrp="1"/>
          </p:cNvSpPr>
          <p:nvPr/>
        </p:nvSpPr>
        <p:spPr>
          <a:xfrm>
            <a:off x="400050" y="3263072"/>
            <a:ext cx="3599194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Mapeamento </a:t>
            </a:r>
            <a:r>
              <a:rPr lang="pt-BR" sz="2400" b="1" spc="-30" dirty="0" err="1">
                <a:latin typeface="Abadi" panose="020B0604020104020204" pitchFamily="34" charset="77"/>
                <a:cs typeface="Arial"/>
              </a:rPr>
              <a:t>end-to-end</a:t>
            </a:r>
            <a:endParaRPr lang="pt-BR" sz="2400" b="1" spc="-30" dirty="0">
              <a:latin typeface="Abadi" panose="020B0604020104020204" pitchFamily="34" charset="77"/>
              <a:cs typeface="Arial"/>
            </a:endParaRPr>
          </a:p>
        </p:txBody>
      </p:sp>
      <p:sp>
        <p:nvSpPr>
          <p:cNvPr id="12" name="metric-rule-1">
            <a:extLst>
              <a:ext uri="{FF2B5EF4-FFF2-40B4-BE49-F238E27FC236}">
                <a16:creationId xmlns:a16="http://schemas.microsoft.com/office/drawing/2014/main" id="{DBE0D841-0233-21E0-3002-FE19E8748EBE}"/>
              </a:ext>
            </a:extLst>
          </p:cNvPr>
          <p:cNvSpPr>
            <a:spLocks noGrp="1"/>
          </p:cNvSpPr>
          <p:nvPr/>
        </p:nvSpPr>
        <p:spPr>
          <a:xfrm>
            <a:off x="4000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3" name="step-body-1">
            <a:extLst>
              <a:ext uri="{FF2B5EF4-FFF2-40B4-BE49-F238E27FC236}">
                <a16:creationId xmlns:a16="http://schemas.microsoft.com/office/drawing/2014/main" id="{0139A715-9D9E-6C37-13C6-D7698E09CA83}"/>
              </a:ext>
            </a:extLst>
          </p:cNvPr>
          <p:cNvSpPr>
            <a:spLocks noGrp="1"/>
          </p:cNvSpPr>
          <p:nvPr/>
        </p:nvSpPr>
        <p:spPr>
          <a:xfrm>
            <a:off x="4000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Mapear serviços executados × contratados × faturados, identificando gaps de captura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Integrar serviço, preço, custo, faturamento e margem em uma visão única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Dar visibilidade às receitas e perdas por cliente, serviço, produto e operação</a:t>
            </a:r>
          </a:p>
        </p:txBody>
      </p:sp>
      <p:sp>
        <p:nvSpPr>
          <p:cNvPr id="14" name="step-circle-2">
            <a:extLst>
              <a:ext uri="{FF2B5EF4-FFF2-40B4-BE49-F238E27FC236}">
                <a16:creationId xmlns:a16="http://schemas.microsoft.com/office/drawing/2014/main" id="{F2BF49B9-CA78-7640-5B07-5090B7692DE9}"/>
              </a:ext>
            </a:extLst>
          </p:cNvPr>
          <p:cNvSpPr>
            <a:spLocks noGrp="1"/>
          </p:cNvSpPr>
          <p:nvPr/>
        </p:nvSpPr>
        <p:spPr>
          <a:xfrm>
            <a:off x="43243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2</a:t>
            </a:r>
          </a:p>
        </p:txBody>
      </p:sp>
      <p:sp>
        <p:nvSpPr>
          <p:cNvPr id="15" name="step-title-2">
            <a:extLst>
              <a:ext uri="{FF2B5EF4-FFF2-40B4-BE49-F238E27FC236}">
                <a16:creationId xmlns:a16="http://schemas.microsoft.com/office/drawing/2014/main" id="{9C99CF1F-A5B8-67B8-3EF5-674947AD8CFA}"/>
              </a:ext>
            </a:extLst>
          </p:cNvPr>
          <p:cNvSpPr>
            <a:spLocks noGrp="1"/>
          </p:cNvSpPr>
          <p:nvPr/>
        </p:nvSpPr>
        <p:spPr>
          <a:xfrm>
            <a:off x="48860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Disciplina de cobrança</a:t>
            </a:r>
          </a:p>
        </p:txBody>
      </p:sp>
      <p:sp>
        <p:nvSpPr>
          <p:cNvPr id="16" name="step-metric-2">
            <a:extLst>
              <a:ext uri="{FF2B5EF4-FFF2-40B4-BE49-F238E27FC236}">
                <a16:creationId xmlns:a16="http://schemas.microsoft.com/office/drawing/2014/main" id="{7521EED0-C730-B8D7-863F-148BC1BBA5AF}"/>
              </a:ext>
            </a:extLst>
          </p:cNvPr>
          <p:cNvSpPr>
            <a:spLocks noGrp="1"/>
          </p:cNvSpPr>
          <p:nvPr/>
        </p:nvSpPr>
        <p:spPr>
          <a:xfrm>
            <a:off x="4324350" y="3263072"/>
            <a:ext cx="3333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Captura integral</a:t>
            </a:r>
          </a:p>
        </p:txBody>
      </p:sp>
      <p:sp>
        <p:nvSpPr>
          <p:cNvPr id="17" name="metric-rule-2">
            <a:extLst>
              <a:ext uri="{FF2B5EF4-FFF2-40B4-BE49-F238E27FC236}">
                <a16:creationId xmlns:a16="http://schemas.microsoft.com/office/drawing/2014/main" id="{2429A880-7E04-9ACD-02DB-861BEC54DF8E}"/>
              </a:ext>
            </a:extLst>
          </p:cNvPr>
          <p:cNvSpPr>
            <a:spLocks noGrp="1"/>
          </p:cNvSpPr>
          <p:nvPr/>
        </p:nvSpPr>
        <p:spPr>
          <a:xfrm>
            <a:off x="43243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8" name="step-body-2">
            <a:extLst>
              <a:ext uri="{FF2B5EF4-FFF2-40B4-BE49-F238E27FC236}">
                <a16:creationId xmlns:a16="http://schemas.microsoft.com/office/drawing/2014/main" id="{8FFFF7D9-FFF8-81A3-A15A-6F9FD1A76F62}"/>
              </a:ext>
            </a:extLst>
          </p:cNvPr>
          <p:cNvSpPr>
            <a:spLocks noGrp="1"/>
          </p:cNvSpPr>
          <p:nvPr/>
        </p:nvSpPr>
        <p:spPr>
          <a:xfrm>
            <a:off x="43243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Padronizar regras de cobrança por serviço, condição comercial e segmentação do cliente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Identificar serviços não faturados, descontos e cobranças divergentes antes do fechamento</a:t>
            </a:r>
          </a:p>
        </p:txBody>
      </p:sp>
      <p:sp>
        <p:nvSpPr>
          <p:cNvPr id="19" name="step-circle-3">
            <a:extLst>
              <a:ext uri="{FF2B5EF4-FFF2-40B4-BE49-F238E27FC236}">
                <a16:creationId xmlns:a16="http://schemas.microsoft.com/office/drawing/2014/main" id="{61260EC8-8DA2-B7F3-5AF7-944E50E78D34}"/>
              </a:ext>
            </a:extLst>
          </p:cNvPr>
          <p:cNvSpPr>
            <a:spLocks noGrp="1"/>
          </p:cNvSpPr>
          <p:nvPr/>
        </p:nvSpPr>
        <p:spPr>
          <a:xfrm>
            <a:off x="82486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3</a:t>
            </a:r>
          </a:p>
        </p:txBody>
      </p:sp>
      <p:sp>
        <p:nvSpPr>
          <p:cNvPr id="20" name="step-title-3">
            <a:extLst>
              <a:ext uri="{FF2B5EF4-FFF2-40B4-BE49-F238E27FC236}">
                <a16:creationId xmlns:a16="http://schemas.microsoft.com/office/drawing/2014/main" id="{EB4B8131-BD1C-4C5F-F192-1E27AA2DA73F}"/>
              </a:ext>
            </a:extLst>
          </p:cNvPr>
          <p:cNvSpPr>
            <a:spLocks noGrp="1"/>
          </p:cNvSpPr>
          <p:nvPr/>
        </p:nvSpPr>
        <p:spPr>
          <a:xfrm>
            <a:off x="88103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Gestão dos resultados</a:t>
            </a:r>
          </a:p>
        </p:txBody>
      </p:sp>
      <p:sp>
        <p:nvSpPr>
          <p:cNvPr id="21" name="step-metric-3">
            <a:extLst>
              <a:ext uri="{FF2B5EF4-FFF2-40B4-BE49-F238E27FC236}">
                <a16:creationId xmlns:a16="http://schemas.microsoft.com/office/drawing/2014/main" id="{C2C9C692-B4CE-2727-7AE1-12F2329A7743}"/>
              </a:ext>
            </a:extLst>
          </p:cNvPr>
          <p:cNvSpPr>
            <a:spLocks noGrp="1"/>
          </p:cNvSpPr>
          <p:nvPr/>
        </p:nvSpPr>
        <p:spPr>
          <a:xfrm>
            <a:off x="8248649" y="3263072"/>
            <a:ext cx="3608387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endParaRPr lang="pt-BR" sz="2400" b="1" spc="-30" dirty="0">
              <a:latin typeface="Abadi" panose="020B0604020104020204" pitchFamily="34" charset="77"/>
              <a:cs typeface="Arial"/>
            </a:endParaRPr>
          </a:p>
        </p:txBody>
      </p:sp>
      <p:sp>
        <p:nvSpPr>
          <p:cNvPr id="22" name="metric-rule-3">
            <a:extLst>
              <a:ext uri="{FF2B5EF4-FFF2-40B4-BE49-F238E27FC236}">
                <a16:creationId xmlns:a16="http://schemas.microsoft.com/office/drawing/2014/main" id="{B61F17F7-508A-65A4-FED3-FF1EC38B2764}"/>
              </a:ext>
            </a:extLst>
          </p:cNvPr>
          <p:cNvSpPr>
            <a:spLocks noGrp="1"/>
          </p:cNvSpPr>
          <p:nvPr/>
        </p:nvSpPr>
        <p:spPr>
          <a:xfrm>
            <a:off x="82486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23" name="step-body-3">
            <a:extLst>
              <a:ext uri="{FF2B5EF4-FFF2-40B4-BE49-F238E27FC236}">
                <a16:creationId xmlns:a16="http://schemas.microsoft.com/office/drawing/2014/main" id="{A0A3B6BD-CCD2-BA22-C85D-6585524E3460}"/>
              </a:ext>
            </a:extLst>
          </p:cNvPr>
          <p:cNvSpPr>
            <a:spLocks noGrp="1"/>
          </p:cNvSpPr>
          <p:nvPr/>
        </p:nvSpPr>
        <p:spPr>
          <a:xfrm>
            <a:off x="82486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Segmentar clientes por operações e desvios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Estruturar planos de ação por causa raiz e segmentação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Acompanhar valor identificado × capturado × pendente</a:t>
            </a:r>
          </a:p>
        </p:txBody>
      </p:sp>
      <p:sp>
        <p:nvSpPr>
          <p:cNvPr id="25" name="objective-band">
            <a:extLst>
              <a:ext uri="{FF2B5EF4-FFF2-40B4-BE49-F238E27FC236}">
                <a16:creationId xmlns:a16="http://schemas.microsoft.com/office/drawing/2014/main" id="{74ABC6BF-D54D-F057-C73A-D4DB43DAD7EA}"/>
              </a:ext>
            </a:extLst>
          </p:cNvPr>
          <p:cNvSpPr>
            <a:spLocks noGrp="1"/>
          </p:cNvSpPr>
          <p:nvPr/>
        </p:nvSpPr>
        <p:spPr>
          <a:xfrm>
            <a:off x="335998" y="1616891"/>
            <a:ext cx="9972000" cy="714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 lIns="1692000" anchor="ctr"/>
          <a:lstStyle/>
          <a:p>
            <a:pPr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b="1" dirty="0">
                <a:solidFill>
                  <a:srgbClr val="0B1220"/>
                </a:solidFill>
                <a:latin typeface="Abadi" panose="020B0604020104020204" pitchFamily="34" charset="77"/>
                <a:ea typeface="Arial"/>
                <a:cs typeface="Arial"/>
              </a:rPr>
              <a:t>Garantir visibilidade, controle e captura integral das receitas de serviços, taxas e demais cobranças, assegurando previsibilidade e suporte à tomada de decisão para maximização dos resultados.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B1C8842-0475-CE3E-7DCE-344BEAADA3F3}"/>
              </a:ext>
            </a:extLst>
          </p:cNvPr>
          <p:cNvSpPr/>
          <p:nvPr/>
        </p:nvSpPr>
        <p:spPr>
          <a:xfrm>
            <a:off x="341322" y="1601598"/>
            <a:ext cx="1515836" cy="71469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Gestão de Receitas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FDF625B-C3A6-E6AB-CC73-0774A29292E1}"/>
              </a:ext>
            </a:extLst>
          </p:cNvPr>
          <p:cNvSpPr/>
          <p:nvPr/>
        </p:nvSpPr>
        <p:spPr>
          <a:xfrm>
            <a:off x="10476089" y="1609244"/>
            <a:ext cx="1380948" cy="714699"/>
          </a:xfrm>
          <a:prstGeom prst="roundRect">
            <a:avLst/>
          </a:prstGeom>
          <a:solidFill>
            <a:srgbClr val="E36800"/>
          </a:solidFill>
          <a:ln w="11430">
            <a:solidFill>
              <a:srgbClr val="E368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CFO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2BAE02-8285-28BA-C6B9-593CC1DC2B12}"/>
              </a:ext>
            </a:extLst>
          </p:cNvPr>
          <p:cNvSpPr/>
          <p:nvPr/>
        </p:nvSpPr>
        <p:spPr>
          <a:xfrm>
            <a:off x="10341201" y="296016"/>
            <a:ext cx="1515836" cy="246735"/>
          </a:xfrm>
          <a:prstGeom prst="rect">
            <a:avLst/>
          </a:prstGeom>
          <a:solidFill>
            <a:schemeClr val="accent1"/>
          </a:solidFill>
          <a:ln w="11430">
            <a:solidFill>
              <a:schemeClr val="accent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Receita</a:t>
            </a:r>
          </a:p>
        </p:txBody>
      </p:sp>
      <p:sp>
        <p:nvSpPr>
          <p:cNvPr id="9" name="step-metric-2">
            <a:extLst>
              <a:ext uri="{FF2B5EF4-FFF2-40B4-BE49-F238E27FC236}">
                <a16:creationId xmlns:a16="http://schemas.microsoft.com/office/drawing/2014/main" id="{45B6FAC2-991A-3073-F079-D6A408813FA3}"/>
              </a:ext>
            </a:extLst>
          </p:cNvPr>
          <p:cNvSpPr>
            <a:spLocks noGrp="1"/>
          </p:cNvSpPr>
          <p:nvPr/>
        </p:nvSpPr>
        <p:spPr>
          <a:xfrm>
            <a:off x="8219794" y="3263072"/>
            <a:ext cx="3637241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Ações segmentadas</a:t>
            </a:r>
          </a:p>
        </p:txBody>
      </p:sp>
    </p:spTree>
    <p:extLst>
      <p:ext uri="{BB962C8B-B14F-4D97-AF65-F5344CB8AC3E}">
        <p14:creationId xmlns:p14="http://schemas.microsoft.com/office/powerpoint/2010/main" val="489910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2FB4E-002D-FB1E-139D-425BC8137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CE558-370E-21BF-C63D-AEF7800E6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dirty="0"/>
              <a:t>Ações estruturantes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37BC6-8641-8DE5-8859-C1E3811947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noProof="1"/>
              <a:t>Estratégia</a:t>
            </a:r>
          </a:p>
          <a:p>
            <a:endParaRPr lang="en-B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0D247D-DF72-B0A8-F19B-D22DA11714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25094E-B4BC-2559-8186-4BC59CF278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5D2159-618C-93CB-412D-D148B2F5FD2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CC065B2-C6B7-E2F0-85A1-A3A71191FF4F}"/>
              </a:ext>
            </a:extLst>
          </p:cNvPr>
          <p:cNvSpPr>
            <a:spLocks noChangeAspect="1"/>
          </p:cNvSpPr>
          <p:nvPr/>
        </p:nvSpPr>
        <p:spPr>
          <a:xfrm>
            <a:off x="916341" y="3104445"/>
            <a:ext cx="1865066" cy="9369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 dirty="0">
                <a:solidFill>
                  <a:schemeClr val="bg1"/>
                </a:solidFill>
              </a:rPr>
              <a:t>Finanças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AA1B5BE-F401-64F9-0574-B1693A28A4FE}"/>
              </a:ext>
            </a:extLst>
          </p:cNvPr>
          <p:cNvSpPr>
            <a:spLocks noChangeAspect="1"/>
          </p:cNvSpPr>
          <p:nvPr/>
        </p:nvSpPr>
        <p:spPr>
          <a:xfrm>
            <a:off x="3035603" y="3104445"/>
            <a:ext cx="1865066" cy="9369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 dirty="0">
                <a:solidFill>
                  <a:schemeClr val="bg1"/>
                </a:solidFill>
              </a:rPr>
              <a:t>Operação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7E39D52-D8F4-0B63-A4A1-D7D6B028AF39}"/>
              </a:ext>
            </a:extLst>
          </p:cNvPr>
          <p:cNvSpPr>
            <a:spLocks noChangeAspect="1"/>
          </p:cNvSpPr>
          <p:nvPr/>
        </p:nvSpPr>
        <p:spPr>
          <a:xfrm>
            <a:off x="5154865" y="3104445"/>
            <a:ext cx="1865066" cy="9369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>
                <a:solidFill>
                  <a:schemeClr val="bg1"/>
                </a:solidFill>
              </a:rPr>
              <a:t>Receita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22327DD-67C6-8BBF-380B-CD83E2C2B797}"/>
              </a:ext>
            </a:extLst>
          </p:cNvPr>
          <p:cNvSpPr>
            <a:spLocks noChangeAspect="1"/>
          </p:cNvSpPr>
          <p:nvPr/>
        </p:nvSpPr>
        <p:spPr>
          <a:xfrm>
            <a:off x="7222717" y="3104445"/>
            <a:ext cx="1865066" cy="936977"/>
          </a:xfrm>
          <a:prstGeom prst="roundRect">
            <a:avLst/>
          </a:prstGeom>
          <a:solidFill>
            <a:srgbClr val="C6D02C"/>
          </a:solidFill>
          <a:ln>
            <a:solidFill>
              <a:srgbClr val="C6D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 dirty="0">
                <a:solidFill>
                  <a:schemeClr val="bg1"/>
                </a:solidFill>
              </a:rPr>
              <a:t>Cliente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C6D3D85-E1B1-352E-16F0-4736F30548AE}"/>
              </a:ext>
            </a:extLst>
          </p:cNvPr>
          <p:cNvSpPr>
            <a:spLocks noChangeAspect="1"/>
          </p:cNvSpPr>
          <p:nvPr/>
        </p:nvSpPr>
        <p:spPr>
          <a:xfrm>
            <a:off x="9267719" y="3104445"/>
            <a:ext cx="1865066" cy="9369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>
                <a:solidFill>
                  <a:schemeClr val="bg1"/>
                </a:solidFill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7497742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092E4-7808-6D2C-F972-483396692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067091E0-16A6-BE30-1C28-8115625C5CA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67091E0-16A6-BE30-1C28-8115625C5C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5B79BB72-DDB5-E641-B7AA-DD3709C6A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Elevar a satisfação exige uma experiência consistente, ownership na resolução dos problemas e aprendizado contínuo a partir da percepção do cliente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1B334FB-A7BF-4E0C-4692-CBF26FC1F0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ATY</a:t>
            </a:r>
          </a:p>
          <a:p>
            <a:endParaRPr lang="pt-BR" noProof="1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776AB473-F578-066D-FBE9-9A6B0B5E3F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C30E69-CD88-1F49-9E5A-3C9883BFA65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pt-BR" noProof="1"/>
              <a:t>Ações estruturantes – Cliente – Satisfação</a:t>
            </a:r>
          </a:p>
        </p:txBody>
      </p:sp>
      <p:sp>
        <p:nvSpPr>
          <p:cNvPr id="50" name="Disclaimer_Box">
            <a:extLst>
              <a:ext uri="{FF2B5EF4-FFF2-40B4-BE49-F238E27FC236}">
                <a16:creationId xmlns:a16="http://schemas.microsoft.com/office/drawing/2014/main" id="{9146FAE8-0FF9-EACD-F228-010230C92DA3}"/>
              </a:ext>
            </a:extLst>
          </p:cNvPr>
          <p:cNvSpPr txBox="1">
            <a:spLocks/>
          </p:cNvSpPr>
          <p:nvPr/>
        </p:nvSpPr>
        <p:spPr>
          <a:xfrm>
            <a:off x="9540697" y="1200149"/>
            <a:ext cx="231634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 sz="1200" b="1" kern="1200" baseline="0">
                <a:solidFill>
                  <a:schemeClr val="accent6"/>
                </a:solidFill>
                <a:latin typeface="Arial"/>
                <a:ea typeface="+mn-ea"/>
                <a:cs typeface="Arial"/>
              </a:defRPr>
            </a:lvl1pPr>
            <a:lvl2pPr marL="352425" marR="0" indent="-1651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9750" marR="0" indent="-1857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2" pitchFamily="18" charset="2"/>
              <a:buChar char=""/>
              <a:tabLst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712788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900113" marR="0" indent="-1857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</a:rPr>
              <a:t>Não Exaustivo | Para discussão</a:t>
            </a:r>
          </a:p>
        </p:txBody>
      </p:sp>
      <p:sp>
        <p:nvSpPr>
          <p:cNvPr id="4" name="step-circle-1">
            <a:extLst>
              <a:ext uri="{FF2B5EF4-FFF2-40B4-BE49-F238E27FC236}">
                <a16:creationId xmlns:a16="http://schemas.microsoft.com/office/drawing/2014/main" id="{4E696E97-39AB-0148-5086-E181784D3121}"/>
              </a:ext>
            </a:extLst>
          </p:cNvPr>
          <p:cNvSpPr>
            <a:spLocks noGrp="1"/>
          </p:cNvSpPr>
          <p:nvPr/>
        </p:nvSpPr>
        <p:spPr>
          <a:xfrm>
            <a:off x="4000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1</a:t>
            </a:r>
          </a:p>
        </p:txBody>
      </p:sp>
      <p:sp>
        <p:nvSpPr>
          <p:cNvPr id="8" name="step-title-1">
            <a:extLst>
              <a:ext uri="{FF2B5EF4-FFF2-40B4-BE49-F238E27FC236}">
                <a16:creationId xmlns:a16="http://schemas.microsoft.com/office/drawing/2014/main" id="{5B3955C0-5BE0-C43F-D258-6EC09025803F}"/>
              </a:ext>
            </a:extLst>
          </p:cNvPr>
          <p:cNvSpPr>
            <a:spLocks noGrp="1"/>
          </p:cNvSpPr>
          <p:nvPr/>
        </p:nvSpPr>
        <p:spPr>
          <a:xfrm>
            <a:off x="9617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Experiência como core </a:t>
            </a:r>
          </a:p>
        </p:txBody>
      </p:sp>
      <p:sp>
        <p:nvSpPr>
          <p:cNvPr id="11" name="step-metric-1">
            <a:extLst>
              <a:ext uri="{FF2B5EF4-FFF2-40B4-BE49-F238E27FC236}">
                <a16:creationId xmlns:a16="http://schemas.microsoft.com/office/drawing/2014/main" id="{054B2A7F-2A67-6837-C850-2C55EA5A99AA}"/>
              </a:ext>
            </a:extLst>
          </p:cNvPr>
          <p:cNvSpPr>
            <a:spLocks noGrp="1"/>
          </p:cNvSpPr>
          <p:nvPr/>
        </p:nvSpPr>
        <p:spPr>
          <a:xfrm>
            <a:off x="400050" y="3263072"/>
            <a:ext cx="3599194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Abordagem padronizada</a:t>
            </a:r>
          </a:p>
        </p:txBody>
      </p:sp>
      <p:sp>
        <p:nvSpPr>
          <p:cNvPr id="12" name="metric-rule-1">
            <a:extLst>
              <a:ext uri="{FF2B5EF4-FFF2-40B4-BE49-F238E27FC236}">
                <a16:creationId xmlns:a16="http://schemas.microsoft.com/office/drawing/2014/main" id="{919E00CB-4B05-3711-1EA0-4295A2695FB8}"/>
              </a:ext>
            </a:extLst>
          </p:cNvPr>
          <p:cNvSpPr>
            <a:spLocks noGrp="1"/>
          </p:cNvSpPr>
          <p:nvPr/>
        </p:nvSpPr>
        <p:spPr>
          <a:xfrm>
            <a:off x="4000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3" name="step-body-1">
            <a:extLst>
              <a:ext uri="{FF2B5EF4-FFF2-40B4-BE49-F238E27FC236}">
                <a16:creationId xmlns:a16="http://schemas.microsoft.com/office/drawing/2014/main" id="{0CBCBBA4-4D9E-1240-1D2B-60F36AB6AAAE}"/>
              </a:ext>
            </a:extLst>
          </p:cNvPr>
          <p:cNvSpPr>
            <a:spLocks noGrp="1"/>
          </p:cNvSpPr>
          <p:nvPr/>
        </p:nvSpPr>
        <p:spPr>
          <a:xfrm>
            <a:off x="4000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Definir padrões mínimos de experiência nos principais pontos de contato com o cliente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Padronizar comunicação, prazo de resposta e escalonamento para situações críticas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Mapear a jornada do cliente </a:t>
            </a:r>
            <a:r>
              <a:rPr lang="pt-BR" sz="1400" dirty="0" err="1">
                <a:solidFill>
                  <a:srgbClr val="333333"/>
                </a:solidFill>
                <a:latin typeface="Arial"/>
                <a:cs typeface="Arial"/>
              </a:rPr>
              <a:t>end-to-end</a:t>
            </a: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, identificando momentos críticos e oportunidades de diferenciação</a:t>
            </a:r>
          </a:p>
        </p:txBody>
      </p:sp>
      <p:sp>
        <p:nvSpPr>
          <p:cNvPr id="14" name="step-circle-2">
            <a:extLst>
              <a:ext uri="{FF2B5EF4-FFF2-40B4-BE49-F238E27FC236}">
                <a16:creationId xmlns:a16="http://schemas.microsoft.com/office/drawing/2014/main" id="{5FEC88D6-E8CF-DFF6-C4EF-0BF3BFADBEB3}"/>
              </a:ext>
            </a:extLst>
          </p:cNvPr>
          <p:cNvSpPr>
            <a:spLocks noGrp="1"/>
          </p:cNvSpPr>
          <p:nvPr/>
        </p:nvSpPr>
        <p:spPr>
          <a:xfrm>
            <a:off x="43243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2</a:t>
            </a:r>
          </a:p>
        </p:txBody>
      </p:sp>
      <p:sp>
        <p:nvSpPr>
          <p:cNvPr id="15" name="step-title-2">
            <a:extLst>
              <a:ext uri="{FF2B5EF4-FFF2-40B4-BE49-F238E27FC236}">
                <a16:creationId xmlns:a16="http://schemas.microsoft.com/office/drawing/2014/main" id="{F2B09EF3-45EA-55D2-E984-825BD3D54D16}"/>
              </a:ext>
            </a:extLst>
          </p:cNvPr>
          <p:cNvSpPr>
            <a:spLocks noGrp="1"/>
          </p:cNvSpPr>
          <p:nvPr/>
        </p:nvSpPr>
        <p:spPr>
          <a:xfrm>
            <a:off x="48860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Peace </a:t>
            </a:r>
            <a:r>
              <a:rPr lang="pt-BR" sz="2000" b="1" dirty="0" err="1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of</a:t>
            </a: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 mind</a:t>
            </a:r>
          </a:p>
        </p:txBody>
      </p:sp>
      <p:sp>
        <p:nvSpPr>
          <p:cNvPr id="16" name="step-metric-2">
            <a:extLst>
              <a:ext uri="{FF2B5EF4-FFF2-40B4-BE49-F238E27FC236}">
                <a16:creationId xmlns:a16="http://schemas.microsoft.com/office/drawing/2014/main" id="{7A634A9D-DA65-7ECD-ED4B-F19FB39C56B8}"/>
              </a:ext>
            </a:extLst>
          </p:cNvPr>
          <p:cNvSpPr>
            <a:spLocks noGrp="1"/>
          </p:cNvSpPr>
          <p:nvPr/>
        </p:nvSpPr>
        <p:spPr>
          <a:xfrm>
            <a:off x="4324349" y="3263072"/>
            <a:ext cx="3599193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 err="1">
                <a:latin typeface="Abadi" panose="020B0604020104020204" pitchFamily="34" charset="77"/>
                <a:cs typeface="Arial"/>
              </a:rPr>
              <a:t>Ownership</a:t>
            </a:r>
            <a:r>
              <a:rPr lang="pt-BR" sz="2400" b="1" spc="-30" dirty="0">
                <a:latin typeface="Abadi" panose="020B0604020104020204" pitchFamily="34" charset="77"/>
                <a:cs typeface="Arial"/>
              </a:rPr>
              <a:t> do problema </a:t>
            </a:r>
          </a:p>
        </p:txBody>
      </p:sp>
      <p:sp>
        <p:nvSpPr>
          <p:cNvPr id="17" name="metric-rule-2">
            <a:extLst>
              <a:ext uri="{FF2B5EF4-FFF2-40B4-BE49-F238E27FC236}">
                <a16:creationId xmlns:a16="http://schemas.microsoft.com/office/drawing/2014/main" id="{8FD032E3-A154-FF85-34E7-DF492AFC5F8C}"/>
              </a:ext>
            </a:extLst>
          </p:cNvPr>
          <p:cNvSpPr>
            <a:spLocks noGrp="1"/>
          </p:cNvSpPr>
          <p:nvPr/>
        </p:nvSpPr>
        <p:spPr>
          <a:xfrm>
            <a:off x="43243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8" name="step-body-2">
            <a:extLst>
              <a:ext uri="{FF2B5EF4-FFF2-40B4-BE49-F238E27FC236}">
                <a16:creationId xmlns:a16="http://schemas.microsoft.com/office/drawing/2014/main" id="{F401A4C2-9745-83EF-B977-798A0268823A}"/>
              </a:ext>
            </a:extLst>
          </p:cNvPr>
          <p:cNvSpPr>
            <a:spLocks noGrp="1"/>
          </p:cNvSpPr>
          <p:nvPr/>
        </p:nvSpPr>
        <p:spPr>
          <a:xfrm>
            <a:off x="43243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Garantir responsável claro pelo problema até sua resolução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Comunicar desvios de forma proativa, antes que o cliente precise cobrar a DMS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Mobilizar as áreas necessárias até o fechamento da ocorrência, evitando repasses e </a:t>
            </a:r>
            <a:r>
              <a:rPr lang="pt-BR" sz="1400" dirty="0" err="1">
                <a:solidFill>
                  <a:srgbClr val="333333"/>
                </a:solidFill>
                <a:latin typeface="Arial"/>
                <a:cs typeface="Arial"/>
              </a:rPr>
              <a:t>bypass</a:t>
            </a:r>
            <a:endParaRPr lang="pt-BR" sz="1400" dirty="0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19" name="step-circle-3">
            <a:extLst>
              <a:ext uri="{FF2B5EF4-FFF2-40B4-BE49-F238E27FC236}">
                <a16:creationId xmlns:a16="http://schemas.microsoft.com/office/drawing/2014/main" id="{AB3806AD-02A6-3DFB-0311-50ACAA6613F7}"/>
              </a:ext>
            </a:extLst>
          </p:cNvPr>
          <p:cNvSpPr>
            <a:spLocks noGrp="1"/>
          </p:cNvSpPr>
          <p:nvPr/>
        </p:nvSpPr>
        <p:spPr>
          <a:xfrm>
            <a:off x="82486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  <a:latin typeface="Abadi" panose="020B0604020104020204" pitchFamily="34" charset="77"/>
              </a:rPr>
              <a:t>3</a:t>
            </a:r>
          </a:p>
        </p:txBody>
      </p:sp>
      <p:sp>
        <p:nvSpPr>
          <p:cNvPr id="20" name="step-title-3">
            <a:extLst>
              <a:ext uri="{FF2B5EF4-FFF2-40B4-BE49-F238E27FC236}">
                <a16:creationId xmlns:a16="http://schemas.microsoft.com/office/drawing/2014/main" id="{E5A522EC-2ED4-EA7C-BDFA-70989BD1D8D4}"/>
              </a:ext>
            </a:extLst>
          </p:cNvPr>
          <p:cNvSpPr>
            <a:spLocks noGrp="1"/>
          </p:cNvSpPr>
          <p:nvPr/>
        </p:nvSpPr>
        <p:spPr>
          <a:xfrm>
            <a:off x="88103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endParaRPr lang="pt-BR" sz="2000" b="1" dirty="0">
              <a:solidFill>
                <a:schemeClr val="accent4"/>
              </a:solidFill>
              <a:latin typeface="Abadi" panose="020B0604020104020204" pitchFamily="34" charset="77"/>
              <a:ea typeface="Arial"/>
              <a:cs typeface="Arial"/>
            </a:endParaRPr>
          </a:p>
        </p:txBody>
      </p:sp>
      <p:sp>
        <p:nvSpPr>
          <p:cNvPr id="21" name="step-metric-3">
            <a:extLst>
              <a:ext uri="{FF2B5EF4-FFF2-40B4-BE49-F238E27FC236}">
                <a16:creationId xmlns:a16="http://schemas.microsoft.com/office/drawing/2014/main" id="{84AA378E-23B5-FD00-CE5B-EF147ECA69AA}"/>
              </a:ext>
            </a:extLst>
          </p:cNvPr>
          <p:cNvSpPr>
            <a:spLocks noGrp="1"/>
          </p:cNvSpPr>
          <p:nvPr/>
        </p:nvSpPr>
        <p:spPr>
          <a:xfrm>
            <a:off x="8248649" y="3263072"/>
            <a:ext cx="3608387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endParaRPr lang="pt-BR" sz="2400" b="1" spc="-30" dirty="0">
              <a:latin typeface="Abadi" panose="020B0604020104020204" pitchFamily="34" charset="77"/>
              <a:cs typeface="Arial"/>
            </a:endParaRPr>
          </a:p>
        </p:txBody>
      </p:sp>
      <p:sp>
        <p:nvSpPr>
          <p:cNvPr id="22" name="metric-rule-3">
            <a:extLst>
              <a:ext uri="{FF2B5EF4-FFF2-40B4-BE49-F238E27FC236}">
                <a16:creationId xmlns:a16="http://schemas.microsoft.com/office/drawing/2014/main" id="{016D55D0-7F8A-E309-8826-1794813E12E1}"/>
              </a:ext>
            </a:extLst>
          </p:cNvPr>
          <p:cNvSpPr>
            <a:spLocks noGrp="1"/>
          </p:cNvSpPr>
          <p:nvPr/>
        </p:nvSpPr>
        <p:spPr>
          <a:xfrm>
            <a:off x="82486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23" name="step-body-3">
            <a:extLst>
              <a:ext uri="{FF2B5EF4-FFF2-40B4-BE49-F238E27FC236}">
                <a16:creationId xmlns:a16="http://schemas.microsoft.com/office/drawing/2014/main" id="{FD67D6E8-A1F2-96C4-BBD6-22508BE0146E}"/>
              </a:ext>
            </a:extLst>
          </p:cNvPr>
          <p:cNvSpPr>
            <a:spLocks noGrp="1"/>
          </p:cNvSpPr>
          <p:nvPr/>
        </p:nvSpPr>
        <p:spPr>
          <a:xfrm>
            <a:off x="82486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Estruturar mecanismos recorrentes de voz do cliente, combinando percepção e indicadores objetivos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Medir satisfação por jornada, segmento e principais momentos de contato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Transformar feedbacks, reclamações e reincidências em planos de ação estruturados</a:t>
            </a:r>
          </a:p>
        </p:txBody>
      </p:sp>
      <p:sp>
        <p:nvSpPr>
          <p:cNvPr id="25" name="objective-band">
            <a:extLst>
              <a:ext uri="{FF2B5EF4-FFF2-40B4-BE49-F238E27FC236}">
                <a16:creationId xmlns:a16="http://schemas.microsoft.com/office/drawing/2014/main" id="{B3E131CB-AF1A-6578-CC5A-1A680EF32042}"/>
              </a:ext>
            </a:extLst>
          </p:cNvPr>
          <p:cNvSpPr>
            <a:spLocks noGrp="1"/>
          </p:cNvSpPr>
          <p:nvPr/>
        </p:nvSpPr>
        <p:spPr>
          <a:xfrm>
            <a:off x="335998" y="1616891"/>
            <a:ext cx="9972000" cy="714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 lIns="1692000" anchor="ctr"/>
          <a:lstStyle/>
          <a:p>
            <a:pPr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b="1" dirty="0">
                <a:solidFill>
                  <a:srgbClr val="0B1220"/>
                </a:solidFill>
                <a:latin typeface="Abadi" panose="020B0604020104020204" pitchFamily="34" charset="77"/>
                <a:ea typeface="Arial"/>
                <a:cs typeface="Arial"/>
              </a:rPr>
              <a:t>Garantir uma experiência consistente e de alta qualidade em todos os pontos de contato, elevando a percepção de valor, confiança e satisfação dos clientes.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23B9AFD-5310-90C0-8CCC-7F094B9AC7AA}"/>
              </a:ext>
            </a:extLst>
          </p:cNvPr>
          <p:cNvSpPr/>
          <p:nvPr/>
        </p:nvSpPr>
        <p:spPr>
          <a:xfrm>
            <a:off x="341322" y="1601598"/>
            <a:ext cx="1515836" cy="71469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Satisfação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38C21C6-6270-9742-EB7D-0D48A8C07745}"/>
              </a:ext>
            </a:extLst>
          </p:cNvPr>
          <p:cNvSpPr/>
          <p:nvPr/>
        </p:nvSpPr>
        <p:spPr>
          <a:xfrm>
            <a:off x="10476089" y="1609244"/>
            <a:ext cx="1380948" cy="714699"/>
          </a:xfrm>
          <a:prstGeom prst="roundRect">
            <a:avLst/>
          </a:prstGeom>
          <a:solidFill>
            <a:srgbClr val="E36800"/>
          </a:solidFill>
          <a:ln w="11430">
            <a:solidFill>
              <a:srgbClr val="E368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COO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88EB45-E9EA-A0DB-23D2-E9DC56428C53}"/>
              </a:ext>
            </a:extLst>
          </p:cNvPr>
          <p:cNvSpPr/>
          <p:nvPr/>
        </p:nvSpPr>
        <p:spPr>
          <a:xfrm>
            <a:off x="10341201" y="296016"/>
            <a:ext cx="1515836" cy="246735"/>
          </a:xfrm>
          <a:prstGeom prst="rect">
            <a:avLst/>
          </a:prstGeom>
          <a:solidFill>
            <a:srgbClr val="C6D02C"/>
          </a:solidFill>
          <a:ln w="11430">
            <a:solidFill>
              <a:srgbClr val="C6D02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Cliente</a:t>
            </a:r>
          </a:p>
        </p:txBody>
      </p:sp>
      <p:sp>
        <p:nvSpPr>
          <p:cNvPr id="9" name="step-metric-2">
            <a:extLst>
              <a:ext uri="{FF2B5EF4-FFF2-40B4-BE49-F238E27FC236}">
                <a16:creationId xmlns:a16="http://schemas.microsoft.com/office/drawing/2014/main" id="{E0ACE511-B915-A1E5-20F6-4F3DD94017BA}"/>
              </a:ext>
            </a:extLst>
          </p:cNvPr>
          <p:cNvSpPr>
            <a:spLocks noGrp="1"/>
          </p:cNvSpPr>
          <p:nvPr/>
        </p:nvSpPr>
        <p:spPr>
          <a:xfrm>
            <a:off x="8219794" y="3263072"/>
            <a:ext cx="3637241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Satisfação em números</a:t>
            </a:r>
          </a:p>
        </p:txBody>
      </p:sp>
      <p:sp>
        <p:nvSpPr>
          <p:cNvPr id="26" name="step-title-2">
            <a:extLst>
              <a:ext uri="{FF2B5EF4-FFF2-40B4-BE49-F238E27FC236}">
                <a16:creationId xmlns:a16="http://schemas.microsoft.com/office/drawing/2014/main" id="{56DFC9AF-BEC2-A4B0-6058-81277B664315}"/>
              </a:ext>
            </a:extLst>
          </p:cNvPr>
          <p:cNvSpPr>
            <a:spLocks noGrp="1"/>
          </p:cNvSpPr>
          <p:nvPr/>
        </p:nvSpPr>
        <p:spPr>
          <a:xfrm>
            <a:off x="8724900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Voz do cliente</a:t>
            </a:r>
          </a:p>
        </p:txBody>
      </p:sp>
    </p:spTree>
    <p:extLst>
      <p:ext uri="{BB962C8B-B14F-4D97-AF65-F5344CB8AC3E}">
        <p14:creationId xmlns:p14="http://schemas.microsoft.com/office/powerpoint/2010/main" val="21323546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B2952-EAE4-B12B-E117-48BFA60D1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DB7D9B45-35CD-976E-6AB1-3DB3501A4D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7D9B45-35CD-976E-6AB1-3DB3501A4D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16FD398A-47D7-4507-5C80-9ABCE306C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Fidelizar clientes exige gerar valor de forma contínua, antecipar riscos no relacionamento e transformar confiança em recorrência e expansão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71FD16E-4459-9E9B-0470-DB0FEEAB8F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ATY</a:t>
            </a:r>
          </a:p>
          <a:p>
            <a:endParaRPr lang="pt-BR" noProof="1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BCB22730-C024-4E80-BCA9-943959240F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44B6F36-C879-3B82-41E1-4B99241528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pt-BR" noProof="1"/>
              <a:t>Ações estruturantes – Cliente – Fidelização</a:t>
            </a:r>
          </a:p>
          <a:p>
            <a:endParaRPr lang="pt-BR" noProof="1"/>
          </a:p>
          <a:p>
            <a:endParaRPr lang="pt-BR" noProof="1"/>
          </a:p>
        </p:txBody>
      </p:sp>
      <p:sp>
        <p:nvSpPr>
          <p:cNvPr id="50" name="Disclaimer_Box">
            <a:extLst>
              <a:ext uri="{FF2B5EF4-FFF2-40B4-BE49-F238E27FC236}">
                <a16:creationId xmlns:a16="http://schemas.microsoft.com/office/drawing/2014/main" id="{B6127956-71A3-11C7-3CEA-EB24E8B8E0C1}"/>
              </a:ext>
            </a:extLst>
          </p:cNvPr>
          <p:cNvSpPr txBox="1">
            <a:spLocks/>
          </p:cNvSpPr>
          <p:nvPr/>
        </p:nvSpPr>
        <p:spPr>
          <a:xfrm>
            <a:off x="9540697" y="1200149"/>
            <a:ext cx="231634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 sz="1200" b="1" kern="1200" baseline="0">
                <a:solidFill>
                  <a:schemeClr val="accent6"/>
                </a:solidFill>
                <a:latin typeface="Arial"/>
                <a:ea typeface="+mn-ea"/>
                <a:cs typeface="Arial"/>
              </a:defRPr>
            </a:lvl1pPr>
            <a:lvl2pPr marL="352425" marR="0" indent="-1651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9750" marR="0" indent="-1857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2" pitchFamily="18" charset="2"/>
              <a:buChar char=""/>
              <a:tabLst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712788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900113" marR="0" indent="-1857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</a:rPr>
              <a:t>Não Exaustivo | Para discussão</a:t>
            </a:r>
          </a:p>
        </p:txBody>
      </p:sp>
      <p:sp>
        <p:nvSpPr>
          <p:cNvPr id="4" name="step-circle-1">
            <a:extLst>
              <a:ext uri="{FF2B5EF4-FFF2-40B4-BE49-F238E27FC236}">
                <a16:creationId xmlns:a16="http://schemas.microsoft.com/office/drawing/2014/main" id="{FA76C744-AE75-17D7-0F75-6E4E47E3D8EF}"/>
              </a:ext>
            </a:extLst>
          </p:cNvPr>
          <p:cNvSpPr>
            <a:spLocks noGrp="1"/>
          </p:cNvSpPr>
          <p:nvPr/>
        </p:nvSpPr>
        <p:spPr>
          <a:xfrm>
            <a:off x="4000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1</a:t>
            </a:r>
          </a:p>
        </p:txBody>
      </p:sp>
      <p:sp>
        <p:nvSpPr>
          <p:cNvPr id="8" name="step-title-1">
            <a:extLst>
              <a:ext uri="{FF2B5EF4-FFF2-40B4-BE49-F238E27FC236}">
                <a16:creationId xmlns:a16="http://schemas.microsoft.com/office/drawing/2014/main" id="{601EAF24-EBD0-D0D5-AB5B-27D9881611B9}"/>
              </a:ext>
            </a:extLst>
          </p:cNvPr>
          <p:cNvSpPr>
            <a:spLocks noGrp="1"/>
          </p:cNvSpPr>
          <p:nvPr/>
        </p:nvSpPr>
        <p:spPr>
          <a:xfrm>
            <a:off x="9617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Somo especialistas</a:t>
            </a:r>
          </a:p>
        </p:txBody>
      </p:sp>
      <p:sp>
        <p:nvSpPr>
          <p:cNvPr id="11" name="step-metric-1">
            <a:extLst>
              <a:ext uri="{FF2B5EF4-FFF2-40B4-BE49-F238E27FC236}">
                <a16:creationId xmlns:a16="http://schemas.microsoft.com/office/drawing/2014/main" id="{FA492A71-6AD1-ECAE-D211-7C3BC607D653}"/>
              </a:ext>
            </a:extLst>
          </p:cNvPr>
          <p:cNvSpPr>
            <a:spLocks noGrp="1"/>
          </p:cNvSpPr>
          <p:nvPr/>
        </p:nvSpPr>
        <p:spPr>
          <a:xfrm>
            <a:off x="400050" y="3263072"/>
            <a:ext cx="3795432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Contribuições reais</a:t>
            </a:r>
          </a:p>
        </p:txBody>
      </p:sp>
      <p:sp>
        <p:nvSpPr>
          <p:cNvPr id="12" name="metric-rule-1">
            <a:extLst>
              <a:ext uri="{FF2B5EF4-FFF2-40B4-BE49-F238E27FC236}">
                <a16:creationId xmlns:a16="http://schemas.microsoft.com/office/drawing/2014/main" id="{AA68B8CA-FE1D-1785-DEED-35D42CDDF3BA}"/>
              </a:ext>
            </a:extLst>
          </p:cNvPr>
          <p:cNvSpPr>
            <a:spLocks noGrp="1"/>
          </p:cNvSpPr>
          <p:nvPr/>
        </p:nvSpPr>
        <p:spPr>
          <a:xfrm>
            <a:off x="4000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3" name="step-body-1">
            <a:extLst>
              <a:ext uri="{FF2B5EF4-FFF2-40B4-BE49-F238E27FC236}">
                <a16:creationId xmlns:a16="http://schemas.microsoft.com/office/drawing/2014/main" id="{F8BD4ACC-8107-EEA0-F9A7-6F6314D25DD0}"/>
              </a:ext>
            </a:extLst>
          </p:cNvPr>
          <p:cNvSpPr>
            <a:spLocks noGrp="1"/>
          </p:cNvSpPr>
          <p:nvPr/>
        </p:nvSpPr>
        <p:spPr>
          <a:xfrm>
            <a:off x="4000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Levar insights, recomendações e soluções </a:t>
            </a:r>
            <a:r>
              <a:rPr lang="pt-BR" sz="1400" dirty="0">
                <a:solidFill>
                  <a:schemeClr val="tx1"/>
                </a:solidFill>
                <a:latin typeface="Arial"/>
                <a:cs typeface="Arial"/>
              </a:rPr>
              <a:t>que ajudem o cliente a melhorar sua operação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chemeClr val="tx1"/>
                </a:solidFill>
                <a:latin typeface="Arial"/>
                <a:cs typeface="Arial"/>
              </a:rPr>
              <a:t>Transformar conhecimento técnico em propostas de melhoria e inovação para cada conta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chemeClr val="tx1"/>
                </a:solidFill>
                <a:latin typeface="Arial"/>
                <a:cs typeface="Arial"/>
              </a:rPr>
              <a:t>Venda técnica consult</a:t>
            </a: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iva</a:t>
            </a:r>
          </a:p>
        </p:txBody>
      </p:sp>
      <p:sp>
        <p:nvSpPr>
          <p:cNvPr id="14" name="step-circle-2">
            <a:extLst>
              <a:ext uri="{FF2B5EF4-FFF2-40B4-BE49-F238E27FC236}">
                <a16:creationId xmlns:a16="http://schemas.microsoft.com/office/drawing/2014/main" id="{F9DA6FA8-6E68-62F7-C07A-87E3B963111F}"/>
              </a:ext>
            </a:extLst>
          </p:cNvPr>
          <p:cNvSpPr>
            <a:spLocks noGrp="1"/>
          </p:cNvSpPr>
          <p:nvPr/>
        </p:nvSpPr>
        <p:spPr>
          <a:xfrm>
            <a:off x="43243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2</a:t>
            </a:r>
          </a:p>
        </p:txBody>
      </p:sp>
      <p:sp>
        <p:nvSpPr>
          <p:cNvPr id="15" name="step-title-2">
            <a:extLst>
              <a:ext uri="{FF2B5EF4-FFF2-40B4-BE49-F238E27FC236}">
                <a16:creationId xmlns:a16="http://schemas.microsoft.com/office/drawing/2014/main" id="{E2D7F5B8-EE82-2344-B57D-0E3CA00B936C}"/>
              </a:ext>
            </a:extLst>
          </p:cNvPr>
          <p:cNvSpPr>
            <a:spLocks noGrp="1"/>
          </p:cNvSpPr>
          <p:nvPr/>
        </p:nvSpPr>
        <p:spPr>
          <a:xfrm>
            <a:off x="48860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Proximidade estruturada</a:t>
            </a:r>
          </a:p>
        </p:txBody>
      </p:sp>
      <p:sp>
        <p:nvSpPr>
          <p:cNvPr id="16" name="step-metric-2">
            <a:extLst>
              <a:ext uri="{FF2B5EF4-FFF2-40B4-BE49-F238E27FC236}">
                <a16:creationId xmlns:a16="http://schemas.microsoft.com/office/drawing/2014/main" id="{35459EE0-BDCB-81D4-A912-CD8CEA954105}"/>
              </a:ext>
            </a:extLst>
          </p:cNvPr>
          <p:cNvSpPr>
            <a:spLocks noGrp="1"/>
          </p:cNvSpPr>
          <p:nvPr/>
        </p:nvSpPr>
        <p:spPr>
          <a:xfrm>
            <a:off x="4324349" y="3263072"/>
            <a:ext cx="3599193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Gestão ativa da carteira</a:t>
            </a:r>
          </a:p>
        </p:txBody>
      </p:sp>
      <p:sp>
        <p:nvSpPr>
          <p:cNvPr id="17" name="metric-rule-2">
            <a:extLst>
              <a:ext uri="{FF2B5EF4-FFF2-40B4-BE49-F238E27FC236}">
                <a16:creationId xmlns:a16="http://schemas.microsoft.com/office/drawing/2014/main" id="{0D20F471-E8E1-679B-8773-1EEEFA581E11}"/>
              </a:ext>
            </a:extLst>
          </p:cNvPr>
          <p:cNvSpPr>
            <a:spLocks noGrp="1"/>
          </p:cNvSpPr>
          <p:nvPr/>
        </p:nvSpPr>
        <p:spPr>
          <a:xfrm>
            <a:off x="43243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8" name="step-body-2">
            <a:extLst>
              <a:ext uri="{FF2B5EF4-FFF2-40B4-BE49-F238E27FC236}">
                <a16:creationId xmlns:a16="http://schemas.microsoft.com/office/drawing/2014/main" id="{CFDE672A-86F9-5C40-2022-F4E709D48B9E}"/>
              </a:ext>
            </a:extLst>
          </p:cNvPr>
          <p:cNvSpPr>
            <a:spLocks noGrp="1"/>
          </p:cNvSpPr>
          <p:nvPr/>
        </p:nvSpPr>
        <p:spPr>
          <a:xfrm>
            <a:off x="43243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chemeClr val="tx1"/>
                </a:solidFill>
                <a:latin typeface="Arial"/>
                <a:cs typeface="Arial"/>
              </a:rPr>
              <a:t>Ampliar o mapa de relacionamento nas contas validadas, reduzindo dependência de um único </a:t>
            </a: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interlocutor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Monitorar sinais de risco como queda de volume, reclamações, SLA e redução de </a:t>
            </a:r>
            <a:r>
              <a:rPr lang="pt-BR" sz="1400" dirty="0" err="1">
                <a:solidFill>
                  <a:srgbClr val="333333"/>
                </a:solidFill>
                <a:latin typeface="Arial"/>
                <a:cs typeface="Arial"/>
              </a:rPr>
              <a:t>share</a:t>
            </a:r>
            <a:endParaRPr lang="pt-BR" sz="1400" dirty="0">
              <a:solidFill>
                <a:srgbClr val="333333"/>
              </a:solidFill>
              <a:latin typeface="Arial"/>
              <a:cs typeface="Arial"/>
            </a:endParaRP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Criar planos de ação para clientes em risco, com responsáveis e acompanhamento até estabilização</a:t>
            </a:r>
          </a:p>
        </p:txBody>
      </p:sp>
      <p:sp>
        <p:nvSpPr>
          <p:cNvPr id="19" name="step-circle-3">
            <a:extLst>
              <a:ext uri="{FF2B5EF4-FFF2-40B4-BE49-F238E27FC236}">
                <a16:creationId xmlns:a16="http://schemas.microsoft.com/office/drawing/2014/main" id="{69C54740-2617-D03B-B9E4-FB9B79E3D896}"/>
              </a:ext>
            </a:extLst>
          </p:cNvPr>
          <p:cNvSpPr>
            <a:spLocks noGrp="1"/>
          </p:cNvSpPr>
          <p:nvPr/>
        </p:nvSpPr>
        <p:spPr>
          <a:xfrm>
            <a:off x="82486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  <a:latin typeface="Abadi" panose="020B0604020104020204" pitchFamily="34" charset="77"/>
              </a:rPr>
              <a:t>3</a:t>
            </a:r>
          </a:p>
        </p:txBody>
      </p:sp>
      <p:sp>
        <p:nvSpPr>
          <p:cNvPr id="20" name="step-title-3">
            <a:extLst>
              <a:ext uri="{FF2B5EF4-FFF2-40B4-BE49-F238E27FC236}">
                <a16:creationId xmlns:a16="http://schemas.microsoft.com/office/drawing/2014/main" id="{2FF3E41C-BE01-F03B-DF87-BCCD3520C4C9}"/>
              </a:ext>
            </a:extLst>
          </p:cNvPr>
          <p:cNvSpPr>
            <a:spLocks noGrp="1"/>
          </p:cNvSpPr>
          <p:nvPr/>
        </p:nvSpPr>
        <p:spPr>
          <a:xfrm>
            <a:off x="88103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endParaRPr lang="pt-BR" sz="2000" b="1" dirty="0">
              <a:solidFill>
                <a:schemeClr val="accent4"/>
              </a:solidFill>
              <a:latin typeface="Abadi" panose="020B0604020104020204" pitchFamily="34" charset="77"/>
              <a:ea typeface="Arial"/>
              <a:cs typeface="Arial"/>
            </a:endParaRPr>
          </a:p>
        </p:txBody>
      </p:sp>
      <p:sp>
        <p:nvSpPr>
          <p:cNvPr id="21" name="step-metric-3">
            <a:extLst>
              <a:ext uri="{FF2B5EF4-FFF2-40B4-BE49-F238E27FC236}">
                <a16:creationId xmlns:a16="http://schemas.microsoft.com/office/drawing/2014/main" id="{D5699F95-A115-66C0-09D2-6B7A6269184C}"/>
              </a:ext>
            </a:extLst>
          </p:cNvPr>
          <p:cNvSpPr>
            <a:spLocks noGrp="1"/>
          </p:cNvSpPr>
          <p:nvPr/>
        </p:nvSpPr>
        <p:spPr>
          <a:xfrm>
            <a:off x="8248649" y="3263072"/>
            <a:ext cx="3608387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endParaRPr lang="pt-BR" sz="2400" b="1" spc="-30" dirty="0">
              <a:latin typeface="Abadi" panose="020B0604020104020204" pitchFamily="34" charset="77"/>
              <a:cs typeface="Arial"/>
            </a:endParaRPr>
          </a:p>
        </p:txBody>
      </p:sp>
      <p:sp>
        <p:nvSpPr>
          <p:cNvPr id="22" name="metric-rule-3">
            <a:extLst>
              <a:ext uri="{FF2B5EF4-FFF2-40B4-BE49-F238E27FC236}">
                <a16:creationId xmlns:a16="http://schemas.microsoft.com/office/drawing/2014/main" id="{A433530F-645C-25DC-B655-8E6BE04D6C99}"/>
              </a:ext>
            </a:extLst>
          </p:cNvPr>
          <p:cNvSpPr>
            <a:spLocks noGrp="1"/>
          </p:cNvSpPr>
          <p:nvPr/>
        </p:nvSpPr>
        <p:spPr>
          <a:xfrm>
            <a:off x="82486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23" name="step-body-3">
            <a:extLst>
              <a:ext uri="{FF2B5EF4-FFF2-40B4-BE49-F238E27FC236}">
                <a16:creationId xmlns:a16="http://schemas.microsoft.com/office/drawing/2014/main" id="{5A51E29B-89D5-FF41-21B0-6613E59876D6}"/>
              </a:ext>
            </a:extLst>
          </p:cNvPr>
          <p:cNvSpPr>
            <a:spLocks noGrp="1"/>
          </p:cNvSpPr>
          <p:nvPr/>
        </p:nvSpPr>
        <p:spPr>
          <a:xfrm>
            <a:off x="82486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Medir retenção, recorrência, </a:t>
            </a:r>
            <a:r>
              <a:rPr lang="pt-BR" sz="1400" dirty="0" err="1">
                <a:solidFill>
                  <a:srgbClr val="333333"/>
                </a:solidFill>
                <a:latin typeface="Arial"/>
                <a:cs typeface="Arial"/>
              </a:rPr>
              <a:t>churn</a:t>
            </a: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 e </a:t>
            </a:r>
            <a:r>
              <a:rPr lang="pt-BR" sz="1400" dirty="0" err="1">
                <a:solidFill>
                  <a:srgbClr val="333333"/>
                </a:solidFill>
                <a:latin typeface="Arial"/>
                <a:cs typeface="Arial"/>
              </a:rPr>
              <a:t>share</a:t>
            </a: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lang="pt-BR" sz="1400" dirty="0" err="1">
                <a:solidFill>
                  <a:srgbClr val="333333"/>
                </a:solidFill>
                <a:latin typeface="Arial"/>
                <a:cs typeface="Arial"/>
              </a:rPr>
              <a:t>capturável</a:t>
            </a: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 por cliente e segmento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Estruturar planos de contas com objetivos claros de manutenção e expansão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Converter boa performance e relacionamento em novas oportunidades, ampliando serviços e participação na conta</a:t>
            </a:r>
          </a:p>
        </p:txBody>
      </p:sp>
      <p:sp>
        <p:nvSpPr>
          <p:cNvPr id="25" name="objective-band">
            <a:extLst>
              <a:ext uri="{FF2B5EF4-FFF2-40B4-BE49-F238E27FC236}">
                <a16:creationId xmlns:a16="http://schemas.microsoft.com/office/drawing/2014/main" id="{40D2C0C2-FA14-AC7F-CB8D-D18F6ABD1256}"/>
              </a:ext>
            </a:extLst>
          </p:cNvPr>
          <p:cNvSpPr>
            <a:spLocks noGrp="1"/>
          </p:cNvSpPr>
          <p:nvPr/>
        </p:nvSpPr>
        <p:spPr>
          <a:xfrm>
            <a:off x="335998" y="1616891"/>
            <a:ext cx="9972000" cy="714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 lIns="1692000" anchor="ctr"/>
          <a:lstStyle/>
          <a:p>
            <a:pPr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b="1" dirty="0">
                <a:solidFill>
                  <a:srgbClr val="0B1220"/>
                </a:solidFill>
                <a:latin typeface="Abadi" panose="020B0604020104020204" pitchFamily="34" charset="77"/>
                <a:ea typeface="Arial"/>
                <a:cs typeface="Arial"/>
              </a:rPr>
              <a:t>Fortalecer o relacionamento com os clientes por meio de uma entrega consistente, presença próxima, contribuição técnica qualificada e gestão eficiente do dia a dia, assegurando alto nível de serviço e ampliando retenção, recorrência e valor ao longo do tempo.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EEAA1B7-0D42-FA7F-4121-74A1115A36F2}"/>
              </a:ext>
            </a:extLst>
          </p:cNvPr>
          <p:cNvSpPr/>
          <p:nvPr/>
        </p:nvSpPr>
        <p:spPr>
          <a:xfrm>
            <a:off x="341322" y="1601598"/>
            <a:ext cx="1515836" cy="71469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Fidelização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6C352A3-CC73-7259-255C-0F3662D4AB2F}"/>
              </a:ext>
            </a:extLst>
          </p:cNvPr>
          <p:cNvSpPr/>
          <p:nvPr/>
        </p:nvSpPr>
        <p:spPr>
          <a:xfrm>
            <a:off x="10476089" y="1609244"/>
            <a:ext cx="1380948" cy="714699"/>
          </a:xfrm>
          <a:prstGeom prst="roundRect">
            <a:avLst/>
          </a:prstGeom>
          <a:solidFill>
            <a:srgbClr val="E36800"/>
          </a:solidFill>
          <a:ln w="11430">
            <a:solidFill>
              <a:srgbClr val="E368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CCO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23C477-1456-2A1D-6F59-3A0BB1C2110C}"/>
              </a:ext>
            </a:extLst>
          </p:cNvPr>
          <p:cNvSpPr/>
          <p:nvPr/>
        </p:nvSpPr>
        <p:spPr>
          <a:xfrm>
            <a:off x="10341201" y="296016"/>
            <a:ext cx="1515836" cy="246735"/>
          </a:xfrm>
          <a:prstGeom prst="rect">
            <a:avLst/>
          </a:prstGeom>
          <a:solidFill>
            <a:srgbClr val="C6D02C"/>
          </a:solidFill>
          <a:ln w="11430">
            <a:solidFill>
              <a:srgbClr val="C6D02C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Cliente</a:t>
            </a:r>
          </a:p>
        </p:txBody>
      </p:sp>
      <p:sp>
        <p:nvSpPr>
          <p:cNvPr id="9" name="step-metric-2">
            <a:extLst>
              <a:ext uri="{FF2B5EF4-FFF2-40B4-BE49-F238E27FC236}">
                <a16:creationId xmlns:a16="http://schemas.microsoft.com/office/drawing/2014/main" id="{12188CCF-2984-04FA-2C33-51CFC40633CE}"/>
              </a:ext>
            </a:extLst>
          </p:cNvPr>
          <p:cNvSpPr>
            <a:spLocks noGrp="1"/>
          </p:cNvSpPr>
          <p:nvPr/>
        </p:nvSpPr>
        <p:spPr>
          <a:xfrm>
            <a:off x="8219794" y="3263072"/>
            <a:ext cx="3637241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Expandir e melhorar</a:t>
            </a:r>
          </a:p>
        </p:txBody>
      </p:sp>
      <p:sp>
        <p:nvSpPr>
          <p:cNvPr id="26" name="step-title-2">
            <a:extLst>
              <a:ext uri="{FF2B5EF4-FFF2-40B4-BE49-F238E27FC236}">
                <a16:creationId xmlns:a16="http://schemas.microsoft.com/office/drawing/2014/main" id="{2F4B8349-5B7C-0AA6-F9A8-84364A5C9019}"/>
              </a:ext>
            </a:extLst>
          </p:cNvPr>
          <p:cNvSpPr>
            <a:spLocks noGrp="1"/>
          </p:cNvSpPr>
          <p:nvPr/>
        </p:nvSpPr>
        <p:spPr>
          <a:xfrm>
            <a:off x="8724900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Gerência da recorrência</a:t>
            </a:r>
          </a:p>
        </p:txBody>
      </p:sp>
    </p:spTree>
    <p:extLst>
      <p:ext uri="{BB962C8B-B14F-4D97-AF65-F5344CB8AC3E}">
        <p14:creationId xmlns:p14="http://schemas.microsoft.com/office/powerpoint/2010/main" val="16609243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A3A83-B8D3-F402-AF86-00CE7BB94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6D58F-203F-876C-11A1-DDA36D5BD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dirty="0"/>
              <a:t>Ações estruturantes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DD423-308E-88E0-5A22-EFA929BB99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noProof="1"/>
              <a:t>Estratégia</a:t>
            </a:r>
          </a:p>
          <a:p>
            <a:endParaRPr lang="en-B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5F83B-0BA0-CB9F-7350-B00BB64D36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6EC2F-C804-B714-261B-5677AB814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1583C4-6D9B-AA81-23B6-7E52132D7FD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61BF573-2F5E-660D-19C6-BE28398976FB}"/>
              </a:ext>
            </a:extLst>
          </p:cNvPr>
          <p:cNvSpPr>
            <a:spLocks noChangeAspect="1"/>
          </p:cNvSpPr>
          <p:nvPr/>
        </p:nvSpPr>
        <p:spPr>
          <a:xfrm>
            <a:off x="9267719" y="3104445"/>
            <a:ext cx="1865066" cy="936977"/>
          </a:xfrm>
          <a:prstGeom prst="roundRect">
            <a:avLst/>
          </a:prstGeom>
          <a:solidFill>
            <a:srgbClr val="63277F"/>
          </a:solidFill>
          <a:ln>
            <a:solidFill>
              <a:srgbClr val="6327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 dirty="0">
                <a:solidFill>
                  <a:schemeClr val="bg1"/>
                </a:solidFill>
              </a:rPr>
              <a:t>Time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1E088AB-F3CE-4497-A62D-44803F80B550}"/>
              </a:ext>
            </a:extLst>
          </p:cNvPr>
          <p:cNvSpPr>
            <a:spLocks noChangeAspect="1"/>
          </p:cNvSpPr>
          <p:nvPr/>
        </p:nvSpPr>
        <p:spPr>
          <a:xfrm>
            <a:off x="916341" y="3104445"/>
            <a:ext cx="1865066" cy="9369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 dirty="0">
                <a:solidFill>
                  <a:schemeClr val="bg1"/>
                </a:solidFill>
              </a:rPr>
              <a:t>Finanças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3FC1C51-7B0B-C59F-EA8D-98E04FABCE05}"/>
              </a:ext>
            </a:extLst>
          </p:cNvPr>
          <p:cNvSpPr>
            <a:spLocks noChangeAspect="1"/>
          </p:cNvSpPr>
          <p:nvPr/>
        </p:nvSpPr>
        <p:spPr>
          <a:xfrm>
            <a:off x="3035603" y="3104445"/>
            <a:ext cx="1865066" cy="9369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 dirty="0">
                <a:solidFill>
                  <a:schemeClr val="bg1"/>
                </a:solidFill>
              </a:rPr>
              <a:t>Operação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B423360-01A1-2D2F-EEBB-778FD610C0AA}"/>
              </a:ext>
            </a:extLst>
          </p:cNvPr>
          <p:cNvSpPr>
            <a:spLocks noChangeAspect="1"/>
          </p:cNvSpPr>
          <p:nvPr/>
        </p:nvSpPr>
        <p:spPr>
          <a:xfrm>
            <a:off x="5154865" y="3104445"/>
            <a:ext cx="1865066" cy="9369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>
                <a:solidFill>
                  <a:schemeClr val="bg1"/>
                </a:solidFill>
              </a:rPr>
              <a:t>Receita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1CA39CE-A6A4-5978-83B8-B636F30DC2C9}"/>
              </a:ext>
            </a:extLst>
          </p:cNvPr>
          <p:cNvSpPr>
            <a:spLocks noChangeAspect="1"/>
          </p:cNvSpPr>
          <p:nvPr/>
        </p:nvSpPr>
        <p:spPr>
          <a:xfrm>
            <a:off x="7222717" y="3104445"/>
            <a:ext cx="1865066" cy="9369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 dirty="0">
                <a:solidFill>
                  <a:schemeClr val="bg1"/>
                </a:solidFill>
              </a:rPr>
              <a:t>Cliente</a:t>
            </a:r>
          </a:p>
        </p:txBody>
      </p:sp>
    </p:spTree>
    <p:extLst>
      <p:ext uri="{BB962C8B-B14F-4D97-AF65-F5344CB8AC3E}">
        <p14:creationId xmlns:p14="http://schemas.microsoft.com/office/powerpoint/2010/main" val="12393085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27C8F-7562-FEF3-BEAF-A57CFD7AC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F8FEBF3C-2CCB-2161-6BC5-BCC4A449AFA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FEBF3C-2CCB-2161-6BC5-BCC4A449AF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1075405F-6E81-2271-5AC7-9AA2AD46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A evolução da liderança exige maior ownership sobre resultados, desenvolvimento contínuo e formação estruturada de sucessores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7B14A14-4343-8C9E-A315-F88DA1B680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ATY</a:t>
            </a:r>
          </a:p>
          <a:p>
            <a:endParaRPr lang="pt-BR" noProof="1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EE1B27F0-ECCE-6A91-8FC6-26307B7777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F46175-F6D1-D4AB-F72C-1ECDE60659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pt-BR" noProof="1"/>
              <a:t>Ações estruturantes – Time – Fortalecimento da Liderança</a:t>
            </a:r>
          </a:p>
          <a:p>
            <a:endParaRPr lang="pt-BR" noProof="1"/>
          </a:p>
          <a:p>
            <a:endParaRPr lang="pt-BR" noProof="1"/>
          </a:p>
          <a:p>
            <a:endParaRPr lang="pt-BR" noProof="1"/>
          </a:p>
        </p:txBody>
      </p:sp>
      <p:sp>
        <p:nvSpPr>
          <p:cNvPr id="50" name="Disclaimer_Box">
            <a:extLst>
              <a:ext uri="{FF2B5EF4-FFF2-40B4-BE49-F238E27FC236}">
                <a16:creationId xmlns:a16="http://schemas.microsoft.com/office/drawing/2014/main" id="{188FB90D-3722-B40F-109D-C31CFC14528B}"/>
              </a:ext>
            </a:extLst>
          </p:cNvPr>
          <p:cNvSpPr txBox="1">
            <a:spLocks/>
          </p:cNvSpPr>
          <p:nvPr/>
        </p:nvSpPr>
        <p:spPr>
          <a:xfrm>
            <a:off x="9540697" y="1200149"/>
            <a:ext cx="231634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 sz="1200" b="1" kern="1200" baseline="0">
                <a:solidFill>
                  <a:schemeClr val="accent6"/>
                </a:solidFill>
                <a:latin typeface="Arial"/>
                <a:ea typeface="+mn-ea"/>
                <a:cs typeface="Arial"/>
              </a:defRPr>
            </a:lvl1pPr>
            <a:lvl2pPr marL="352425" marR="0" indent="-1651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9750" marR="0" indent="-1857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2" pitchFamily="18" charset="2"/>
              <a:buChar char=""/>
              <a:tabLst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712788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900113" marR="0" indent="-1857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</a:rPr>
              <a:t>Não Exaustivo | Para discussão</a:t>
            </a:r>
          </a:p>
        </p:txBody>
      </p:sp>
      <p:sp>
        <p:nvSpPr>
          <p:cNvPr id="4" name="step-circle-1">
            <a:extLst>
              <a:ext uri="{FF2B5EF4-FFF2-40B4-BE49-F238E27FC236}">
                <a16:creationId xmlns:a16="http://schemas.microsoft.com/office/drawing/2014/main" id="{88928298-EE86-65DC-4090-217CA7A9D2C9}"/>
              </a:ext>
            </a:extLst>
          </p:cNvPr>
          <p:cNvSpPr>
            <a:spLocks noGrp="1"/>
          </p:cNvSpPr>
          <p:nvPr/>
        </p:nvSpPr>
        <p:spPr>
          <a:xfrm>
            <a:off x="4000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1</a:t>
            </a:r>
          </a:p>
        </p:txBody>
      </p:sp>
      <p:sp>
        <p:nvSpPr>
          <p:cNvPr id="8" name="step-title-1">
            <a:extLst>
              <a:ext uri="{FF2B5EF4-FFF2-40B4-BE49-F238E27FC236}">
                <a16:creationId xmlns:a16="http://schemas.microsoft.com/office/drawing/2014/main" id="{54C44F65-F755-8376-1129-BFA0F57149D4}"/>
              </a:ext>
            </a:extLst>
          </p:cNvPr>
          <p:cNvSpPr>
            <a:spLocks noGrp="1"/>
          </p:cNvSpPr>
          <p:nvPr/>
        </p:nvSpPr>
        <p:spPr>
          <a:xfrm>
            <a:off x="9617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Performance da liderança</a:t>
            </a:r>
          </a:p>
        </p:txBody>
      </p:sp>
      <p:sp>
        <p:nvSpPr>
          <p:cNvPr id="11" name="step-metric-1">
            <a:extLst>
              <a:ext uri="{FF2B5EF4-FFF2-40B4-BE49-F238E27FC236}">
                <a16:creationId xmlns:a16="http://schemas.microsoft.com/office/drawing/2014/main" id="{5D4A55F1-E10A-CA49-DE7C-D6C1507D1675}"/>
              </a:ext>
            </a:extLst>
          </p:cNvPr>
          <p:cNvSpPr>
            <a:spLocks noGrp="1"/>
          </p:cNvSpPr>
          <p:nvPr/>
        </p:nvSpPr>
        <p:spPr>
          <a:xfrm>
            <a:off x="400050" y="3263072"/>
            <a:ext cx="3795432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 err="1">
                <a:latin typeface="Abadi" panose="020B0604020104020204" pitchFamily="34" charset="77"/>
                <a:cs typeface="Arial"/>
              </a:rPr>
              <a:t>Ownership</a:t>
            </a:r>
            <a:r>
              <a:rPr lang="pt-BR" sz="2400" b="1" spc="-30" dirty="0">
                <a:latin typeface="Abadi" panose="020B0604020104020204" pitchFamily="34" charset="77"/>
                <a:cs typeface="Arial"/>
              </a:rPr>
              <a:t> dos resultado</a:t>
            </a:r>
          </a:p>
        </p:txBody>
      </p:sp>
      <p:sp>
        <p:nvSpPr>
          <p:cNvPr id="12" name="metric-rule-1">
            <a:extLst>
              <a:ext uri="{FF2B5EF4-FFF2-40B4-BE49-F238E27FC236}">
                <a16:creationId xmlns:a16="http://schemas.microsoft.com/office/drawing/2014/main" id="{9304E749-296E-F019-AFA1-5E3F0963A644}"/>
              </a:ext>
            </a:extLst>
          </p:cNvPr>
          <p:cNvSpPr>
            <a:spLocks noGrp="1"/>
          </p:cNvSpPr>
          <p:nvPr/>
        </p:nvSpPr>
        <p:spPr>
          <a:xfrm>
            <a:off x="4000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3" name="step-body-1">
            <a:extLst>
              <a:ext uri="{FF2B5EF4-FFF2-40B4-BE49-F238E27FC236}">
                <a16:creationId xmlns:a16="http://schemas.microsoft.com/office/drawing/2014/main" id="{5441B238-18BB-34F6-7F80-43C07B1ACC8D}"/>
              </a:ext>
            </a:extLst>
          </p:cNvPr>
          <p:cNvSpPr>
            <a:spLocks noGrp="1"/>
          </p:cNvSpPr>
          <p:nvPr/>
        </p:nvSpPr>
        <p:spPr>
          <a:xfrm>
            <a:off x="4000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Ajustar o modelo de metas e avaliação de líderes, conectando resultado, comportamento e </a:t>
            </a:r>
            <a:r>
              <a:rPr lang="pt-BR" sz="1400" dirty="0" err="1">
                <a:solidFill>
                  <a:srgbClr val="333333"/>
                </a:solidFill>
                <a:latin typeface="Arial"/>
                <a:cs typeface="Arial"/>
              </a:rPr>
              <a:t>ownership</a:t>
            </a:r>
            <a:endParaRPr lang="pt-BR" sz="1400" dirty="0">
              <a:solidFill>
                <a:srgbClr val="333333"/>
              </a:solidFill>
              <a:latin typeface="Arial"/>
              <a:cs typeface="Arial"/>
            </a:endParaRP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Construir avaliação específica de liderança, diferenciando desempenho e potencial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Definir claramente expectativas de performance para Heads e </a:t>
            </a:r>
            <a:r>
              <a:rPr lang="pt-BR" sz="1400" dirty="0" err="1">
                <a:solidFill>
                  <a:srgbClr val="333333"/>
                </a:solidFill>
                <a:latin typeface="Arial"/>
                <a:cs typeface="Arial"/>
              </a:rPr>
              <a:t>TLs</a:t>
            </a:r>
            <a:endParaRPr lang="pt-BR" sz="1400" dirty="0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14" name="step-circle-2">
            <a:extLst>
              <a:ext uri="{FF2B5EF4-FFF2-40B4-BE49-F238E27FC236}">
                <a16:creationId xmlns:a16="http://schemas.microsoft.com/office/drawing/2014/main" id="{2891DDE6-6EAB-5323-7D87-A5AE8B0E3FC7}"/>
              </a:ext>
            </a:extLst>
          </p:cNvPr>
          <p:cNvSpPr>
            <a:spLocks noGrp="1"/>
          </p:cNvSpPr>
          <p:nvPr/>
        </p:nvSpPr>
        <p:spPr>
          <a:xfrm>
            <a:off x="43243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2</a:t>
            </a:r>
          </a:p>
        </p:txBody>
      </p:sp>
      <p:sp>
        <p:nvSpPr>
          <p:cNvPr id="15" name="step-title-2">
            <a:extLst>
              <a:ext uri="{FF2B5EF4-FFF2-40B4-BE49-F238E27FC236}">
                <a16:creationId xmlns:a16="http://schemas.microsoft.com/office/drawing/2014/main" id="{46140E9D-B533-48E8-D4CD-FD7050835432}"/>
              </a:ext>
            </a:extLst>
          </p:cNvPr>
          <p:cNvSpPr>
            <a:spLocks noGrp="1"/>
          </p:cNvSpPr>
          <p:nvPr/>
        </p:nvSpPr>
        <p:spPr>
          <a:xfrm>
            <a:off x="48860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Pipeline de liderança</a:t>
            </a:r>
          </a:p>
        </p:txBody>
      </p:sp>
      <p:sp>
        <p:nvSpPr>
          <p:cNvPr id="16" name="step-metric-2">
            <a:extLst>
              <a:ext uri="{FF2B5EF4-FFF2-40B4-BE49-F238E27FC236}">
                <a16:creationId xmlns:a16="http://schemas.microsoft.com/office/drawing/2014/main" id="{641AD3C5-4BAE-829F-AEAB-D5636D6C6FC7}"/>
              </a:ext>
            </a:extLst>
          </p:cNvPr>
          <p:cNvSpPr>
            <a:spLocks noGrp="1"/>
          </p:cNvSpPr>
          <p:nvPr/>
        </p:nvSpPr>
        <p:spPr>
          <a:xfrm>
            <a:off x="4324349" y="3263072"/>
            <a:ext cx="3599193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Desenvolvimento</a:t>
            </a:r>
          </a:p>
        </p:txBody>
      </p:sp>
      <p:sp>
        <p:nvSpPr>
          <p:cNvPr id="17" name="metric-rule-2">
            <a:extLst>
              <a:ext uri="{FF2B5EF4-FFF2-40B4-BE49-F238E27FC236}">
                <a16:creationId xmlns:a16="http://schemas.microsoft.com/office/drawing/2014/main" id="{9CD72780-9341-9FA6-628C-3B0178357BAD}"/>
              </a:ext>
            </a:extLst>
          </p:cNvPr>
          <p:cNvSpPr>
            <a:spLocks noGrp="1"/>
          </p:cNvSpPr>
          <p:nvPr/>
        </p:nvSpPr>
        <p:spPr>
          <a:xfrm>
            <a:off x="43243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8" name="step-body-2">
            <a:extLst>
              <a:ext uri="{FF2B5EF4-FFF2-40B4-BE49-F238E27FC236}">
                <a16:creationId xmlns:a16="http://schemas.microsoft.com/office/drawing/2014/main" id="{C5051006-89E9-A782-250D-F9D0CF91FB80}"/>
              </a:ext>
            </a:extLst>
          </p:cNvPr>
          <p:cNvSpPr>
            <a:spLocks noGrp="1"/>
          </p:cNvSpPr>
          <p:nvPr/>
        </p:nvSpPr>
        <p:spPr>
          <a:xfrm>
            <a:off x="43243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Mapear </a:t>
            </a:r>
            <a:r>
              <a:rPr lang="pt-BR" sz="1400" dirty="0" err="1">
                <a:solidFill>
                  <a:srgbClr val="333333"/>
                </a:solidFill>
                <a:latin typeface="Arial"/>
                <a:cs typeface="Arial"/>
              </a:rPr>
              <a:t>pessoas-chave</a:t>
            </a: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 e realizar assessment de carreira e nivelamento de remuneração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 Criar programa de desenvolvimento e capacitação de líderes conectado à cultura DMS</a:t>
            </a:r>
          </a:p>
        </p:txBody>
      </p:sp>
      <p:sp>
        <p:nvSpPr>
          <p:cNvPr id="19" name="step-circle-3">
            <a:extLst>
              <a:ext uri="{FF2B5EF4-FFF2-40B4-BE49-F238E27FC236}">
                <a16:creationId xmlns:a16="http://schemas.microsoft.com/office/drawing/2014/main" id="{68FD7915-36F4-1350-B575-5043C09FF2E0}"/>
              </a:ext>
            </a:extLst>
          </p:cNvPr>
          <p:cNvSpPr>
            <a:spLocks noGrp="1"/>
          </p:cNvSpPr>
          <p:nvPr/>
        </p:nvSpPr>
        <p:spPr>
          <a:xfrm>
            <a:off x="82486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  <a:latin typeface="Abadi" panose="020B0604020104020204" pitchFamily="34" charset="77"/>
              </a:rPr>
              <a:t>3</a:t>
            </a:r>
          </a:p>
        </p:txBody>
      </p:sp>
      <p:sp>
        <p:nvSpPr>
          <p:cNvPr id="20" name="step-title-3">
            <a:extLst>
              <a:ext uri="{FF2B5EF4-FFF2-40B4-BE49-F238E27FC236}">
                <a16:creationId xmlns:a16="http://schemas.microsoft.com/office/drawing/2014/main" id="{A0C27087-5D29-C4EF-978F-553A6786BAD6}"/>
              </a:ext>
            </a:extLst>
          </p:cNvPr>
          <p:cNvSpPr>
            <a:spLocks noGrp="1"/>
          </p:cNvSpPr>
          <p:nvPr/>
        </p:nvSpPr>
        <p:spPr>
          <a:xfrm>
            <a:off x="88103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endParaRPr lang="pt-BR" sz="2000" b="1" dirty="0">
              <a:solidFill>
                <a:schemeClr val="accent4"/>
              </a:solidFill>
              <a:latin typeface="Abadi" panose="020B0604020104020204" pitchFamily="34" charset="77"/>
              <a:ea typeface="Arial"/>
              <a:cs typeface="Arial"/>
            </a:endParaRPr>
          </a:p>
        </p:txBody>
      </p:sp>
      <p:sp>
        <p:nvSpPr>
          <p:cNvPr id="21" name="step-metric-3">
            <a:extLst>
              <a:ext uri="{FF2B5EF4-FFF2-40B4-BE49-F238E27FC236}">
                <a16:creationId xmlns:a16="http://schemas.microsoft.com/office/drawing/2014/main" id="{A86FD790-2694-A86C-6165-142CE6C83F65}"/>
              </a:ext>
            </a:extLst>
          </p:cNvPr>
          <p:cNvSpPr>
            <a:spLocks noGrp="1"/>
          </p:cNvSpPr>
          <p:nvPr/>
        </p:nvSpPr>
        <p:spPr>
          <a:xfrm>
            <a:off x="8248649" y="3263072"/>
            <a:ext cx="3608387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endParaRPr lang="pt-BR" sz="2400" b="1" spc="-30" dirty="0">
              <a:latin typeface="Abadi" panose="020B0604020104020204" pitchFamily="34" charset="77"/>
              <a:cs typeface="Arial"/>
            </a:endParaRPr>
          </a:p>
        </p:txBody>
      </p:sp>
      <p:sp>
        <p:nvSpPr>
          <p:cNvPr id="22" name="metric-rule-3">
            <a:extLst>
              <a:ext uri="{FF2B5EF4-FFF2-40B4-BE49-F238E27FC236}">
                <a16:creationId xmlns:a16="http://schemas.microsoft.com/office/drawing/2014/main" id="{F937BFFF-FD33-C196-DDBC-2AF83EDF18EE}"/>
              </a:ext>
            </a:extLst>
          </p:cNvPr>
          <p:cNvSpPr>
            <a:spLocks noGrp="1"/>
          </p:cNvSpPr>
          <p:nvPr/>
        </p:nvSpPr>
        <p:spPr>
          <a:xfrm>
            <a:off x="82486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23" name="step-body-3">
            <a:extLst>
              <a:ext uri="{FF2B5EF4-FFF2-40B4-BE49-F238E27FC236}">
                <a16:creationId xmlns:a16="http://schemas.microsoft.com/office/drawing/2014/main" id="{C457E00F-CDBF-7544-9A04-4C1C4C6192A4}"/>
              </a:ext>
            </a:extLst>
          </p:cNvPr>
          <p:cNvSpPr>
            <a:spLocks noGrp="1"/>
          </p:cNvSpPr>
          <p:nvPr/>
        </p:nvSpPr>
        <p:spPr>
          <a:xfrm>
            <a:off x="82486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Construir processo formal de sucessão para posições críticas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Definir planos de desenvolvimento dos sucessores identificados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Acompanhar prontidão dos sucessores e gaps para assumir novas posições</a:t>
            </a:r>
          </a:p>
        </p:txBody>
      </p:sp>
      <p:sp>
        <p:nvSpPr>
          <p:cNvPr id="25" name="objective-band">
            <a:extLst>
              <a:ext uri="{FF2B5EF4-FFF2-40B4-BE49-F238E27FC236}">
                <a16:creationId xmlns:a16="http://schemas.microsoft.com/office/drawing/2014/main" id="{73C4FE33-9BED-59AA-C373-C1891F9DED00}"/>
              </a:ext>
            </a:extLst>
          </p:cNvPr>
          <p:cNvSpPr>
            <a:spLocks noGrp="1"/>
          </p:cNvSpPr>
          <p:nvPr/>
        </p:nvSpPr>
        <p:spPr>
          <a:xfrm>
            <a:off x="335998" y="1616891"/>
            <a:ext cx="9972000" cy="714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 lIns="1692000" anchor="ctr"/>
          <a:lstStyle/>
          <a:p>
            <a:pPr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b="1" dirty="0">
                <a:solidFill>
                  <a:srgbClr val="0B1220"/>
                </a:solidFill>
                <a:latin typeface="Abadi" panose="020B0604020104020204" pitchFamily="34" charset="77"/>
                <a:ea typeface="Arial"/>
                <a:cs typeface="Arial"/>
              </a:rPr>
              <a:t>Construir um time de executivos de alta performance (Heads e </a:t>
            </a:r>
            <a:r>
              <a:rPr lang="pt-BR" b="1" dirty="0" err="1">
                <a:solidFill>
                  <a:srgbClr val="0B1220"/>
                </a:solidFill>
                <a:latin typeface="Abadi" panose="020B0604020104020204" pitchFamily="34" charset="77"/>
                <a:ea typeface="Arial"/>
                <a:cs typeface="Arial"/>
              </a:rPr>
              <a:t>TLs</a:t>
            </a:r>
            <a:r>
              <a:rPr lang="pt-BR" b="1" dirty="0">
                <a:solidFill>
                  <a:srgbClr val="0B1220"/>
                </a:solidFill>
                <a:latin typeface="Abadi" panose="020B0604020104020204" pitchFamily="34" charset="77"/>
                <a:ea typeface="Arial"/>
                <a:cs typeface="Arial"/>
              </a:rPr>
              <a:t>), através da evolução constante no ciclo de metas e avaliação de desempenho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2948EC3-7848-C663-EB61-AB67037DE9F6}"/>
              </a:ext>
            </a:extLst>
          </p:cNvPr>
          <p:cNvSpPr/>
          <p:nvPr/>
        </p:nvSpPr>
        <p:spPr>
          <a:xfrm>
            <a:off x="341322" y="1601598"/>
            <a:ext cx="1515836" cy="71469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Fortalecimento da Liderança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E3D1113-3A43-BE2F-940B-957011A01627}"/>
              </a:ext>
            </a:extLst>
          </p:cNvPr>
          <p:cNvSpPr/>
          <p:nvPr/>
        </p:nvSpPr>
        <p:spPr>
          <a:xfrm>
            <a:off x="10476089" y="1609244"/>
            <a:ext cx="1380948" cy="714699"/>
          </a:xfrm>
          <a:prstGeom prst="roundRect">
            <a:avLst/>
          </a:prstGeom>
          <a:solidFill>
            <a:srgbClr val="E36800"/>
          </a:solidFill>
          <a:ln w="11430">
            <a:solidFill>
              <a:srgbClr val="E368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Head HR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1128DA-DAB2-D8C0-5523-4F914E6ADC64}"/>
              </a:ext>
            </a:extLst>
          </p:cNvPr>
          <p:cNvSpPr/>
          <p:nvPr/>
        </p:nvSpPr>
        <p:spPr>
          <a:xfrm>
            <a:off x="10341201" y="296016"/>
            <a:ext cx="1515836" cy="246735"/>
          </a:xfrm>
          <a:prstGeom prst="rect">
            <a:avLst/>
          </a:prstGeom>
          <a:solidFill>
            <a:srgbClr val="63277F"/>
          </a:solidFill>
          <a:ln w="11430">
            <a:solidFill>
              <a:srgbClr val="63277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algn="ctr"/>
            <a:r>
              <a:rPr lang="en-BR" sz="1200" b="1" dirty="0">
                <a:solidFill>
                  <a:schemeClr val="bg1"/>
                </a:solidFill>
              </a:rPr>
              <a:t>Time</a:t>
            </a:r>
          </a:p>
        </p:txBody>
      </p:sp>
      <p:sp>
        <p:nvSpPr>
          <p:cNvPr id="9" name="step-metric-2">
            <a:extLst>
              <a:ext uri="{FF2B5EF4-FFF2-40B4-BE49-F238E27FC236}">
                <a16:creationId xmlns:a16="http://schemas.microsoft.com/office/drawing/2014/main" id="{F036D33D-6D47-D788-9897-57E13B370016}"/>
              </a:ext>
            </a:extLst>
          </p:cNvPr>
          <p:cNvSpPr>
            <a:spLocks noGrp="1"/>
          </p:cNvSpPr>
          <p:nvPr/>
        </p:nvSpPr>
        <p:spPr>
          <a:xfrm>
            <a:off x="8219794" y="3263072"/>
            <a:ext cx="3637241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Sucessão</a:t>
            </a:r>
          </a:p>
        </p:txBody>
      </p:sp>
      <p:sp>
        <p:nvSpPr>
          <p:cNvPr id="26" name="step-title-2">
            <a:extLst>
              <a:ext uri="{FF2B5EF4-FFF2-40B4-BE49-F238E27FC236}">
                <a16:creationId xmlns:a16="http://schemas.microsoft.com/office/drawing/2014/main" id="{1CFB4AF8-618F-7DEE-93B3-75B316AE1EAF}"/>
              </a:ext>
            </a:extLst>
          </p:cNvPr>
          <p:cNvSpPr>
            <a:spLocks noGrp="1"/>
          </p:cNvSpPr>
          <p:nvPr/>
        </p:nvSpPr>
        <p:spPr>
          <a:xfrm>
            <a:off x="8724900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Próximos líderes</a:t>
            </a:r>
          </a:p>
        </p:txBody>
      </p:sp>
    </p:spTree>
    <p:extLst>
      <p:ext uri="{BB962C8B-B14F-4D97-AF65-F5344CB8AC3E}">
        <p14:creationId xmlns:p14="http://schemas.microsoft.com/office/powerpoint/2010/main" val="34241173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29E10-469B-F1B5-BF61-51DBF51F4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87FB199F-A160-59AE-DA04-D74FAB1C0F1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7FB199F-A160-59AE-DA04-D74FAB1C0F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5CE7184B-9CD5-7036-EEF0-84C6226F8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Atrair e reter os melhores talentos exige competitividade salarial, reconhecimento por performance e perspectivas claras de desenvolvimento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610ECE4-204F-4A63-4DFE-30F8C3B50D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ATY</a:t>
            </a:r>
          </a:p>
          <a:p>
            <a:endParaRPr lang="pt-BR" noProof="1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14D231C5-168B-BF11-8F98-1D4F8674F8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68A06BE-DC6E-0A09-62DD-18DA42EE72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pt-BR" noProof="1"/>
              <a:t>Ações estruturantes – Time – Valorização de Pessoas</a:t>
            </a:r>
          </a:p>
          <a:p>
            <a:endParaRPr lang="pt-BR" noProof="1"/>
          </a:p>
          <a:p>
            <a:endParaRPr lang="pt-BR" noProof="1"/>
          </a:p>
          <a:p>
            <a:endParaRPr lang="pt-BR" noProof="1"/>
          </a:p>
          <a:p>
            <a:endParaRPr lang="pt-BR" noProof="1"/>
          </a:p>
        </p:txBody>
      </p:sp>
      <p:sp>
        <p:nvSpPr>
          <p:cNvPr id="50" name="Disclaimer_Box">
            <a:extLst>
              <a:ext uri="{FF2B5EF4-FFF2-40B4-BE49-F238E27FC236}">
                <a16:creationId xmlns:a16="http://schemas.microsoft.com/office/drawing/2014/main" id="{19E054E0-B6A8-C1E3-846E-D37332ACFC37}"/>
              </a:ext>
            </a:extLst>
          </p:cNvPr>
          <p:cNvSpPr txBox="1">
            <a:spLocks/>
          </p:cNvSpPr>
          <p:nvPr/>
        </p:nvSpPr>
        <p:spPr>
          <a:xfrm>
            <a:off x="9540697" y="1200149"/>
            <a:ext cx="231634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 sz="1200" b="1" kern="1200" baseline="0">
                <a:solidFill>
                  <a:schemeClr val="accent6"/>
                </a:solidFill>
                <a:latin typeface="Arial"/>
                <a:ea typeface="+mn-ea"/>
                <a:cs typeface="Arial"/>
              </a:defRPr>
            </a:lvl1pPr>
            <a:lvl2pPr marL="352425" marR="0" indent="-1651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9750" marR="0" indent="-1857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2" pitchFamily="18" charset="2"/>
              <a:buChar char=""/>
              <a:tabLst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712788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900113" marR="0" indent="-1857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</a:rPr>
              <a:t>Não Exaustivo | Para discussão</a:t>
            </a:r>
          </a:p>
        </p:txBody>
      </p:sp>
      <p:sp>
        <p:nvSpPr>
          <p:cNvPr id="4" name="step-circle-1">
            <a:extLst>
              <a:ext uri="{FF2B5EF4-FFF2-40B4-BE49-F238E27FC236}">
                <a16:creationId xmlns:a16="http://schemas.microsoft.com/office/drawing/2014/main" id="{78B15756-33DA-9323-AFAC-6FDDC35D4746}"/>
              </a:ext>
            </a:extLst>
          </p:cNvPr>
          <p:cNvSpPr>
            <a:spLocks noGrp="1"/>
          </p:cNvSpPr>
          <p:nvPr/>
        </p:nvSpPr>
        <p:spPr>
          <a:xfrm>
            <a:off x="4000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1</a:t>
            </a:r>
          </a:p>
        </p:txBody>
      </p:sp>
      <p:sp>
        <p:nvSpPr>
          <p:cNvPr id="8" name="step-title-1">
            <a:extLst>
              <a:ext uri="{FF2B5EF4-FFF2-40B4-BE49-F238E27FC236}">
                <a16:creationId xmlns:a16="http://schemas.microsoft.com/office/drawing/2014/main" id="{699F49DA-B6EE-2C95-A839-1702C42E4D7C}"/>
              </a:ext>
            </a:extLst>
          </p:cNvPr>
          <p:cNvSpPr>
            <a:spLocks noGrp="1"/>
          </p:cNvSpPr>
          <p:nvPr/>
        </p:nvSpPr>
        <p:spPr>
          <a:xfrm>
            <a:off x="9617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Cargos e salários</a:t>
            </a:r>
          </a:p>
        </p:txBody>
      </p:sp>
      <p:sp>
        <p:nvSpPr>
          <p:cNvPr id="11" name="step-metric-1">
            <a:extLst>
              <a:ext uri="{FF2B5EF4-FFF2-40B4-BE49-F238E27FC236}">
                <a16:creationId xmlns:a16="http://schemas.microsoft.com/office/drawing/2014/main" id="{7004DB06-2EBA-60DE-BAEB-7E9DF1BABFF0}"/>
              </a:ext>
            </a:extLst>
          </p:cNvPr>
          <p:cNvSpPr>
            <a:spLocks noGrp="1"/>
          </p:cNvSpPr>
          <p:nvPr/>
        </p:nvSpPr>
        <p:spPr>
          <a:xfrm>
            <a:off x="400050" y="3263072"/>
            <a:ext cx="3795432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Competitividade salarial</a:t>
            </a:r>
          </a:p>
        </p:txBody>
      </p:sp>
      <p:sp>
        <p:nvSpPr>
          <p:cNvPr id="12" name="metric-rule-1">
            <a:extLst>
              <a:ext uri="{FF2B5EF4-FFF2-40B4-BE49-F238E27FC236}">
                <a16:creationId xmlns:a16="http://schemas.microsoft.com/office/drawing/2014/main" id="{490E14A8-94E0-5891-81E7-850D01CB5F10}"/>
              </a:ext>
            </a:extLst>
          </p:cNvPr>
          <p:cNvSpPr>
            <a:spLocks noGrp="1"/>
          </p:cNvSpPr>
          <p:nvPr/>
        </p:nvSpPr>
        <p:spPr>
          <a:xfrm>
            <a:off x="4000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3" name="step-body-1">
            <a:extLst>
              <a:ext uri="{FF2B5EF4-FFF2-40B4-BE49-F238E27FC236}">
                <a16:creationId xmlns:a16="http://schemas.microsoft.com/office/drawing/2014/main" id="{1E305931-074A-C013-4E8D-5FCF548730E3}"/>
              </a:ext>
            </a:extLst>
          </p:cNvPr>
          <p:cNvSpPr>
            <a:spLocks noGrp="1"/>
          </p:cNvSpPr>
          <p:nvPr/>
        </p:nvSpPr>
        <p:spPr>
          <a:xfrm>
            <a:off x="4000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Revisar arquitetura de cargos, grades e faixas salariais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Definir posicionamento de remuneração por função e criticidade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Mapear distorções salariais de posições com maior turnover</a:t>
            </a:r>
          </a:p>
        </p:txBody>
      </p:sp>
      <p:sp>
        <p:nvSpPr>
          <p:cNvPr id="14" name="step-circle-2">
            <a:extLst>
              <a:ext uri="{FF2B5EF4-FFF2-40B4-BE49-F238E27FC236}">
                <a16:creationId xmlns:a16="http://schemas.microsoft.com/office/drawing/2014/main" id="{0E61310C-8E7E-6363-36BA-7C3C8C4DF7E3}"/>
              </a:ext>
            </a:extLst>
          </p:cNvPr>
          <p:cNvSpPr>
            <a:spLocks noGrp="1"/>
          </p:cNvSpPr>
          <p:nvPr/>
        </p:nvSpPr>
        <p:spPr>
          <a:xfrm>
            <a:off x="43243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2</a:t>
            </a:r>
          </a:p>
        </p:txBody>
      </p:sp>
      <p:sp>
        <p:nvSpPr>
          <p:cNvPr id="15" name="step-title-2">
            <a:extLst>
              <a:ext uri="{FF2B5EF4-FFF2-40B4-BE49-F238E27FC236}">
                <a16:creationId xmlns:a16="http://schemas.microsoft.com/office/drawing/2014/main" id="{A4516314-1E7A-8BCF-ADD7-5CCCCC3A490F}"/>
              </a:ext>
            </a:extLst>
          </p:cNvPr>
          <p:cNvSpPr>
            <a:spLocks noGrp="1"/>
          </p:cNvSpPr>
          <p:nvPr/>
        </p:nvSpPr>
        <p:spPr>
          <a:xfrm>
            <a:off x="4886045" y="2578424"/>
            <a:ext cx="2602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cs typeface="Arial"/>
              </a:rPr>
              <a:t>Desenvolvimento Organizacional</a:t>
            </a:r>
          </a:p>
        </p:txBody>
      </p:sp>
      <p:sp>
        <p:nvSpPr>
          <p:cNvPr id="16" name="step-metric-2">
            <a:extLst>
              <a:ext uri="{FF2B5EF4-FFF2-40B4-BE49-F238E27FC236}">
                <a16:creationId xmlns:a16="http://schemas.microsoft.com/office/drawing/2014/main" id="{23705F97-3699-0A3F-1D44-33896921DE1F}"/>
              </a:ext>
            </a:extLst>
          </p:cNvPr>
          <p:cNvSpPr>
            <a:spLocks noGrp="1"/>
          </p:cNvSpPr>
          <p:nvPr/>
        </p:nvSpPr>
        <p:spPr>
          <a:xfrm>
            <a:off x="4324349" y="3263072"/>
            <a:ext cx="3599193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Formação de Talentos</a:t>
            </a:r>
          </a:p>
        </p:txBody>
      </p:sp>
      <p:sp>
        <p:nvSpPr>
          <p:cNvPr id="17" name="metric-rule-2">
            <a:extLst>
              <a:ext uri="{FF2B5EF4-FFF2-40B4-BE49-F238E27FC236}">
                <a16:creationId xmlns:a16="http://schemas.microsoft.com/office/drawing/2014/main" id="{E166A5C6-719A-4937-21D3-5950477FB509}"/>
              </a:ext>
            </a:extLst>
          </p:cNvPr>
          <p:cNvSpPr>
            <a:spLocks noGrp="1"/>
          </p:cNvSpPr>
          <p:nvPr/>
        </p:nvSpPr>
        <p:spPr>
          <a:xfrm>
            <a:off x="43243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8" name="step-body-2">
            <a:extLst>
              <a:ext uri="{FF2B5EF4-FFF2-40B4-BE49-F238E27FC236}">
                <a16:creationId xmlns:a16="http://schemas.microsoft.com/office/drawing/2014/main" id="{BD88E8FE-21D0-05A1-4B48-2FD7C04AD03D}"/>
              </a:ext>
            </a:extLst>
          </p:cNvPr>
          <p:cNvSpPr>
            <a:spLocks noGrp="1"/>
          </p:cNvSpPr>
          <p:nvPr/>
        </p:nvSpPr>
        <p:spPr>
          <a:xfrm>
            <a:off x="43243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chemeClr val="tx1"/>
                </a:solidFill>
              </a:rPr>
              <a:t>Estruturar o Programa de Formação DMS, consolidando o “Jeito DMS de Operar” e preparando a organização para sustentar o crescimento e atender às necessidades futuras do negócio.</a:t>
            </a:r>
            <a:r>
              <a:rPr lang="pt-BR" sz="14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chemeClr val="tx1"/>
                </a:solidFill>
              </a:rPr>
              <a:t>Desenvolver e fortalecer o time, atraindo, formando e retendo profissionais de alto desempenho e referência no mercado</a:t>
            </a:r>
            <a:r>
              <a:rPr lang="pt-BR" sz="1400" dirty="0">
                <a:solidFill>
                  <a:srgbClr val="FF0000"/>
                </a:solidFill>
              </a:rPr>
              <a:t>.</a:t>
            </a:r>
            <a:endParaRPr lang="pt-BR" sz="1400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9" name="step-circle-3">
            <a:extLst>
              <a:ext uri="{FF2B5EF4-FFF2-40B4-BE49-F238E27FC236}">
                <a16:creationId xmlns:a16="http://schemas.microsoft.com/office/drawing/2014/main" id="{57DCBE46-7D07-012E-0DB7-57A53E4A5995}"/>
              </a:ext>
            </a:extLst>
          </p:cNvPr>
          <p:cNvSpPr>
            <a:spLocks noGrp="1"/>
          </p:cNvSpPr>
          <p:nvPr/>
        </p:nvSpPr>
        <p:spPr>
          <a:xfrm>
            <a:off x="82486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  <a:latin typeface="Abadi" panose="020B0604020104020204" pitchFamily="34" charset="77"/>
              </a:rPr>
              <a:t>3</a:t>
            </a:r>
          </a:p>
        </p:txBody>
      </p:sp>
      <p:sp>
        <p:nvSpPr>
          <p:cNvPr id="20" name="step-title-3">
            <a:extLst>
              <a:ext uri="{FF2B5EF4-FFF2-40B4-BE49-F238E27FC236}">
                <a16:creationId xmlns:a16="http://schemas.microsoft.com/office/drawing/2014/main" id="{FB308D90-F81C-F720-2E7B-94E5954B142F}"/>
              </a:ext>
            </a:extLst>
          </p:cNvPr>
          <p:cNvSpPr>
            <a:spLocks noGrp="1"/>
          </p:cNvSpPr>
          <p:nvPr/>
        </p:nvSpPr>
        <p:spPr>
          <a:xfrm>
            <a:off x="88103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endParaRPr lang="pt-BR" sz="2000" b="1" dirty="0">
              <a:solidFill>
                <a:schemeClr val="accent4"/>
              </a:solidFill>
              <a:latin typeface="Abadi" panose="020B0604020104020204" pitchFamily="34" charset="77"/>
              <a:ea typeface="Arial"/>
              <a:cs typeface="Arial"/>
            </a:endParaRPr>
          </a:p>
        </p:txBody>
      </p:sp>
      <p:sp>
        <p:nvSpPr>
          <p:cNvPr id="21" name="step-metric-3">
            <a:extLst>
              <a:ext uri="{FF2B5EF4-FFF2-40B4-BE49-F238E27FC236}">
                <a16:creationId xmlns:a16="http://schemas.microsoft.com/office/drawing/2014/main" id="{B3EEE578-8E7F-69EC-9498-3D3684FFEF7D}"/>
              </a:ext>
            </a:extLst>
          </p:cNvPr>
          <p:cNvSpPr>
            <a:spLocks noGrp="1"/>
          </p:cNvSpPr>
          <p:nvPr/>
        </p:nvSpPr>
        <p:spPr>
          <a:xfrm>
            <a:off x="8248649" y="3263072"/>
            <a:ext cx="3608387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endParaRPr lang="pt-BR" sz="2400" b="1" spc="-30" dirty="0">
              <a:latin typeface="Abadi" panose="020B0604020104020204" pitchFamily="34" charset="77"/>
              <a:cs typeface="Arial"/>
            </a:endParaRPr>
          </a:p>
        </p:txBody>
      </p:sp>
      <p:sp>
        <p:nvSpPr>
          <p:cNvPr id="22" name="metric-rule-3">
            <a:extLst>
              <a:ext uri="{FF2B5EF4-FFF2-40B4-BE49-F238E27FC236}">
                <a16:creationId xmlns:a16="http://schemas.microsoft.com/office/drawing/2014/main" id="{821E80AE-FEE7-4345-AC36-1B63485CC376}"/>
              </a:ext>
            </a:extLst>
          </p:cNvPr>
          <p:cNvSpPr>
            <a:spLocks noGrp="1"/>
          </p:cNvSpPr>
          <p:nvPr/>
        </p:nvSpPr>
        <p:spPr>
          <a:xfrm>
            <a:off x="82486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23" name="step-body-3">
            <a:extLst>
              <a:ext uri="{FF2B5EF4-FFF2-40B4-BE49-F238E27FC236}">
                <a16:creationId xmlns:a16="http://schemas.microsoft.com/office/drawing/2014/main" id="{67BED3D2-22EF-8F55-D591-D60F52D38613}"/>
              </a:ext>
            </a:extLst>
          </p:cNvPr>
          <p:cNvSpPr>
            <a:spLocks noGrp="1"/>
          </p:cNvSpPr>
          <p:nvPr/>
        </p:nvSpPr>
        <p:spPr>
          <a:xfrm>
            <a:off x="82486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Estruturar recrutamento interno para posições de maior complexidade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Mapear </a:t>
            </a:r>
            <a:r>
              <a:rPr lang="pt-BR" sz="1400" dirty="0">
                <a:solidFill>
                  <a:schemeClr val="tx1"/>
                </a:solidFill>
                <a:latin typeface="Arial"/>
                <a:cs typeface="Arial"/>
              </a:rPr>
              <a:t>pessoas (interno e externo) </a:t>
            </a: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de alto impacto à operação da empresa para priorização de recrutamento interno</a:t>
            </a:r>
          </a:p>
        </p:txBody>
      </p:sp>
      <p:sp>
        <p:nvSpPr>
          <p:cNvPr id="25" name="objective-band">
            <a:extLst>
              <a:ext uri="{FF2B5EF4-FFF2-40B4-BE49-F238E27FC236}">
                <a16:creationId xmlns:a16="http://schemas.microsoft.com/office/drawing/2014/main" id="{54CEF4D2-AC6C-0E90-BDB5-6193C9D3D58A}"/>
              </a:ext>
            </a:extLst>
          </p:cNvPr>
          <p:cNvSpPr>
            <a:spLocks noGrp="1"/>
          </p:cNvSpPr>
          <p:nvPr/>
        </p:nvSpPr>
        <p:spPr>
          <a:xfrm>
            <a:off x="335998" y="1616891"/>
            <a:ext cx="9972000" cy="714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 lIns="1692000" anchor="ctr"/>
          <a:lstStyle/>
          <a:p>
            <a:pPr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b="1" dirty="0">
                <a:solidFill>
                  <a:srgbClr val="0B1220"/>
                </a:solidFill>
                <a:latin typeface="Abadi" panose="020B0604020104020204" pitchFamily="34" charset="77"/>
                <a:ea typeface="Arial"/>
                <a:cs typeface="Arial"/>
              </a:rPr>
              <a:t>Fortalecer a política de remuneração permitindo atrair e reter os melhores profissionais, alinhada à performance, aos resultados e aos objetivos estratégicos da companhia.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F411D3E-67E5-5CCF-77C7-7F8C26C55F01}"/>
              </a:ext>
            </a:extLst>
          </p:cNvPr>
          <p:cNvSpPr/>
          <p:nvPr/>
        </p:nvSpPr>
        <p:spPr>
          <a:xfrm>
            <a:off x="341322" y="1601598"/>
            <a:ext cx="1515836" cy="71469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Valorização de Pessoas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524E78D-9DDC-6F09-50BA-65D49E6CFD14}"/>
              </a:ext>
            </a:extLst>
          </p:cNvPr>
          <p:cNvSpPr/>
          <p:nvPr/>
        </p:nvSpPr>
        <p:spPr>
          <a:xfrm>
            <a:off x="10476089" y="1609244"/>
            <a:ext cx="1380948" cy="714699"/>
          </a:xfrm>
          <a:prstGeom prst="roundRect">
            <a:avLst/>
          </a:prstGeom>
          <a:solidFill>
            <a:srgbClr val="E36800"/>
          </a:solidFill>
          <a:ln w="11430">
            <a:solidFill>
              <a:srgbClr val="E368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Head HR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7408C3-35EA-367B-9E29-FD6944F90D24}"/>
              </a:ext>
            </a:extLst>
          </p:cNvPr>
          <p:cNvSpPr/>
          <p:nvPr/>
        </p:nvSpPr>
        <p:spPr>
          <a:xfrm>
            <a:off x="10341201" y="296016"/>
            <a:ext cx="1515836" cy="246735"/>
          </a:xfrm>
          <a:prstGeom prst="rect">
            <a:avLst/>
          </a:prstGeom>
          <a:solidFill>
            <a:srgbClr val="63277F"/>
          </a:solidFill>
          <a:ln w="11430">
            <a:solidFill>
              <a:srgbClr val="63277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algn="ctr"/>
            <a:r>
              <a:rPr lang="en-BR" sz="1200" b="1" dirty="0">
                <a:solidFill>
                  <a:schemeClr val="bg1"/>
                </a:solidFill>
              </a:rPr>
              <a:t>Time</a:t>
            </a:r>
          </a:p>
        </p:txBody>
      </p:sp>
      <p:sp>
        <p:nvSpPr>
          <p:cNvPr id="9" name="step-metric-2">
            <a:extLst>
              <a:ext uri="{FF2B5EF4-FFF2-40B4-BE49-F238E27FC236}">
                <a16:creationId xmlns:a16="http://schemas.microsoft.com/office/drawing/2014/main" id="{D7EA43AA-2F92-4A61-D155-72B747E8CDE7}"/>
              </a:ext>
            </a:extLst>
          </p:cNvPr>
          <p:cNvSpPr>
            <a:spLocks noGrp="1"/>
          </p:cNvSpPr>
          <p:nvPr/>
        </p:nvSpPr>
        <p:spPr>
          <a:xfrm>
            <a:off x="8219794" y="3263072"/>
            <a:ext cx="3637241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Reter e desenvolver</a:t>
            </a:r>
          </a:p>
        </p:txBody>
      </p:sp>
      <p:sp>
        <p:nvSpPr>
          <p:cNvPr id="26" name="step-title-2">
            <a:extLst>
              <a:ext uri="{FF2B5EF4-FFF2-40B4-BE49-F238E27FC236}">
                <a16:creationId xmlns:a16="http://schemas.microsoft.com/office/drawing/2014/main" id="{EEF2C533-E279-AC5F-2E8C-5BABBDDE9EED}"/>
              </a:ext>
            </a:extLst>
          </p:cNvPr>
          <p:cNvSpPr>
            <a:spLocks noGrp="1"/>
          </p:cNvSpPr>
          <p:nvPr/>
        </p:nvSpPr>
        <p:spPr>
          <a:xfrm>
            <a:off x="8724900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Mobilidade e retenção</a:t>
            </a:r>
          </a:p>
        </p:txBody>
      </p:sp>
    </p:spTree>
    <p:extLst>
      <p:ext uri="{BB962C8B-B14F-4D97-AF65-F5344CB8AC3E}">
        <p14:creationId xmlns:p14="http://schemas.microsoft.com/office/powerpoint/2010/main" val="19492827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12544-7A70-4A87-6CFC-3FAAA5AB5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12B0EEA4-E5F0-F08C-D73B-26D6B99D6FD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B0EEA4-E5F0-F08C-D73B-26D6B99D6F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55C6F155-7BBC-FA31-2620-9BB10E0A6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Fortalecer a cultura DMS exige traduzir valores em comportamentos, incorporá-los ao dia a dia e disseminá-los de forma consistente pela organização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888BE4B-31DA-D3E4-4E67-294F70AADC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ATY</a:t>
            </a:r>
          </a:p>
          <a:p>
            <a:endParaRPr lang="pt-BR" noProof="1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471F56E2-D0B3-FCF4-BE34-595919F6E5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C53B0FF-5CDD-CAE9-3B18-B17B0B88F3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pt-BR" noProof="1"/>
              <a:t>Ações estruturantes – Time – Cultura</a:t>
            </a:r>
          </a:p>
          <a:p>
            <a:endParaRPr lang="pt-BR" noProof="1"/>
          </a:p>
          <a:p>
            <a:endParaRPr lang="pt-BR" noProof="1"/>
          </a:p>
          <a:p>
            <a:endParaRPr lang="pt-BR" noProof="1"/>
          </a:p>
          <a:p>
            <a:endParaRPr lang="pt-BR" noProof="1"/>
          </a:p>
        </p:txBody>
      </p:sp>
      <p:sp>
        <p:nvSpPr>
          <p:cNvPr id="50" name="Disclaimer_Box">
            <a:extLst>
              <a:ext uri="{FF2B5EF4-FFF2-40B4-BE49-F238E27FC236}">
                <a16:creationId xmlns:a16="http://schemas.microsoft.com/office/drawing/2014/main" id="{205AD79F-EAD6-2487-9160-76B0D9589442}"/>
              </a:ext>
            </a:extLst>
          </p:cNvPr>
          <p:cNvSpPr txBox="1">
            <a:spLocks/>
          </p:cNvSpPr>
          <p:nvPr/>
        </p:nvSpPr>
        <p:spPr>
          <a:xfrm>
            <a:off x="9540697" y="1200149"/>
            <a:ext cx="231634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 sz="1200" b="1" kern="1200" baseline="0">
                <a:solidFill>
                  <a:schemeClr val="accent6"/>
                </a:solidFill>
                <a:latin typeface="Arial"/>
                <a:ea typeface="+mn-ea"/>
                <a:cs typeface="Arial"/>
              </a:defRPr>
            </a:lvl1pPr>
            <a:lvl2pPr marL="352425" marR="0" indent="-1651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9750" marR="0" indent="-1857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2" pitchFamily="18" charset="2"/>
              <a:buChar char=""/>
              <a:tabLst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712788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900113" marR="0" indent="-1857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</a:rPr>
              <a:t>Não Exaustivo | Para discussão</a:t>
            </a:r>
          </a:p>
        </p:txBody>
      </p:sp>
      <p:sp>
        <p:nvSpPr>
          <p:cNvPr id="4" name="step-circle-1">
            <a:extLst>
              <a:ext uri="{FF2B5EF4-FFF2-40B4-BE49-F238E27FC236}">
                <a16:creationId xmlns:a16="http://schemas.microsoft.com/office/drawing/2014/main" id="{B76518EC-855B-290F-4F40-312F6F0EAE9F}"/>
              </a:ext>
            </a:extLst>
          </p:cNvPr>
          <p:cNvSpPr>
            <a:spLocks noGrp="1"/>
          </p:cNvSpPr>
          <p:nvPr/>
        </p:nvSpPr>
        <p:spPr>
          <a:xfrm>
            <a:off x="4000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1</a:t>
            </a:r>
          </a:p>
        </p:txBody>
      </p:sp>
      <p:sp>
        <p:nvSpPr>
          <p:cNvPr id="8" name="step-title-1">
            <a:extLst>
              <a:ext uri="{FF2B5EF4-FFF2-40B4-BE49-F238E27FC236}">
                <a16:creationId xmlns:a16="http://schemas.microsoft.com/office/drawing/2014/main" id="{7D8B2F48-E7DC-8B5D-7D63-A49B651E4732}"/>
              </a:ext>
            </a:extLst>
          </p:cNvPr>
          <p:cNvSpPr>
            <a:spLocks noGrp="1"/>
          </p:cNvSpPr>
          <p:nvPr/>
        </p:nvSpPr>
        <p:spPr>
          <a:xfrm>
            <a:off x="9617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Cultura DMS</a:t>
            </a:r>
          </a:p>
        </p:txBody>
      </p:sp>
      <p:sp>
        <p:nvSpPr>
          <p:cNvPr id="11" name="step-metric-1">
            <a:extLst>
              <a:ext uri="{FF2B5EF4-FFF2-40B4-BE49-F238E27FC236}">
                <a16:creationId xmlns:a16="http://schemas.microsoft.com/office/drawing/2014/main" id="{66646E53-0601-531B-F3E4-0C8A0BA8565F}"/>
              </a:ext>
            </a:extLst>
          </p:cNvPr>
          <p:cNvSpPr>
            <a:spLocks noGrp="1"/>
          </p:cNvSpPr>
          <p:nvPr/>
        </p:nvSpPr>
        <p:spPr>
          <a:xfrm>
            <a:off x="400050" y="3263072"/>
            <a:ext cx="3795432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Valores e comportamentos</a:t>
            </a:r>
          </a:p>
        </p:txBody>
      </p:sp>
      <p:sp>
        <p:nvSpPr>
          <p:cNvPr id="12" name="metric-rule-1">
            <a:extLst>
              <a:ext uri="{FF2B5EF4-FFF2-40B4-BE49-F238E27FC236}">
                <a16:creationId xmlns:a16="http://schemas.microsoft.com/office/drawing/2014/main" id="{63B13ACC-ECF1-D76C-BA0E-BB76220BA511}"/>
              </a:ext>
            </a:extLst>
          </p:cNvPr>
          <p:cNvSpPr>
            <a:spLocks noGrp="1"/>
          </p:cNvSpPr>
          <p:nvPr/>
        </p:nvSpPr>
        <p:spPr>
          <a:xfrm>
            <a:off x="4000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3" name="step-body-1">
            <a:extLst>
              <a:ext uri="{FF2B5EF4-FFF2-40B4-BE49-F238E27FC236}">
                <a16:creationId xmlns:a16="http://schemas.microsoft.com/office/drawing/2014/main" id="{66D8DE5D-DE83-D3EE-8308-77EA15C628C9}"/>
              </a:ext>
            </a:extLst>
          </p:cNvPr>
          <p:cNvSpPr>
            <a:spLocks noGrp="1"/>
          </p:cNvSpPr>
          <p:nvPr/>
        </p:nvSpPr>
        <p:spPr>
          <a:xfrm>
            <a:off x="400050" y="3997812"/>
            <a:ext cx="5310468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Traduzir visão dos sócios em valores tangíveis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Revisar e consolidar os valores que irão nortear a cultura DMS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Traduzir os valores em comportamentos observáveis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Definir claramente comportamentos desejáveis e não aceitáveis</a:t>
            </a:r>
          </a:p>
        </p:txBody>
      </p:sp>
      <p:sp>
        <p:nvSpPr>
          <p:cNvPr id="14" name="step-circle-2">
            <a:extLst>
              <a:ext uri="{FF2B5EF4-FFF2-40B4-BE49-F238E27FC236}">
                <a16:creationId xmlns:a16="http://schemas.microsoft.com/office/drawing/2014/main" id="{8A7F8FD8-47CA-16AA-61B9-09D40163428C}"/>
              </a:ext>
            </a:extLst>
          </p:cNvPr>
          <p:cNvSpPr>
            <a:spLocks noGrp="1"/>
          </p:cNvSpPr>
          <p:nvPr/>
        </p:nvSpPr>
        <p:spPr>
          <a:xfrm>
            <a:off x="6229632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2</a:t>
            </a:r>
          </a:p>
        </p:txBody>
      </p:sp>
      <p:sp>
        <p:nvSpPr>
          <p:cNvPr id="15" name="step-title-2">
            <a:extLst>
              <a:ext uri="{FF2B5EF4-FFF2-40B4-BE49-F238E27FC236}">
                <a16:creationId xmlns:a16="http://schemas.microsoft.com/office/drawing/2014/main" id="{5CA53AC6-12A3-56D1-6CF4-421B42BCC204}"/>
              </a:ext>
            </a:extLst>
          </p:cNvPr>
          <p:cNvSpPr>
            <a:spLocks noGrp="1"/>
          </p:cNvSpPr>
          <p:nvPr/>
        </p:nvSpPr>
        <p:spPr>
          <a:xfrm>
            <a:off x="6791327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Engajamento e clima</a:t>
            </a:r>
          </a:p>
        </p:txBody>
      </p:sp>
      <p:sp>
        <p:nvSpPr>
          <p:cNvPr id="16" name="step-metric-2">
            <a:extLst>
              <a:ext uri="{FF2B5EF4-FFF2-40B4-BE49-F238E27FC236}">
                <a16:creationId xmlns:a16="http://schemas.microsoft.com/office/drawing/2014/main" id="{2CE96425-1D61-3718-0910-2A55EF310BB8}"/>
              </a:ext>
            </a:extLst>
          </p:cNvPr>
          <p:cNvSpPr>
            <a:spLocks noGrp="1"/>
          </p:cNvSpPr>
          <p:nvPr/>
        </p:nvSpPr>
        <p:spPr>
          <a:xfrm>
            <a:off x="6229631" y="3263072"/>
            <a:ext cx="3599193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Cultura  no dia a dia</a:t>
            </a:r>
          </a:p>
        </p:txBody>
      </p:sp>
      <p:sp>
        <p:nvSpPr>
          <p:cNvPr id="17" name="metric-rule-2">
            <a:extLst>
              <a:ext uri="{FF2B5EF4-FFF2-40B4-BE49-F238E27FC236}">
                <a16:creationId xmlns:a16="http://schemas.microsoft.com/office/drawing/2014/main" id="{116F76C2-C541-96F0-AA0D-D1AC863E214D}"/>
              </a:ext>
            </a:extLst>
          </p:cNvPr>
          <p:cNvSpPr>
            <a:spLocks noGrp="1"/>
          </p:cNvSpPr>
          <p:nvPr/>
        </p:nvSpPr>
        <p:spPr>
          <a:xfrm>
            <a:off x="6229632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8" name="step-body-2">
            <a:extLst>
              <a:ext uri="{FF2B5EF4-FFF2-40B4-BE49-F238E27FC236}">
                <a16:creationId xmlns:a16="http://schemas.microsoft.com/office/drawing/2014/main" id="{86D49659-6382-2C0F-8927-3394DECBB9A6}"/>
              </a:ext>
            </a:extLst>
          </p:cNvPr>
          <p:cNvSpPr>
            <a:spLocks noGrp="1"/>
          </p:cNvSpPr>
          <p:nvPr/>
        </p:nvSpPr>
        <p:spPr>
          <a:xfrm>
            <a:off x="6229631" y="3997812"/>
            <a:ext cx="5627405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Estruturar pesquisa de clima alinhada à cultura desejada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Transformar resultados da pesquisa em planos de ação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Acompanhar evolução dos principais drivers de clima e engajamento</a:t>
            </a:r>
          </a:p>
        </p:txBody>
      </p:sp>
      <p:sp>
        <p:nvSpPr>
          <p:cNvPr id="25" name="objective-band">
            <a:extLst>
              <a:ext uri="{FF2B5EF4-FFF2-40B4-BE49-F238E27FC236}">
                <a16:creationId xmlns:a16="http://schemas.microsoft.com/office/drawing/2014/main" id="{36D9E21B-8B1B-0822-4768-0015E45567A3}"/>
              </a:ext>
            </a:extLst>
          </p:cNvPr>
          <p:cNvSpPr>
            <a:spLocks noGrp="1"/>
          </p:cNvSpPr>
          <p:nvPr/>
        </p:nvSpPr>
        <p:spPr>
          <a:xfrm>
            <a:off x="335998" y="1616891"/>
            <a:ext cx="9972000" cy="714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 lIns="1692000" anchor="ctr"/>
          <a:lstStyle/>
          <a:p>
            <a:pPr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b="1" dirty="0">
                <a:solidFill>
                  <a:srgbClr val="0B1220"/>
                </a:solidFill>
                <a:latin typeface="Abadi" panose="020B0604020104020204" pitchFamily="34" charset="77"/>
                <a:ea typeface="Arial"/>
                <a:cs typeface="Arial"/>
              </a:rPr>
              <a:t>Fortalecer uma cultura orientada a resultados, colaboração e responsabilidade, promovendo um clima organizacional positivo, proximidade com os colaboradores e ações alinhadas aos aprendizados das pesquisas de clima.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F387218-2369-C1FB-D0A0-401BE3087627}"/>
              </a:ext>
            </a:extLst>
          </p:cNvPr>
          <p:cNvSpPr/>
          <p:nvPr/>
        </p:nvSpPr>
        <p:spPr>
          <a:xfrm>
            <a:off x="341322" y="1601598"/>
            <a:ext cx="1515836" cy="71469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Cultura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64CD52B-4630-1F14-876B-7DEACB5EB17C}"/>
              </a:ext>
            </a:extLst>
          </p:cNvPr>
          <p:cNvSpPr/>
          <p:nvPr/>
        </p:nvSpPr>
        <p:spPr>
          <a:xfrm>
            <a:off x="10476089" y="1609244"/>
            <a:ext cx="1380948" cy="714699"/>
          </a:xfrm>
          <a:prstGeom prst="roundRect">
            <a:avLst/>
          </a:prstGeom>
          <a:solidFill>
            <a:srgbClr val="E36800"/>
          </a:solidFill>
          <a:ln w="11430">
            <a:solidFill>
              <a:srgbClr val="E368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Head HR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6580E6-BB67-FF53-5F5A-693B8F39DFE0}"/>
              </a:ext>
            </a:extLst>
          </p:cNvPr>
          <p:cNvSpPr/>
          <p:nvPr/>
        </p:nvSpPr>
        <p:spPr>
          <a:xfrm>
            <a:off x="10341201" y="296016"/>
            <a:ext cx="1515836" cy="246735"/>
          </a:xfrm>
          <a:prstGeom prst="rect">
            <a:avLst/>
          </a:prstGeom>
          <a:solidFill>
            <a:srgbClr val="63277F"/>
          </a:solidFill>
          <a:ln w="11430">
            <a:solidFill>
              <a:srgbClr val="63277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algn="ctr"/>
            <a:r>
              <a:rPr lang="en-BR" sz="1200" b="1" dirty="0">
                <a:solidFill>
                  <a:schemeClr val="bg1"/>
                </a:solidFill>
              </a:rPr>
              <a:t>Time</a:t>
            </a:r>
          </a:p>
        </p:txBody>
      </p:sp>
      <p:sp>
        <p:nvSpPr>
          <p:cNvPr id="30" name="Espaço Reservado para Texto 3">
            <a:extLst>
              <a:ext uri="{FF2B5EF4-FFF2-40B4-BE49-F238E27FC236}">
                <a16:creationId xmlns:a16="http://schemas.microsoft.com/office/drawing/2014/main" id="{28CBF09C-77C5-6713-BC62-D83379648ED2}"/>
              </a:ext>
            </a:extLst>
          </p:cNvPr>
          <p:cNvSpPr txBox="1">
            <a:spLocks/>
          </p:cNvSpPr>
          <p:nvPr/>
        </p:nvSpPr>
        <p:spPr>
          <a:xfrm>
            <a:off x="335998" y="2362651"/>
            <a:ext cx="3988351" cy="29143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nl-NL" sz="12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7808" marR="0" indent="177808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Arial" charset="0"/>
              <a:buChar char="–"/>
              <a:tabLst/>
              <a:defRPr lang="nl-NL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3556" marR="0" indent="177808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itchFamily="18" charset="2"/>
              <a:buChar char=""/>
              <a:tabLst/>
              <a:defRPr lang="nl-NL" sz="1400" kern="1200" dirty="0" smtClean="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3pPr>
            <a:lvl4pPr marL="0" marR="0" indent="-171459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lang="nl-NL" sz="1400" kern="1200" dirty="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4pPr>
            <a:lvl5pPr marL="0" marR="0" indent="-185746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lang="nl-NL" sz="1400" kern="1200" dirty="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5pPr>
            <a:lvl6pPr marL="2514726" marR="0" indent="-228612" algn="l" defTabSz="45722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2" algn="l" defTabSz="45722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2" indent="-228612" algn="l" defTabSz="45722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2" algn="l" defTabSz="45722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noProof="1">
                <a:solidFill>
                  <a:schemeClr val="accent5"/>
                </a:solidFill>
              </a:rPr>
              <a:t>Frente em desenvolvimento com consultoria externa</a:t>
            </a:r>
          </a:p>
        </p:txBody>
      </p:sp>
    </p:spTree>
    <p:extLst>
      <p:ext uri="{BB962C8B-B14F-4D97-AF65-F5344CB8AC3E}">
        <p14:creationId xmlns:p14="http://schemas.microsoft.com/office/powerpoint/2010/main" val="3792453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143A159C-63E7-30DD-64D6-0CED822CD3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21" imgH="423" progId="TCLayout.ActiveDocument.1">
                  <p:embed/>
                </p:oleObj>
              </mc:Choice>
              <mc:Fallback>
                <p:oleObj name="think-cell Slide" r:id="rId9" imgW="421" imgH="423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143A159C-63E7-30DD-64D6-0CED822CD3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Imagem 5" descr="Padrão do plano de fundo&#10;&#10;Descrição gerada automaticamente">
            <a:extLst>
              <a:ext uri="{FF2B5EF4-FFF2-40B4-BE49-F238E27FC236}">
                <a16:creationId xmlns:a16="http://schemas.microsoft.com/office/drawing/2014/main" id="{1FBDD76A-0DFF-6567-E466-FF6F284330C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3D3FBBA7-5D71-463A-3FD2-625CCDE5FC2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5220" y="2550695"/>
            <a:ext cx="42883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7200" b="1" noProof="1">
                <a:solidFill>
                  <a:schemeClr val="bg1"/>
                </a:solidFill>
              </a:rPr>
              <a:t>Obrigado</a:t>
            </a:r>
          </a:p>
        </p:txBody>
      </p:sp>
      <p:pic>
        <p:nvPicPr>
          <p:cNvPr id="16" name="Imagem 15" descr="Pessoa com faca na mão&#10;&#10;Descrição gerada automaticamente com confiança média">
            <a:extLst>
              <a:ext uri="{FF2B5EF4-FFF2-40B4-BE49-F238E27FC236}">
                <a16:creationId xmlns:a16="http://schemas.microsoft.com/office/drawing/2014/main" id="{2F72327D-18E8-386D-C5E3-C5841B4C71D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101389" y="3743087"/>
            <a:ext cx="7090612" cy="3126945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8D6C407-7F76-A73F-AA43-2A1E7B293CA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pt-BR" noProof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17B90F-D75C-F016-8F0A-938AA51C4F9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11250" y="5941982"/>
            <a:ext cx="1368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noProof="1">
                <a:solidFill>
                  <a:schemeClr val="bg1"/>
                </a:solidFill>
                <a:latin typeface="Bradley Hand ITC" panose="03070402050302030203" pitchFamily="66" charset="0"/>
              </a:rPr>
              <a:t>ATY</a:t>
            </a:r>
          </a:p>
        </p:txBody>
      </p:sp>
    </p:spTree>
    <p:extLst>
      <p:ext uri="{BB962C8B-B14F-4D97-AF65-F5344CB8AC3E}">
        <p14:creationId xmlns:p14="http://schemas.microsoft.com/office/powerpoint/2010/main" val="553221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97469C2-4C48-F0F1-4F70-E08ADDDBC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9C467030-1F99-1D0E-06EE-EE70F187438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467030-1F99-1D0E-06EE-EE70F18743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92B89E3C-F2C3-96C3-FCB1-ECE016E4D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Fortalecer a cultura DMS exige traduzir valores em comportamentos, incorporá-los ao dia a dia e disseminá-los de forma consistente pela organização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0CE935C-EB16-7122-A07C-FC480950D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ATY</a:t>
            </a:r>
          </a:p>
          <a:p>
            <a:endParaRPr lang="pt-BR" noProof="1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9E1AEDCE-AA2D-2FF4-6FEB-45A6F018D6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781CDCD-15CD-CF28-9AE0-B2AF98A0DE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pt-BR" noProof="1"/>
              <a:t>Ações estruturantes – Time – Cultura</a:t>
            </a:r>
          </a:p>
          <a:p>
            <a:endParaRPr lang="pt-BR" noProof="1"/>
          </a:p>
          <a:p>
            <a:endParaRPr lang="pt-BR" noProof="1"/>
          </a:p>
          <a:p>
            <a:endParaRPr lang="pt-BR" noProof="1"/>
          </a:p>
          <a:p>
            <a:endParaRPr lang="pt-BR" noProof="1"/>
          </a:p>
        </p:txBody>
      </p:sp>
      <p:sp>
        <p:nvSpPr>
          <p:cNvPr id="50" name="Disclaimer_Box">
            <a:extLst>
              <a:ext uri="{FF2B5EF4-FFF2-40B4-BE49-F238E27FC236}">
                <a16:creationId xmlns:a16="http://schemas.microsoft.com/office/drawing/2014/main" id="{3C18D0E9-70DD-95EF-D0AD-8B904AC8CE89}"/>
              </a:ext>
            </a:extLst>
          </p:cNvPr>
          <p:cNvSpPr txBox="1">
            <a:spLocks/>
          </p:cNvSpPr>
          <p:nvPr/>
        </p:nvSpPr>
        <p:spPr>
          <a:xfrm>
            <a:off x="9540697" y="1200149"/>
            <a:ext cx="231634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 sz="1200" b="1" kern="1200" baseline="0">
                <a:solidFill>
                  <a:schemeClr val="accent6"/>
                </a:solidFill>
                <a:latin typeface="Arial"/>
                <a:ea typeface="+mn-ea"/>
                <a:cs typeface="Arial"/>
              </a:defRPr>
            </a:lvl1pPr>
            <a:lvl2pPr marL="352425" marR="0" indent="-1651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9750" marR="0" indent="-1857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2" pitchFamily="18" charset="2"/>
              <a:buChar char=""/>
              <a:tabLst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712788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900113" marR="0" indent="-1857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</a:rPr>
              <a:t>Não Exaustivo | Para discussão</a:t>
            </a:r>
          </a:p>
        </p:txBody>
      </p:sp>
      <p:sp>
        <p:nvSpPr>
          <p:cNvPr id="4" name="step-circle-1">
            <a:extLst>
              <a:ext uri="{FF2B5EF4-FFF2-40B4-BE49-F238E27FC236}">
                <a16:creationId xmlns:a16="http://schemas.microsoft.com/office/drawing/2014/main" id="{073436BA-8809-7908-D410-0737677E149F}"/>
              </a:ext>
            </a:extLst>
          </p:cNvPr>
          <p:cNvSpPr>
            <a:spLocks noGrp="1"/>
          </p:cNvSpPr>
          <p:nvPr/>
        </p:nvSpPr>
        <p:spPr>
          <a:xfrm>
            <a:off x="4000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1</a:t>
            </a:r>
          </a:p>
        </p:txBody>
      </p:sp>
      <p:sp>
        <p:nvSpPr>
          <p:cNvPr id="8" name="step-title-1">
            <a:extLst>
              <a:ext uri="{FF2B5EF4-FFF2-40B4-BE49-F238E27FC236}">
                <a16:creationId xmlns:a16="http://schemas.microsoft.com/office/drawing/2014/main" id="{558796AF-B01D-968D-2826-03F291C1E62E}"/>
              </a:ext>
            </a:extLst>
          </p:cNvPr>
          <p:cNvSpPr>
            <a:spLocks noGrp="1"/>
          </p:cNvSpPr>
          <p:nvPr/>
        </p:nvSpPr>
        <p:spPr>
          <a:xfrm>
            <a:off x="9617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Cultura DMS</a:t>
            </a:r>
          </a:p>
        </p:txBody>
      </p:sp>
      <p:sp>
        <p:nvSpPr>
          <p:cNvPr id="11" name="step-metric-1">
            <a:extLst>
              <a:ext uri="{FF2B5EF4-FFF2-40B4-BE49-F238E27FC236}">
                <a16:creationId xmlns:a16="http://schemas.microsoft.com/office/drawing/2014/main" id="{CA3EA14D-24A3-4A06-958F-836BABD88E84}"/>
              </a:ext>
            </a:extLst>
          </p:cNvPr>
          <p:cNvSpPr>
            <a:spLocks noGrp="1"/>
          </p:cNvSpPr>
          <p:nvPr/>
        </p:nvSpPr>
        <p:spPr>
          <a:xfrm>
            <a:off x="400050" y="3263072"/>
            <a:ext cx="3795432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Valores e comportamentos</a:t>
            </a:r>
          </a:p>
        </p:txBody>
      </p:sp>
      <p:sp>
        <p:nvSpPr>
          <p:cNvPr id="12" name="metric-rule-1">
            <a:extLst>
              <a:ext uri="{FF2B5EF4-FFF2-40B4-BE49-F238E27FC236}">
                <a16:creationId xmlns:a16="http://schemas.microsoft.com/office/drawing/2014/main" id="{4B5AEE23-8795-D7BF-A678-497E50D84601}"/>
              </a:ext>
            </a:extLst>
          </p:cNvPr>
          <p:cNvSpPr>
            <a:spLocks noGrp="1"/>
          </p:cNvSpPr>
          <p:nvPr/>
        </p:nvSpPr>
        <p:spPr>
          <a:xfrm>
            <a:off x="4000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3" name="step-body-1">
            <a:extLst>
              <a:ext uri="{FF2B5EF4-FFF2-40B4-BE49-F238E27FC236}">
                <a16:creationId xmlns:a16="http://schemas.microsoft.com/office/drawing/2014/main" id="{B39F8318-A6F1-E662-C3D0-059B64506C6F}"/>
              </a:ext>
            </a:extLst>
          </p:cNvPr>
          <p:cNvSpPr>
            <a:spLocks noGrp="1"/>
          </p:cNvSpPr>
          <p:nvPr/>
        </p:nvSpPr>
        <p:spPr>
          <a:xfrm>
            <a:off x="4000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Traduzir visão dos sócios em valores tangíveis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Revisar e consolidar os valores que irão nortear a cultura DMS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Traduzir os valores em comportamentos observáveis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Definir claramente comportamentos desejáveis e não aceitáveis</a:t>
            </a:r>
          </a:p>
        </p:txBody>
      </p:sp>
      <p:sp>
        <p:nvSpPr>
          <p:cNvPr id="14" name="step-circle-2">
            <a:extLst>
              <a:ext uri="{FF2B5EF4-FFF2-40B4-BE49-F238E27FC236}">
                <a16:creationId xmlns:a16="http://schemas.microsoft.com/office/drawing/2014/main" id="{A6F67C87-096C-1013-6F74-CF10960B2B27}"/>
              </a:ext>
            </a:extLst>
          </p:cNvPr>
          <p:cNvSpPr>
            <a:spLocks noGrp="1"/>
          </p:cNvSpPr>
          <p:nvPr/>
        </p:nvSpPr>
        <p:spPr>
          <a:xfrm>
            <a:off x="43243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2</a:t>
            </a:r>
          </a:p>
        </p:txBody>
      </p:sp>
      <p:sp>
        <p:nvSpPr>
          <p:cNvPr id="15" name="step-title-2">
            <a:extLst>
              <a:ext uri="{FF2B5EF4-FFF2-40B4-BE49-F238E27FC236}">
                <a16:creationId xmlns:a16="http://schemas.microsoft.com/office/drawing/2014/main" id="{E28F2530-0202-D2D9-56F1-29A823CB4538}"/>
              </a:ext>
            </a:extLst>
          </p:cNvPr>
          <p:cNvSpPr>
            <a:spLocks noGrp="1"/>
          </p:cNvSpPr>
          <p:nvPr/>
        </p:nvSpPr>
        <p:spPr>
          <a:xfrm>
            <a:off x="48860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Engajamento e clima</a:t>
            </a:r>
          </a:p>
        </p:txBody>
      </p:sp>
      <p:sp>
        <p:nvSpPr>
          <p:cNvPr id="16" name="step-metric-2">
            <a:extLst>
              <a:ext uri="{FF2B5EF4-FFF2-40B4-BE49-F238E27FC236}">
                <a16:creationId xmlns:a16="http://schemas.microsoft.com/office/drawing/2014/main" id="{8057DBAB-C100-0DCC-0A7A-3E792FF6BD85}"/>
              </a:ext>
            </a:extLst>
          </p:cNvPr>
          <p:cNvSpPr>
            <a:spLocks noGrp="1"/>
          </p:cNvSpPr>
          <p:nvPr/>
        </p:nvSpPr>
        <p:spPr>
          <a:xfrm>
            <a:off x="4324349" y="3263072"/>
            <a:ext cx="3599193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Cultura  no dia a dia</a:t>
            </a:r>
          </a:p>
        </p:txBody>
      </p:sp>
      <p:sp>
        <p:nvSpPr>
          <p:cNvPr id="17" name="metric-rule-2">
            <a:extLst>
              <a:ext uri="{FF2B5EF4-FFF2-40B4-BE49-F238E27FC236}">
                <a16:creationId xmlns:a16="http://schemas.microsoft.com/office/drawing/2014/main" id="{212895FE-9902-FE6E-969D-4C0EAFD41CE2}"/>
              </a:ext>
            </a:extLst>
          </p:cNvPr>
          <p:cNvSpPr>
            <a:spLocks noGrp="1"/>
          </p:cNvSpPr>
          <p:nvPr/>
        </p:nvSpPr>
        <p:spPr>
          <a:xfrm>
            <a:off x="43243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8" name="step-body-2">
            <a:extLst>
              <a:ext uri="{FF2B5EF4-FFF2-40B4-BE49-F238E27FC236}">
                <a16:creationId xmlns:a16="http://schemas.microsoft.com/office/drawing/2014/main" id="{E989950F-044A-6565-CE74-924C78577BCF}"/>
              </a:ext>
            </a:extLst>
          </p:cNvPr>
          <p:cNvSpPr>
            <a:spLocks noGrp="1"/>
          </p:cNvSpPr>
          <p:nvPr/>
        </p:nvSpPr>
        <p:spPr>
          <a:xfrm>
            <a:off x="43243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Estruturar pesquisa de clima alinhada à cultura desejada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Transformar resultados da pesquisa em planos de ação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Acompanhar evolução dos principais drivers de clima e engajamento</a:t>
            </a:r>
          </a:p>
        </p:txBody>
      </p:sp>
      <p:sp>
        <p:nvSpPr>
          <p:cNvPr id="19" name="step-circle-3">
            <a:extLst>
              <a:ext uri="{FF2B5EF4-FFF2-40B4-BE49-F238E27FC236}">
                <a16:creationId xmlns:a16="http://schemas.microsoft.com/office/drawing/2014/main" id="{8B5A132C-9E50-575A-8360-0FECBD9271D6}"/>
              </a:ext>
            </a:extLst>
          </p:cNvPr>
          <p:cNvSpPr>
            <a:spLocks noGrp="1"/>
          </p:cNvSpPr>
          <p:nvPr/>
        </p:nvSpPr>
        <p:spPr>
          <a:xfrm>
            <a:off x="82486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  <a:latin typeface="Abadi" panose="020B0604020104020204" pitchFamily="34" charset="77"/>
              </a:rPr>
              <a:t>3</a:t>
            </a:r>
          </a:p>
        </p:txBody>
      </p:sp>
      <p:sp>
        <p:nvSpPr>
          <p:cNvPr id="20" name="step-title-3">
            <a:extLst>
              <a:ext uri="{FF2B5EF4-FFF2-40B4-BE49-F238E27FC236}">
                <a16:creationId xmlns:a16="http://schemas.microsoft.com/office/drawing/2014/main" id="{4129CBB3-3909-BB34-E6D3-16F35677754E}"/>
              </a:ext>
            </a:extLst>
          </p:cNvPr>
          <p:cNvSpPr>
            <a:spLocks noGrp="1"/>
          </p:cNvSpPr>
          <p:nvPr/>
        </p:nvSpPr>
        <p:spPr>
          <a:xfrm>
            <a:off x="88103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endParaRPr lang="pt-BR" sz="2000" b="1" dirty="0">
              <a:solidFill>
                <a:schemeClr val="accent4"/>
              </a:solidFill>
              <a:latin typeface="Abadi" panose="020B0604020104020204" pitchFamily="34" charset="77"/>
              <a:ea typeface="Arial"/>
              <a:cs typeface="Arial"/>
            </a:endParaRPr>
          </a:p>
        </p:txBody>
      </p:sp>
      <p:sp>
        <p:nvSpPr>
          <p:cNvPr id="21" name="step-metric-3">
            <a:extLst>
              <a:ext uri="{FF2B5EF4-FFF2-40B4-BE49-F238E27FC236}">
                <a16:creationId xmlns:a16="http://schemas.microsoft.com/office/drawing/2014/main" id="{CD290DA8-2373-C1B2-4925-EFBBA7CAE437}"/>
              </a:ext>
            </a:extLst>
          </p:cNvPr>
          <p:cNvSpPr>
            <a:spLocks noGrp="1"/>
          </p:cNvSpPr>
          <p:nvPr/>
        </p:nvSpPr>
        <p:spPr>
          <a:xfrm>
            <a:off x="8248649" y="3263072"/>
            <a:ext cx="3608387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endParaRPr lang="pt-BR" sz="2400" b="1" spc="-30" dirty="0">
              <a:latin typeface="Abadi" panose="020B0604020104020204" pitchFamily="34" charset="77"/>
              <a:cs typeface="Arial"/>
            </a:endParaRPr>
          </a:p>
        </p:txBody>
      </p:sp>
      <p:sp>
        <p:nvSpPr>
          <p:cNvPr id="22" name="metric-rule-3">
            <a:extLst>
              <a:ext uri="{FF2B5EF4-FFF2-40B4-BE49-F238E27FC236}">
                <a16:creationId xmlns:a16="http://schemas.microsoft.com/office/drawing/2014/main" id="{ED83667C-901F-86BC-EF0C-82FA7492A7BB}"/>
              </a:ext>
            </a:extLst>
          </p:cNvPr>
          <p:cNvSpPr>
            <a:spLocks noGrp="1"/>
          </p:cNvSpPr>
          <p:nvPr/>
        </p:nvSpPr>
        <p:spPr>
          <a:xfrm>
            <a:off x="82486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23" name="step-body-3">
            <a:extLst>
              <a:ext uri="{FF2B5EF4-FFF2-40B4-BE49-F238E27FC236}">
                <a16:creationId xmlns:a16="http://schemas.microsoft.com/office/drawing/2014/main" id="{989D32C2-9E80-1F2A-3936-2885E0A6DEC6}"/>
              </a:ext>
            </a:extLst>
          </p:cNvPr>
          <p:cNvSpPr>
            <a:spLocks noGrp="1"/>
          </p:cNvSpPr>
          <p:nvPr/>
        </p:nvSpPr>
        <p:spPr>
          <a:xfrm>
            <a:off x="82486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Incorporar cultura às estratégias de RH</a:t>
            </a:r>
          </a:p>
        </p:txBody>
      </p:sp>
      <p:sp>
        <p:nvSpPr>
          <p:cNvPr id="25" name="objective-band">
            <a:extLst>
              <a:ext uri="{FF2B5EF4-FFF2-40B4-BE49-F238E27FC236}">
                <a16:creationId xmlns:a16="http://schemas.microsoft.com/office/drawing/2014/main" id="{904A0014-8FD1-6642-3659-599FD655BD73}"/>
              </a:ext>
            </a:extLst>
          </p:cNvPr>
          <p:cNvSpPr>
            <a:spLocks noGrp="1"/>
          </p:cNvSpPr>
          <p:nvPr/>
        </p:nvSpPr>
        <p:spPr>
          <a:xfrm>
            <a:off x="335998" y="1616891"/>
            <a:ext cx="9972000" cy="714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 lIns="1692000" anchor="ctr"/>
          <a:lstStyle/>
          <a:p>
            <a:pPr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b="1" dirty="0">
                <a:solidFill>
                  <a:srgbClr val="0B1220"/>
                </a:solidFill>
                <a:latin typeface="Abadi" panose="020B0604020104020204" pitchFamily="34" charset="77"/>
                <a:ea typeface="Arial"/>
                <a:cs typeface="Arial"/>
              </a:rPr>
              <a:t>Fortalecer uma cultura orientada a resultados, colaboração e responsabilidade, promovendo um clima organizacional positivo, proximidade com os colaboradores e ações alinhadas aos aprendizados das pesquisas de clima.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4093684-08AB-DF28-5508-A45131D8CA28}"/>
              </a:ext>
            </a:extLst>
          </p:cNvPr>
          <p:cNvSpPr/>
          <p:nvPr/>
        </p:nvSpPr>
        <p:spPr>
          <a:xfrm>
            <a:off x="341322" y="1601598"/>
            <a:ext cx="1515836" cy="71469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Cultura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E068741-60C8-491D-7048-51DA1B1D20AB}"/>
              </a:ext>
            </a:extLst>
          </p:cNvPr>
          <p:cNvSpPr/>
          <p:nvPr/>
        </p:nvSpPr>
        <p:spPr>
          <a:xfrm>
            <a:off x="10476089" y="1609244"/>
            <a:ext cx="1380948" cy="714699"/>
          </a:xfrm>
          <a:prstGeom prst="roundRect">
            <a:avLst/>
          </a:prstGeom>
          <a:solidFill>
            <a:srgbClr val="E36800"/>
          </a:solidFill>
          <a:ln w="11430">
            <a:solidFill>
              <a:srgbClr val="E368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Head HR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A28DDC-09F8-807D-DF48-AFC4A4AD92BE}"/>
              </a:ext>
            </a:extLst>
          </p:cNvPr>
          <p:cNvSpPr/>
          <p:nvPr/>
        </p:nvSpPr>
        <p:spPr>
          <a:xfrm>
            <a:off x="10341201" y="296016"/>
            <a:ext cx="1515836" cy="246735"/>
          </a:xfrm>
          <a:prstGeom prst="rect">
            <a:avLst/>
          </a:prstGeom>
          <a:solidFill>
            <a:srgbClr val="63277F"/>
          </a:solidFill>
          <a:ln w="11430">
            <a:solidFill>
              <a:srgbClr val="63277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algn="ctr"/>
            <a:r>
              <a:rPr lang="en-BR" sz="1200" b="1" dirty="0">
                <a:solidFill>
                  <a:schemeClr val="bg1"/>
                </a:solidFill>
              </a:rPr>
              <a:t>Time</a:t>
            </a:r>
          </a:p>
        </p:txBody>
      </p:sp>
      <p:sp>
        <p:nvSpPr>
          <p:cNvPr id="9" name="step-metric-2">
            <a:extLst>
              <a:ext uri="{FF2B5EF4-FFF2-40B4-BE49-F238E27FC236}">
                <a16:creationId xmlns:a16="http://schemas.microsoft.com/office/drawing/2014/main" id="{264E0133-2D04-D744-8158-248030277C06}"/>
              </a:ext>
            </a:extLst>
          </p:cNvPr>
          <p:cNvSpPr>
            <a:spLocks noGrp="1"/>
          </p:cNvSpPr>
          <p:nvPr/>
        </p:nvSpPr>
        <p:spPr>
          <a:xfrm>
            <a:off x="8219794" y="3263072"/>
            <a:ext cx="3637241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Multiplicar cultura DMS</a:t>
            </a:r>
          </a:p>
        </p:txBody>
      </p:sp>
      <p:sp>
        <p:nvSpPr>
          <p:cNvPr id="26" name="step-title-2">
            <a:extLst>
              <a:ext uri="{FF2B5EF4-FFF2-40B4-BE49-F238E27FC236}">
                <a16:creationId xmlns:a16="http://schemas.microsoft.com/office/drawing/2014/main" id="{B8DD0493-2845-12E4-4804-0B3D64C299C3}"/>
              </a:ext>
            </a:extLst>
          </p:cNvPr>
          <p:cNvSpPr>
            <a:spLocks noGrp="1"/>
          </p:cNvSpPr>
          <p:nvPr/>
        </p:nvSpPr>
        <p:spPr>
          <a:xfrm>
            <a:off x="8724900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Disseminação cultural</a:t>
            </a:r>
          </a:p>
        </p:txBody>
      </p:sp>
      <p:sp>
        <p:nvSpPr>
          <p:cNvPr id="30" name="Espaço Reservado para Texto 3">
            <a:extLst>
              <a:ext uri="{FF2B5EF4-FFF2-40B4-BE49-F238E27FC236}">
                <a16:creationId xmlns:a16="http://schemas.microsoft.com/office/drawing/2014/main" id="{0BF9AE95-B84F-9CC3-9BD1-F341E829D9F3}"/>
              </a:ext>
            </a:extLst>
          </p:cNvPr>
          <p:cNvSpPr txBox="1">
            <a:spLocks/>
          </p:cNvSpPr>
          <p:nvPr/>
        </p:nvSpPr>
        <p:spPr>
          <a:xfrm>
            <a:off x="335998" y="2362651"/>
            <a:ext cx="3988351" cy="29143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nl-NL" sz="12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7808" marR="0" indent="177808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Arial" charset="0"/>
              <a:buChar char="–"/>
              <a:tabLst/>
              <a:defRPr lang="nl-NL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3556" marR="0" indent="177808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itchFamily="18" charset="2"/>
              <a:buChar char=""/>
              <a:tabLst/>
              <a:defRPr lang="nl-NL" sz="1400" kern="1200" dirty="0" smtClean="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3pPr>
            <a:lvl4pPr marL="0" marR="0" indent="-171459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lang="nl-NL" sz="1400" kern="1200" dirty="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4pPr>
            <a:lvl5pPr marL="0" marR="0" indent="-185746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lang="nl-NL" sz="1400" kern="1200" dirty="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5pPr>
            <a:lvl6pPr marL="2514726" marR="0" indent="-228612" algn="l" defTabSz="45722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2" algn="l" defTabSz="45722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2" indent="-228612" algn="l" defTabSz="45722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2" algn="l" defTabSz="45722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noProof="1">
                <a:solidFill>
                  <a:schemeClr val="accent5"/>
                </a:solidFill>
              </a:rPr>
              <a:t>Frente em desenvolvimento com consultoria externa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D3B4B84-9210-E35D-581E-293C54E287E1}"/>
              </a:ext>
            </a:extLst>
          </p:cNvPr>
          <p:cNvSpPr/>
          <p:nvPr/>
        </p:nvSpPr>
        <p:spPr>
          <a:xfrm>
            <a:off x="8458480" y="5411539"/>
            <a:ext cx="2914090" cy="369346"/>
          </a:xfrm>
          <a:prstGeom prst="roundRect">
            <a:avLst/>
          </a:prstGeom>
          <a:solidFill>
            <a:srgbClr val="E36800"/>
          </a:solidFill>
          <a:ln w="11430">
            <a:solidFill>
              <a:srgbClr val="E368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Capital Humano</a:t>
            </a:r>
          </a:p>
        </p:txBody>
      </p:sp>
    </p:spTree>
    <p:extLst>
      <p:ext uri="{BB962C8B-B14F-4D97-AF65-F5344CB8AC3E}">
        <p14:creationId xmlns:p14="http://schemas.microsoft.com/office/powerpoint/2010/main" val="1851552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8E9FFB4-B9CF-3A09-FA38-4B0810613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46F9A1AE-60AA-0A5C-680F-3694AC0469D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6F9A1AE-60AA-0A5C-680F-3694AC0469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2F8F4953-1507-8A8F-763E-32B8A1983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Atrair e reter os melhores talentos exige competitividade salarial, reconhecimento por performance e perspectivas claras de desenvolvimento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2CEB218-D241-CC1E-66CA-9086840D8E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ATY</a:t>
            </a:r>
          </a:p>
          <a:p>
            <a:endParaRPr lang="pt-BR" noProof="1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80AE7DC9-382F-4BCF-8EAB-2B76825727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DFAE34-9501-5AF3-414A-FB223D2C93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pt-BR" noProof="1"/>
              <a:t>Ações estruturantes – Time – Valorização de Pessoas</a:t>
            </a:r>
          </a:p>
          <a:p>
            <a:endParaRPr lang="pt-BR" noProof="1"/>
          </a:p>
          <a:p>
            <a:endParaRPr lang="pt-BR" noProof="1"/>
          </a:p>
          <a:p>
            <a:endParaRPr lang="pt-BR" noProof="1"/>
          </a:p>
          <a:p>
            <a:endParaRPr lang="pt-BR" noProof="1"/>
          </a:p>
        </p:txBody>
      </p:sp>
      <p:sp>
        <p:nvSpPr>
          <p:cNvPr id="50" name="Disclaimer_Box">
            <a:extLst>
              <a:ext uri="{FF2B5EF4-FFF2-40B4-BE49-F238E27FC236}">
                <a16:creationId xmlns:a16="http://schemas.microsoft.com/office/drawing/2014/main" id="{0350C91F-8025-B4D0-CB89-328950F4721C}"/>
              </a:ext>
            </a:extLst>
          </p:cNvPr>
          <p:cNvSpPr txBox="1">
            <a:spLocks/>
          </p:cNvSpPr>
          <p:nvPr/>
        </p:nvSpPr>
        <p:spPr>
          <a:xfrm>
            <a:off x="9540697" y="1200149"/>
            <a:ext cx="231634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 sz="1200" b="1" kern="1200" baseline="0">
                <a:solidFill>
                  <a:schemeClr val="accent6"/>
                </a:solidFill>
                <a:latin typeface="Arial"/>
                <a:ea typeface="+mn-ea"/>
                <a:cs typeface="Arial"/>
              </a:defRPr>
            </a:lvl1pPr>
            <a:lvl2pPr marL="352425" marR="0" indent="-1651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9750" marR="0" indent="-1857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2" pitchFamily="18" charset="2"/>
              <a:buChar char=""/>
              <a:tabLst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712788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900113" marR="0" indent="-1857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</a:rPr>
              <a:t>Não Exaustivo | Para discussão</a:t>
            </a:r>
          </a:p>
        </p:txBody>
      </p:sp>
      <p:sp>
        <p:nvSpPr>
          <p:cNvPr id="4" name="step-circle-1">
            <a:extLst>
              <a:ext uri="{FF2B5EF4-FFF2-40B4-BE49-F238E27FC236}">
                <a16:creationId xmlns:a16="http://schemas.microsoft.com/office/drawing/2014/main" id="{2C28F8BF-7504-AC24-ADC7-2D3DADE78472}"/>
              </a:ext>
            </a:extLst>
          </p:cNvPr>
          <p:cNvSpPr>
            <a:spLocks noGrp="1"/>
          </p:cNvSpPr>
          <p:nvPr/>
        </p:nvSpPr>
        <p:spPr>
          <a:xfrm>
            <a:off x="4000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1</a:t>
            </a:r>
          </a:p>
        </p:txBody>
      </p:sp>
      <p:sp>
        <p:nvSpPr>
          <p:cNvPr id="8" name="step-title-1">
            <a:extLst>
              <a:ext uri="{FF2B5EF4-FFF2-40B4-BE49-F238E27FC236}">
                <a16:creationId xmlns:a16="http://schemas.microsoft.com/office/drawing/2014/main" id="{8229A1DD-8793-050A-3684-AB7CFC422F94}"/>
              </a:ext>
            </a:extLst>
          </p:cNvPr>
          <p:cNvSpPr>
            <a:spLocks noGrp="1"/>
          </p:cNvSpPr>
          <p:nvPr/>
        </p:nvSpPr>
        <p:spPr>
          <a:xfrm>
            <a:off x="9617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Cargos e salários</a:t>
            </a:r>
          </a:p>
        </p:txBody>
      </p:sp>
      <p:sp>
        <p:nvSpPr>
          <p:cNvPr id="11" name="step-metric-1">
            <a:extLst>
              <a:ext uri="{FF2B5EF4-FFF2-40B4-BE49-F238E27FC236}">
                <a16:creationId xmlns:a16="http://schemas.microsoft.com/office/drawing/2014/main" id="{332C1FD3-6409-8EFF-CEA2-A09271AA22E3}"/>
              </a:ext>
            </a:extLst>
          </p:cNvPr>
          <p:cNvSpPr>
            <a:spLocks noGrp="1"/>
          </p:cNvSpPr>
          <p:nvPr/>
        </p:nvSpPr>
        <p:spPr>
          <a:xfrm>
            <a:off x="400050" y="3263072"/>
            <a:ext cx="3795432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Competitividade salarial</a:t>
            </a:r>
          </a:p>
        </p:txBody>
      </p:sp>
      <p:sp>
        <p:nvSpPr>
          <p:cNvPr id="12" name="metric-rule-1">
            <a:extLst>
              <a:ext uri="{FF2B5EF4-FFF2-40B4-BE49-F238E27FC236}">
                <a16:creationId xmlns:a16="http://schemas.microsoft.com/office/drawing/2014/main" id="{201ED934-ADF9-E5FD-ACC5-610C7FB3C792}"/>
              </a:ext>
            </a:extLst>
          </p:cNvPr>
          <p:cNvSpPr>
            <a:spLocks noGrp="1"/>
          </p:cNvSpPr>
          <p:nvPr/>
        </p:nvSpPr>
        <p:spPr>
          <a:xfrm>
            <a:off x="4000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3" name="step-body-1">
            <a:extLst>
              <a:ext uri="{FF2B5EF4-FFF2-40B4-BE49-F238E27FC236}">
                <a16:creationId xmlns:a16="http://schemas.microsoft.com/office/drawing/2014/main" id="{3F68395A-A1DB-CDCC-0C03-4FCF85B70F60}"/>
              </a:ext>
            </a:extLst>
          </p:cNvPr>
          <p:cNvSpPr>
            <a:spLocks noGrp="1"/>
          </p:cNvSpPr>
          <p:nvPr/>
        </p:nvSpPr>
        <p:spPr>
          <a:xfrm>
            <a:off x="4000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Revisar arquitetura de cargos, grades e faixas salariais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Definir posicionamento de remuneração por função e criticidade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Mapear distorções salariais de posições com maior turnover</a:t>
            </a:r>
          </a:p>
        </p:txBody>
      </p:sp>
      <p:sp>
        <p:nvSpPr>
          <p:cNvPr id="14" name="step-circle-2">
            <a:extLst>
              <a:ext uri="{FF2B5EF4-FFF2-40B4-BE49-F238E27FC236}">
                <a16:creationId xmlns:a16="http://schemas.microsoft.com/office/drawing/2014/main" id="{9A7D6E94-48EA-B71C-527C-B74E782AA924}"/>
              </a:ext>
            </a:extLst>
          </p:cNvPr>
          <p:cNvSpPr>
            <a:spLocks noGrp="1"/>
          </p:cNvSpPr>
          <p:nvPr/>
        </p:nvSpPr>
        <p:spPr>
          <a:xfrm>
            <a:off x="43243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>
                <a:solidFill>
                  <a:schemeClr val="bg1"/>
                </a:solidFill>
                <a:latin typeface="Abadi" panose="020B0604020104020204" pitchFamily="34" charset="77"/>
              </a:rPr>
              <a:t>2</a:t>
            </a:r>
          </a:p>
        </p:txBody>
      </p:sp>
      <p:sp>
        <p:nvSpPr>
          <p:cNvPr id="15" name="step-title-2">
            <a:extLst>
              <a:ext uri="{FF2B5EF4-FFF2-40B4-BE49-F238E27FC236}">
                <a16:creationId xmlns:a16="http://schemas.microsoft.com/office/drawing/2014/main" id="{130CA6F5-F916-019C-0AB2-F7802F83B0AB}"/>
              </a:ext>
            </a:extLst>
          </p:cNvPr>
          <p:cNvSpPr>
            <a:spLocks noGrp="1"/>
          </p:cNvSpPr>
          <p:nvPr/>
        </p:nvSpPr>
        <p:spPr>
          <a:xfrm>
            <a:off x="4886045" y="2699611"/>
            <a:ext cx="2602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Gestão da evolução</a:t>
            </a:r>
          </a:p>
        </p:txBody>
      </p:sp>
      <p:sp>
        <p:nvSpPr>
          <p:cNvPr id="16" name="step-metric-2">
            <a:extLst>
              <a:ext uri="{FF2B5EF4-FFF2-40B4-BE49-F238E27FC236}">
                <a16:creationId xmlns:a16="http://schemas.microsoft.com/office/drawing/2014/main" id="{1657F510-C129-58D1-4B50-1BAD8CCADF4F}"/>
              </a:ext>
            </a:extLst>
          </p:cNvPr>
          <p:cNvSpPr>
            <a:spLocks noGrp="1"/>
          </p:cNvSpPr>
          <p:nvPr/>
        </p:nvSpPr>
        <p:spPr>
          <a:xfrm>
            <a:off x="4324349" y="3263072"/>
            <a:ext cx="3599193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Remunerar maior entrega</a:t>
            </a:r>
          </a:p>
        </p:txBody>
      </p:sp>
      <p:sp>
        <p:nvSpPr>
          <p:cNvPr id="17" name="metric-rule-2">
            <a:extLst>
              <a:ext uri="{FF2B5EF4-FFF2-40B4-BE49-F238E27FC236}">
                <a16:creationId xmlns:a16="http://schemas.microsoft.com/office/drawing/2014/main" id="{4F783870-2FB5-D3EA-9148-6D9D03830ED0}"/>
              </a:ext>
            </a:extLst>
          </p:cNvPr>
          <p:cNvSpPr>
            <a:spLocks noGrp="1"/>
          </p:cNvSpPr>
          <p:nvPr/>
        </p:nvSpPr>
        <p:spPr>
          <a:xfrm>
            <a:off x="43243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18" name="step-body-2">
            <a:extLst>
              <a:ext uri="{FF2B5EF4-FFF2-40B4-BE49-F238E27FC236}">
                <a16:creationId xmlns:a16="http://schemas.microsoft.com/office/drawing/2014/main" id="{711A2ACA-16C1-D754-92BA-61AADE087985}"/>
              </a:ext>
            </a:extLst>
          </p:cNvPr>
          <p:cNvSpPr>
            <a:spLocks noGrp="1"/>
          </p:cNvSpPr>
          <p:nvPr/>
        </p:nvSpPr>
        <p:spPr>
          <a:xfrm>
            <a:off x="43243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Construir programa de reconhecimento conectado à performance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Integrar mérito, promoção e bonificação ao ciclo de desempenho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Revisar </a:t>
            </a:r>
            <a:r>
              <a:rPr lang="pt-BR" sz="1400" dirty="0" err="1">
                <a:solidFill>
                  <a:srgbClr val="333333"/>
                </a:solidFill>
                <a:latin typeface="Arial"/>
                <a:cs typeface="Arial"/>
              </a:rPr>
              <a:t>OKRs</a:t>
            </a: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 atuais afim de refletir a cultura de desempenho</a:t>
            </a:r>
          </a:p>
        </p:txBody>
      </p:sp>
      <p:sp>
        <p:nvSpPr>
          <p:cNvPr id="19" name="step-circle-3">
            <a:extLst>
              <a:ext uri="{FF2B5EF4-FFF2-40B4-BE49-F238E27FC236}">
                <a16:creationId xmlns:a16="http://schemas.microsoft.com/office/drawing/2014/main" id="{F569B157-F618-AD29-16CA-C53603114738}"/>
              </a:ext>
            </a:extLst>
          </p:cNvPr>
          <p:cNvSpPr>
            <a:spLocks noGrp="1"/>
          </p:cNvSpPr>
          <p:nvPr/>
        </p:nvSpPr>
        <p:spPr>
          <a:xfrm>
            <a:off x="8248650" y="2663399"/>
            <a:ext cx="476250" cy="47625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  <a:latin typeface="Abadi" panose="020B0604020104020204" pitchFamily="34" charset="77"/>
              </a:rPr>
              <a:t>3</a:t>
            </a:r>
          </a:p>
        </p:txBody>
      </p:sp>
      <p:sp>
        <p:nvSpPr>
          <p:cNvPr id="20" name="step-title-3">
            <a:extLst>
              <a:ext uri="{FF2B5EF4-FFF2-40B4-BE49-F238E27FC236}">
                <a16:creationId xmlns:a16="http://schemas.microsoft.com/office/drawing/2014/main" id="{D27DFB2D-D5BB-BB98-0256-1A7136EF18D2}"/>
              </a:ext>
            </a:extLst>
          </p:cNvPr>
          <p:cNvSpPr>
            <a:spLocks noGrp="1"/>
          </p:cNvSpPr>
          <p:nvPr/>
        </p:nvSpPr>
        <p:spPr>
          <a:xfrm>
            <a:off x="8810345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endParaRPr lang="pt-BR" sz="2000" b="1" dirty="0">
              <a:solidFill>
                <a:schemeClr val="accent4"/>
              </a:solidFill>
              <a:latin typeface="Abadi" panose="020B0604020104020204" pitchFamily="34" charset="77"/>
              <a:ea typeface="Arial"/>
              <a:cs typeface="Arial"/>
            </a:endParaRPr>
          </a:p>
        </p:txBody>
      </p:sp>
      <p:sp>
        <p:nvSpPr>
          <p:cNvPr id="21" name="step-metric-3">
            <a:extLst>
              <a:ext uri="{FF2B5EF4-FFF2-40B4-BE49-F238E27FC236}">
                <a16:creationId xmlns:a16="http://schemas.microsoft.com/office/drawing/2014/main" id="{77FD7CF4-6996-A3F1-D370-A2E6966E285C}"/>
              </a:ext>
            </a:extLst>
          </p:cNvPr>
          <p:cNvSpPr>
            <a:spLocks noGrp="1"/>
          </p:cNvSpPr>
          <p:nvPr/>
        </p:nvSpPr>
        <p:spPr>
          <a:xfrm>
            <a:off x="8248649" y="3263072"/>
            <a:ext cx="3608387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endParaRPr lang="pt-BR" sz="2400" b="1" spc="-30" dirty="0">
              <a:latin typeface="Abadi" panose="020B0604020104020204" pitchFamily="34" charset="77"/>
              <a:cs typeface="Arial"/>
            </a:endParaRPr>
          </a:p>
        </p:txBody>
      </p:sp>
      <p:sp>
        <p:nvSpPr>
          <p:cNvPr id="22" name="metric-rule-3">
            <a:extLst>
              <a:ext uri="{FF2B5EF4-FFF2-40B4-BE49-F238E27FC236}">
                <a16:creationId xmlns:a16="http://schemas.microsoft.com/office/drawing/2014/main" id="{45A853CC-695D-EC32-BB3A-1BF7341EF9BD}"/>
              </a:ext>
            </a:extLst>
          </p:cNvPr>
          <p:cNvSpPr>
            <a:spLocks noGrp="1"/>
          </p:cNvSpPr>
          <p:nvPr/>
        </p:nvSpPr>
        <p:spPr>
          <a:xfrm>
            <a:off x="8248650" y="3853622"/>
            <a:ext cx="685800" cy="38100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pt-BR">
              <a:latin typeface="Abadi" panose="020B0604020104020204" pitchFamily="34" charset="77"/>
            </a:endParaRPr>
          </a:p>
        </p:txBody>
      </p:sp>
      <p:sp>
        <p:nvSpPr>
          <p:cNvPr id="23" name="step-body-3">
            <a:extLst>
              <a:ext uri="{FF2B5EF4-FFF2-40B4-BE49-F238E27FC236}">
                <a16:creationId xmlns:a16="http://schemas.microsoft.com/office/drawing/2014/main" id="{3112A888-AEC2-DF5E-4B6C-04F38101A2A4}"/>
              </a:ext>
            </a:extLst>
          </p:cNvPr>
          <p:cNvSpPr>
            <a:spLocks noGrp="1"/>
          </p:cNvSpPr>
          <p:nvPr/>
        </p:nvSpPr>
        <p:spPr>
          <a:xfrm>
            <a:off x="8248650" y="3997812"/>
            <a:ext cx="3333750" cy="2283921"/>
          </a:xfrm>
          <a:prstGeom prst="rect">
            <a:avLst/>
          </a:prstGeom>
          <a:noFill/>
          <a:ln w="11430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t">
            <a:noAutofit/>
          </a:bodyPr>
          <a:lstStyle/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Estruturar recrutamento interno para posições de maior complexidade</a:t>
            </a:r>
          </a:p>
          <a:p>
            <a:pPr marL="139700" indent="-131763">
              <a:spcBef>
                <a:spcPts val="0"/>
              </a:spcBef>
              <a:spcAft>
                <a:spcPts val="9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400" dirty="0">
                <a:solidFill>
                  <a:srgbClr val="333333"/>
                </a:solidFill>
                <a:latin typeface="Arial"/>
                <a:cs typeface="Arial"/>
              </a:rPr>
              <a:t>Mapear pessoas de alto impacto à operação da empresa para priorização de recrutamento interno</a:t>
            </a:r>
          </a:p>
        </p:txBody>
      </p:sp>
      <p:sp>
        <p:nvSpPr>
          <p:cNvPr id="25" name="objective-band">
            <a:extLst>
              <a:ext uri="{FF2B5EF4-FFF2-40B4-BE49-F238E27FC236}">
                <a16:creationId xmlns:a16="http://schemas.microsoft.com/office/drawing/2014/main" id="{F485A7F7-ADFC-D66F-1417-06EDD258E8D6}"/>
              </a:ext>
            </a:extLst>
          </p:cNvPr>
          <p:cNvSpPr>
            <a:spLocks noGrp="1"/>
          </p:cNvSpPr>
          <p:nvPr/>
        </p:nvSpPr>
        <p:spPr>
          <a:xfrm>
            <a:off x="335998" y="1616891"/>
            <a:ext cx="9972000" cy="71469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noFill/>
            <a:prstDash val="solid"/>
          </a:ln>
        </p:spPr>
        <p:txBody>
          <a:bodyPr lIns="1692000" anchor="ctr"/>
          <a:lstStyle/>
          <a:p>
            <a:pPr>
              <a:defRPr sz="15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b="1" dirty="0">
                <a:solidFill>
                  <a:srgbClr val="0B1220"/>
                </a:solidFill>
                <a:latin typeface="Abadi" panose="020B0604020104020204" pitchFamily="34" charset="77"/>
                <a:ea typeface="Arial"/>
                <a:cs typeface="Arial"/>
              </a:rPr>
              <a:t>Fortalecer a política de remuneração permitindo atrair e reter os melhores profissionais, alinhada à performance, aos resultados e aos objetivos estratégicos da companhia.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B54E156-97C0-D498-B611-6F24A722977A}"/>
              </a:ext>
            </a:extLst>
          </p:cNvPr>
          <p:cNvSpPr/>
          <p:nvPr/>
        </p:nvSpPr>
        <p:spPr>
          <a:xfrm>
            <a:off x="341322" y="1601598"/>
            <a:ext cx="1515836" cy="714699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Valorização de Pessoas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A216A83-3CF2-87F0-B72B-F9631C282D07}"/>
              </a:ext>
            </a:extLst>
          </p:cNvPr>
          <p:cNvSpPr/>
          <p:nvPr/>
        </p:nvSpPr>
        <p:spPr>
          <a:xfrm>
            <a:off x="10476089" y="1609244"/>
            <a:ext cx="1380948" cy="714699"/>
          </a:xfrm>
          <a:prstGeom prst="roundRect">
            <a:avLst/>
          </a:prstGeom>
          <a:solidFill>
            <a:srgbClr val="E36800"/>
          </a:solidFill>
          <a:ln w="11430">
            <a:solidFill>
              <a:srgbClr val="E368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Head HR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95E1FE-C188-0675-AB6F-5431C49237F4}"/>
              </a:ext>
            </a:extLst>
          </p:cNvPr>
          <p:cNvSpPr/>
          <p:nvPr/>
        </p:nvSpPr>
        <p:spPr>
          <a:xfrm>
            <a:off x="10341201" y="296016"/>
            <a:ext cx="1515836" cy="246735"/>
          </a:xfrm>
          <a:prstGeom prst="rect">
            <a:avLst/>
          </a:prstGeom>
          <a:solidFill>
            <a:srgbClr val="63277F"/>
          </a:solidFill>
          <a:ln w="11430">
            <a:solidFill>
              <a:srgbClr val="63277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algn="ctr"/>
            <a:r>
              <a:rPr lang="en-BR" sz="1200" b="1" dirty="0">
                <a:solidFill>
                  <a:schemeClr val="bg1"/>
                </a:solidFill>
              </a:rPr>
              <a:t>Time</a:t>
            </a:r>
          </a:p>
        </p:txBody>
      </p:sp>
      <p:sp>
        <p:nvSpPr>
          <p:cNvPr id="9" name="step-metric-2">
            <a:extLst>
              <a:ext uri="{FF2B5EF4-FFF2-40B4-BE49-F238E27FC236}">
                <a16:creationId xmlns:a16="http://schemas.microsoft.com/office/drawing/2014/main" id="{76C0A883-9261-925A-6422-FBE4EDF4DD05}"/>
              </a:ext>
            </a:extLst>
          </p:cNvPr>
          <p:cNvSpPr>
            <a:spLocks noGrp="1"/>
          </p:cNvSpPr>
          <p:nvPr/>
        </p:nvSpPr>
        <p:spPr>
          <a:xfrm>
            <a:off x="8219794" y="3263072"/>
            <a:ext cx="3637241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108000" anchor="t">
            <a:noAutofit/>
          </a:bodyPr>
          <a:lstStyle/>
          <a:p>
            <a:r>
              <a:rPr lang="pt-BR" sz="2400" b="1" spc="-30" dirty="0">
                <a:latin typeface="Abadi" panose="020B0604020104020204" pitchFamily="34" charset="77"/>
                <a:cs typeface="Arial"/>
              </a:rPr>
              <a:t>Reter e desenvolver</a:t>
            </a:r>
          </a:p>
        </p:txBody>
      </p:sp>
      <p:sp>
        <p:nvSpPr>
          <p:cNvPr id="26" name="step-title-2">
            <a:extLst>
              <a:ext uri="{FF2B5EF4-FFF2-40B4-BE49-F238E27FC236}">
                <a16:creationId xmlns:a16="http://schemas.microsoft.com/office/drawing/2014/main" id="{241A0032-165E-874F-ACF0-1D471BD48781}"/>
              </a:ext>
            </a:extLst>
          </p:cNvPr>
          <p:cNvSpPr>
            <a:spLocks noGrp="1"/>
          </p:cNvSpPr>
          <p:nvPr/>
        </p:nvSpPr>
        <p:spPr>
          <a:xfrm>
            <a:off x="8724900" y="2699611"/>
            <a:ext cx="333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lang="pt-BR" sz="2000" b="1" dirty="0">
                <a:solidFill>
                  <a:schemeClr val="accent4"/>
                </a:solidFill>
                <a:latin typeface="Abadi" panose="020B0604020104020204" pitchFamily="34" charset="77"/>
                <a:ea typeface="Arial"/>
                <a:cs typeface="Arial"/>
              </a:rPr>
              <a:t>Mobilidade e retenção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9A2D4E0-1BAB-B5CC-232E-8F4E874AFC23}"/>
              </a:ext>
            </a:extLst>
          </p:cNvPr>
          <p:cNvSpPr/>
          <p:nvPr/>
        </p:nvSpPr>
        <p:spPr>
          <a:xfrm>
            <a:off x="4224966" y="5949747"/>
            <a:ext cx="3599193" cy="876152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Capacitação de pessoas? Dor do Fernando</a:t>
            </a:r>
          </a:p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DMS espera alta performance, mas não existe ciclo de treinamento e capacitação nas diretrizes estratégicas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6D68B65-64B7-81FA-F1AB-6158D2A2F6E0}"/>
              </a:ext>
            </a:extLst>
          </p:cNvPr>
          <p:cNvSpPr/>
          <p:nvPr/>
        </p:nvSpPr>
        <p:spPr>
          <a:xfrm>
            <a:off x="4295495" y="3429000"/>
            <a:ext cx="3599193" cy="368526"/>
          </a:xfrm>
          <a:prstGeom prst="roundRect">
            <a:avLst/>
          </a:prstGeom>
          <a:solidFill>
            <a:srgbClr val="E36800"/>
          </a:solidFill>
          <a:ln w="11430">
            <a:solidFill>
              <a:srgbClr val="E368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DMS para amanhã – Capacitação e treinamento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1510CC1-B99D-04DA-90FB-643A0E93D9CB}"/>
              </a:ext>
            </a:extLst>
          </p:cNvPr>
          <p:cNvSpPr/>
          <p:nvPr/>
        </p:nvSpPr>
        <p:spPr>
          <a:xfrm>
            <a:off x="4829456" y="2437679"/>
            <a:ext cx="2914090" cy="369346"/>
          </a:xfrm>
          <a:prstGeom prst="roundRect">
            <a:avLst/>
          </a:prstGeom>
          <a:solidFill>
            <a:srgbClr val="E36800"/>
          </a:solidFill>
          <a:ln w="11430">
            <a:solidFill>
              <a:srgbClr val="E368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Revisitar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0FD82DD-5272-FEBD-3358-17DFFDA54EE8}"/>
              </a:ext>
            </a:extLst>
          </p:cNvPr>
          <p:cNvSpPr/>
          <p:nvPr/>
        </p:nvSpPr>
        <p:spPr>
          <a:xfrm>
            <a:off x="8580768" y="5611885"/>
            <a:ext cx="3067535" cy="775937"/>
          </a:xfrm>
          <a:prstGeom prst="roundRect">
            <a:avLst/>
          </a:prstGeom>
          <a:solidFill>
            <a:srgbClr val="E36800"/>
          </a:solidFill>
          <a:ln w="11430">
            <a:solidFill>
              <a:srgbClr val="E368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Buscar especialistas no recrutamento</a:t>
            </a:r>
          </a:p>
        </p:txBody>
      </p:sp>
    </p:spTree>
    <p:extLst>
      <p:ext uri="{BB962C8B-B14F-4D97-AF65-F5344CB8AC3E}">
        <p14:creationId xmlns:p14="http://schemas.microsoft.com/office/powerpoint/2010/main" val="51417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21102A4-083A-8D05-F5EF-48508331C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646397D5-8107-2EA8-171F-F7396D1BD1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46397D5-8107-2EA8-171F-F7396D1BD1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E2D03263-3328-36B9-3C30-04069F0EF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As diretrizes estratégicas da DMS precisam ser desdobradas em temas prioritários, com provocações que orientem decisões e ações concretas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51AEEC6-138A-BDBC-E582-983580C96A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ATY</a:t>
            </a:r>
          </a:p>
          <a:p>
            <a:endParaRPr lang="pt-BR" noProof="1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39BBC807-A935-EC0A-8CA4-15A9419094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D960BA-90FA-A74B-AA71-FF66007503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pt-BR" noProof="1"/>
              <a:t>Provocações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1F24DD3E-11E8-2FF8-BF12-35E864B00998}"/>
              </a:ext>
            </a:extLst>
          </p:cNvPr>
          <p:cNvSpPr/>
          <p:nvPr/>
        </p:nvSpPr>
        <p:spPr>
          <a:xfrm>
            <a:off x="342900" y="1646959"/>
            <a:ext cx="1154589" cy="445716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>
                <a:solidFill>
                  <a:schemeClr val="bg1"/>
                </a:solidFill>
              </a:rPr>
              <a:t>Finanças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87B724D8-1496-6E60-AC77-CE5710CDA035}"/>
              </a:ext>
            </a:extLst>
          </p:cNvPr>
          <p:cNvSpPr/>
          <p:nvPr/>
        </p:nvSpPr>
        <p:spPr>
          <a:xfrm>
            <a:off x="1654852" y="1646959"/>
            <a:ext cx="1154589" cy="4457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>
                <a:solidFill>
                  <a:schemeClr val="bg1">
                    <a:lumMod val="75000"/>
                  </a:schemeClr>
                </a:solidFill>
              </a:rPr>
              <a:t>Operação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DA8D40F8-B255-FF6B-422D-AA1EA13BF381}"/>
              </a:ext>
            </a:extLst>
          </p:cNvPr>
          <p:cNvSpPr/>
          <p:nvPr/>
        </p:nvSpPr>
        <p:spPr>
          <a:xfrm>
            <a:off x="2966804" y="1646959"/>
            <a:ext cx="1154589" cy="4457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>
                <a:solidFill>
                  <a:schemeClr val="bg1">
                    <a:lumMod val="75000"/>
                  </a:schemeClr>
                </a:solidFill>
              </a:rPr>
              <a:t>Receita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F97C2E28-1667-B6CC-019F-5A64099D1E10}"/>
              </a:ext>
            </a:extLst>
          </p:cNvPr>
          <p:cNvSpPr/>
          <p:nvPr/>
        </p:nvSpPr>
        <p:spPr>
          <a:xfrm>
            <a:off x="4246930" y="1646959"/>
            <a:ext cx="1154589" cy="4457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>
                <a:solidFill>
                  <a:schemeClr val="bg1">
                    <a:lumMod val="75000"/>
                  </a:schemeClr>
                </a:solidFill>
              </a:rPr>
              <a:t>Cliente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69085B7B-A5A4-DD26-3599-2BC99EA8B0BC}"/>
              </a:ext>
            </a:extLst>
          </p:cNvPr>
          <p:cNvSpPr/>
          <p:nvPr/>
        </p:nvSpPr>
        <p:spPr>
          <a:xfrm>
            <a:off x="5512911" y="1646959"/>
            <a:ext cx="1154589" cy="4457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>
                <a:solidFill>
                  <a:schemeClr val="bg1">
                    <a:lumMod val="75000"/>
                  </a:schemeClr>
                </a:solidFill>
              </a:rPr>
              <a:t>TIme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E9A87C9-CA3C-637D-9679-FDB25B5AB181}"/>
              </a:ext>
            </a:extLst>
          </p:cNvPr>
          <p:cNvSpPr/>
          <p:nvPr/>
        </p:nvSpPr>
        <p:spPr>
          <a:xfrm>
            <a:off x="336000" y="2369252"/>
            <a:ext cx="3671667" cy="44571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Liquidez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DAB11A-7D4E-FA02-4A14-0A82D0278E12}"/>
              </a:ext>
            </a:extLst>
          </p:cNvPr>
          <p:cNvSpPr/>
          <p:nvPr/>
        </p:nvSpPr>
        <p:spPr>
          <a:xfrm>
            <a:off x="4258023" y="2369252"/>
            <a:ext cx="3671667" cy="44571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Controle de custos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90CD8C1-B2E4-0BE7-B67D-1804C0667F50}"/>
              </a:ext>
            </a:extLst>
          </p:cNvPr>
          <p:cNvSpPr/>
          <p:nvPr/>
        </p:nvSpPr>
        <p:spPr>
          <a:xfrm>
            <a:off x="8180045" y="2369252"/>
            <a:ext cx="3671667" cy="44571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P&amp;L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A4C9A3D-A576-AB8D-FD91-72E923147A4C}"/>
              </a:ext>
            </a:extLst>
          </p:cNvPr>
          <p:cNvSpPr/>
          <p:nvPr/>
        </p:nvSpPr>
        <p:spPr>
          <a:xfrm>
            <a:off x="335998" y="2956704"/>
            <a:ext cx="3671667" cy="3365608"/>
          </a:xfrm>
          <a:prstGeom prst="roundRect">
            <a:avLst>
              <a:gd name="adj" fmla="val 8277"/>
            </a:avLst>
          </a:prstGeom>
          <a:solidFill>
            <a:schemeClr val="accent2">
              <a:lumMod val="20000"/>
              <a:lumOff val="80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Ciclo de Conversão de Caixa:</a:t>
            </a:r>
            <a:r>
              <a:rPr lang="pt-BR" sz="1100" noProof="1">
                <a:solidFill>
                  <a:srgbClr val="333333"/>
                </a:solidFill>
                <a:latin typeface="Arial"/>
                <a:cs typeface="Arial"/>
              </a:rPr>
              <a:t> Quais alavancas específicas, como alongamento de prazos de pagamento a fornecedores ou risco sacado, pode-se acionar para reduzir o ciclo prejudicar o relacionamento comercial?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Autonomia e Pistas de Caixa:</a:t>
            </a:r>
            <a:r>
              <a:rPr lang="pt-BR" sz="1100" noProof="1">
                <a:solidFill>
                  <a:srgbClr val="333333"/>
                </a:solidFill>
                <a:latin typeface="Arial"/>
                <a:cs typeface="Arial"/>
              </a:rPr>
              <a:t> Em um cenário de queda de receita, exemplo de 20% a 30%, quantos meses de operação a empresa sustenta antes de precisar de capital externo ou cortes estruturais?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Alocação de Capital vs. Custo da Dívida:</a:t>
            </a:r>
            <a:r>
              <a:rPr lang="pt-BR" sz="1100" noProof="1">
                <a:solidFill>
                  <a:srgbClr val="333333"/>
                </a:solidFill>
                <a:latin typeface="Arial"/>
                <a:cs typeface="Arial"/>
              </a:rPr>
              <a:t> A estrutura atual de endividamento é ótima frente à taxa de retorno esperada dos projetos em andamento?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Sensibilidade de Caixa:</a:t>
            </a:r>
            <a:r>
              <a:rPr lang="pt-BR" sz="1100" noProof="1">
                <a:solidFill>
                  <a:srgbClr val="333333"/>
                </a:solidFill>
                <a:latin typeface="Arial"/>
                <a:cs typeface="Arial"/>
              </a:rPr>
              <a:t> Quais são os gatilhos formais de alerta que disparam protocolos de congelamento de despesas não essenciais?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942F1AB-6E7D-08BE-8B3A-15CF9796ACC7}"/>
              </a:ext>
            </a:extLst>
          </p:cNvPr>
          <p:cNvSpPr/>
          <p:nvPr/>
        </p:nvSpPr>
        <p:spPr>
          <a:xfrm>
            <a:off x="4253216" y="2956704"/>
            <a:ext cx="3671667" cy="3365608"/>
          </a:xfrm>
          <a:prstGeom prst="roundRect">
            <a:avLst>
              <a:gd name="adj" fmla="val 8277"/>
            </a:avLst>
          </a:prstGeom>
          <a:solidFill>
            <a:schemeClr val="accent2">
              <a:lumMod val="20000"/>
              <a:lumOff val="80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Estrutura de Custos Fixos vs. Variáveis</a:t>
            </a:r>
            <a:r>
              <a:rPr lang="pt-BR" sz="1100" noProof="1">
                <a:solidFill>
                  <a:srgbClr val="333333"/>
                </a:solidFill>
                <a:latin typeface="Arial"/>
                <a:cs typeface="Arial"/>
              </a:rPr>
              <a:t>: Qual parcela dos custos pode ser flexibilizada ou rolada para reduzir o ponto de equilíbrio (break-even) da operação?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Cultura de Orçamento </a:t>
            </a:r>
            <a:r>
              <a:rPr lang="pt-BR" sz="1100" noProof="1">
                <a:solidFill>
                  <a:srgbClr val="333333"/>
                </a:solidFill>
                <a:latin typeface="Arial"/>
                <a:cs typeface="Arial"/>
              </a:rPr>
              <a:t>As despesas corporativas e SG&amp;A estão atreladas a entregas de valor mensuráveis ou são projetadas historicamente?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Eficiência Operacional e Produtividade:</a:t>
            </a:r>
            <a:r>
              <a:rPr lang="pt-BR" sz="1100" noProof="1">
                <a:solidFill>
                  <a:srgbClr val="333333"/>
                </a:solidFill>
                <a:latin typeface="Arial"/>
                <a:cs typeface="Arial"/>
              </a:rPr>
              <a:t> Onde estão os maiores gargalos de desperdício em processos, infraestrutura ou ferramentas de tecnologia?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Políticas de Compras e Alçadas: </a:t>
            </a:r>
            <a:r>
              <a:rPr lang="pt-BR" sz="1100" noProof="1">
                <a:solidFill>
                  <a:srgbClr val="333333"/>
                </a:solidFill>
                <a:latin typeface="Arial"/>
                <a:cs typeface="Arial"/>
              </a:rPr>
              <a:t>As alçadas de aprovação e as negociações de volume capturam ganhos de escala reais ou são realizadas contratações pulverizadas entre áreas?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57C1A95F-7B8C-BAF2-F363-7185CF9D487F}"/>
              </a:ext>
            </a:extLst>
          </p:cNvPr>
          <p:cNvSpPr/>
          <p:nvPr/>
        </p:nvSpPr>
        <p:spPr>
          <a:xfrm>
            <a:off x="8180045" y="2956704"/>
            <a:ext cx="3671667" cy="3365608"/>
          </a:xfrm>
          <a:prstGeom prst="roundRect">
            <a:avLst>
              <a:gd name="adj" fmla="val 8277"/>
            </a:avLst>
          </a:prstGeom>
          <a:solidFill>
            <a:schemeClr val="accent2">
              <a:lumMod val="20000"/>
              <a:lumOff val="80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Margem de Contribuição por Segmento</a:t>
            </a:r>
            <a:r>
              <a:rPr lang="pt-BR" sz="1100" noProof="1">
                <a:solidFill>
                  <a:srgbClr val="333333"/>
                </a:solidFill>
                <a:latin typeface="Arial"/>
                <a:cs typeface="Arial"/>
              </a:rPr>
              <a:t>: Temos clareza sobre quais produtos, clientes ou canais destroem valor após a alocação de custos diretos e indiretos?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Poder de Repasse e Precificação:</a:t>
            </a:r>
            <a:r>
              <a:rPr lang="pt-BR" sz="1100" noProof="1">
                <a:solidFill>
                  <a:srgbClr val="333333"/>
                </a:solidFill>
                <a:latin typeface="Arial"/>
                <a:cs typeface="Arial"/>
              </a:rPr>
              <a:t> Qual é o limite de elasticidade de preço do nosso portfólio para proteger a margem bruta frente à inflação de insumos sem perder participação de mercado?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Qualidade do EBITDA:</a:t>
            </a:r>
            <a:r>
              <a:rPr lang="pt-BR" sz="1100" noProof="1">
                <a:solidFill>
                  <a:srgbClr val="333333"/>
                </a:solidFill>
                <a:latin typeface="Arial"/>
                <a:cs typeface="Arial"/>
              </a:rPr>
              <a:t> Qual proporção do nosso EBITDA se converte efetivamente em Fluxo de Caixa Livre?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Revisão de Portfólio:</a:t>
            </a:r>
            <a:r>
              <a:rPr lang="pt-BR" sz="1100" noProof="1">
                <a:solidFill>
                  <a:srgbClr val="333333"/>
                </a:solidFill>
                <a:latin typeface="Arial"/>
                <a:cs typeface="Arial"/>
              </a:rPr>
              <a:t> Existe um critério objetivo de tempo ou retorno para descontinuar linhas de negócio ou produtos que não atingem a meta de margem?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endParaRPr lang="pt-BR" sz="1100" noProof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9" name="Disclaimer_Box">
            <a:extLst>
              <a:ext uri="{FF2B5EF4-FFF2-40B4-BE49-F238E27FC236}">
                <a16:creationId xmlns:a16="http://schemas.microsoft.com/office/drawing/2014/main" id="{EACE8A6A-4E30-FBD0-B67E-3ED1BAA1677B}"/>
              </a:ext>
            </a:extLst>
          </p:cNvPr>
          <p:cNvSpPr txBox="1">
            <a:spLocks/>
          </p:cNvSpPr>
          <p:nvPr/>
        </p:nvSpPr>
        <p:spPr>
          <a:xfrm>
            <a:off x="9540697" y="1200149"/>
            <a:ext cx="231634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 sz="1200" b="1" kern="1200" baseline="0">
                <a:solidFill>
                  <a:schemeClr val="accent6"/>
                </a:solidFill>
                <a:latin typeface="Arial"/>
                <a:ea typeface="+mn-ea"/>
                <a:cs typeface="Arial"/>
              </a:defRPr>
            </a:lvl1pPr>
            <a:lvl2pPr marL="352425" marR="0" indent="-1651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9750" marR="0" indent="-1857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2" pitchFamily="18" charset="2"/>
              <a:buChar char=""/>
              <a:tabLst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712788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900113" marR="0" indent="-1857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</a:rPr>
              <a:t>Não Exaustivo | Para discussão</a:t>
            </a:r>
          </a:p>
        </p:txBody>
      </p:sp>
    </p:spTree>
    <p:extLst>
      <p:ext uri="{BB962C8B-B14F-4D97-AF65-F5344CB8AC3E}">
        <p14:creationId xmlns:p14="http://schemas.microsoft.com/office/powerpoint/2010/main" val="20460043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AD3824B-B280-95AD-442A-55A55BA98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2D2224B2-7239-5F41-E1D3-A8E6C2F7F4CB}"/>
              </a:ext>
            </a:extLst>
          </p:cNvPr>
          <p:cNvSpPr/>
          <p:nvPr/>
        </p:nvSpPr>
        <p:spPr>
          <a:xfrm>
            <a:off x="335998" y="2705493"/>
            <a:ext cx="3671667" cy="3616819"/>
          </a:xfrm>
          <a:prstGeom prst="roundRect">
            <a:avLst>
              <a:gd name="adj" fmla="val 8277"/>
            </a:avLst>
          </a:prstGeom>
          <a:solidFill>
            <a:schemeClr val="accent2">
              <a:lumMod val="20000"/>
              <a:lumOff val="80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Ciclo de Conversão de Caixa:</a:t>
            </a:r>
            <a:r>
              <a:rPr lang="pt-BR" sz="1100" noProof="1">
                <a:solidFill>
                  <a:srgbClr val="333333"/>
                </a:solidFill>
                <a:latin typeface="Arial"/>
                <a:cs typeface="Arial"/>
              </a:rPr>
              <a:t> Quais alavancas específicas, como alongamento de prazos de pagamento a fornecedores ou risco sacado, pode-se acionar para reduzir o ciclo prejudicar o relacionamento comercial?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Autonomia e Pistas de Caixa:</a:t>
            </a:r>
            <a:r>
              <a:rPr lang="pt-BR" sz="1100" noProof="1">
                <a:solidFill>
                  <a:srgbClr val="333333"/>
                </a:solidFill>
                <a:latin typeface="Arial"/>
                <a:cs typeface="Arial"/>
              </a:rPr>
              <a:t> Em um cenário de queda de receita, exemplo de 20% a 30%, quantos meses de operação a empresa sustenta antes de precisar de capital externo ou cortes estruturais?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Alocação de Capital vs. Custo da Dívida:</a:t>
            </a:r>
            <a:r>
              <a:rPr lang="pt-BR" sz="1100" noProof="1">
                <a:solidFill>
                  <a:srgbClr val="333333"/>
                </a:solidFill>
                <a:latin typeface="Arial"/>
                <a:cs typeface="Arial"/>
              </a:rPr>
              <a:t> A estrutura atual de endividamento é ótima frente à taxa de retorno esperada dos projetos em andamento?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Sensibilidade de Caixa:</a:t>
            </a:r>
            <a:r>
              <a:rPr lang="pt-BR" sz="1100" noProof="1">
                <a:solidFill>
                  <a:srgbClr val="333333"/>
                </a:solidFill>
                <a:latin typeface="Arial"/>
                <a:cs typeface="Arial"/>
              </a:rPr>
              <a:t> Quais são os gatilhos formais de alerta que disparam protocolos de congelamento de despesas não essenciais?</a:t>
            </a:r>
          </a:p>
        </p:txBody>
      </p:sp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3F0199EA-D574-964E-7871-97EEDBB3E1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0199EA-D574-964E-7871-97EEDBB3E1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53581040-1FE0-676B-8BF0-274CF71B3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Indicadores táticos devem construídos e monitorados através de processos estruturados para suportar o guideline estratégico do tema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A135BEB-0753-8D36-882A-AFEC75A9BE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ATY</a:t>
            </a:r>
          </a:p>
          <a:p>
            <a:endParaRPr lang="pt-BR" noProof="1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D4DAAB57-F4DF-06B7-95A1-D789BBC8C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AA06145-EB5E-9547-B90A-3DBF3CAE00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pt-BR" noProof="1"/>
              <a:t>Estratégica para ações tangíveis - Alocação de Capital vs. Custo da Dívida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EF2922BC-4124-71C4-97E2-53FE492FE2B4}"/>
              </a:ext>
            </a:extLst>
          </p:cNvPr>
          <p:cNvSpPr/>
          <p:nvPr/>
        </p:nvSpPr>
        <p:spPr>
          <a:xfrm>
            <a:off x="1654852" y="1646959"/>
            <a:ext cx="1154589" cy="4457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>
                <a:solidFill>
                  <a:schemeClr val="bg1">
                    <a:lumMod val="75000"/>
                  </a:schemeClr>
                </a:solidFill>
              </a:rPr>
              <a:t>Operação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A9A7887E-E4CC-558B-F076-2F0FE81419AF}"/>
              </a:ext>
            </a:extLst>
          </p:cNvPr>
          <p:cNvSpPr/>
          <p:nvPr/>
        </p:nvSpPr>
        <p:spPr>
          <a:xfrm>
            <a:off x="2966804" y="1646959"/>
            <a:ext cx="1154589" cy="4457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>
                <a:solidFill>
                  <a:schemeClr val="bg1">
                    <a:lumMod val="75000"/>
                  </a:schemeClr>
                </a:solidFill>
              </a:rPr>
              <a:t>Receita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4FBD3475-0CCC-4259-980D-67C87A283FAF}"/>
              </a:ext>
            </a:extLst>
          </p:cNvPr>
          <p:cNvSpPr/>
          <p:nvPr/>
        </p:nvSpPr>
        <p:spPr>
          <a:xfrm>
            <a:off x="4246930" y="1646959"/>
            <a:ext cx="1154589" cy="4457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>
                <a:solidFill>
                  <a:schemeClr val="bg1">
                    <a:lumMod val="75000"/>
                  </a:schemeClr>
                </a:solidFill>
              </a:rPr>
              <a:t>Cliente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412CCFFB-FEFF-CA1A-78E4-B438FDE3B975}"/>
              </a:ext>
            </a:extLst>
          </p:cNvPr>
          <p:cNvSpPr/>
          <p:nvPr/>
        </p:nvSpPr>
        <p:spPr>
          <a:xfrm>
            <a:off x="5512911" y="1646959"/>
            <a:ext cx="1154589" cy="4457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>
                <a:solidFill>
                  <a:schemeClr val="bg1">
                    <a:lumMod val="75000"/>
                  </a:schemeClr>
                </a:solidFill>
              </a:rPr>
              <a:t>TIme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BC6FCC3-4419-6E20-AE85-A38B5D04BB7F}"/>
              </a:ext>
            </a:extLst>
          </p:cNvPr>
          <p:cNvSpPr/>
          <p:nvPr/>
        </p:nvSpPr>
        <p:spPr>
          <a:xfrm>
            <a:off x="336000" y="2184936"/>
            <a:ext cx="3671667" cy="445716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1430">
            <a:solidFill>
              <a:srgbClr val="33726D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14300" tIns="133350" rIns="114300" bIns="95250" anchor="ctr">
            <a:noAutofit/>
          </a:bodyPr>
          <a:lstStyle/>
          <a:p>
            <a:pPr marL="7937" algn="ctr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</a:pPr>
            <a:r>
              <a:rPr lang="pt-BR" sz="1200" b="1" noProof="1">
                <a:solidFill>
                  <a:schemeClr val="bg1"/>
                </a:solidFill>
                <a:latin typeface="Arial"/>
                <a:cs typeface="Arial"/>
              </a:rPr>
              <a:t>Liquidez</a:t>
            </a:r>
          </a:p>
        </p:txBody>
      </p:sp>
      <p:sp>
        <p:nvSpPr>
          <p:cNvPr id="6" name="Vertical_Bracket">
            <a:extLst>
              <a:ext uri="{FF2B5EF4-FFF2-40B4-BE49-F238E27FC236}">
                <a16:creationId xmlns:a16="http://schemas.microsoft.com/office/drawing/2014/main" id="{AD32CE15-2CA2-AC39-9B46-DEEBA2DA82B4}"/>
              </a:ext>
            </a:extLst>
          </p:cNvPr>
          <p:cNvSpPr/>
          <p:nvPr/>
        </p:nvSpPr>
        <p:spPr>
          <a:xfrm rot="10800000" flipH="1">
            <a:off x="4061527" y="2705493"/>
            <a:ext cx="131541" cy="3616819"/>
          </a:xfrm>
          <a:prstGeom prst="leftBrace">
            <a:avLst>
              <a:gd name="adj1" fmla="val 0"/>
              <a:gd name="adj2" fmla="val 52733"/>
            </a:avLst>
          </a:prstGeom>
          <a:ln w="9525" cap="flat">
            <a:solidFill>
              <a:schemeClr val="accent5"/>
            </a:solidFill>
            <a:round/>
            <a:headEnd type="oval"/>
            <a:tailEnd type="oval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0000" dir="5400000" rotWithShape="0">
                    <a:srgbClr val="000000">
                      <a:alpha val="38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noProof="0"/>
          </a:p>
        </p:txBody>
      </p:sp>
      <p:cxnSp>
        <p:nvCxnSpPr>
          <p:cNvPr id="9" name="Callout_Bent">
            <a:extLst>
              <a:ext uri="{FF2B5EF4-FFF2-40B4-BE49-F238E27FC236}">
                <a16:creationId xmlns:a16="http://schemas.microsoft.com/office/drawing/2014/main" id="{B9FA820A-408F-B99A-C1F3-93D62D2636F1}"/>
              </a:ext>
            </a:extLst>
          </p:cNvPr>
          <p:cNvCxnSpPr>
            <a:cxnSpLocks/>
            <a:stCxn id="6" idx="1"/>
            <a:endCxn id="24" idx="3"/>
          </p:cNvCxnSpPr>
          <p:nvPr/>
        </p:nvCxnSpPr>
        <p:spPr>
          <a:xfrm rot="10800000" flipV="1">
            <a:off x="3848101" y="4415054"/>
            <a:ext cx="213427" cy="734345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>
            <a:solidFill>
              <a:schemeClr val="accent5"/>
            </a:solidFill>
            <a:tailEnd type="oval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24" name="Retângulo 96">
            <a:extLst>
              <a:ext uri="{FF2B5EF4-FFF2-40B4-BE49-F238E27FC236}">
                <a16:creationId xmlns:a16="http://schemas.microsoft.com/office/drawing/2014/main" id="{6886E099-F95C-4D6B-5F05-EA34805E7EC2}"/>
              </a:ext>
            </a:extLst>
          </p:cNvPr>
          <p:cNvSpPr/>
          <p:nvPr/>
        </p:nvSpPr>
        <p:spPr>
          <a:xfrm>
            <a:off x="489276" y="4780095"/>
            <a:ext cx="3358824" cy="738609"/>
          </a:xfrm>
          <a:prstGeom prst="rect">
            <a:avLst/>
          </a:prstGeom>
          <a:noFill/>
          <a:ln w="28575">
            <a:solidFill>
              <a:schemeClr val="accent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noProof="0">
              <a:solidFill>
                <a:schemeClr val="tx1"/>
              </a:solidFill>
            </a:endParaRPr>
          </a:p>
        </p:txBody>
      </p:sp>
      <p:sp>
        <p:nvSpPr>
          <p:cNvPr id="50" name="Disclaimer_Box">
            <a:extLst>
              <a:ext uri="{FF2B5EF4-FFF2-40B4-BE49-F238E27FC236}">
                <a16:creationId xmlns:a16="http://schemas.microsoft.com/office/drawing/2014/main" id="{6563EBE6-E6D5-AAB6-51F0-821EDC458317}"/>
              </a:ext>
            </a:extLst>
          </p:cNvPr>
          <p:cNvSpPr txBox="1">
            <a:spLocks/>
          </p:cNvSpPr>
          <p:nvPr/>
        </p:nvSpPr>
        <p:spPr>
          <a:xfrm>
            <a:off x="9540697" y="1200149"/>
            <a:ext cx="231634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 sz="1200" b="1" kern="1200" baseline="0">
                <a:solidFill>
                  <a:schemeClr val="accent6"/>
                </a:solidFill>
                <a:latin typeface="Arial"/>
                <a:ea typeface="+mn-ea"/>
                <a:cs typeface="Arial"/>
              </a:defRPr>
            </a:lvl1pPr>
            <a:lvl2pPr marL="352425" marR="0" indent="-1651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9750" marR="0" indent="-1857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2" pitchFamily="18" charset="2"/>
              <a:buChar char=""/>
              <a:tabLst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712788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900113" marR="0" indent="-1857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noProof="0">
                <a:solidFill>
                  <a:schemeClr val="accent4"/>
                </a:solidFill>
              </a:rPr>
              <a:t>Não Exaustivo | Para discussão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8DF50C85-8DE2-C0AB-BD1A-D10CB240A8BF}"/>
              </a:ext>
            </a:extLst>
          </p:cNvPr>
          <p:cNvSpPr/>
          <p:nvPr/>
        </p:nvSpPr>
        <p:spPr>
          <a:xfrm>
            <a:off x="4249804" y="2183392"/>
            <a:ext cx="1857118" cy="44571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accent1">
                <a:lumMod val="5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pt-BR" sz="1200" b="1" noProof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 Estratégia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8A001D39-72BD-2D74-1FD8-470ED30704DE}"/>
              </a:ext>
            </a:extLst>
          </p:cNvPr>
          <p:cNvSpPr/>
          <p:nvPr/>
        </p:nvSpPr>
        <p:spPr>
          <a:xfrm>
            <a:off x="4246930" y="2705493"/>
            <a:ext cx="1857119" cy="3616819"/>
          </a:xfrm>
          <a:prstGeom prst="roundRect">
            <a:avLst>
              <a:gd name="adj" fmla="val 8277"/>
            </a:avLst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chemeClr val="accent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Spread Estratégico: </a:t>
            </a:r>
            <a:r>
              <a:rPr lang="pt-BR" sz="1100" noProof="1">
                <a:solidFill>
                  <a:srgbClr val="333333"/>
                </a:solidFill>
                <a:latin typeface="Arial"/>
                <a:cs typeface="Arial"/>
              </a:rPr>
              <a:t>Relação ideal entre WACC e TIR.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Balanceamento entre capital próprio e terceiros: </a:t>
            </a:r>
            <a:r>
              <a:rPr lang="pt-BR" sz="1100" noProof="1">
                <a:solidFill>
                  <a:srgbClr val="333333"/>
                </a:solidFill>
                <a:latin typeface="Arial"/>
                <a:cs typeface="Arial"/>
              </a:rPr>
              <a:t>Balanço entre risco e redução do imposto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Share de captura de capital de terceiros: </a:t>
            </a:r>
            <a:r>
              <a:rPr lang="pt-BR" sz="1100" noProof="1">
                <a:solidFill>
                  <a:srgbClr val="333333"/>
                </a:solidFill>
                <a:latin typeface="Arial"/>
                <a:cs typeface="Arial"/>
              </a:rPr>
              <a:t>Otimização do share entre credores para minimização do WACC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Avenidas de capitura de capital de terceiros: </a:t>
            </a:r>
            <a:r>
              <a:rPr lang="pt-BR" sz="1100" noProof="1">
                <a:solidFill>
                  <a:srgbClr val="333333"/>
                </a:solidFill>
                <a:latin typeface="Arial"/>
                <a:cs typeface="Arial"/>
              </a:rPr>
              <a:t>Mapeamento de avenidas de captura de capital de menor custo para empresa global</a:t>
            </a:r>
            <a:endParaRPr lang="pt-BR" sz="1100" b="1" noProof="1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045EFC3-70D0-85A7-B513-5DEECD810CEF}"/>
              </a:ext>
            </a:extLst>
          </p:cNvPr>
          <p:cNvSpPr/>
          <p:nvPr/>
        </p:nvSpPr>
        <p:spPr>
          <a:xfrm>
            <a:off x="6201409" y="2183392"/>
            <a:ext cx="1857118" cy="44571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accent1">
                <a:lumMod val="5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pt-BR" sz="1200" b="1" noProof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Capabilites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349B799C-64EB-9A15-AE04-14161FCE8A1B}"/>
              </a:ext>
            </a:extLst>
          </p:cNvPr>
          <p:cNvSpPr/>
          <p:nvPr/>
        </p:nvSpPr>
        <p:spPr>
          <a:xfrm>
            <a:off x="6201409" y="2705493"/>
            <a:ext cx="1857119" cy="3616819"/>
          </a:xfrm>
          <a:prstGeom prst="roundRect">
            <a:avLst>
              <a:gd name="adj" fmla="val 8277"/>
            </a:avLst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chemeClr val="accent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Capacidade de negociação e vendas de projetos complexos para stakeholders internacionais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Modelagem de WACC TIR e cenários de alavancagem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Estratégia de hedge cambial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Plano de ação para captura de rating de créditos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BD170A5A-1BEE-D57A-F46B-392E333B115E}"/>
              </a:ext>
            </a:extLst>
          </p:cNvPr>
          <p:cNvSpPr/>
          <p:nvPr/>
        </p:nvSpPr>
        <p:spPr>
          <a:xfrm>
            <a:off x="8153015" y="2182601"/>
            <a:ext cx="1857118" cy="44571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accent1">
                <a:lumMod val="5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pt-BR" sz="1200" b="1" noProof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 Estruturante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4EE0259E-9E1E-6308-87A7-C643DE40D15C}"/>
              </a:ext>
            </a:extLst>
          </p:cNvPr>
          <p:cNvSpPr/>
          <p:nvPr/>
        </p:nvSpPr>
        <p:spPr>
          <a:xfrm>
            <a:off x="8153015" y="2705493"/>
            <a:ext cx="1857119" cy="3616819"/>
          </a:xfrm>
          <a:prstGeom prst="roundRect">
            <a:avLst>
              <a:gd name="adj" fmla="val 8277"/>
            </a:avLst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chemeClr val="accent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Busca de capital em ambiente internacional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Planejamento de alavancas de alavancagem e gestão de riscos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Gatilhos de ações de controle de aumento de custo de capital de terceiros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Auditoria externa para suportar captura do rating de crédito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F0088A9F-AA9D-6B9F-94D1-6E97241B17E1}"/>
              </a:ext>
            </a:extLst>
          </p:cNvPr>
          <p:cNvSpPr/>
          <p:nvPr/>
        </p:nvSpPr>
        <p:spPr>
          <a:xfrm>
            <a:off x="10102652" y="2182601"/>
            <a:ext cx="1857118" cy="44571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>
            <a:solidFill>
              <a:schemeClr val="accent1">
                <a:lumMod val="5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08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pt-BR" sz="1200" b="1" noProof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 Operacional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B008ED09-2F38-BEA5-E824-FDB6ED330198}"/>
              </a:ext>
            </a:extLst>
          </p:cNvPr>
          <p:cNvSpPr/>
          <p:nvPr/>
        </p:nvSpPr>
        <p:spPr>
          <a:xfrm>
            <a:off x="10102652" y="2705493"/>
            <a:ext cx="1857119" cy="3616819"/>
          </a:xfrm>
          <a:prstGeom prst="roundRect">
            <a:avLst>
              <a:gd name="adj" fmla="val 8277"/>
            </a:avLst>
          </a:prstGeom>
          <a:solidFill>
            <a:schemeClr val="accent1">
              <a:lumMod val="20000"/>
              <a:lumOff val="80000"/>
            </a:schemeClr>
          </a:solidFill>
          <a:ln w="11430">
            <a:solidFill>
              <a:schemeClr val="accent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anchor="ctr">
            <a:noAutofit/>
          </a:bodyPr>
          <a:lstStyle/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Acompanhamento de rentabilidade e TIR dos projetos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Acompanhamento da evolução do WACC</a:t>
            </a:r>
          </a:p>
          <a:p>
            <a:pPr marL="139700" indent="-131763">
              <a:spcBef>
                <a:spcPts val="300"/>
              </a:spcBef>
              <a:spcAft>
                <a:spcPts val="300"/>
              </a:spcAft>
              <a:buClr>
                <a:schemeClr val="accent4"/>
              </a:buClr>
              <a:buFont typeface="System Font Regular"/>
              <a:buChar char="●"/>
            </a:pPr>
            <a:r>
              <a:rPr lang="pt-BR" sz="1100" b="1" noProof="1">
                <a:solidFill>
                  <a:srgbClr val="333333"/>
                </a:solidFill>
                <a:latin typeface="Arial"/>
                <a:cs typeface="Arial"/>
              </a:rPr>
              <a:t>Acompanhamento de evolução da composição do capital</a:t>
            </a:r>
          </a:p>
        </p:txBody>
      </p:sp>
      <p:sp>
        <p:nvSpPr>
          <p:cNvPr id="8" name="Rounded Rectangle 63">
            <a:extLst>
              <a:ext uri="{FF2B5EF4-FFF2-40B4-BE49-F238E27FC236}">
                <a16:creationId xmlns:a16="http://schemas.microsoft.com/office/drawing/2014/main" id="{5EEF3A72-47D3-2CF2-D513-9B8BF5349749}"/>
              </a:ext>
            </a:extLst>
          </p:cNvPr>
          <p:cNvSpPr/>
          <p:nvPr/>
        </p:nvSpPr>
        <p:spPr>
          <a:xfrm>
            <a:off x="342900" y="1646959"/>
            <a:ext cx="1154589" cy="445716"/>
          </a:xfrm>
          <a:prstGeom prst="round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BR" sz="1200" b="1">
                <a:solidFill>
                  <a:schemeClr val="bg1"/>
                </a:solidFill>
              </a:rPr>
              <a:t>Finanças</a:t>
            </a:r>
          </a:p>
        </p:txBody>
      </p:sp>
      <p:grpSp>
        <p:nvGrpSpPr>
          <p:cNvPr id="4" name="Gruppieren 72">
            <a:extLst>
              <a:ext uri="{FF2B5EF4-FFF2-40B4-BE49-F238E27FC236}">
                <a16:creationId xmlns:a16="http://schemas.microsoft.com/office/drawing/2014/main" id="{63039DC9-F1FA-ED5B-D357-BAD7C21AD3BB}"/>
              </a:ext>
            </a:extLst>
          </p:cNvPr>
          <p:cNvGrpSpPr/>
          <p:nvPr/>
        </p:nvGrpSpPr>
        <p:grpSpPr>
          <a:xfrm rot="5400000" flipV="1">
            <a:off x="8989241" y="1361576"/>
            <a:ext cx="184665" cy="1182490"/>
            <a:chOff x="6788850" y="3676650"/>
            <a:chExt cx="211526" cy="1182490"/>
          </a:xfrm>
        </p:grpSpPr>
        <p:cxnSp>
          <p:nvCxnSpPr>
            <p:cNvPr id="11" name="Gerader Verbinder 67">
              <a:extLst>
                <a:ext uri="{FF2B5EF4-FFF2-40B4-BE49-F238E27FC236}">
                  <a16:creationId xmlns:a16="http://schemas.microsoft.com/office/drawing/2014/main" id="{48DAF9B7-0F65-798A-ECBC-C67B96167052}"/>
                </a:ext>
              </a:extLst>
            </p:cNvPr>
            <p:cNvCxnSpPr/>
            <p:nvPr/>
          </p:nvCxnSpPr>
          <p:spPr>
            <a:xfrm>
              <a:off x="6788850" y="3676650"/>
              <a:ext cx="211526" cy="592501"/>
            </a:xfrm>
            <a:prstGeom prst="line">
              <a:avLst/>
            </a:prstGeom>
            <a:ln cap="rnd">
              <a:solidFill>
                <a:schemeClr val="accent5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71">
              <a:extLst>
                <a:ext uri="{FF2B5EF4-FFF2-40B4-BE49-F238E27FC236}">
                  <a16:creationId xmlns:a16="http://schemas.microsoft.com/office/drawing/2014/main" id="{EE215689-951C-252A-F2CA-7762538EE37B}"/>
                </a:ext>
              </a:extLst>
            </p:cNvPr>
            <p:cNvCxnSpPr/>
            <p:nvPr/>
          </p:nvCxnSpPr>
          <p:spPr>
            <a:xfrm flipV="1">
              <a:off x="6788850" y="4266639"/>
              <a:ext cx="211526" cy="592501"/>
            </a:xfrm>
            <a:prstGeom prst="line">
              <a:avLst/>
            </a:prstGeom>
            <a:ln cap="rnd">
              <a:solidFill>
                <a:schemeClr val="accent5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Espaço Reservado para Texto 3">
            <a:extLst>
              <a:ext uri="{FF2B5EF4-FFF2-40B4-BE49-F238E27FC236}">
                <a16:creationId xmlns:a16="http://schemas.microsoft.com/office/drawing/2014/main" id="{5894C5F8-5AC7-BAB7-5784-C67C30D3D790}"/>
              </a:ext>
            </a:extLst>
          </p:cNvPr>
          <p:cNvSpPr txBox="1">
            <a:spLocks/>
          </p:cNvSpPr>
          <p:nvPr/>
        </p:nvSpPr>
        <p:spPr>
          <a:xfrm>
            <a:off x="8258760" y="1606390"/>
            <a:ext cx="1843892" cy="18466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nl-NL" sz="12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7808" marR="0" indent="177808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Arial" charset="0"/>
              <a:buChar char="–"/>
              <a:tabLst/>
              <a:defRPr lang="nl-NL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3556" marR="0" indent="177808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itchFamily="18" charset="2"/>
              <a:buChar char=""/>
              <a:tabLst/>
              <a:defRPr lang="nl-NL" sz="1400" kern="1200" dirty="0" smtClean="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3pPr>
            <a:lvl4pPr marL="0" marR="0" indent="-171459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lang="nl-NL" sz="1400" kern="1200" dirty="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4pPr>
            <a:lvl5pPr marL="0" marR="0" indent="-185746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lang="nl-NL" sz="1400" kern="1200" dirty="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5pPr>
            <a:lvl6pPr marL="2514726" marR="0" indent="-228612" algn="l" defTabSz="45722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2" algn="l" defTabSz="45722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2" indent="-228612" algn="l" defTabSz="45722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2" algn="l" defTabSz="45722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noProof="1">
                <a:solidFill>
                  <a:schemeClr val="accent5"/>
                </a:solidFill>
              </a:rPr>
              <a:t>Frente atual do projeto</a:t>
            </a:r>
          </a:p>
        </p:txBody>
      </p:sp>
    </p:spTree>
    <p:extLst>
      <p:ext uri="{BB962C8B-B14F-4D97-AF65-F5344CB8AC3E}">
        <p14:creationId xmlns:p14="http://schemas.microsoft.com/office/powerpoint/2010/main" val="1802533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A17C662-272C-D481-59FF-082947901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DA729D16-FFE4-21EE-89B8-EC458A98331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A729D16-FFE4-21EE-89B8-EC458A9833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BAE00731-DECD-7648-916A-02010E565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Próximos passos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6316B79-9C02-0F8E-D873-E236148473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ATY</a:t>
            </a:r>
          </a:p>
          <a:p>
            <a:endParaRPr lang="pt-BR" noProof="1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D6F772C2-45CC-6646-AA9A-6B3D7AA99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28398C-E770-3C12-990D-D6FD90F7D3E1}"/>
              </a:ext>
            </a:extLst>
          </p:cNvPr>
          <p:cNvSpPr/>
          <p:nvPr/>
        </p:nvSpPr>
        <p:spPr>
          <a:xfrm>
            <a:off x="1272989" y="2474259"/>
            <a:ext cx="9027458" cy="2985247"/>
          </a:xfrm>
          <a:prstGeom prst="rect">
            <a:avLst/>
          </a:prstGeom>
          <a:noFill/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b="1" dirty="0">
                <a:solidFill>
                  <a:schemeClr val="tx1"/>
                </a:solidFill>
              </a:rPr>
              <a:t>Entregáveis: Planilha 11/09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b="1" dirty="0">
                <a:solidFill>
                  <a:schemeClr val="tx1"/>
                </a:solidFill>
              </a:rPr>
              <a:t>Agenda discussão todo material 15/09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b="1" dirty="0">
                <a:solidFill>
                  <a:schemeClr val="tx1"/>
                </a:solidFill>
              </a:rPr>
              <a:t>Agenda com C-</a:t>
            </a:r>
            <a:r>
              <a:rPr lang="pt-BR" sz="1800" b="1" dirty="0" err="1">
                <a:solidFill>
                  <a:schemeClr val="tx1"/>
                </a:solidFill>
              </a:rPr>
              <a:t>Levels</a:t>
            </a:r>
            <a:r>
              <a:rPr lang="pt-BR" sz="1800" b="1">
                <a:solidFill>
                  <a:schemeClr val="tx1"/>
                </a:solidFill>
              </a:rPr>
              <a:t> 19/10 a 22/10</a:t>
            </a:r>
            <a:endParaRPr lang="pt-BR" sz="18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BR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2862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9DE349-E64C-48C3-3EA9-84D9BE611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A2F1ED5F-B1C9-40F8-7695-3F42D62F69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2F1ED5F-B1C9-40F8-7695-3F42D62F69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2FE0723B-294C-7289-ECB9-BF29838F8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Próximos passos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BA7824-3A31-0838-9B3D-FDB778D938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ATY</a:t>
            </a:r>
          </a:p>
          <a:p>
            <a:endParaRPr lang="pt-BR" noProof="1"/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CBD8E062-4A98-ED32-5AD5-0C0ED69F47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0581D1-1A1B-CD50-B6EB-1FA1EE929138}"/>
              </a:ext>
            </a:extLst>
          </p:cNvPr>
          <p:cNvSpPr/>
          <p:nvPr/>
        </p:nvSpPr>
        <p:spPr>
          <a:xfrm>
            <a:off x="1272989" y="2474259"/>
            <a:ext cx="9027458" cy="2985247"/>
          </a:xfrm>
          <a:prstGeom prst="rect">
            <a:avLst/>
          </a:prstGeom>
          <a:noFill/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BR" sz="1800" b="1" dirty="0">
                <a:solidFill>
                  <a:schemeClr val="tx1"/>
                </a:solidFill>
              </a:rPr>
              <a:t>Estruturar </a:t>
            </a:r>
            <a:r>
              <a:rPr lang="en-US" sz="1800" b="1" dirty="0" err="1">
                <a:solidFill>
                  <a:schemeClr val="tx1"/>
                </a:solidFill>
              </a:rPr>
              <a:t>Segurança</a:t>
            </a:r>
            <a:r>
              <a:rPr lang="en-US" sz="1800" b="1" dirty="0">
                <a:solidFill>
                  <a:schemeClr val="tx1"/>
                </a:solidFill>
              </a:rPr>
              <a:t>-Cyber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R" sz="1800" b="1" dirty="0">
                <a:solidFill>
                  <a:schemeClr val="tx1"/>
                </a:solidFill>
              </a:rPr>
              <a:t>Estruturar todo a diretriz de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BR" sz="18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R" sz="1800" b="1" dirty="0">
                <a:solidFill>
                  <a:schemeClr val="tx1"/>
                </a:solidFill>
              </a:rPr>
              <a:t>Identificar itens cross e não MECE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BR" sz="18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R" sz="1800" b="1" dirty="0">
                <a:solidFill>
                  <a:schemeClr val="tx1"/>
                </a:solidFill>
              </a:rPr>
              <a:t>Continuação deep-dive CFO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BR" sz="18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BR" sz="1800" b="1" dirty="0">
                <a:solidFill>
                  <a:schemeClr val="tx1"/>
                </a:solidFill>
              </a:rPr>
              <a:t>Construir deck para apresentação ao sócio</a:t>
            </a:r>
          </a:p>
        </p:txBody>
      </p:sp>
    </p:spTree>
    <p:extLst>
      <p:ext uri="{BB962C8B-B14F-4D97-AF65-F5344CB8AC3E}">
        <p14:creationId xmlns:p14="http://schemas.microsoft.com/office/powerpoint/2010/main" val="33200115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5CCE4-3A37-6202-1394-72E428E9D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R" dirty="0"/>
              <a:t>Ações estruturantes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F4A7F-DD6E-C033-4779-E166D7BD75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noProof="1"/>
              <a:t>Estratégia</a:t>
            </a:r>
          </a:p>
          <a:p>
            <a:endParaRPr lang="en-B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8D6C6-F2E9-9E46-E8EF-93D10C99F8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528C86-8979-A114-352B-B2AA4786A7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CED7CA-C991-0AA9-745E-732CAC1F238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BR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5BABEFE-FFF8-35BF-DC65-E4CBE0CB1D46}"/>
              </a:ext>
            </a:extLst>
          </p:cNvPr>
          <p:cNvGrpSpPr/>
          <p:nvPr/>
        </p:nvGrpSpPr>
        <p:grpSpPr>
          <a:xfrm>
            <a:off x="916341" y="3104445"/>
            <a:ext cx="10216444" cy="936977"/>
            <a:chOff x="2724150" y="2347706"/>
            <a:chExt cx="6324600" cy="26049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399BB9F7-3EA6-DACF-0595-87A3778867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24150" y="2347706"/>
              <a:ext cx="1154589" cy="260498"/>
            </a:xfrm>
            <a:prstGeom prst="roundRect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BR" sz="1200" b="1" dirty="0">
                  <a:solidFill>
                    <a:schemeClr val="bg1"/>
                  </a:solidFill>
                </a:rPr>
                <a:t>Finanças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874BC160-5896-6486-8061-774FB4E2EF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036102" y="2347706"/>
              <a:ext cx="1154589" cy="260498"/>
            </a:xfrm>
            <a:prstGeom prst="roundRect">
              <a:avLst/>
            </a:prstGeom>
            <a:solidFill>
              <a:schemeClr val="accent3"/>
            </a:solidFill>
            <a:ln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BR" sz="1200" b="1" dirty="0">
                  <a:solidFill>
                    <a:schemeClr val="bg1"/>
                  </a:solidFill>
                </a:rPr>
                <a:t>Operação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796716E3-D9C3-5CEF-45F7-1AE80D9CFE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48054" y="2347706"/>
              <a:ext cx="1154589" cy="260498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BR" sz="1200" b="1">
                  <a:solidFill>
                    <a:schemeClr val="bg1"/>
                  </a:solidFill>
                </a:rPr>
                <a:t>Receita</a:t>
              </a: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AF549AD6-E6A6-EB3E-051B-5A215CC7DE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28180" y="2347706"/>
              <a:ext cx="1154589" cy="260498"/>
            </a:xfrm>
            <a:prstGeom prst="roundRect">
              <a:avLst/>
            </a:prstGeom>
            <a:solidFill>
              <a:srgbClr val="C6D02C"/>
            </a:solidFill>
            <a:ln>
              <a:solidFill>
                <a:srgbClr val="C6D02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BR" sz="1200" b="1" dirty="0">
                  <a:solidFill>
                    <a:schemeClr val="bg1"/>
                  </a:solidFill>
                </a:rPr>
                <a:t>Cliente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2BD287D1-B01A-5C4D-7E88-38C989435E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94161" y="2347706"/>
              <a:ext cx="1154589" cy="260498"/>
            </a:xfrm>
            <a:prstGeom prst="roundRect">
              <a:avLst/>
            </a:prstGeom>
            <a:solidFill>
              <a:srgbClr val="63277F"/>
            </a:solidFill>
            <a:ln>
              <a:solidFill>
                <a:srgbClr val="6327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BR" sz="1200" b="1">
                  <a:solidFill>
                    <a:schemeClr val="bg1"/>
                  </a:solidFill>
                </a:rPr>
                <a:t>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85974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think-cell data - do not delete" hidden="1">
            <a:extLst>
              <a:ext uri="{FF2B5EF4-FFF2-40B4-BE49-F238E27FC236}">
                <a16:creationId xmlns:a16="http://schemas.microsoft.com/office/drawing/2014/main" id="{8EC068AC-1518-4E96-5317-8B56C4A504A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3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EC068AC-1518-4E96-5317-8B56C4A504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EA0B0E-E3FA-371B-D7BD-86657DCF2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pt-BR" noProof="1"/>
              <a:t>Identificamos que o cliente é cuidado por várias áreas durante seu ciclo de vida na DMS e entendemos que é necessária uma governança entre áreas</a:t>
            </a:r>
            <a:endParaRPr lang="pt-BR" i="1" noProof="1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A78F15D-13E7-E032-1CA5-15F773FD1C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noProof="1"/>
              <a:t>Client Care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9D79AF0-94A4-ADEE-82C3-E32608F409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1">
                <a:solidFill>
                  <a:srgbClr val="000000"/>
                </a:solidFill>
              </a:rPr>
              <a:t>Fonte: ATY</a:t>
            </a:r>
          </a:p>
          <a:p>
            <a:endParaRPr lang="pt-BR" noProof="1"/>
          </a:p>
        </p:txBody>
      </p:sp>
      <p:sp>
        <p:nvSpPr>
          <p:cNvPr id="72" name="Disclaimer_Box">
            <a:extLst>
              <a:ext uri="{FF2B5EF4-FFF2-40B4-BE49-F238E27FC236}">
                <a16:creationId xmlns:a16="http://schemas.microsoft.com/office/drawing/2014/main" id="{FB614AD4-0503-C547-A52E-21C621BFF2B2}"/>
              </a:ext>
            </a:extLst>
          </p:cNvPr>
          <p:cNvSpPr txBox="1">
            <a:spLocks/>
          </p:cNvSpPr>
          <p:nvPr/>
        </p:nvSpPr>
        <p:spPr>
          <a:xfrm>
            <a:off x="11121258" y="1200149"/>
            <a:ext cx="735779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marR="0" indent="0" algn="r" defTabSz="914400" rtl="0" eaLnBrk="1" fontAlgn="base" latinLnBrk="0" hangingPunct="1">
              <a:lnSpc>
                <a:spcPct val="100000"/>
              </a:lnSpc>
              <a:spcBef>
                <a:spcPct val="100000"/>
              </a:spcBef>
              <a:spcAft>
                <a:spcPct val="0"/>
              </a:spcAft>
              <a:buClrTx/>
              <a:buSzTx/>
              <a:buFont typeface="Wingdings 2" pitchFamily="18" charset="2"/>
              <a:buNone/>
              <a:tabLst/>
              <a:defRPr sz="1200" b="1" kern="1200" baseline="0">
                <a:solidFill>
                  <a:schemeClr val="accent6"/>
                </a:solidFill>
                <a:latin typeface="Arial"/>
                <a:ea typeface="+mn-ea"/>
                <a:cs typeface="Arial"/>
              </a:defRPr>
            </a:lvl1pPr>
            <a:lvl2pPr marL="352425" marR="0" indent="-16510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charset="0"/>
              <a:buChar char="–"/>
              <a:tabLst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539750" marR="0" indent="-185738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 2" pitchFamily="18" charset="2"/>
              <a:buChar char=""/>
              <a:tabLst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712788" marR="0" indent="-1714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900113" marR="0" indent="-185738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pt-BR" noProof="1">
                <a:solidFill>
                  <a:schemeClr val="accent4"/>
                </a:solidFill>
              </a:rPr>
              <a:t>Ilustrativo</a:t>
            </a:r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9EDA2565-1AEA-74FE-C4CA-E827DFA9EA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1322" y="333130"/>
            <a:ext cx="11515716" cy="184666"/>
          </a:xfrm>
        </p:spPr>
        <p:txBody>
          <a:bodyPr/>
          <a:lstStyle/>
          <a:p>
            <a:r>
              <a:rPr lang="pt-BR" noProof="1"/>
              <a:t>Estratégia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90E73A5-2CC2-7AF1-8360-AC55ECE1DA83}"/>
              </a:ext>
            </a:extLst>
          </p:cNvPr>
          <p:cNvGrpSpPr/>
          <p:nvPr/>
        </p:nvGrpSpPr>
        <p:grpSpPr>
          <a:xfrm>
            <a:off x="335998" y="4673720"/>
            <a:ext cx="11515715" cy="396000"/>
            <a:chOff x="335998" y="2722390"/>
            <a:chExt cx="11869797" cy="396000"/>
          </a:xfrm>
        </p:grpSpPr>
        <p:sp>
          <p:nvSpPr>
            <p:cNvPr id="166" name="BlueBox1">
              <a:extLst>
                <a:ext uri="{FF2B5EF4-FFF2-40B4-BE49-F238E27FC236}">
                  <a16:creationId xmlns:a16="http://schemas.microsoft.com/office/drawing/2014/main" id="{DA608B67-9B79-BF30-E780-5887F77A8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98" y="2722390"/>
              <a:ext cx="3956599" cy="396000"/>
            </a:xfrm>
            <a:prstGeom prst="homePlate">
              <a:avLst/>
            </a:prstGeom>
            <a:solidFill>
              <a:schemeClr val="accent2"/>
            </a:solidFill>
            <a:ln w="9525">
              <a:solidFill>
                <a:schemeClr val="accent4"/>
              </a:solidFill>
              <a:miter lim="800000"/>
              <a:headEnd/>
              <a:tailEnd/>
            </a:ln>
            <a:effectLst/>
          </p:spPr>
          <p:txBody>
            <a:bodyPr lIns="72000" tIns="0" rIns="72000" bIns="0" anchor="ctr"/>
            <a:lstStyle/>
            <a:p>
              <a:pPr algn="ctr" eaLnBrk="0" hangingPunct="0"/>
              <a:r>
                <a:rPr lang="pt-BR" sz="1200" b="1" noProof="1">
                  <a:solidFill>
                    <a:schemeClr val="bg1"/>
                  </a:solidFill>
                  <a:latin typeface="+mn-lt"/>
                </a:rPr>
                <a:t>Comercial </a:t>
              </a:r>
            </a:p>
          </p:txBody>
        </p:sp>
        <p:sp>
          <p:nvSpPr>
            <p:cNvPr id="6" name="BlueBox1">
              <a:extLst>
                <a:ext uri="{FF2B5EF4-FFF2-40B4-BE49-F238E27FC236}">
                  <a16:creationId xmlns:a16="http://schemas.microsoft.com/office/drawing/2014/main" id="{C76030FE-EE4B-59D1-DCEA-EF5EC1247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2597" y="2722390"/>
              <a:ext cx="3956599" cy="396000"/>
            </a:xfrm>
            <a:prstGeom prst="homePlate">
              <a:avLst/>
            </a:prstGeom>
            <a:solidFill>
              <a:schemeClr val="accent4"/>
            </a:solidFill>
            <a:ln w="9525">
              <a:solidFill>
                <a:schemeClr val="accent4"/>
              </a:solidFill>
              <a:miter lim="800000"/>
              <a:headEnd/>
              <a:tailEnd/>
            </a:ln>
            <a:effectLst/>
          </p:spPr>
          <p:txBody>
            <a:bodyPr lIns="72000" tIns="0" rIns="72000" bIns="0" anchor="ctr"/>
            <a:lstStyle/>
            <a:p>
              <a:pPr algn="ctr" eaLnBrk="0" hangingPunct="0"/>
              <a:r>
                <a:rPr lang="pt-BR" sz="1200" b="1" noProof="1">
                  <a:solidFill>
                    <a:schemeClr val="bg1"/>
                  </a:solidFill>
                  <a:latin typeface="+mn-lt"/>
                </a:rPr>
                <a:t>Operações</a:t>
              </a:r>
            </a:p>
          </p:txBody>
        </p:sp>
        <p:sp>
          <p:nvSpPr>
            <p:cNvPr id="8" name="BlueBox1">
              <a:extLst>
                <a:ext uri="{FF2B5EF4-FFF2-40B4-BE49-F238E27FC236}">
                  <a16:creationId xmlns:a16="http://schemas.microsoft.com/office/drawing/2014/main" id="{B3436552-C474-BFBE-D075-94AD5AC02D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9196" y="2722390"/>
              <a:ext cx="3956599" cy="396000"/>
            </a:xfrm>
            <a:prstGeom prst="homePlate">
              <a:avLst/>
            </a:prstGeom>
            <a:solidFill>
              <a:schemeClr val="accent2"/>
            </a:solidFill>
            <a:ln w="9525">
              <a:solidFill>
                <a:schemeClr val="accent4"/>
              </a:solidFill>
              <a:miter lim="800000"/>
              <a:headEnd/>
              <a:tailEnd/>
            </a:ln>
            <a:effectLst/>
          </p:spPr>
          <p:txBody>
            <a:bodyPr lIns="72000" tIns="0" rIns="72000" bIns="0" anchor="ctr"/>
            <a:lstStyle/>
            <a:p>
              <a:pPr algn="ctr" eaLnBrk="0" hangingPunct="0"/>
              <a:r>
                <a:rPr lang="pt-BR" sz="1200" b="1" noProof="1">
                  <a:solidFill>
                    <a:schemeClr val="bg1"/>
                  </a:solidFill>
                  <a:latin typeface="+mn-lt"/>
                </a:rPr>
                <a:t>Comercial</a:t>
              </a:r>
            </a:p>
          </p:txBody>
        </p:sp>
      </p:grpSp>
      <p:sp>
        <p:nvSpPr>
          <p:cNvPr id="19" name="Long_Arrow_Horizontal_Right">
            <a:extLst>
              <a:ext uri="{FF2B5EF4-FFF2-40B4-BE49-F238E27FC236}">
                <a16:creationId xmlns:a16="http://schemas.microsoft.com/office/drawing/2014/main" id="{CD0A68BD-DB74-2FAB-255B-D6578D06EACC}"/>
              </a:ext>
            </a:extLst>
          </p:cNvPr>
          <p:cNvSpPr/>
          <p:nvPr/>
        </p:nvSpPr>
        <p:spPr bwMode="auto">
          <a:xfrm>
            <a:off x="335999" y="5540739"/>
            <a:ext cx="11515714" cy="742420"/>
          </a:xfrm>
          <a:prstGeom prst="rect">
            <a:avLst/>
          </a:prstGeom>
          <a:gradFill flip="none" rotWithShape="1">
            <a:gsLst>
              <a:gs pos="0">
                <a:srgbClr val="969696"/>
              </a:gs>
              <a:gs pos="100000">
                <a:srgbClr val="969696">
                  <a:tint val="30000"/>
                </a:srgbClr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72000" rIns="0" bIns="72000" numCol="1" rtlCol="0" anchor="ctr" anchorCtr="0" compatLnSpc="1">
            <a:prstTxWarp prst="textNoShape">
              <a:avLst/>
            </a:prstTxWarp>
          </a:bodyPr>
          <a:lstStyle/>
          <a:p>
            <a:pPr algn="ctr">
              <a:spcBef>
                <a:spcPct val="50000"/>
              </a:spcBef>
            </a:pPr>
            <a:r>
              <a:rPr lang="pt-BR" b="1" i="1" noProof="1">
                <a:solidFill>
                  <a:srgbClr val="000000"/>
                </a:solidFill>
                <a:latin typeface="Arial"/>
                <a:sym typeface="Arial"/>
              </a:rPr>
              <a:t>Tecnologia</a:t>
            </a:r>
          </a:p>
        </p:txBody>
      </p:sp>
      <p:sp>
        <p:nvSpPr>
          <p:cNvPr id="27" name="Ellipse 13">
            <a:extLst>
              <a:ext uri="{FF2B5EF4-FFF2-40B4-BE49-F238E27FC236}">
                <a16:creationId xmlns:a16="http://schemas.microsoft.com/office/drawing/2014/main" id="{D2A688FC-5E57-AF4E-EC25-785D63007E81}"/>
              </a:ext>
            </a:extLst>
          </p:cNvPr>
          <p:cNvSpPr/>
          <p:nvPr/>
        </p:nvSpPr>
        <p:spPr>
          <a:xfrm>
            <a:off x="5023677" y="1462711"/>
            <a:ext cx="2362796" cy="2362788"/>
          </a:xfrm>
          <a:prstGeom prst="ellipse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600" b="1" noProof="1">
                <a:solidFill>
                  <a:schemeClr val="bg1"/>
                </a:solidFill>
              </a:rPr>
              <a:t>Cliente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61AEB7A-EFB6-B1DF-D390-D8CDF50CE08E}"/>
              </a:ext>
            </a:extLst>
          </p:cNvPr>
          <p:cNvGrpSpPr/>
          <p:nvPr/>
        </p:nvGrpSpPr>
        <p:grpSpPr>
          <a:xfrm>
            <a:off x="404811" y="3881599"/>
            <a:ext cx="11515715" cy="396000"/>
            <a:chOff x="2288975" y="2281796"/>
            <a:chExt cx="2448000" cy="150879"/>
          </a:xfrm>
        </p:grpSpPr>
        <p:sp>
          <p:nvSpPr>
            <p:cNvPr id="30" name="Line 8">
              <a:extLst>
                <a:ext uri="{FF2B5EF4-FFF2-40B4-BE49-F238E27FC236}">
                  <a16:creationId xmlns:a16="http://schemas.microsoft.com/office/drawing/2014/main" id="{035A57FA-2D13-5A44-7EF6-9672B67157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8975" y="2281796"/>
              <a:ext cx="0" cy="150879"/>
            </a:xfrm>
            <a:prstGeom prst="lin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fontAlgn="auto" hangingPunct="1">
                <a:spcAft>
                  <a:spcPts val="0"/>
                </a:spcAft>
                <a:defRPr/>
              </a:pPr>
              <a:endParaRPr lang="pt-BR" sz="1100" kern="0" noProof="1">
                <a:solidFill>
                  <a:srgbClr val="000000"/>
                </a:solidFill>
                <a:latin typeface="Arial" charset="0"/>
                <a:cs typeface="Arial"/>
              </a:endParaRPr>
            </a:p>
          </p:txBody>
        </p:sp>
        <p:sp>
          <p:nvSpPr>
            <p:cNvPr id="32" name="Line 6">
              <a:extLst>
                <a:ext uri="{FF2B5EF4-FFF2-40B4-BE49-F238E27FC236}">
                  <a16:creationId xmlns:a16="http://schemas.microsoft.com/office/drawing/2014/main" id="{F2E8C08C-A7A8-9282-16E7-FC94BA6B2F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8975" y="2357235"/>
              <a:ext cx="2448000" cy="0"/>
            </a:xfrm>
            <a:prstGeom prst="line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  <a:prstDash val="solid"/>
              <a:round/>
              <a:headEnd type="triangle" w="med" len="med"/>
              <a:tailEnd type="triangle" w="med" len="med"/>
            </a:ln>
          </p:spPr>
          <p:txBody>
            <a:bodyPr lIns="90000" tIns="90000" rIns="90000" bIns="90000"/>
            <a:lstStyle/>
            <a:p>
              <a:pPr algn="l" fontAlgn="auto" hangingPunct="1">
                <a:spcAft>
                  <a:spcPts val="0"/>
                </a:spcAft>
                <a:defRPr/>
              </a:pPr>
              <a:endParaRPr lang="pt-BR" sz="1100" kern="0" noProof="1">
                <a:solidFill>
                  <a:srgbClr val="000000"/>
                </a:solidFill>
                <a:latin typeface="Arial" charset="0"/>
                <a:cs typeface="Arial"/>
              </a:endParaRPr>
            </a:p>
          </p:txBody>
        </p:sp>
        <p:sp>
          <p:nvSpPr>
            <p:cNvPr id="33" name="Line 8">
              <a:extLst>
                <a:ext uri="{FF2B5EF4-FFF2-40B4-BE49-F238E27FC236}">
                  <a16:creationId xmlns:a16="http://schemas.microsoft.com/office/drawing/2014/main" id="{C1819DAF-3F57-4AF0-A21F-8F4169B5F9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6975" y="2281796"/>
              <a:ext cx="0" cy="150879"/>
            </a:xfrm>
            <a:prstGeom prst="line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l" fontAlgn="auto" hangingPunct="1">
                <a:spcAft>
                  <a:spcPts val="0"/>
                </a:spcAft>
                <a:defRPr/>
              </a:pPr>
              <a:endParaRPr lang="pt-BR" sz="1100" kern="0" noProof="1">
                <a:solidFill>
                  <a:srgbClr val="000000"/>
                </a:solidFill>
                <a:latin typeface="Arial" charset="0"/>
                <a:cs typeface="Arial"/>
              </a:endParaRPr>
            </a:p>
          </p:txBody>
        </p:sp>
      </p:grpSp>
      <p:sp>
        <p:nvSpPr>
          <p:cNvPr id="34" name="Espaço Reservado para Texto 3">
            <a:extLst>
              <a:ext uri="{FF2B5EF4-FFF2-40B4-BE49-F238E27FC236}">
                <a16:creationId xmlns:a16="http://schemas.microsoft.com/office/drawing/2014/main" id="{116D2493-788F-67A9-95A9-CE9302FDB685}"/>
              </a:ext>
            </a:extLst>
          </p:cNvPr>
          <p:cNvSpPr txBox="1">
            <a:spLocks/>
          </p:cNvSpPr>
          <p:nvPr/>
        </p:nvSpPr>
        <p:spPr>
          <a:xfrm>
            <a:off x="5731289" y="4234955"/>
            <a:ext cx="11515715" cy="18466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anose="05020102010507070707" pitchFamily="18" charset="2"/>
              <a:buNone/>
              <a:tabLst/>
              <a:defRPr lang="nl-NL" sz="1200" b="1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7808" marR="0" indent="177808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Arial" charset="0"/>
              <a:buChar char="–"/>
              <a:tabLst/>
              <a:defRPr lang="nl-NL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3556" marR="0" indent="177808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9796"/>
              </a:buClr>
              <a:buSzTx/>
              <a:buFont typeface="Wingdings 2" pitchFamily="18" charset="2"/>
              <a:buChar char=""/>
              <a:tabLst/>
              <a:defRPr lang="nl-NL" sz="1400" kern="1200" dirty="0" smtClean="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3pPr>
            <a:lvl4pPr marL="0" marR="0" indent="-171459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w"/>
              <a:tabLst/>
              <a:defRPr lang="nl-NL" sz="1400" kern="1200" dirty="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4pPr>
            <a:lvl5pPr marL="0" marR="0" indent="-185746" algn="l" defTabSz="914446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charset="0"/>
              <a:buChar char="○"/>
              <a:tabLst/>
              <a:defRPr lang="nl-NL" sz="1400" kern="1200" dirty="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5pPr>
            <a:lvl6pPr marL="2514726" marR="0" indent="-228612" algn="l" defTabSz="457224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2" algn="l" defTabSz="45722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2" indent="-228612" algn="l" defTabSz="45722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2" algn="l" defTabSz="457224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noProof="1"/>
              <a:t>Governança</a:t>
            </a:r>
          </a:p>
        </p:txBody>
      </p:sp>
      <p:grpSp>
        <p:nvGrpSpPr>
          <p:cNvPr id="35" name="Gruppieren 72">
            <a:extLst>
              <a:ext uri="{FF2B5EF4-FFF2-40B4-BE49-F238E27FC236}">
                <a16:creationId xmlns:a16="http://schemas.microsoft.com/office/drawing/2014/main" id="{419820BF-34D4-1904-8980-B77B912A1C4A}"/>
              </a:ext>
            </a:extLst>
          </p:cNvPr>
          <p:cNvGrpSpPr/>
          <p:nvPr/>
        </p:nvGrpSpPr>
        <p:grpSpPr>
          <a:xfrm rot="5400000" flipH="1" flipV="1">
            <a:off x="1973464" y="4770575"/>
            <a:ext cx="208041" cy="1182490"/>
            <a:chOff x="6788850" y="3676650"/>
            <a:chExt cx="211528" cy="1182490"/>
          </a:xfrm>
        </p:grpSpPr>
        <p:cxnSp>
          <p:nvCxnSpPr>
            <p:cNvPr id="36" name="Gerader Verbinder 67">
              <a:extLst>
                <a:ext uri="{FF2B5EF4-FFF2-40B4-BE49-F238E27FC236}">
                  <a16:creationId xmlns:a16="http://schemas.microsoft.com/office/drawing/2014/main" id="{13CE9F86-218E-BD33-3929-3324D19CB6D3}"/>
                </a:ext>
              </a:extLst>
            </p:cNvPr>
            <p:cNvCxnSpPr/>
            <p:nvPr/>
          </p:nvCxnSpPr>
          <p:spPr>
            <a:xfrm>
              <a:off x="6788850" y="3676650"/>
              <a:ext cx="211526" cy="592501"/>
            </a:xfrm>
            <a:prstGeom prst="line">
              <a:avLst/>
            </a:prstGeom>
            <a:ln cap="rnd">
              <a:solidFill>
                <a:schemeClr val="accent5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r Verbinder 71">
              <a:extLst>
                <a:ext uri="{FF2B5EF4-FFF2-40B4-BE49-F238E27FC236}">
                  <a16:creationId xmlns:a16="http://schemas.microsoft.com/office/drawing/2014/main" id="{1AB4C0C9-F9F2-0497-E27F-ACDDF62C2454}"/>
                </a:ext>
              </a:extLst>
            </p:cNvPr>
            <p:cNvCxnSpPr/>
            <p:nvPr/>
          </p:nvCxnSpPr>
          <p:spPr>
            <a:xfrm flipV="1">
              <a:off x="6788852" y="4266639"/>
              <a:ext cx="211526" cy="592501"/>
            </a:xfrm>
            <a:prstGeom prst="line">
              <a:avLst/>
            </a:prstGeom>
            <a:ln cap="rnd">
              <a:solidFill>
                <a:schemeClr val="accent5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uppieren 72">
            <a:extLst>
              <a:ext uri="{FF2B5EF4-FFF2-40B4-BE49-F238E27FC236}">
                <a16:creationId xmlns:a16="http://schemas.microsoft.com/office/drawing/2014/main" id="{051631B4-0F70-C2E6-F2DF-8B58A26A72F6}"/>
              </a:ext>
            </a:extLst>
          </p:cNvPr>
          <p:cNvGrpSpPr/>
          <p:nvPr/>
        </p:nvGrpSpPr>
        <p:grpSpPr>
          <a:xfrm rot="5400000" flipH="1" flipV="1">
            <a:off x="5920543" y="4770575"/>
            <a:ext cx="208041" cy="1182490"/>
            <a:chOff x="6788850" y="3676650"/>
            <a:chExt cx="211528" cy="1182490"/>
          </a:xfrm>
        </p:grpSpPr>
        <p:cxnSp>
          <p:nvCxnSpPr>
            <p:cNvPr id="41" name="Gerader Verbinder 67">
              <a:extLst>
                <a:ext uri="{FF2B5EF4-FFF2-40B4-BE49-F238E27FC236}">
                  <a16:creationId xmlns:a16="http://schemas.microsoft.com/office/drawing/2014/main" id="{4FEF648E-1ED3-8B61-13ED-BD7170EDAB3F}"/>
                </a:ext>
              </a:extLst>
            </p:cNvPr>
            <p:cNvCxnSpPr/>
            <p:nvPr/>
          </p:nvCxnSpPr>
          <p:spPr>
            <a:xfrm>
              <a:off x="6788850" y="3676650"/>
              <a:ext cx="211526" cy="592501"/>
            </a:xfrm>
            <a:prstGeom prst="line">
              <a:avLst/>
            </a:prstGeom>
            <a:ln cap="rnd">
              <a:solidFill>
                <a:schemeClr val="accent5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r Verbinder 71">
              <a:extLst>
                <a:ext uri="{FF2B5EF4-FFF2-40B4-BE49-F238E27FC236}">
                  <a16:creationId xmlns:a16="http://schemas.microsoft.com/office/drawing/2014/main" id="{B80FAEEE-68BA-FA8A-D93D-CB3BE7BBA0A7}"/>
                </a:ext>
              </a:extLst>
            </p:cNvPr>
            <p:cNvCxnSpPr/>
            <p:nvPr/>
          </p:nvCxnSpPr>
          <p:spPr>
            <a:xfrm flipV="1">
              <a:off x="6788852" y="4266639"/>
              <a:ext cx="211526" cy="592501"/>
            </a:xfrm>
            <a:prstGeom prst="line">
              <a:avLst/>
            </a:prstGeom>
            <a:ln cap="rnd">
              <a:solidFill>
                <a:schemeClr val="accent5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uppieren 72">
            <a:extLst>
              <a:ext uri="{FF2B5EF4-FFF2-40B4-BE49-F238E27FC236}">
                <a16:creationId xmlns:a16="http://schemas.microsoft.com/office/drawing/2014/main" id="{FAB20FA8-F26E-7528-FF1C-907784D7B572}"/>
              </a:ext>
            </a:extLst>
          </p:cNvPr>
          <p:cNvGrpSpPr/>
          <p:nvPr/>
        </p:nvGrpSpPr>
        <p:grpSpPr>
          <a:xfrm rot="5400000" flipH="1" flipV="1">
            <a:off x="9828407" y="4770576"/>
            <a:ext cx="208041" cy="1182490"/>
            <a:chOff x="6788850" y="3676650"/>
            <a:chExt cx="211528" cy="1182490"/>
          </a:xfrm>
        </p:grpSpPr>
        <p:cxnSp>
          <p:nvCxnSpPr>
            <p:cNvPr id="44" name="Gerader Verbinder 67">
              <a:extLst>
                <a:ext uri="{FF2B5EF4-FFF2-40B4-BE49-F238E27FC236}">
                  <a16:creationId xmlns:a16="http://schemas.microsoft.com/office/drawing/2014/main" id="{6EE81B64-BDBB-F963-98BA-084F1836DDB8}"/>
                </a:ext>
              </a:extLst>
            </p:cNvPr>
            <p:cNvCxnSpPr/>
            <p:nvPr/>
          </p:nvCxnSpPr>
          <p:spPr>
            <a:xfrm>
              <a:off x="6788850" y="3676650"/>
              <a:ext cx="211526" cy="592501"/>
            </a:xfrm>
            <a:prstGeom prst="line">
              <a:avLst/>
            </a:prstGeom>
            <a:ln cap="rnd">
              <a:solidFill>
                <a:schemeClr val="accent5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r Verbinder 71">
              <a:extLst>
                <a:ext uri="{FF2B5EF4-FFF2-40B4-BE49-F238E27FC236}">
                  <a16:creationId xmlns:a16="http://schemas.microsoft.com/office/drawing/2014/main" id="{6F0CC3BA-F9A4-C6D7-067F-E284694B4145}"/>
                </a:ext>
              </a:extLst>
            </p:cNvPr>
            <p:cNvCxnSpPr/>
            <p:nvPr/>
          </p:nvCxnSpPr>
          <p:spPr>
            <a:xfrm flipV="1">
              <a:off x="6788852" y="4266639"/>
              <a:ext cx="211526" cy="592501"/>
            </a:xfrm>
            <a:prstGeom prst="line">
              <a:avLst/>
            </a:prstGeom>
            <a:ln cap="rnd">
              <a:solidFill>
                <a:schemeClr val="accent5"/>
              </a:solidFill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40000" dist="20000" dir="5400000" rotWithShape="0">
                      <a:srgbClr val="000000">
                        <a:alpha val="38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00857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PLORISREVISION" val="0"/>
  <p:tag name="THINKCELLUNDODONOTDELETE" val="0"/>
  <p:tag name="THINKCELLPRESENTATIONDONOTDELETE" val="&lt;?xml version=&quot;1.0&quot; encoding=&quot;UTF-16&quot; standalone=&quot;yes&quot;?&gt;&lt;root reqver=&quot;28224&quot;&gt;&lt;version val=&quot;35606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%m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3&quot;&gt;&lt;elem m_fUsage=&quot;3.07928112869461489964E+00&quot;&gt;&lt;m_msothmcolidx val=&quot;0&quot;/&gt;&lt;m_rgb r=&quot;E7&quot; g=&quot;EF&quot; b=&quot;EF&quot;/&gt;&lt;/elem&gt;&lt;elem m_fUsage=&quot;2.14582643648100024336E+00&quot;&gt;&lt;m_msothmcolidx val=&quot;0&quot;/&gt;&lt;m_rgb r=&quot;58&quot; g=&quot;BA&quot; b=&quot;BA&quot;/&gt;&lt;/elem&gt;&lt;elem m_fUsage=&quot;1.26753992910000023997E+00&quot;&gt;&lt;m_msothmcolidx val=&quot;0&quot;/&gt;&lt;m_rgb r=&quot;DD&quot; g=&quot;F0&quot; b=&quot;F0&quot;/&gt;&lt;/elem&gt;&lt;elem m_fUsage=&quot;1.12381059609000022448E+00&quot;&gt;&lt;m_msothmcolidx val=&quot;0&quot;/&gt;&lt;m_rgb r=&quot;D6&quot; g=&quot;EE&quot; b=&quot;EE&quot;/&gt;&lt;/elem&gt;&lt;elem m_fUsage=&quot;9.00000000000000022204E-01&quot;&gt;&lt;m_msothmcolidx val=&quot;0&quot;/&gt;&lt;m_rgb r=&quot;42&quot; g=&quot;C7&quot; b=&quot;C7&quot;/&gt;&lt;/elem&gt;&lt;elem m_fUsage=&quot;4.82081938222827299789E-01&quot;&gt;&lt;m_msothmcolidx val=&quot;0&quot;/&gt;&lt;m_rgb r=&quot;A6&quot; g=&quot;A6&quot; b=&quot;A6&quot;/&gt;&lt;/elem&gt;&lt;elem m_fUsage=&quot;4.06756461654867840227E-01&quot;&gt;&lt;m_msothmcolidx val=&quot;0&quot;/&gt;&lt;m_rgb r=&quot;D9&quot; g=&quot;D9&quot; b=&quot;D9&quot;/&gt;&lt;/elem&gt;&lt;elem m_fUsage=&quot;2.61592661457161257399E-01&quot;&gt;&lt;m_msothmcolidx val=&quot;0&quot;/&gt;&lt;m_rgb r=&quot;CB&quot; g=&quot;DD&quot; b=&quot;DD&quot;/&gt;&lt;/elem&gt;&lt;elem m_fUsage=&quot;1.85302018885184188735E-01&quot;&gt;&lt;m_msothmcolidx val=&quot;0&quot;/&gt;&lt;m_rgb r=&quot;7F&quot; g=&quot;7F&quot; b=&quot;7F&quot;/&gt;&lt;/elem&gt;&lt;elem m_fUsage=&quot;3.49730471277284182818E-02&quot;&gt;&lt;m_msothmcolidx val=&quot;0&quot;/&gt;&lt;m_rgb r=&quot;72&quot; g=&quot;22&quot; b=&quot;82&quot;/&gt;&lt;/elem&gt;&lt;elem m_fUsage=&quot;1.47808829414346077497E-02&quot;&gt;&lt;m_msothmcolidx val=&quot;0&quot;/&gt;&lt;m_rgb r=&quot;F1&quot; g=&quot;F1&quot; b=&quot;F1&quot;/&gt;&lt;/elem&gt;&lt;elem m_fUsage=&quot;1.07752636643058292976E-02&quot;&gt;&lt;m_msothmcolidx val=&quot;0&quot;/&gt;&lt;m_rgb r=&quot;E5&quot; g=&quot;DD&quot; b=&quot;D5&quot;/&gt;&lt;/elem&gt;&lt;elem m_fUsage=&quot;8.72796356808772273717E-03&quot;&gt;&lt;m_msothmcolidx val=&quot;0&quot;/&gt;&lt;m_rgb r=&quot;B9&quot; g=&quot;BD&quot; b=&quot;00&quot;/&gt;&lt;/elem&gt;&lt;/m_vecMRU&gt;&lt;/m_mruColor&gt;&lt;m_eweekdayFirstOfWeek val=&quot;2&quot;/&gt;&lt;m_eweekdayFirstOfWorkweek val=&quot;2&quot;/&gt;&lt;m_eweekdayFirstOfWeekend val=&quot;7&quot;/&gt;&lt;/CPresentation&gt;&lt;/root&gt;"/>
  <p:tag name="GRUNT-HP-GEHF7K" val="MgIAAA=="/>
  <p:tag name="POWER_USER_PPT_AGENDA_PRESENTATION_TABLE_OF_CONTENT_STYLE_TAG" val="1"/>
  <p:tag name="POWER_USER_PPT_AGENDA_PRESENTATION_DIVIDERS_STYLE_TAG" val="POWER_USER_LAYOUT_DIVIDER_CUSTOM"/>
  <p:tag name="POWER_USER_PPT_AGENDA_PRESENTATION_SHOULD_CREATE_TABLE_OF_CONTENT_TAG" val="0"/>
  <p:tag name="POWER_USER_PPT_AGENDA_PRESENTATION_SHOW_SECTION_NUMBERS_CHECKED_TAG" val="1"/>
  <p:tag name="POWER_USER_PPT_AGENDA_PRESENTATION_DIVIDERS_CHECKED_TAG" val="0"/>
  <p:tag name="POWER_USER_PPT_AGENDA_PRESENTATION_TITLE_TEXT_TAG" val="POWER_USER_PPT_AGENDA_PRESENTATION_EMPTY_TITLE_TEXT_TAG"/>
  <p:tag name="POWER_USER_PPT_AGENDA_PRESENTATION_TABLE_OF_CONTENT_CHECKED_TAG" val="1"/>
  <p:tag name="POWER_USER_CONTEXTUAL_SHAPES_AGENDA_DESIGNER" val="{&quot;Divider1&quot;:{&quot;Title&quot;:{&quot;AutoShapeType&quot;:1,&quot;Visible&quot;:-1,&quot;LockAspectRatio&quot;:0,&quot;CanUpdateAdjustments&quot;:true,&quot;Adjustment1&quot;:-1.0,&quot;Adjustment2&quot;:-1.0,&quot;CanManagePosition&quot;:true,&quot;Left&quot;:240.0,&quot;Top&quot;:216.0,&quot;Width&quot;:700.0,&quot;Height&quot;:108.0,&quot;Rotation&quot;:-1.0,&quot;TextFrame2AutoSize&quot;:1,&quot;TextFrame2TextRangeFontName&quot;:&quot;&quot;,&quot;TextFrameMarginTop&quot;:0.0,&quot;TextFrameMarginLeft&quot;:0.0,&quot;TextFrameMarginRight&quot;:0.0,&quot;TextFrameMarginBottom&quot;:0.0,&quot;TextFrameWordWrap&quot;:-1,&quot;TextFrameTextRangeFontSize&quot;:30.0,&quot;TextFrameTextRangeFontColorHexa&quot;:&quot;#000000&quot;,&quot;TextFrameTextRangeFontBold&quot;:0,&quot;TextFrameTextRangeFontItalic&quot;:0,&quot;TextFrameTextRangeFontUnderline&quot;:0,&quot;TextFrameVerticalAnchor&quot;:1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Number&quot;:{&quot;AutoShapeType&quot;:1,&quot;Visible&quot;:-1,&quot;LockAspectRatio&quot;:0,&quot;CanUpdateAdjustments&quot;:true,&quot;Adjustment1&quot;:-1.0,&quot;Adjustment2&quot;:-1.0,&quot;CanManagePosition&quot;:true,&quot;Left&quot;:115.2,&quot;Top&quot;:216.0,&quot;Width&quot;:81.0,&quot;Height&quot;:8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30.0,&quot;TextFrameTextRangeFontColorHexa&quot;:&quot;#FFFFFF&quot;,&quot;TextFrameTextRangeFontBold&quot;:0,&quot;TextFrameTextRangeFontItalic&quot;:0,&quot;TextFrameTextRangeFontUnderline&quot;:0,&quot;TextFrameVerticalAnchor&quot;:3,&quot;TextFrameHorizontalAnchor&quot;:2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true},&quot;Line&quot;:{&quot;AutoShapeType&quot;:1,&quot;Visible&quot;:-1,&quot;LockAspectRatio&quot;:0,&quot;CanUpdateAdjustments&quot;:true,&quot;Adjustment1&quot;:-1.0,&quot;Adjustment2&quot;:-1.0,&quot;CanManagePosition&quot;:true,&quot;Left&quot;:240.0,&quot;Top&quot;:331.0,&quot;Width&quot;:700.0,&quot;Height&quot;:0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0.0,&quot;LineDashStyle&quot;:1,&quot;LineEndArrowheadStyle&quot;:1,&quot;LineBeginArrowheadStyle&quot;:1,&quot;ShouldSendToBack&quot;:false,&quot;NeedsApplyToAll&quot;:false}},&quot;TableOfContent1&quot;:{&quot;MarginLeft&quot;:76.8,&quot;MarginRight&quot;:453.942841,&quot;MarginTop&quot;:160.99379,&quot;MarginBottom&quot;:117.391327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Arial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1,&quot;ZOrderPosition&quot;:2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FFFFFF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1,&quot;ZOrderPosition&quot;:4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},&quot;Back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0,&quot;ZOrderPosition&quot;:1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true,&quot;NeedsApplyToAll&quot;:false},&quot;Inactive&quot;:{&quot;AutoShapeType&quot;:1,&quot;Visible&quot;:0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null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null,&quot;FillTransparency&quot;:0.0,&quot;LineVisible&quot;:-1,&quot;LineForeColorHexa&quot;:null,&quot;LineWeight&quot;:0.0,&quot;LineDashStyle&quot;:1,&quot;LineEndArrowheadStyle&quot;:1,&quot;LineBeginArrowheadStyle&quot;:1,&quot;ShouldSendToBack&quot;:true,&quot;NeedsApplyToAll&quot;:false},&quot;CoverPage&quot;:{&quot;AutoShapeType&quot;:1,&quot;Visible&quot;:0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null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null,&quot;FillTransparency&quot;:0.0,&quot;LineVisible&quot;:-1,&quot;LineForeColorHexa&quot;:null,&quot;LineWeight&quot;:0.0,&quot;LineDashStyle&quot;:1,&quot;LineEndArrowheadStyle&quot;:1,&quot;LineBeginArrowheadStyle&quot;:1,&quot;ShouldSendToBack&quot;:true,&quot;NeedsApplyToAll&quot;:false}},&quot;Number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Arial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1.0,&quot;TextFrameTextRangeParagraphFormatLineRuleAfter&quot;:0,&quot;TextFrameTextRangeParagraphFormatSpaceAfter&quot;:0.0,&quot;TextFrameTextRangeParagraphFormatLineRuleBefore&quot;:0,&quot;TextFrameTextRangeParagraphFormatSpaceBefore&quot;:0.0,&quot;TextFrameTextRangeParagraphs1ParagraphFormatAlignment&quot;:2,&quot;ZOrderPosition&quot;:20,&quot;FillVisible&quot;:-1,&quot;FillForeColorHexa&quot;:&quot;#00979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D9D9D9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},&quot;TableOfContent3&quot;:{&quot;MarginLeft&quot;:76.8,&quot;MarginRight&quot;:76.8,&quot;MarginTop&quot;:86.4,&quot;MarginBottom&quot;:21.6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Number&quot;:{&quot;Activ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Inactiv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43CFF6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FFFFFF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CoverPage&quot;:{&quot;AutoShapeType&quot;:9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Lin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2.0,&quot;LineDashStyle&quot;:1,&quot;LineEndArrowheadStyle&quot;:1,&quot;LineBeginArrowheadStyle&quot;:1,&quot;ShouldSendToBack&quot;:true,&quot;NeedsApplyToAll&quot;:false}},&quot;TableOfContent4&quot;:{&quot;MarginLeft&quot;:76.8,&quot;MarginRight&quot;:76.8,&quot;MarginTop&quot;:86.4,&quot;MarginBottom&quot;:21.6,&quot;ShouldVerticalCenter&quot;:true,&quot;Title&quot;:{&quot;AutoShapeType&quot;:1,&quot;Visible&quot;:-1,&quot;LockAspectRatio&quot;:0,&quot;CanUpdateAdjustments&quot;:true,&quot;Adjustment1&quot;:-1.0,&quot;Adjustment2&quot;:-1.0,&quot;CanManagePosition&quot;:true,&quot;Left&quot;:76.8,&quot;Top&quot;:54.0,&quot;Width&quot;:768.0,&quot;Height&quot;:30.0,&quot;Rotation&quot;:0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32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true},&quot;SectionTitle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7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1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Number&quot;:{&quot;Activ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Inactiv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43CFF6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FFFFFF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,&quot;CoverPage&quot;:{&quot;AutoShapeType&quot;:9,&quot;Visible&quot;:-1,&quot;LockAspectRatio&quot;:-1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FFFFFF&quot;,&quot;TextFrameTextRangeFontBold&quot;:-1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-1,&quot;FillForeColorHexa&quot;:&quot;#43CFF6&quot;,&quot;FillTransparency&quot;:0.0,&quot;LineVisible&quot;:-1,&quot;LineForeColorHexa&quot;:&quot;#43CFF6&quot;,&quot;LineWeight&quot;:2.0,&quot;LineDashStyle&quot;:1,&quot;LineEndArrowheadStyle&quot;:1,&quot;LineBeginArrowheadStyle&quot;:1,&quot;ShouldSendToBack&quot;:false,&quot;NeedsApplyToAll&quot;:false}},&quot;SlideIndex&quot;:{&quot;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Inactiv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,&quot;CoverPage&quot;:{&quot;AutoShapeType&quot;:1,&quot;Visible&quot;:-1,&quot;LockAspectRatio&quot;:0,&quot;CanUpdateAdjustments&quot;:tru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0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1.0,&quot;LineVisible&quot;:0,&quot;LineForeColorHexa&quot;:null,&quot;LineWeight&quot;:0.0,&quot;LineDashStyle&quot;:1,&quot;LineEndArrowheadStyle&quot;:1,&quot;LineBeginArrowheadStyle&quot;:1,&quot;ShouldSendToBack&quot;:false,&quot;NeedsApplyToAll&quot;:false}},&quot;Arc&quot;:{&quot;AutoShapeType&quot;:25,&quot;Visible&quot;:-1,&quot;LockAspectRatio&quot;:0,&quot;CanUpdateAdjustments&quot;:false,&quot;Adjustment1&quot;:-1.0,&quot;Adjustment2&quot;:-1.0,&quot;CanManagePosition&quot;:false,&quot;Left&quot;:-1.0,&quot;Top&quot;:-1.0,&quot;Width&quot;:-1.0,&quot;Height&quot;:-1.0,&quot;Rotation&quot;:-1.0,&quot;TextFrame2AutoSize&quot;:0,&quot;TextFrame2TextRangeFontName&quot;:&quot;&quot;,&quot;TextFrameMarginTop&quot;:0.0,&quot;TextFrameMarginLeft&quot;:0.0,&quot;TextFrameMarginRight&quot;:0.0,&quot;TextFrameMarginBottom&quot;:0.0,&quot;TextFrameWordWrap&quot;:-1,&quot;TextFrameTextRangeFontSize&quot;:18.0,&quot;TextFrameTextRangeFontColorHexa&quot;:&quot;#000000&quot;,&quot;TextFrameTextRangeFontBold&quot;:0,&quot;TextFrameTextRangeFontItalic&quot;:0,&quot;TextFrameTextRangeFontUnderline&quot;:0,&quot;TextFrameVerticalAnchor&quot;:3,&quot;TextFrameHorizontalAnchor&quot;:1,&quot;TextFrameTextRangeParagraphFormatBulletType&quot;:0,&quot;TextFrameTextRangeParagraphFormatLineRuleWithin&quot;:-1,&quot;TextFrameTextRangeParagraphFormatSpaceWithin&quot;:-3.40282347E+38,&quot;TextFrameTextRangeParagraphFormatLineRuleAfter&quot;:0,&quot;TextFrameTextRangeParagraphFormatSpaceAfter&quot;:-3.40282347E+38,&quot;TextFrameTextRangeParagraphFormatLineRuleBefore&quot;:0,&quot;TextFrameTextRangeParagraphFormatSpaceBefore&quot;:-3.40282347E+38,&quot;TextFrameTextRangeParagraphs1ParagraphFormatAlignment&quot;:0,&quot;ZOrderPosition&quot;:-2147483648,&quot;FillVisible&quot;:0,&quot;FillForeColorHexa&quot;:null,&quot;FillTransparency&quot;:0.0,&quot;LineVisible&quot;:-1,&quot;LineForeColorHexa&quot;:&quot;#43CFF6&quot;,&quot;LineWeight&quot;:2.0,&quot;LineDashStyle&quot;:1,&quot;LineEndArrowheadStyle&quot;:1,&quot;LineBeginArrowheadStyle&quot;:1,&quot;ShouldSendToBack&quot;:true,&quot;NeedsApplyToAll&quot;:false}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READY-CHECKED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ain_Analytics">
  <a:themeElements>
    <a:clrScheme name="OCC2017">
      <a:dk1>
        <a:srgbClr val="000000"/>
      </a:dk1>
      <a:lt1>
        <a:srgbClr val="FFFFFF"/>
      </a:lt1>
      <a:dk2>
        <a:srgbClr val="FF8E2E"/>
      </a:dk2>
      <a:lt2>
        <a:srgbClr val="1D368E"/>
      </a:lt2>
      <a:accent1>
        <a:srgbClr val="43CFF6"/>
      </a:accent1>
      <a:accent2>
        <a:srgbClr val="99D5D5"/>
      </a:accent2>
      <a:accent3>
        <a:srgbClr val="B29C86"/>
      </a:accent3>
      <a:accent4>
        <a:srgbClr val="009796"/>
      </a:accent4>
      <a:accent5>
        <a:srgbClr val="FF5A43"/>
      </a:accent5>
      <a:accent6>
        <a:srgbClr val="E6DCD7"/>
      </a:accent6>
      <a:hlink>
        <a:srgbClr val="B29C86"/>
      </a:hlink>
      <a:folHlink>
        <a:srgbClr val="0097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accent4"/>
          </a:solidFill>
        </a:ln>
        <a:effectLst/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4"/>
          </a:solidFill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a14:hiddenEffects>
          </a:ext>
        </a:extLst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Fake Orange">
      <a:srgbClr val="FF9C8E"/>
    </a:custClr>
    <a:custClr name="Lime Green">
      <a:srgbClr val="C6D02C"/>
    </a:custClr>
    <a:custClr name="OC&amp;C Purple">
      <a:srgbClr val="63277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Light Gray">
      <a:srgbClr val="C0C0C0"/>
    </a:custClr>
    <a:custClr name="Medium Gray">
      <a:srgbClr val="969696"/>
    </a:custClr>
    <a:custClr name="Dark Gray">
      <a:srgbClr val="80808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eal 1">
      <a:srgbClr val="99D5D5"/>
    </a:custClr>
    <a:custClr name="Teal 2">
      <a:srgbClr val="6CC0C0"/>
    </a:custClr>
    <a:custClr name="Teal 3">
      <a:srgbClr val="48A6A6"/>
    </a:custClr>
    <a:custClr name="Teal 4">
      <a:srgbClr val="3F8E8C"/>
    </a:custClr>
    <a:custClr name="Teal 5">
      <a:srgbClr val="33726D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aupe 1">
      <a:srgbClr val="E6DCD7"/>
    </a:custClr>
    <a:custClr name="Taupe 2">
      <a:srgbClr val="D7C8BE"/>
    </a:custClr>
    <a:custClr name="Taupe 3">
      <a:srgbClr val="BEAA96"/>
    </a:custClr>
    <a:custClr name="Taupe 4">
      <a:srgbClr val="968C78"/>
    </a:custClr>
    <a:custClr name="Taupe 5">
      <a:srgbClr val="827864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raffic Light Green">
      <a:srgbClr val="92D050"/>
    </a:custClr>
    <a:custClr name="Traffic Light Yellow">
      <a:srgbClr val="FFC000"/>
    </a:custClr>
    <a:custClr name="Traffic Light Red">
      <a:srgbClr val="C00000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e595a2655564a8939bbbd867e2414004 [Read-Only]" id="{AAEB0047-284A-43E4-A725-840A069D86DC}" vid="{8778A659-AD6D-4509-BAE5-229D2A2066C4}"/>
    </a:ext>
  </a:ext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3435</TotalTime>
  <Words>4780</Words>
  <Application>Microsoft Office PowerPoint</Application>
  <PresentationFormat>Widescreen</PresentationFormat>
  <Paragraphs>777</Paragraphs>
  <Slides>35</Slides>
  <Notes>28</Notes>
  <HiddenSlides>8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6" baseType="lpstr">
      <vt:lpstr>Main_Analytics</vt:lpstr>
      <vt:lpstr>DMS – Rota 2030 </vt:lpstr>
      <vt:lpstr>DMS está entrando em uma nova etapa de profissionalização da gestão, criando as bases para escalar </vt:lpstr>
      <vt:lpstr>A DMS está passando por um processo de profissionalização da gestão, com o desafio de transformar as diretrizes estratégicas em ações tangíveis e mensuráveis</vt:lpstr>
      <vt:lpstr>Propomos uma abordagem com contrução das atividades, roadmaps e KPIs até novembro de 2026 com inicio ao apoioa a implementação iniciando em seguida</vt:lpstr>
      <vt:lpstr>As frentes do projeto possuem interfaces que retroalimentam o trabalho e geram produtos integrados que possibilitam a implementação de processos estruturantes </vt:lpstr>
      <vt:lpstr>Ações estruturantes</vt:lpstr>
      <vt:lpstr>Garantir liquidez e previsibilidade financeira podem ser atingidos através de três objetivos estruturantes </vt:lpstr>
      <vt:lpstr>O P&amp;L será utilizado como driver e balizador dos resultados esperados dos ciclos da CIA, garantindo margem operacional mínima e alvo</vt:lpstr>
      <vt:lpstr>A gestão dos custos garante controle de despesas e eficiência operacional apoiando a gestão saudável da margem</vt:lpstr>
      <vt:lpstr>Ações estruturantes</vt:lpstr>
      <vt:lpstr>A excelência operacional exige disciplina na gestão do SLA, atuação sobre causas recorrentes e redução contínua do custo dos desvios</vt:lpstr>
      <vt:lpstr>A eficiência do Warehouse será sustentada por processos padronizados, gestão disciplinada do lead time e redução contínua das ineficiências operacionais</vt:lpstr>
      <vt:lpstr>Elevar a produtividade exige priorizar automações de maior impacto, construir soluções replicáveis e direcionar recursos tecnológicos para onde geram mais valor</vt:lpstr>
      <vt:lpstr>Elevar a produtividade exige priorizar automações de maior impacto, construir soluções replicáveis e direcionar recursos tecnológicos para onde geram mais valor</vt:lpstr>
      <vt:lpstr>segurança cibernética deve ser fortalecida em três frentes complementares: proteção dos dados, continuidade operacional e mitigação dos elos mais vulneráveis</vt:lpstr>
      <vt:lpstr>Ações estruturantes</vt:lpstr>
      <vt:lpstr>Fortalecer o Pricing Power permite capturar valor de forma disciplinada, protegendo margens e ampliando a recorrência dos clientes</vt:lpstr>
      <vt:lpstr>Excelência comercial deve direcionar os esforços para as oportunidades de maior potencial e garantir disciplina na execução para acelerar o crescimento da receita</vt:lpstr>
      <vt:lpstr>Maximizar a captura de receitas exige visibilidade end-to-end, disciplina de cobrança e atuação sistemática sobre desvios e oportunidades</vt:lpstr>
      <vt:lpstr>Ações estruturantes</vt:lpstr>
      <vt:lpstr>Elevar a satisfação exige uma experiência consistente, ownership na resolução dos problemas e aprendizado contínuo a partir da percepção do cliente</vt:lpstr>
      <vt:lpstr>Fidelizar clientes exige gerar valor de forma contínua, antecipar riscos no relacionamento e transformar confiança em recorrência e expansão</vt:lpstr>
      <vt:lpstr>Ações estruturantes</vt:lpstr>
      <vt:lpstr>A evolução da liderança exige maior ownership sobre resultados, desenvolvimento contínuo e formação estruturada de sucessores</vt:lpstr>
      <vt:lpstr>Atrair e reter os melhores talentos exige competitividade salarial, reconhecimento por performance e perspectivas claras de desenvolvimento</vt:lpstr>
      <vt:lpstr>Fortalecer a cultura DMS exige traduzir valores em comportamentos, incorporá-los ao dia a dia e disseminá-los de forma consistente pela organização</vt:lpstr>
      <vt:lpstr>Apresentação do PowerPoint</vt:lpstr>
      <vt:lpstr>Fortalecer a cultura DMS exige traduzir valores em comportamentos, incorporá-los ao dia a dia e disseminá-los de forma consistente pela organização</vt:lpstr>
      <vt:lpstr>Atrair e reter os melhores talentos exige competitividade salarial, reconhecimento por performance e perspectivas claras de desenvolvimento</vt:lpstr>
      <vt:lpstr>As diretrizes estratégicas da DMS precisam ser desdobradas em temas prioritários, com provocações que orientem decisões e ações concretas</vt:lpstr>
      <vt:lpstr>Indicadores táticos devem construídos e monitorados através de processos estruturados para suportar o guideline estratégico do tema</vt:lpstr>
      <vt:lpstr>Próximos passos</vt:lpstr>
      <vt:lpstr>Próximos passos</vt:lpstr>
      <vt:lpstr>Ações estruturantes</vt:lpstr>
      <vt:lpstr>Identificamos que o cliente é cuidado por várias áreas durante seu ciclo de vida na DMS e entendemos que é necessária uma governança entre áreas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Tratamento de Dados do Pro-Frotas</dc:title>
  <dc:creator>Joao Victor Lopes De Paula</dc:creator>
  <cp:keywords/>
  <cp:lastModifiedBy>Gustavo  Horta</cp:lastModifiedBy>
  <cp:revision>8</cp:revision>
  <dcterms:created xsi:type="dcterms:W3CDTF">2023-01-09T20:59:58Z</dcterms:created>
  <dcterms:modified xsi:type="dcterms:W3CDTF">2026-10-29T21:45:05Z</dcterms:modified>
</cp:coreProperties>
</file>