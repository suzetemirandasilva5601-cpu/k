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1"/>
    <p:sldMasterId id="2147483821" r:id="rId2"/>
  </p:sldMasterIdLst>
  <p:notesMasterIdLst>
    <p:notesMasterId r:id="rId8"/>
  </p:notesMasterIdLst>
  <p:handoutMasterIdLst>
    <p:handoutMasterId r:id="rId9"/>
  </p:handoutMasterIdLst>
  <p:sldIdLst>
    <p:sldId id="2147474652" r:id="rId3"/>
    <p:sldId id="2147474653" r:id="rId7"/>
    <p:sldId id="2147474654" r:id="rId5"/>
    <p:sldId id="2147474651" r:id="rId6"/>
  </p:sldIdLst>
  <p:sldSz cx="12192000" cy="6858000"/>
  <p:notesSz cx="6797675" cy="9928225"/>
  <p:custDataLst>
    <p:tags r:id="rId1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C3FDA-5671-42A4-A468-888C653E86DD}">
          <p14:sldIdLst>
            <p14:sldId id="2147474652"/>
            <p14:sldId id="2147474655"/>
            <p14:sldId id="2147474653"/>
            <p14:sldId id="2147474651"/>
          </p14:sldIdLst>
        </p14:section>
        <p14:section name="Equipe e Investimentos" id="{702C7D10-46CA-4A1C-BCF8-1EEFBEEF3622}">
          <p14:sldIdLst>
            <p14:sldId id="21474746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9F2"/>
    <a:srgbClr val="FFFFFF"/>
    <a:srgbClr val="9D6699"/>
    <a:srgbClr val="124376"/>
    <a:srgbClr val="E36800"/>
    <a:srgbClr val="FF5A43"/>
    <a:srgbClr val="7B7D7B"/>
    <a:srgbClr val="1D368E"/>
    <a:srgbClr val="009796"/>
    <a:srgbClr val="3D7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" dt="2026-10-20T21:32:41.862"/>
    <p1510:client id="{CD91F97B-61E8-490A-A668-8ADE57E8F57D}" v="12" dt="2026-10-21T13:45:29.789"/>
    <p1510:client id="{CEDDFF9A-7B1C-4363-95D8-B551194F9A07}" v="695" dt="2026-10-20T22:12:11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404"/>
    <p:restoredTop sz="94748"/>
  </p:normalViewPr>
  <p:slideViewPr>
    <p:cSldViewPr snapToGrid="0">
      <p:cViewPr>
        <p:scale>
          <a:sx n="66" d="100"/>
          <a:sy n="66" d="100"/>
        </p:scale>
        <p:origin x="1752" y="4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22/10/2026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317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5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777789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759934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248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58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227871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endParaRPr lang="pt-BR" noProof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endParaRPr lang="pt-BR" noProof="0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endParaRPr lang="pt-BR" noProof="0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 noProof="0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Consu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891306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lang="pt-BR"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endParaRPr lang="pt-BR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endParaRPr lang="pt-BR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lang="pt-BR"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MS_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0360000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0360000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00" name="Logo DMS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43467" y="154236"/>
            <a:ext cx="1189822" cy="68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B82AB-6ABE-73B1-7FAB-5E0476BAA2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6390" y="6571866"/>
            <a:ext cx="388386" cy="22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2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tags" Target="../tags/tag13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0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808" r:id="rId8"/>
    <p:sldLayoutId id="2147483810" r:id="rId9"/>
    <p:sldLayoutId id="2147483819" r:id="rId10"/>
    <p:sldLayoutId id="2147483820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</p:grp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lang="pt-BR"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pt-BR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41983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069" y="0"/>
            <a:ext cx="81609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9947" y="2507742"/>
            <a:ext cx="8602052" cy="181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5629" y="2767698"/>
            <a:ext cx="2326957" cy="130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5834" cy="595304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 txBox="1"/>
          <p:nvPr/>
        </p:nvSpPr>
        <p:spPr>
          <a:xfrm>
            <a:off x="4455100" y="2600000"/>
            <a:ext cx="5976000" cy="1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Montserrat SemiBold"/>
              </a:rPr>
              <a:t>Projeto Diligenciamento</a:t>
            </a:r>
          </a:p>
          <a:p>
            <a:r>
              <a:rPr sz="1600">
                <a:solidFill>
                  <a:srgbClr val="FFFFFF"/>
                </a:solidFill>
                <a:latin typeface="Montserrat"/>
              </a:rPr>
              <a:t>Estrutura hierárquica x vagas em aberto</a:t>
            </a:r>
          </a:p>
          <a:p>
            <a:r>
              <a:rPr sz="1100">
                <a:solidFill>
                  <a:srgbClr val="FFFFFF"/>
                </a:solidFill>
                <a:latin typeface="Montserrat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62739995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A casa tem 336 pessoas e 66 gestores em 7 níveis; as 49 vagas em aberto se concentram em Operações, e 41 delas ainda não têm processo aberto no Gupy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Estrutura hierárquica e onde falta gente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Cada caixa é um reporte direto do CEO, com o quadro ativo, quantos lideram alguém e quantas vagas estão em aberto. Abaixo, os blocos de Operações.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Fonte: Colaboradores-factorial (3) — organograma out/26; planilha de vagas (21/10); Base Setembro/26 (RH); Draft 23 Out 26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91500" y="1190625"/>
            <a:ext cx="36576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33900" y="1447800"/>
            <a:ext cx="3124200" cy="40005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Co-CEO · Jose Luiz Belixior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Arial"/>
              </a:rPr>
              <a:t>336 pessoas · 66 gestores · 49 vagas em aberto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847850"/>
            <a:ext cx="0" cy="11430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0550" y="1962150"/>
            <a:ext cx="11010900" cy="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9175" y="1962150"/>
            <a:ext cx="0" cy="9525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2900" y="2057400"/>
            <a:ext cx="1352550" cy="5715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COO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Raioni Oliveira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155 ativos · 29 gest.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" y="2667000"/>
            <a:ext cx="1352550" cy="2095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25 vagas em aberto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6975" y="1962150"/>
            <a:ext cx="0" cy="9525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90700" y="2057400"/>
            <a:ext cx="1352550" cy="5715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CITO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Cleyton Cardoso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48 ativos · 5 gest.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700" y="2667000"/>
            <a:ext cx="1352550" cy="2095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 vagas em aberto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4775" y="1962150"/>
            <a:ext cx="0" cy="9525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38500" y="2057400"/>
            <a:ext cx="1352550" cy="5715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CFSO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Ana Carolina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34 ativos · 6 gest.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8500" y="2667000"/>
            <a:ext cx="1352550" cy="2095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 vagas em aberto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62575" y="1962150"/>
            <a:ext cx="0" cy="9525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86300" y="2057400"/>
            <a:ext cx="1352550" cy="5715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Head of Air Product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Filipe Teixeira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29 ativos · 6 gest.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6300" y="2667000"/>
            <a:ext cx="1352550" cy="2095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7 vagas em aberto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10375" y="1962150"/>
            <a:ext cx="0" cy="9525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34100" y="2057400"/>
            <a:ext cx="1352550" cy="5715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Head of Talent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Carolina Karnakis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25 ativos · 6 gest.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4100" y="2667000"/>
            <a:ext cx="1352550" cy="2095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 vagas em aberto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58175" y="1962150"/>
            <a:ext cx="0" cy="9525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81900" y="2057400"/>
            <a:ext cx="1352550" cy="5715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CCO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Andre Lemos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19 ativos · 8 gest.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1900" y="2667000"/>
            <a:ext cx="1352550" cy="2095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 vagas em aberto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05975" y="1962150"/>
            <a:ext cx="0" cy="9525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29700" y="2057400"/>
            <a:ext cx="1352550" cy="5715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Head of Ocean Product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Filipe Carneiro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19 ativos · 4 gest.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9700" y="2667000"/>
            <a:ext cx="1352550" cy="2095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 vagas em aberto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153775" y="1962150"/>
            <a:ext cx="0" cy="9525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77500" y="2057400"/>
            <a:ext cx="1352550" cy="5715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Head of Services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Luis Fernando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6 ativos · 1 gest.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77500" y="2667000"/>
            <a:ext cx="1352550" cy="2095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 vaga em aberto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9175" y="2876550"/>
            <a:ext cx="0" cy="152400"/>
          </a:xfrm>
          <a:prstGeom prst="bentConnector3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2900" y="3028950"/>
            <a:ext cx="2247900" cy="24765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Dentro de Operações (COO)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5100" y="3028950"/>
            <a:ext cx="1409700" cy="247650"/>
          </a:xfrm>
          <a:prstGeom prst="roundRect">
            <a:avLst>
              <a:gd name="adj" fmla="val 8000"/>
            </a:avLst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004033"/>
                </a:solidFill>
                <a:latin typeface="Arial"/>
              </a:rPr>
              <a:t>Air Operations · 19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91000" y="3028950"/>
            <a:ext cx="1409700" cy="247650"/>
          </a:xfrm>
          <a:prstGeom prst="roundRect">
            <a:avLst>
              <a:gd name="adj" fmla="val 8000"/>
            </a:avLst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004033"/>
                </a:solidFill>
                <a:latin typeface="Arial"/>
              </a:rPr>
              <a:t>Ocean Operations ·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900" y="3028950"/>
            <a:ext cx="1409700" cy="247650"/>
          </a:xfrm>
          <a:prstGeom prst="roundRect">
            <a:avLst>
              <a:gd name="adj" fmla="val 8000"/>
            </a:avLst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004033"/>
                </a:solidFill>
                <a:latin typeface="Arial"/>
              </a:rPr>
              <a:t>Quality &amp; Op. Intel. ·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62800" y="3028950"/>
            <a:ext cx="1409700" cy="247650"/>
          </a:xfrm>
          <a:prstGeom prst="roundRect">
            <a:avLst>
              <a:gd name="adj" fmla="val 8000"/>
            </a:avLst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004033"/>
                </a:solidFill>
                <a:latin typeface="Arial"/>
              </a:rPr>
              <a:t>Special Operations ·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8700" y="3028950"/>
            <a:ext cx="1409700" cy="247650"/>
          </a:xfrm>
          <a:prstGeom prst="roundRect">
            <a:avLst>
              <a:gd name="adj" fmla="val 8000"/>
            </a:avLst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1">
                <a:solidFill>
                  <a:srgbClr val="004033"/>
                </a:solidFill>
                <a:latin typeface="Arial"/>
              </a:rPr>
              <a:t>Overland ·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34600" y="3028950"/>
            <a:ext cx="1409700" cy="2476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850" b="0">
                <a:solidFill>
                  <a:srgbClr val="606060"/>
                </a:solidFill>
                <a:latin typeface="Arial"/>
              </a:rPr>
              <a:t>2 blocos sem vaga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42900" y="3390900"/>
          <a:ext cx="11506200" cy="255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781050"/>
                <a:gridCol w="1905000"/>
                <a:gridCol w="723900"/>
                <a:gridCol w="819150"/>
                <a:gridCol w="1219200"/>
                <a:gridCol w="1047750"/>
                <a:gridCol w="1104900"/>
                <a:gridCol w="2038350"/>
              </a:tblGrid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Bloco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C-level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Head responsável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Ativos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Gestores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Vagas em aberto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Ainda a abrir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Vagas de chefia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do quadro em aberto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Air Operations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Carolina Bento Mendoza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Air Product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Filipe Teixeira Sampaio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Healthcare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Jose Carlos Duarte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Talent Mgmt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Carolina Karnakis Nobrega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Financial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CFSO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Ana Carolina Botelho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Ocean Operations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Natalia Correia Costa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CITO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Cleyton Cardoso Esteves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Ocean Product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Filipe Carneiro Oliveira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High-Tech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Ricardo Tebexreni Jakowatz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Quality &amp; Op. Intel.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Marco Antonio Maraia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Special Operations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 sem bloco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Overland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Possidonio Dantas Almeida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Services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Luis Fernando Santos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Total dos blocos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342900" y="6000750"/>
            <a:ext cx="11506200" cy="228600"/>
          </a:xfrm>
          <a:prstGeom prst="roundRect">
            <a:avLst>
              <a:gd name="adj" fmla="val 8000"/>
            </a:avLst>
          </a:prstGeom>
          <a:solidFill>
            <a:srgbClr val="D9F2E9"/>
          </a:solidFill>
          <a:ln w="12700">
            <a:solidFill>
              <a:srgbClr val="00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l"/>
            <a:r>
              <a:rPr sz="800" b="0">
                <a:solidFill>
                  <a:srgbClr val="333333"/>
                </a:solidFill>
                <a:latin typeface="Arial"/>
              </a:rPr>
              <a:t>Healthcare é o único bloco com mais vaga que gente: 4 vagas para 3 pessoas. Air Operations concentra 19 das 49, mas são 18% do próprio quadro. Ativos do organograma de out/26; a base de setembro tem 311 ativos porque 23 admissões entraram depois do fechamento.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Das 49 vagas em aberto, 35 estão sob o COO e 17 nos blocos de Operações; dessas, só 5 estão publicadas e 12 ainda precisam ser abertas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Vagas em aberto, do total ao que trava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Funil das vagas, abertura por geografia e situação de cada bloco de Operações. “Em aberto” na planilha não quer dizer processo rodando.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Fonte: Colaboradores-factorial (3) — organograma out/26; planilha de vagas (21/10); Base Setembro/26 (RH); Draft 23 Out 26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91500" y="1190625"/>
            <a:ext cx="36576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" y="1476375"/>
            <a:ext cx="2552700" cy="24765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Funil das vagas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" y="1800225"/>
            <a:ext cx="666750" cy="304800"/>
          </a:xfrm>
          <a:prstGeom prst="roundRect">
            <a:avLst>
              <a:gd name="adj" fmla="val 8000"/>
            </a:avLst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1876425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>registros na planilha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" y="2152650"/>
            <a:ext cx="666750" cy="30480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22288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>realmente em aberto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" y="2505075"/>
            <a:ext cx="666750" cy="30480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2581275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>sob o COO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" y="2857500"/>
            <a:ext cx="666750" cy="3048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293370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>nos blocos de Operações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" y="3209925"/>
            <a:ext cx="666750" cy="30480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3286125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>publicadas no Gupy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" y="3562350"/>
            <a:ext cx="666750" cy="30480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50" y="36385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>ainda a abrir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86100" y="1476375"/>
            <a:ext cx="2552700" cy="24765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Abertura por geografia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86100" y="1800225"/>
            <a:ext cx="2552700" cy="285750"/>
          </a:xfrm>
          <a:prstGeom prst="roundRect">
            <a:avLst>
              <a:gd name="adj" fmla="val 8000"/>
            </a:avLst>
          </a:prstGeom>
          <a:solidFill>
            <a:srgbClr val="E5F0F8"/>
          </a:solidFill>
          <a:ln w="12700">
            <a:solidFill>
              <a:srgbClr val="00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19050" bIns="19050"/>
          <a:lstStyle/>
          <a:p>
            <a:pPr algn="l"/>
            <a:r>
              <a:rPr sz="950" b="1">
                <a:solidFill>
                  <a:srgbClr val="333333"/>
                </a:solidFill>
                <a:latin typeface="Arial"/>
              </a:rPr>
              <a:t>Brasil / geral: 34 vagas  ·  69%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86100" y="2143125"/>
            <a:ext cx="2552700" cy="285750"/>
          </a:xfrm>
          <a:prstGeom prst="roundRect">
            <a:avLst>
              <a:gd name="adj" fmla="val 8000"/>
            </a:avLst>
          </a:prstGeom>
          <a:solidFill>
            <a:srgbClr val="E5F0F8"/>
          </a:solidFill>
          <a:ln w="12700">
            <a:solidFill>
              <a:srgbClr val="00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19050" bIns="19050"/>
          <a:lstStyle/>
          <a:p>
            <a:pPr algn="l"/>
            <a:r>
              <a:rPr sz="950" b="1">
                <a:solidFill>
                  <a:srgbClr val="333333"/>
                </a:solidFill>
                <a:latin typeface="Arial"/>
              </a:rPr>
              <a:t>EUA: 9 vagas  ·  18%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86100" y="2486025"/>
            <a:ext cx="2552700" cy="285750"/>
          </a:xfrm>
          <a:prstGeom prst="roundRect">
            <a:avLst>
              <a:gd name="adj" fmla="val 8000"/>
            </a:avLst>
          </a:prstGeom>
          <a:solidFill>
            <a:srgbClr val="E5F0F8"/>
          </a:solidFill>
          <a:ln w="12700">
            <a:solidFill>
              <a:srgbClr val="00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19050" bIns="19050"/>
          <a:lstStyle/>
          <a:p>
            <a:pPr algn="l"/>
            <a:r>
              <a:rPr sz="950" b="1">
                <a:solidFill>
                  <a:srgbClr val="333333"/>
                </a:solidFill>
                <a:latin typeface="Arial"/>
              </a:rPr>
              <a:t>Europa: 6 vagas  ·  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6100" y="2847975"/>
            <a:ext cx="25527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25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Nos EUA não há nenhuma reposição: as 9 vagas são aumento de quadro.</a:t>
            </a:r>
          </a:p>
          <a:p>
            <a:pPr algn="l">
              <a:spcAft>
                <a:spcPts val="225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Na Europa, 2 das 6 são reposição.</a:t>
            </a:r>
          </a:p>
          <a:p>
            <a:pPr algn="l">
              <a:spcAft>
                <a:spcPts val="225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Pelo campo Ocupante/Vaga: 30 aumento de quadro e 19 substituição.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29300" y="1476375"/>
            <a:ext cx="6019800" cy="247650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Onde falta chefe e onde falta gente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29300" y="1781175"/>
            <a:ext cx="6019800" cy="182880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 w="12700">
            <a:solidFill>
              <a:srgbClr val="FF8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5725" rIns="85725" tIns="19050" bIns="19050"/>
          <a:lstStyle/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>• Inland Freight Europa: 4 ativos, 4 vagas, 50% do quadro em aberto e nenhum team leader no bloco</a:t>
            </a:r>
          </a:p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• Operações America: 46% em aberto e 3 vagas de team leader, todas ainda a abrir</a:t>
            </a:r>
          </a:p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• As 7 vagas de chefia da casa: 1 Head (Overland Europa, a única publicada) e 6 Team Leaders</a:t>
            </a:r>
          </a:p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• Exportação carrega ~81 embarques por ativo, o maior da operação, com 3 pessoas</a:t>
            </a:r>
          </a:p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• Warehouses (MIA, Houston e NY): 5 pessoas e nenhuma vaga aberta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29300" y="3705225"/>
            <a:ext cx="6019800" cy="247650"/>
          </a:xfrm>
          <a:prstGeom prst="roundRect">
            <a:avLst>
              <a:gd name="adj" fmla="val 8000"/>
            </a:avLst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625" rIns="47625" tIns="19050" bIns="1905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As 17 vagas de Operações por nível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7400" y="4010025"/>
            <a:ext cx="59436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Arial"/>
              </a:rPr>
              <a:t>Team Leader 3   ·   Specialist 5   ·   Analyst 9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42900" y="4305300"/>
          <a:ext cx="11506200" cy="169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1066800"/>
                <a:gridCol w="1428750"/>
                <a:gridCol w="1238250"/>
                <a:gridCol w="1276350"/>
                <a:gridCol w="1524000"/>
                <a:gridCol w="1238250"/>
              </a:tblGrid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Local · bloco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Ativos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Vagas em aberto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Ainda a abrir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em aberto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Embarques/mês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Emb./ativo</a:t>
                      </a:r>
                    </a:p>
                  </a:txBody>
                  <a:tcPr marL="38100" marR="38100" marT="0" marB="0" anchor="ctr">
                    <a:solidFill>
                      <a:srgbClr val="005E9E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EUA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~971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      Inland Freight America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      Operações America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      Warehouses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Europa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~530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      Operações Europa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      Inland Freight Europa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DF0E4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Brasil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~2.531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      Customer Care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4128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      Exportação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2F2"/>
                    </a:solidFill>
                  </a:tcPr>
                </a:tc>
              </a:tr>
              <a:tr h="141293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Total Operações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~4.032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42900" y="6057900"/>
            <a:ext cx="11506200" cy="190500"/>
          </a:xfrm>
          <a:prstGeom prst="roundRect">
            <a:avLst>
              <a:gd name="adj" fmla="val 8000"/>
            </a:avLst>
          </a:prstGeom>
          <a:solidFill>
            <a:srgbClr val="D9F2E9"/>
          </a:solidFill>
          <a:ln w="12700">
            <a:solidFill>
              <a:srgbClr val="00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l"/>
            <a:r>
              <a:rPr sz="850" b="0">
                <a:solidFill>
                  <a:srgbClr val="333333"/>
                </a:solidFill>
                <a:latin typeface="Arial"/>
              </a:rPr>
              <a:t>As 12 vagas ainda a abrir estão todas em EUA e Europa, justamente os dois blocos mais vazios: o gargalo é a abertura interna, não o mercado.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2298" y="4693093"/>
            <a:ext cx="7259701" cy="216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4757" y="5461584"/>
            <a:ext cx="1736242" cy="975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89350" y="1881165"/>
            <a:ext cx="3148872" cy="132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2324" y="1877402"/>
            <a:ext cx="3107226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7271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22886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4538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MgIAAA=="/>
  <p:tag name="POWER_USER_PPT_AGENDA_PRESENTATION_TABLE_OF_CONTENT_STYLE_TAG" val="1"/>
  <p:tag name="POWER_USER_PPT_AGENDA_PRESENTATION_DIVIDERS_STYLE_TAG" val="POWER_USER_LAYOUT_DIVIDER_CUSTOM"/>
  <p:tag name="POWER_USER_PPT_AGENDA_PRESENTATION_SHOULD_CREATE_TABLE_OF_CONTENT_TAG" val="0"/>
  <p:tag name="POWER_USER_PPT_AGENDA_PRESENTATION_SHOW_SECTION_NUMBERS_CHECKED_TAG" val="1"/>
  <p:tag name="POWER_USER_PPT_AGENDA_PRESENTATION_DIVIDERS_CHECKED_TAG" val="0"/>
  <p:tag name="POWER_USER_PPT_AGENDA_PRESENTATION_TITLE_TEXT_TAG" val="POWER_USER_PPT_AGENDA_PRESENTATION_EMPTY_TITLE_TEXT_TAG"/>
  <p:tag name="POWER_USER_PPT_AGENDA_PRESENTATION_TABLE_OF_CONTENT_CHECKED_TAG" val="1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3.942841,&quot;MarginTop&quot;:160.99379,&quot;MarginBottom&quot;:117.391327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2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4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0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Main_Analytics [1792534067595]">
  <a:themeElements>
    <a:clrScheme name="DMS Logistics">
      <a:dk1>
        <a:srgbClr val="000000"/>
      </a:dk1>
      <a:lt1>
        <a:srgbClr val="FFFFFF"/>
      </a:lt1>
      <a:dk2>
        <a:srgbClr val="FF8E2E"/>
      </a:dk2>
      <a:lt2>
        <a:srgbClr val="00366C"/>
      </a:lt2>
      <a:accent1>
        <a:srgbClr val="00ACEE"/>
      </a:accent1>
      <a:accent2>
        <a:srgbClr val="7FCBEF"/>
      </a:accent2>
      <a:accent3>
        <a:srgbClr val="B29C86"/>
      </a:accent3>
      <a:accent4>
        <a:srgbClr val="005E9E"/>
      </a:accent4>
      <a:accent5>
        <a:srgbClr val="FF5A43"/>
      </a:accent5>
      <a:accent6>
        <a:srgbClr val="E6DCD7"/>
      </a:accent6>
      <a:hlink>
        <a:srgbClr val="B29C86"/>
      </a:hlink>
      <a:folHlink>
        <a:srgbClr val="005E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111F20-489D-423F-8669-23E3111AA1D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ae7422-7103-4ba2-b850-d7dcf422d67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6190</TotalTime>
  <Words>1158</Words>
  <Application>Microsoft Office PowerPoint</Application>
  <PresentationFormat>Widescreen</PresentationFormat>
  <Paragraphs>155</Paragraphs>
  <Slides>5</Slides>
  <Notes>3</Notes>
  <HiddenSlides>1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Main_Analytics</vt:lpstr>
      <vt:lpstr>Main_Analytics [1792534067595]</vt:lpstr>
      <vt:lpstr>Apresentação do PowerPoint</vt:lpstr>
      <vt:lpstr>A estrutura desejada contempla 7 analistas um TL, objetivo da estrutura são as tratativas e gestão das atividades relacionados ao agenciamento de carga. </vt:lpstr>
      <vt:lpstr>As vagas da DMS exigem perfis de rotina e controle, que executem os processos definidos no melhor SLA possível e proativamente atuem para mitigar os riscos/danos</vt:lpstr>
      <vt:lpstr>Apresentação do PowerPoint</vt:lpstr>
      <vt:lpstr>A estrutura desejada contempla 7 analistas e somente um TL, entretanto quando olhamos os embarques há espaço para termos 2 TL e os mesmos 4 analistas atuais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de Dados do Pro-Frotas</dc:title>
  <dc:creator>Joao Victor Lopes De Paula</dc:creator>
  <cp:keywords/>
  <cp:lastModifiedBy>Gilberto  Volpe</cp:lastModifiedBy>
  <cp:revision>17</cp:revision>
  <dcterms:created xsi:type="dcterms:W3CDTF">2023-01-09T20:59:58Z</dcterms:created>
  <dcterms:modified xsi:type="dcterms:W3CDTF">2026-10-22T14:11:55Z</dcterms:modified>
</cp:coreProperties>
</file>