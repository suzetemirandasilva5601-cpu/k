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87" r:id="rId1"/>
    <p:sldMasterId id="2147483821" r:id="rId2"/>
  </p:sldMasterIdLst>
  <p:notesMasterIdLst>
    <p:notesMasterId r:id="rId8"/>
  </p:notesMasterIdLst>
  <p:handoutMasterIdLst>
    <p:handoutMasterId r:id="rId9"/>
  </p:handoutMasterIdLst>
  <p:sldIdLst>
    <p:sldId id="2147474652" r:id="rId3"/>
    <p:sldId id="2147474653" r:id="rId7"/>
    <p:sldId id="2147474654" r:id="rId5"/>
    <p:sldId id="2147474651" r:id="rId6"/>
  </p:sldIdLst>
  <p:sldSz cx="12192000" cy="6858000"/>
  <p:notesSz cx="6797675" cy="9928225"/>
  <p:custDataLst>
    <p:tags r:id="rId10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C3FDA-5671-42A4-A468-888C653E86DD}">
          <p14:sldIdLst>
            <p14:sldId id="2147474652"/>
            <p14:sldId id="2147474655"/>
            <p14:sldId id="2147474653"/>
            <p14:sldId id="2147474651"/>
          </p14:sldIdLst>
        </p14:section>
        <p14:section name="Equipe e Investimentos" id="{702C7D10-46CA-4A1C-BCF8-1EEFBEEF3622}">
          <p14:sldIdLst>
            <p14:sldId id="21474746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9F2"/>
    <a:srgbClr val="FFFFFF"/>
    <a:srgbClr val="9D6699"/>
    <a:srgbClr val="124376"/>
    <a:srgbClr val="E36800"/>
    <a:srgbClr val="FF5A43"/>
    <a:srgbClr val="7B7D7B"/>
    <a:srgbClr val="1D368E"/>
    <a:srgbClr val="009796"/>
    <a:srgbClr val="3D7C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4" dt="2026-10-20T21:32:41.862"/>
    <p1510:client id="{CD91F97B-61E8-490A-A668-8ADE57E8F57D}" v="12" dt="2026-10-21T13:45:29.789"/>
    <p1510:client id="{CEDDFF9A-7B1C-4363-95D8-B551194F9A07}" v="695" dt="2026-10-20T22:12:11.2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5404"/>
    <p:restoredTop sz="94748"/>
  </p:normalViewPr>
  <p:slideViewPr>
    <p:cSldViewPr snapToGrid="0">
      <p:cViewPr>
        <p:scale>
          <a:sx n="66" d="100"/>
          <a:sy n="66" d="100"/>
        </p:scale>
        <p:origin x="1752" y="42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tags" Target="tags/tag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 descr="25%"/>
          <p:cNvSpPr>
            <a:spLocks noGrp="1" noChangeArrowheads="1"/>
          </p:cNvSpPr>
          <p:nvPr>
            <p:ph type="hdr" sz="quarter"/>
          </p:nvPr>
        </p:nvSpPr>
        <p:spPr bwMode="gray">
          <a:xfrm>
            <a:off x="2" y="0"/>
            <a:ext cx="131056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t" anchorCtr="0" compatLnSpc="1">
            <a:prstTxWarp prst="textNoShape">
              <a:avLst/>
            </a:prstTxWarp>
            <a:spAutoFit/>
          </a:bodyPr>
          <a:lstStyle>
            <a:lvl1pPr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6019" name="Rectangle 3" descr="25%"/>
          <p:cNvSpPr>
            <a:spLocks noGrp="1" noChangeArrowheads="1"/>
          </p:cNvSpPr>
          <p:nvPr>
            <p:ph type="dt" sz="quarter" idx="1"/>
          </p:nvPr>
        </p:nvSpPr>
        <p:spPr bwMode="gray">
          <a:xfrm>
            <a:off x="5900091" y="0"/>
            <a:ext cx="897585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t" anchorCtr="0" compatLnSpc="1">
            <a:prstTxWarp prst="textNoShape">
              <a:avLst/>
            </a:prstTxWarp>
            <a:spAutoFit/>
          </a:bodyPr>
          <a:lstStyle>
            <a:lvl1pPr algn="r"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fld id="{EB9C613B-C2AC-4B93-9209-758731061898}" type="datetime1">
              <a:rPr lang="en-GB"/>
              <a:pPr>
                <a:defRPr/>
              </a:pPr>
              <a:t>22/10/2026</a:t>
            </a:fld>
            <a:endParaRPr lang="en-GB"/>
          </a:p>
        </p:txBody>
      </p:sp>
      <p:sp>
        <p:nvSpPr>
          <p:cNvPr id="86020" name="Rectangle 4" descr="25%"/>
          <p:cNvSpPr>
            <a:spLocks noGrp="1" noChangeArrowheads="1"/>
          </p:cNvSpPr>
          <p:nvPr>
            <p:ph type="ftr" sz="quarter" idx="2"/>
          </p:nvPr>
        </p:nvSpPr>
        <p:spPr bwMode="gray">
          <a:xfrm>
            <a:off x="2" y="9611922"/>
            <a:ext cx="131056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b" anchorCtr="0" compatLnSpc="1">
            <a:prstTxWarp prst="textNoShape">
              <a:avLst/>
            </a:prstTxWarp>
            <a:spAutoFit/>
          </a:bodyPr>
          <a:lstStyle>
            <a:lvl1pPr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6021" name="Rectangle 5" descr="25%"/>
          <p:cNvSpPr>
            <a:spLocks noGrp="1" noChangeArrowheads="1"/>
          </p:cNvSpPr>
          <p:nvPr>
            <p:ph type="sldNum" sz="quarter" idx="3"/>
          </p:nvPr>
        </p:nvSpPr>
        <p:spPr bwMode="gray">
          <a:xfrm>
            <a:off x="6367232" y="9611922"/>
            <a:ext cx="430444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b" anchorCtr="0" compatLnSpc="1">
            <a:prstTxWarp prst="textNoShape">
              <a:avLst/>
            </a:prstTxWarp>
            <a:spAutoFit/>
          </a:bodyPr>
          <a:lstStyle>
            <a:lvl1pPr algn="r"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fld id="{CC44CF48-7BC2-449C-AB04-0420DAB04CA8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03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6275" cy="49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t" anchorCtr="0" compatLnSpc="1">
            <a:prstTxWarp prst="textNoShape">
              <a:avLst/>
            </a:prstTxWarp>
          </a:bodyPr>
          <a:lstStyle>
            <a:lvl1pPr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400" y="1"/>
            <a:ext cx="2946275" cy="49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t" anchorCtr="0" compatLnSpc="1">
            <a:prstTxWarp prst="textNoShape">
              <a:avLst/>
            </a:prstTxWarp>
          </a:bodyPr>
          <a:lstStyle>
            <a:lvl1pPr algn="r"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22/10/2026</a:t>
            </a:fld>
            <a:endParaRPr lang="pt-BR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8" y="744538"/>
            <a:ext cx="6615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127" y="4714994"/>
            <a:ext cx="4987424" cy="4468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Click to edit Master text styles</a:t>
            </a:r>
          </a:p>
          <a:p>
            <a:pPr lvl="1"/>
            <a:r>
              <a:rPr lang="pt-BR" noProof="0"/>
              <a:t>Second level</a:t>
            </a:r>
          </a:p>
          <a:p>
            <a:pPr lvl="2"/>
            <a:r>
              <a:rPr lang="pt-BR" noProof="0"/>
              <a:t>Third level</a:t>
            </a:r>
          </a:p>
          <a:p>
            <a:pPr lvl="3"/>
            <a:r>
              <a:rPr lang="pt-BR" noProof="0"/>
              <a:t>Fourth level</a:t>
            </a:r>
          </a:p>
          <a:p>
            <a:pPr lvl="4"/>
            <a:r>
              <a:rPr lang="pt-BR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32273"/>
            <a:ext cx="2946275" cy="495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b" anchorCtr="0" compatLnSpc="1">
            <a:prstTxWarp prst="textNoShape">
              <a:avLst/>
            </a:prstTxWarp>
          </a:bodyPr>
          <a:lstStyle>
            <a:lvl1pPr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400" y="9432273"/>
            <a:ext cx="2946275" cy="495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b" anchorCtr="0" compatLnSpc="1">
            <a:prstTxWarp prst="textNoShape">
              <a:avLst/>
            </a:prstTxWarp>
          </a:bodyPr>
          <a:lstStyle>
            <a:lvl1pPr algn="r"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64574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22/10/2026</a:t>
            </a:fld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1870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22/10/2026</a:t>
            </a:fld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631708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4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4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5.emf"/><Relationship Id="rId5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5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Relationship Id="rId5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4.emf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4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4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4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5.emf"/><Relationship Id="rId5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5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Relationship Id="rId5" Type="http://schemas.openxmlformats.org/officeDocument/2006/relationships/image" Target="../media/image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4.emf"/><Relationship Id="rId5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4.emf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E2AFA85-CD3B-4A60-90C6-683E330E63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76845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9" imgH="408" progId="TCLayout.ActiveDocument.1">
                  <p:embed/>
                </p:oleObj>
              </mc:Choice>
              <mc:Fallback>
                <p:oleObj name="think-cell Slide" r:id="rId3" imgW="409" imgH="4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2AFA85-CD3B-4A60-90C6-683E330E63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m 3" descr="Forma&#10;&#10;Descrição gerada automaticamente com confiança baixa">
            <a:extLst>
              <a:ext uri="{FF2B5EF4-FFF2-40B4-BE49-F238E27FC236}">
                <a16:creationId xmlns:a16="http://schemas.microsoft.com/office/drawing/2014/main" id="{386D1CD6-AAC4-42BD-A7FC-DEA2314271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0D9455-E3D5-1C00-860A-D30ACA99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739437-95D8-4953-D574-E4C307DF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12">
            <a:extLst>
              <a:ext uri="{FF2B5EF4-FFF2-40B4-BE49-F238E27FC236}">
                <a16:creationId xmlns:a16="http://schemas.microsoft.com/office/drawing/2014/main" id="{ACCBF48C-2F61-D370-1C40-4A1A301325ED}"/>
              </a:ext>
            </a:extLst>
          </p:cNvPr>
          <p:cNvSpPr txBox="1"/>
          <p:nvPr userDrawn="1"/>
        </p:nvSpPr>
        <p:spPr>
          <a:xfrm>
            <a:off x="344905" y="371979"/>
            <a:ext cx="48527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>
                <a:solidFill>
                  <a:schemeClr val="accent4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79480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777789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41D98FFC-276B-DC45-4A69-D0A394BD9E90}"/>
              </a:ext>
            </a:extLst>
          </p:cNvPr>
          <p:cNvSpPr/>
          <p:nvPr userDrawn="1"/>
        </p:nvSpPr>
        <p:spPr>
          <a:xfrm>
            <a:off x="0" y="3427201"/>
            <a:ext cx="12192000" cy="3430799"/>
          </a:xfrm>
          <a:prstGeom prst="rect">
            <a:avLst/>
          </a:prstGeom>
          <a:solidFill>
            <a:srgbClr val="632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itel 5">
            <a:extLst>
              <a:ext uri="{FF2B5EF4-FFF2-40B4-BE49-F238E27FC236}">
                <a16:creationId xmlns:a16="http://schemas.microsoft.com/office/drawing/2014/main" id="{D3C7A5FA-E151-75CE-ECDF-6343E386E8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5633" y="2156514"/>
            <a:ext cx="4642768" cy="1122948"/>
          </a:xfrm>
        </p:spPr>
        <p:txBody>
          <a:bodyPr vert="horz" lIns="0" tIns="0" rIns="0" bIns="0"/>
          <a:lstStyle>
            <a:lvl1pPr rtl="0">
              <a:defRPr sz="28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E6BCCC3E-2FA0-4737-DBF8-CB0B0F5B3F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5632" y="3533876"/>
            <a:ext cx="4642767" cy="2769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13938B3-F822-3B6D-C11D-A155E19CB5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5632" y="4324234"/>
            <a:ext cx="3380763" cy="17889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DA1E3E98-0932-E0D1-ED6B-F5E915442E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5632" y="4637218"/>
            <a:ext cx="3380763" cy="17889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168271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DE53C"/>
          </p15:clr>
        </p15:guide>
        <p15:guide id="2" pos="438" userDrawn="1">
          <p15:clr>
            <a:srgbClr val="A4A3A4"/>
          </p15:clr>
        </p15:guide>
        <p15:guide id="3" pos="7355" userDrawn="1">
          <p15:clr>
            <a:srgbClr val="A4A3A4"/>
          </p15:clr>
        </p15:guide>
        <p15:guide id="4" orient="horz" pos="3952" userDrawn="1">
          <p15:clr>
            <a:srgbClr val="A4A3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3349587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9999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pt-BR" noProof="0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1" y="333130"/>
            <a:ext cx="11519999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 noProof="0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3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23" name="Espaço Reservado para Texto 21">
            <a:extLst>
              <a:ext uri="{FF2B5EF4-FFF2-40B4-BE49-F238E27FC236}">
                <a16:creationId xmlns:a16="http://schemas.microsoft.com/office/drawing/2014/main" id="{A221802B-CB4D-84DD-14E6-1007D78849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78081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34" name="Espaço Reservado para Texto 30">
            <a:extLst>
              <a:ext uri="{FF2B5EF4-FFF2-40B4-BE49-F238E27FC236}">
                <a16:creationId xmlns:a16="http://schemas.microsoft.com/office/drawing/2014/main" id="{ED1E9F58-F504-11A1-E312-FD07F2CDEB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35" name="Espaço Reservado para Conteúdo 32">
            <a:extLst>
              <a:ext uri="{FF2B5EF4-FFF2-40B4-BE49-F238E27FC236}">
                <a16:creationId xmlns:a16="http://schemas.microsoft.com/office/drawing/2014/main" id="{DFC69DB4-86B3-D581-B273-C261981F904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994DECD7-0FD8-ADD8-0259-DE86DFAD242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sz="600">
                <a:latin typeface="+mn-lt"/>
              </a:defRPr>
            </a:lvl1pPr>
          </a:lstStyle>
          <a:p>
            <a:pPr>
              <a:defRPr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793635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 userDrawn="1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6759934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pt-BR" noProof="0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 noProof="0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B47B375-DF03-14ED-9411-4D616105415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sz="600">
                <a:latin typeface="+mn-lt"/>
              </a:defRPr>
            </a:lvl1pPr>
          </a:lstStyle>
          <a:p>
            <a:pPr>
              <a:defRPr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3866463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486568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4499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White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>
            <a:extLst>
              <a:ext uri="{FF2B5EF4-FFF2-40B4-BE49-F238E27FC236}">
                <a16:creationId xmlns:a16="http://schemas.microsoft.com/office/drawing/2014/main" id="{5386046F-E65D-43F2-B183-1DEA970D14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02481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Objeto 1" hidden="1">
                        <a:extLst>
                          <a:ext uri="{FF2B5EF4-FFF2-40B4-BE49-F238E27FC236}">
                            <a16:creationId xmlns:a16="http://schemas.microsoft.com/office/drawing/2014/main" id="{5386046F-E65D-43F2-B183-1DEA970D14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m 4">
            <a:extLst>
              <a:ext uri="{FF2B5EF4-FFF2-40B4-BE49-F238E27FC236}">
                <a16:creationId xmlns:a16="http://schemas.microsoft.com/office/drawing/2014/main" id="{9292448E-F500-76A8-72BE-50A5D19ACEA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96834" y="5591462"/>
            <a:ext cx="2731786" cy="68161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37F67F0-14F9-FB6A-B10A-89E832C05F99}"/>
              </a:ext>
            </a:extLst>
          </p:cNvPr>
          <p:cNvSpPr/>
          <p:nvPr userDrawn="1"/>
        </p:nvSpPr>
        <p:spPr>
          <a:xfrm>
            <a:off x="9970323" y="6062079"/>
            <a:ext cx="1393129" cy="1688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0"/>
            <a:r>
              <a:rPr lang="pt-BR" b="1">
                <a:solidFill>
                  <a:srgbClr val="63277F"/>
                </a:solidFill>
              </a:rPr>
              <a:t>Uncovering insights</a:t>
            </a:r>
          </a:p>
        </p:txBody>
      </p:sp>
    </p:spTree>
    <p:extLst>
      <p:ext uri="{BB962C8B-B14F-4D97-AF65-F5344CB8AC3E}">
        <p14:creationId xmlns:p14="http://schemas.microsoft.com/office/powerpoint/2010/main" val="3555499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A4A3A4"/>
          </p15:clr>
        </p15:guide>
        <p15:guide id="2" orient="horz" pos="3952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Color_Analytics">
    <p:bg>
      <p:bgPr>
        <a:solidFill>
          <a:srgbClr val="6327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B95AFD00-30E2-C40F-B373-0F94E8D5658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458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B95AFD00-30E2-C40F-B373-0F94E8D565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187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A4A3A4"/>
          </p15:clr>
        </p15:guide>
        <p15:guide id="2" pos="438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_A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486568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m 89" descr="Forma, Círculo&#10;&#10;Descrição gerada automaticamente">
            <a:extLst>
              <a:ext uri="{FF2B5EF4-FFF2-40B4-BE49-F238E27FC236}">
                <a16:creationId xmlns:a16="http://schemas.microsoft.com/office/drawing/2014/main" id="{4B78D9CC-F107-5707-91AD-6EAE4C32CD1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629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ingle_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1227871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Imagem 89" descr="Forma, Círculo&#10;&#10;Descrição gerada automaticamente">
            <a:extLst>
              <a:ext uri="{FF2B5EF4-FFF2-40B4-BE49-F238E27FC236}">
                <a16:creationId xmlns:a16="http://schemas.microsoft.com/office/drawing/2014/main" id="{60CE1164-AB42-D6ED-E2A3-21C1B1F24D8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endParaRPr lang="pt-BR" noProof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endParaRPr lang="pt-BR" noProof="0">
              <a:solidFill>
                <a:srgbClr val="63277F"/>
              </a:solidFill>
            </a:endParaRP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endParaRPr lang="pt-BR" noProof="0">
              <a:solidFill>
                <a:srgbClr val="808080"/>
              </a:solidFill>
            </a:endParaRP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pt-BR" noProof="0"/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pt-BR" noProof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1B89CB9-9E6F-E7E5-D4F4-8B1C1AEA013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460247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sz="600">
                <a:latin typeface="+mn-lt"/>
              </a:defRPr>
            </a:lvl1pPr>
          </a:lstStyle>
          <a:p>
            <a:pPr>
              <a:defRPr/>
            </a:pPr>
            <a:r>
              <a:rPr lang="pt-BR" noProof="0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3859485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66FA5C-3B60-E820-0097-32643AE0CB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8847BD-ED7F-14E4-F133-53E74BB833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D48BC6-834B-353E-A2AE-4764BA127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99A45-0693-4E08-8AE4-0362204955FE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B710CE-25D3-42E2-477B-A3293F5C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DF0DCF-A51F-DD3B-8315-216028D6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06FA-AAEB-4883-ABC4-766D94449B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487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_Consul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1891306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pt-BR" noProof="0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 noProof="0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88335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E2AFA85-CD3B-4A60-90C6-683E330E63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9" imgH="408" progId="TCLayout.ActiveDocument.1">
                  <p:embed/>
                </p:oleObj>
              </mc:Choice>
              <mc:Fallback>
                <p:oleObj name="think-cell Slide" r:id="rId3" imgW="409" imgH="4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2AFA85-CD3B-4A60-90C6-683E330E63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m 3" descr="Forma&#10;&#10;Descrição gerada automaticamente com confiança baixa">
            <a:extLst>
              <a:ext uri="{FF2B5EF4-FFF2-40B4-BE49-F238E27FC236}">
                <a16:creationId xmlns:a16="http://schemas.microsoft.com/office/drawing/2014/main" id="{386D1CD6-AAC4-42BD-A7FC-DEA2314271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0D9455-E3D5-1C00-860A-D30ACA99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739437-95D8-4953-D574-E4C307DF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12">
            <a:extLst>
              <a:ext uri="{FF2B5EF4-FFF2-40B4-BE49-F238E27FC236}">
                <a16:creationId xmlns:a16="http://schemas.microsoft.com/office/drawing/2014/main" id="{ACCBF48C-2F61-D370-1C40-4A1A301325ED}"/>
              </a:ext>
            </a:extLst>
          </p:cNvPr>
          <p:cNvSpPr txBox="1"/>
          <p:nvPr userDrawn="1"/>
        </p:nvSpPr>
        <p:spPr>
          <a:xfrm>
            <a:off x="344905" y="371979"/>
            <a:ext cx="48527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>
                <a:solidFill>
                  <a:schemeClr val="accent4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79480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41D98FFC-276B-DC45-4A69-D0A394BD9E90}"/>
              </a:ext>
            </a:extLst>
          </p:cNvPr>
          <p:cNvSpPr/>
          <p:nvPr userDrawn="1"/>
        </p:nvSpPr>
        <p:spPr>
          <a:xfrm>
            <a:off x="0" y="3427201"/>
            <a:ext cx="12192000" cy="3430799"/>
          </a:xfrm>
          <a:prstGeom prst="rect">
            <a:avLst/>
          </a:prstGeom>
          <a:solidFill>
            <a:srgbClr val="632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kumimoji="0" lang="pt-BR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itel 5">
            <a:extLst>
              <a:ext uri="{FF2B5EF4-FFF2-40B4-BE49-F238E27FC236}">
                <a16:creationId xmlns:a16="http://schemas.microsoft.com/office/drawing/2014/main" id="{D3C7A5FA-E151-75CE-ECDF-6343E386E8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5633" y="2156514"/>
            <a:ext cx="4642768" cy="1122948"/>
          </a:xfrm>
        </p:spPr>
        <p:txBody>
          <a:bodyPr vert="horz" lIns="0" tIns="0" rIns="0" bIns="0"/>
          <a:lstStyle>
            <a:lvl1pPr rtl="0">
              <a:defRPr lang="pt-BR" sz="28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E6BCCC3E-2FA0-4737-DBF8-CB0B0F5B3F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5632" y="3533876"/>
            <a:ext cx="4642767" cy="2769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13938B3-F822-3B6D-C11D-A155E19CB5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5632" y="4324234"/>
            <a:ext cx="3380763" cy="17889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DA1E3E98-0932-E0D1-ED6B-F5E915442E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5632" y="4637218"/>
            <a:ext cx="3380763" cy="17889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168271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DE53C"/>
          </p15:clr>
        </p15:guide>
        <p15:guide id="2" pos="438" userDrawn="1">
          <p15:clr>
            <a:srgbClr val="A4A3A4"/>
          </p15:clr>
        </p15:guide>
        <p15:guide id="3" pos="7355" userDrawn="1">
          <p15:clr>
            <a:srgbClr val="A4A3A4"/>
          </p15:clr>
        </p15:guide>
        <p15:guide id="4" orient="horz" pos="3952" userDrawn="1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ual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9999" cy="543487"/>
          </a:xfrm>
        </p:spPr>
        <p:txBody>
          <a:bodyPr vert="horz">
            <a:noAutofit/>
          </a:bodyPr>
          <a:lstStyle>
            <a:lvl1pPr rtl="0">
              <a:defRPr lang="pt-BR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1" y="333130"/>
            <a:ext cx="11519999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3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r>
              <a:rPr lang="pt-BR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23" name="Espaço Reservado para Texto 21">
            <a:extLst>
              <a:ext uri="{FF2B5EF4-FFF2-40B4-BE49-F238E27FC236}">
                <a16:creationId xmlns:a16="http://schemas.microsoft.com/office/drawing/2014/main" id="{A221802B-CB4D-84DD-14E6-1007D78849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78081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r>
              <a:rPr lang="pt-BR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34" name="Espaço Reservado para Texto 30">
            <a:extLst>
              <a:ext uri="{FF2B5EF4-FFF2-40B4-BE49-F238E27FC236}">
                <a16:creationId xmlns:a16="http://schemas.microsoft.com/office/drawing/2014/main" id="{ED1E9F58-F504-11A1-E312-FD07F2CDEB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5" name="Espaço Reservado para Conteúdo 32">
            <a:extLst>
              <a:ext uri="{FF2B5EF4-FFF2-40B4-BE49-F238E27FC236}">
                <a16:creationId xmlns:a16="http://schemas.microsoft.com/office/drawing/2014/main" id="{DFC69DB4-86B3-D581-B273-C261981F904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994DECD7-0FD8-ADD8-0259-DE86DFAD242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lang="pt-BR" sz="600">
                <a:latin typeface="+mn-lt"/>
              </a:defRPr>
            </a:lvl1pPr>
          </a:lstStyle>
          <a:p>
            <a:pPr>
              <a:defRPr lang="pt-BR"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793635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 userDrawn="1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 lang="pt-BR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r>
              <a:rPr lang="pt-BR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B47B375-DF03-14ED-9411-4D616105415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lang="pt-BR" sz="600">
                <a:latin typeface="+mn-lt"/>
              </a:defRPr>
            </a:lvl1pPr>
          </a:lstStyle>
          <a:p>
            <a:pPr>
              <a:defRPr lang="pt-BR"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3866463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4499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White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>
            <a:extLst>
              <a:ext uri="{FF2B5EF4-FFF2-40B4-BE49-F238E27FC236}">
                <a16:creationId xmlns:a16="http://schemas.microsoft.com/office/drawing/2014/main" id="{5386046F-E65D-43F2-B183-1DEA970D14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Objeto 1" hidden="1">
                        <a:extLst>
                          <a:ext uri="{FF2B5EF4-FFF2-40B4-BE49-F238E27FC236}">
                            <a16:creationId xmlns:a16="http://schemas.microsoft.com/office/drawing/2014/main" id="{5386046F-E65D-43F2-B183-1DEA970D14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m 4">
            <a:extLst>
              <a:ext uri="{FF2B5EF4-FFF2-40B4-BE49-F238E27FC236}">
                <a16:creationId xmlns:a16="http://schemas.microsoft.com/office/drawing/2014/main" id="{9292448E-F500-76A8-72BE-50A5D19ACEA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96834" y="5591462"/>
            <a:ext cx="2731786" cy="68161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37F67F0-14F9-FB6A-B10A-89E832C05F99}"/>
              </a:ext>
            </a:extLst>
          </p:cNvPr>
          <p:cNvSpPr/>
          <p:nvPr userDrawn="1"/>
        </p:nvSpPr>
        <p:spPr>
          <a:xfrm>
            <a:off x="9970323" y="6062079"/>
            <a:ext cx="1393129" cy="1688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0"/>
            <a:r>
              <a:rPr lang="pt-BR" b="1">
                <a:solidFill>
                  <a:srgbClr val="63277F"/>
                </a:solidFill>
              </a:rPr>
              <a:t>Uncovering insights</a:t>
            </a:r>
          </a:p>
        </p:txBody>
      </p:sp>
    </p:spTree>
    <p:extLst>
      <p:ext uri="{BB962C8B-B14F-4D97-AF65-F5344CB8AC3E}">
        <p14:creationId xmlns:p14="http://schemas.microsoft.com/office/powerpoint/2010/main" val="3555499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A4A3A4"/>
          </p15:clr>
        </p15:guide>
        <p15:guide id="2" orient="horz" pos="3952" userDrawn="1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Color_Analytics">
    <p:bg>
      <p:bgPr>
        <a:solidFill>
          <a:srgbClr val="6327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B95AFD00-30E2-C40F-B373-0F94E8D5658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B95AFD00-30E2-C40F-B373-0F94E8D565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187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A4A3A4"/>
          </p15:clr>
        </p15:guide>
        <p15:guide id="2" pos="438" userDrawn="1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_A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m 89" descr="Forma, Círculo&#10;&#10;Descrição gerada automaticamente">
            <a:extLst>
              <a:ext uri="{FF2B5EF4-FFF2-40B4-BE49-F238E27FC236}">
                <a16:creationId xmlns:a16="http://schemas.microsoft.com/office/drawing/2014/main" id="{4B78D9CC-F107-5707-91AD-6EAE4C32CD1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6297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ingle_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Imagem 89" descr="Forma, Círculo&#10;&#10;Descrição gerada automaticamente">
            <a:extLst>
              <a:ext uri="{FF2B5EF4-FFF2-40B4-BE49-F238E27FC236}">
                <a16:creationId xmlns:a16="http://schemas.microsoft.com/office/drawing/2014/main" id="{60CE1164-AB42-D6ED-E2A3-21C1B1F24D8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 lang="pt-BR"/>
            </a:lvl1pPr>
          </a:lstStyle>
          <a:p>
            <a:endParaRPr lang="pt-BR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rgbClr val="63277F"/>
                </a:solidFill>
              </a:defRPr>
            </a:lvl1pPr>
          </a:lstStyle>
          <a:p>
            <a:endParaRPr lang="pt-BR">
              <a:solidFill>
                <a:srgbClr val="63277F"/>
              </a:solidFill>
            </a:endParaRP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endParaRPr lang="pt-BR">
              <a:solidFill>
                <a:srgbClr val="808080"/>
              </a:solidFill>
            </a:endParaRP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pt-BR"/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pt-BR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1B89CB9-9E6F-E7E5-D4F4-8B1C1AEA013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460247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lang="pt-BR" sz="600">
                <a:latin typeface="+mn-lt"/>
              </a:defRPr>
            </a:lvl1pPr>
          </a:lstStyle>
          <a:p>
            <a:pPr>
              <a:defRPr lang="pt-BR"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3859485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66FA5C-3B60-E820-0097-32643AE0CB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lang="pt-BR"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8847BD-ED7F-14E4-F133-53E74BB833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lang="pt-BR" sz="2400"/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D48BC6-834B-353E-A2AE-4764BA127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99A45-0693-4E08-8AE4-0362204955FE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B710CE-25D3-42E2-477B-A3293F5C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DF0DCF-A51F-DD3B-8315-216028D6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06FA-AAEB-4883-ABC4-766D94449B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4872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MS_Conteu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0360000" cy="543487"/>
          </a:xfrm>
        </p:spPr>
        <p:txBody>
          <a:bodyPr vert="horz">
            <a:noAutofit/>
          </a:bodyPr>
          <a:lstStyle>
            <a:lvl1pPr rtl="0">
              <a:defRPr lang="pt-BR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2" y="333130"/>
            <a:ext cx="10360000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r>
              <a:rPr lang="pt-BR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900" name="Logo DMS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43467" y="154236"/>
            <a:ext cx="1189822" cy="6830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1B82AB-6ABE-73B1-7FAB-5E0476BAA29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56390" y="6571866"/>
            <a:ext cx="388386" cy="22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35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tags" Target="../tags/tag2.xml"/><Relationship Id="rId14" Type="http://schemas.openxmlformats.org/officeDocument/2006/relationships/oleObject" Target="../embeddings/oleObject1.bin"/><Relationship Id="rId1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tags" Target="../tags/tag13.xml"/><Relationship Id="rId14" Type="http://schemas.openxmlformats.org/officeDocument/2006/relationships/oleObject" Target="../embeddings/oleObject1.bin"/><Relationship Id="rId15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062413173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60" imgH="360" progId="TCLayout.ActiveDocument.1">
                  <p:embed/>
                </p:oleObj>
              </mc:Choice>
              <mc:Fallback>
                <p:oleObj name="think-cell Slide" r:id="rId14" imgW="360" imgH="36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9999" cy="5434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</a:t>
            </a:r>
            <a:r>
              <a:rPr lang="pt-BR" noProof="0" err="1"/>
              <a:t>title</a:t>
            </a:r>
            <a:endParaRPr lang="pt-BR" noProof="0"/>
          </a:p>
        </p:txBody>
      </p:sp>
      <p:sp>
        <p:nvSpPr>
          <p:cNvPr id="17" name="Rectangle 4"/>
          <p:cNvSpPr>
            <a:spLocks noChangeArrowheads="1"/>
          </p:cNvSpPr>
          <p:nvPr userDrawn="1"/>
        </p:nvSpPr>
        <p:spPr bwMode="gray">
          <a:xfrm>
            <a:off x="11708490" y="6583842"/>
            <a:ext cx="142668" cy="10772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lvl="0" algn="r" rtl="0"/>
            <a:fld id="{BD9E6411-2CB3-495D-B4E9-78602717BE5F}" type="slidenum">
              <a:rPr lang="pt-BR" sz="700" noProof="0" smtClean="0">
                <a:solidFill>
                  <a:srgbClr val="808080"/>
                </a:solidFill>
                <a:latin typeface="Arial"/>
                <a:cs typeface="Arial"/>
              </a:rPr>
              <a:pPr lvl="0" algn="r" rtl="0"/>
              <a:t>‹nº›</a:t>
            </a:fld>
            <a:endParaRPr lang="pt-BR" sz="700" noProof="0">
              <a:solidFill>
                <a:srgbClr val="808080"/>
              </a:solidFill>
              <a:latin typeface="Arial"/>
              <a:cs typeface="Arial"/>
            </a:endParaRPr>
          </a:p>
        </p:txBody>
      </p:sp>
      <p:grpSp>
        <p:nvGrpSpPr>
          <p:cNvPr id="19" name="OCC-Grid" hidden="1"/>
          <p:cNvGrpSpPr>
            <a:grpSpLocks/>
          </p:cNvGrpSpPr>
          <p:nvPr userDrawn="1"/>
        </p:nvGrpSpPr>
        <p:grpSpPr bwMode="auto">
          <a:xfrm>
            <a:off x="443078" y="1231"/>
            <a:ext cx="12319001" cy="6064256"/>
            <a:chOff x="258" y="165"/>
            <a:chExt cx="6305" cy="3820"/>
          </a:xfrm>
        </p:grpSpPr>
        <p:sp>
          <p:nvSpPr>
            <p:cNvPr id="20" name="Rectangle 46" hidden="1"/>
            <p:cNvSpPr>
              <a:spLocks noChangeArrowheads="1"/>
            </p:cNvSpPr>
            <p:nvPr/>
          </p:nvSpPr>
          <p:spPr bwMode="auto">
            <a:xfrm>
              <a:off x="6345" y="165"/>
              <a:ext cx="218" cy="1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rtl="0" eaLnBrk="1">
                <a:defRPr/>
              </a:pPr>
              <a:endParaRPr lang="pt-BR" sz="1000"/>
            </a:p>
          </p:txBody>
        </p:sp>
        <p:sp>
          <p:nvSpPr>
            <p:cNvPr id="21" name="Rectangle 47" hidden="1"/>
            <p:cNvSpPr>
              <a:spLocks noChangeArrowheads="1"/>
            </p:cNvSpPr>
            <p:nvPr/>
          </p:nvSpPr>
          <p:spPr bwMode="auto">
            <a:xfrm>
              <a:off x="258" y="1094"/>
              <a:ext cx="5896" cy="2891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rtl="0" eaLnBrk="1">
                <a:defRPr/>
              </a:pPr>
              <a:endParaRPr lang="pt-BR" sz="1000"/>
            </a:p>
          </p:txBody>
        </p:sp>
      </p:grpSp>
      <p:cxnSp>
        <p:nvCxnSpPr>
          <p:cNvPr id="6" name="Gerader Verbinder 5"/>
          <p:cNvCxnSpPr>
            <a:cxnSpLocks/>
          </p:cNvCxnSpPr>
          <p:nvPr userDrawn="1"/>
        </p:nvCxnSpPr>
        <p:spPr>
          <a:xfrm>
            <a:off x="341322" y="218114"/>
            <a:ext cx="11509356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/>
          <p:cNvCxnSpPr>
            <a:cxnSpLocks/>
          </p:cNvCxnSpPr>
          <p:nvPr userDrawn="1"/>
        </p:nvCxnSpPr>
        <p:spPr>
          <a:xfrm>
            <a:off x="336000" y="6535024"/>
            <a:ext cx="11520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ource"/>
          <p:cNvSpPr/>
          <p:nvPr userDrawn="1"/>
        </p:nvSpPr>
        <p:spPr>
          <a:xfrm>
            <a:off x="11633695" y="6420934"/>
            <a:ext cx="227626" cy="9233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rgbClr val="000000"/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  <a:tileRect/>
                </a:gra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rtl="0"/>
            <a:endParaRPr/>
          </a:p>
        </p:txBody>
      </p:sp>
    </p:spTree>
    <p:extLst>
      <p:ext uri="{BB962C8B-B14F-4D97-AF65-F5344CB8AC3E}">
        <p14:creationId xmlns:p14="http://schemas.microsoft.com/office/powerpoint/2010/main" val="711977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0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808" r:id="rId8"/>
    <p:sldLayoutId id="2147483810" r:id="rId9"/>
    <p:sldLayoutId id="2147483819" r:id="rId10"/>
    <p:sldLayoutId id="2147483820" r:id="rId11"/>
  </p:sldLayoutIdLst>
  <p:hf sldNum="0" hdr="0" dt="0"/>
  <p:txStyles>
    <p:titleStyle>
      <a:lvl1pPr algn="l" defTabSz="457224" rtl="0" eaLnBrk="1" latinLnBrk="0" hangingPunct="1">
        <a:lnSpc>
          <a:spcPct val="90000"/>
        </a:lnSpc>
        <a:spcBef>
          <a:spcPct val="0"/>
        </a:spcBef>
        <a:buNone/>
        <a:defRPr sz="2000" b="1" i="0" kern="1200" baseline="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0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anose="05020102010507070707" pitchFamily="18" charset="2"/>
        <a:buChar char=""/>
        <a:tabLst/>
        <a:defRPr lang="nl-NL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7808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Arial" charset="0"/>
        <a:buChar char="–"/>
        <a:tabLst/>
        <a:defRPr lang="nl-NL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363556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itchFamily="18" charset="2"/>
        <a:buChar char=""/>
        <a:tabLst/>
        <a:defRPr lang="nl-NL" sz="1400" kern="1200" dirty="0" smtClean="0">
          <a:solidFill>
            <a:schemeClr val="tx1"/>
          </a:solidFill>
          <a:latin typeface="+mn-lt"/>
          <a:ea typeface="+mn-ea"/>
          <a:cs typeface="Arial"/>
        </a:defRPr>
      </a:lvl3pPr>
      <a:lvl4pPr marL="0" marR="0" indent="-171459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Wingdings" pitchFamily="2" charset="2"/>
        <a:buChar char="w"/>
        <a:tabLst/>
        <a:defRPr lang="nl-NL" sz="1400" kern="1200" dirty="0">
          <a:solidFill>
            <a:schemeClr val="tx1"/>
          </a:solidFill>
          <a:latin typeface="+mn-lt"/>
          <a:ea typeface="+mn-ea"/>
          <a:cs typeface="Arial"/>
        </a:defRPr>
      </a:lvl4pPr>
      <a:lvl5pPr marL="0" marR="0" indent="-185746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Arial" charset="0"/>
        <a:buChar char="○"/>
        <a:tabLst/>
        <a:defRPr lang="nl-NL" sz="1400" kern="1200" dirty="0">
          <a:solidFill>
            <a:schemeClr val="tx1"/>
          </a:solidFill>
          <a:latin typeface="+mn-lt"/>
          <a:ea typeface="+mn-ea"/>
          <a:cs typeface="Arial"/>
        </a:defRPr>
      </a:lvl5pPr>
      <a:lvl6pPr marL="2514726" marR="0" indent="-228612" algn="l" defTabSz="457224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2" algn="l" defTabSz="4572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2" indent="-228612" algn="l" defTabSz="4572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2" algn="l" defTabSz="4572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2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2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3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60" imgH="360" progId="TCLayout.ActiveDocument.1">
                  <p:embed/>
                </p:oleObj>
              </mc:Choice>
              <mc:Fallback>
                <p:oleObj name="think-cell Slide" r:id="rId14" imgW="360" imgH="36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9999" cy="5434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edit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sp>
        <p:nvSpPr>
          <p:cNvPr id="17" name="Rectangle 4"/>
          <p:cNvSpPr>
            <a:spLocks noChangeArrowheads="1"/>
          </p:cNvSpPr>
          <p:nvPr userDrawn="1"/>
        </p:nvSpPr>
        <p:spPr bwMode="gray">
          <a:xfrm>
            <a:off x="11708490" y="6583842"/>
            <a:ext cx="142668" cy="10772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lvl="0" algn="r" rtl="0"/>
            <a:fld id="{BD9E6411-2CB3-495D-B4E9-78602717BE5F}" type="slidenum">
              <a:rPr lang="pt-BR" sz="700" smtClean="0">
                <a:solidFill>
                  <a:srgbClr val="808080"/>
                </a:solidFill>
                <a:latin typeface="Arial"/>
                <a:cs typeface="Arial"/>
              </a:rPr>
              <a:pPr lvl="0" algn="r" rtl="0"/>
              <a:t>‹nº›</a:t>
            </a:fld>
            <a:endParaRPr lang="pt-BR" sz="700">
              <a:solidFill>
                <a:srgbClr val="808080"/>
              </a:solidFill>
              <a:latin typeface="Arial"/>
              <a:cs typeface="Arial"/>
            </a:endParaRPr>
          </a:p>
        </p:txBody>
      </p:sp>
      <p:grpSp>
        <p:nvGrpSpPr>
          <p:cNvPr id="19" name="OCC-Grid" hidden="1"/>
          <p:cNvGrpSpPr>
            <a:grpSpLocks/>
          </p:cNvGrpSpPr>
          <p:nvPr userDrawn="1"/>
        </p:nvGrpSpPr>
        <p:grpSpPr bwMode="auto">
          <a:xfrm>
            <a:off x="443078" y="1231"/>
            <a:ext cx="12319001" cy="6064256"/>
            <a:chOff x="258" y="165"/>
            <a:chExt cx="6305" cy="3820"/>
          </a:xfrm>
        </p:grpSpPr>
        <p:sp>
          <p:nvSpPr>
            <p:cNvPr id="20" name="Rectangle 46" hidden="1"/>
            <p:cNvSpPr>
              <a:spLocks noChangeArrowheads="1"/>
            </p:cNvSpPr>
            <p:nvPr/>
          </p:nvSpPr>
          <p:spPr bwMode="auto">
            <a:xfrm>
              <a:off x="6345" y="165"/>
              <a:ext cx="218" cy="1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rtl="0" eaLnBrk="1">
                <a:defRPr lang="pt-BR"/>
              </a:pPr>
              <a:endParaRPr lang="pt-BR" sz="1000"/>
            </a:p>
          </p:txBody>
        </p:sp>
        <p:sp>
          <p:nvSpPr>
            <p:cNvPr id="21" name="Rectangle 47" hidden="1"/>
            <p:cNvSpPr>
              <a:spLocks noChangeArrowheads="1"/>
            </p:cNvSpPr>
            <p:nvPr/>
          </p:nvSpPr>
          <p:spPr bwMode="auto">
            <a:xfrm>
              <a:off x="258" y="1094"/>
              <a:ext cx="5896" cy="2891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rtl="0" eaLnBrk="1">
                <a:defRPr lang="pt-BR"/>
              </a:pPr>
              <a:endParaRPr lang="pt-BR" sz="1000"/>
            </a:p>
          </p:txBody>
        </p:sp>
      </p:grpSp>
      <p:sp>
        <p:nvSpPr>
          <p:cNvPr id="35" name="Source"/>
          <p:cNvSpPr/>
          <p:nvPr userDrawn="1"/>
        </p:nvSpPr>
        <p:spPr>
          <a:xfrm>
            <a:off x="11633695" y="6420934"/>
            <a:ext cx="227626" cy="9233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rgbClr val="000000"/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  <a:tileRect/>
                </a:gra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rt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1977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hf sldNum="0" hdr="0" dt="0"/>
  <p:txStyles>
    <p:titleStyle>
      <a:lvl1pPr algn="l" defTabSz="457224" rtl="0" eaLnBrk="1" latinLnBrk="0" hangingPunct="1">
        <a:lnSpc>
          <a:spcPct val="90000"/>
        </a:lnSpc>
        <a:spcBef>
          <a:spcPct val="0"/>
        </a:spcBef>
        <a:buNone/>
        <a:defRPr lang="pt-BR" sz="2000" b="1" i="0" kern="1200" baseline="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0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anose="05020102010507070707" pitchFamily="18" charset="2"/>
        <a:buChar char=""/>
        <a:tabLst/>
        <a:defRPr lang="pt-BR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7808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Arial" charset="0"/>
        <a:buChar char="–"/>
        <a:tabLst/>
        <a:defRPr lang="pt-BR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363556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itchFamily="18" charset="2"/>
        <a:buChar char=""/>
        <a:tabLst/>
        <a:defRPr lang="pt-BR" sz="1400" kern="1200" dirty="0" smtClean="0">
          <a:solidFill>
            <a:schemeClr val="tx1"/>
          </a:solidFill>
          <a:latin typeface="+mn-lt"/>
          <a:ea typeface="+mn-ea"/>
          <a:cs typeface="Arial"/>
        </a:defRPr>
      </a:lvl3pPr>
      <a:lvl4pPr marL="0" marR="0" indent="-171459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Wingdings" pitchFamily="2" charset="2"/>
        <a:buChar char="w"/>
        <a:tabLst/>
        <a:defRPr lang="pt-BR" sz="1400" kern="1200" dirty="0">
          <a:solidFill>
            <a:schemeClr val="tx1"/>
          </a:solidFill>
          <a:latin typeface="+mn-lt"/>
          <a:ea typeface="+mn-ea"/>
          <a:cs typeface="Arial"/>
        </a:defRPr>
      </a:lvl4pPr>
      <a:lvl5pPr marL="0" marR="0" indent="-185746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Arial" charset="0"/>
        <a:buChar char="○"/>
        <a:tabLst/>
        <a:defRPr lang="pt-BR" sz="1400" kern="1200" dirty="0">
          <a:solidFill>
            <a:schemeClr val="tx1"/>
          </a:solidFill>
          <a:latin typeface="+mn-lt"/>
          <a:ea typeface="+mn-ea"/>
          <a:cs typeface="Arial"/>
        </a:defRPr>
      </a:lvl5pPr>
      <a:lvl6pPr marL="2514726" marR="0" indent="-228612" algn="l" defTabSz="457224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Char char="•"/>
        <a:tabLst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2" algn="l" defTabSz="457224" rtl="0" eaLnBrk="1" latinLnBrk="0" hangingPunct="1">
        <a:spcBef>
          <a:spcPct val="20000"/>
        </a:spcBef>
        <a:buFont typeface="Arial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2" indent="-228612" algn="l" defTabSz="457224" rtl="0" eaLnBrk="1" latinLnBrk="0" hangingPunct="1">
        <a:spcBef>
          <a:spcPct val="20000"/>
        </a:spcBef>
        <a:buFont typeface="Arial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2" algn="l" defTabSz="457224" rtl="0" eaLnBrk="1" latinLnBrk="0" hangingPunct="1">
        <a:spcBef>
          <a:spcPct val="20000"/>
        </a:spcBef>
        <a:buFont typeface="Arial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2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2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jpg"/><Relationship Id="rId7" Type="http://schemas.openxmlformats.org/officeDocument/2006/relationships/image" Target="../media/image1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6.jp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41983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31069" y="0"/>
            <a:ext cx="816093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89947" y="2507742"/>
            <a:ext cx="8602052" cy="1815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5629" y="2767698"/>
            <a:ext cx="2326957" cy="1307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1215834" cy="595304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 txBox="1"/>
          <p:nvPr/>
        </p:nvSpPr>
        <p:spPr>
          <a:xfrm>
            <a:off x="4455100" y="2600000"/>
            <a:ext cx="5976000" cy="1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rgbClr val="FFFFFF"/>
                </a:solidFill>
                <a:latin typeface="Montserrat SemiBold"/>
              </a:rPr>
              <a:t>Projeto Diligenciamento</a:t>
            </a:r>
          </a:p>
          <a:p>
            <a:r>
              <a:rPr sz="1600">
                <a:solidFill>
                  <a:srgbClr val="FFFFFF"/>
                </a:solidFill>
                <a:latin typeface="Montserrat"/>
              </a:rPr>
              <a:t>Estrutura hierárquica x vagas em aberto</a:t>
            </a:r>
          </a:p>
          <a:p>
            <a:r>
              <a:rPr sz="1100">
                <a:solidFill>
                  <a:srgbClr val="FFFFFF"/>
                </a:solidFill>
                <a:latin typeface="Montserrat"/>
              </a:rPr>
              <a:t>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62739995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49 vagas realmente em aberto custam R$ 669.738 por mês; 71% estão sob o COO e Healthcare é o maior buraco relativo, com 4 vagas para 3 pessoas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Estrutura e vagas em aberto, bloco a bloco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Quadro ativo do organograma contra as posições em aberto, agrupado pelos mesmos blocos do organograma. Vagas de liderança são Head e Team Leader.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Fonte: Colaboradores-factorial (3) — organograma, out/26; Vagas 21/10; Base Setembro/26 (RH); Draft 23 Out 26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191500" y="1190625"/>
            <a:ext cx="3657600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5E9E"/>
                </a:solidFill>
                <a:latin typeface="Arial"/>
              </a:rPr>
              <a:t>Para discussão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476375"/>
            <a:ext cx="2095500" cy="466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005E9E"/>
                </a:solidFill>
                <a:latin typeface="Arial"/>
              </a:rPr>
              <a:t>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914525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333333"/>
                </a:solidFill>
                <a:latin typeface="Arial"/>
              </a:rPr>
              <a:t>posições em aberto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Arial"/>
              </a:rPr>
              <a:t>(de 65 registros na planilha)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700" y="1476375"/>
            <a:ext cx="2095500" cy="466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005E9E"/>
                </a:solidFill>
                <a:latin typeface="Arial"/>
              </a:rPr>
              <a:t>R$ 669.738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52700" y="1914525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333333"/>
                </a:solidFill>
                <a:latin typeface="Arial"/>
              </a:rPr>
              <a:t>custo mensal do quadro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Arial"/>
              </a:rPr>
              <a:t>em aberto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2025" y="1476375"/>
            <a:ext cx="2095500" cy="466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005E9E"/>
                </a:solidFill>
                <a:latin typeface="Arial"/>
              </a:rPr>
              <a:t>71%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2025" y="1914525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333333"/>
                </a:solidFill>
                <a:latin typeface="Arial"/>
              </a:rPr>
              <a:t>das vagas em aberto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Arial"/>
              </a:rPr>
              <a:t>estão sob o COO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1825" y="1476375"/>
            <a:ext cx="2095500" cy="466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8E2E"/>
                </a:solidFill>
                <a:latin typeface="Arial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1825" y="1914525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333333"/>
                </a:solidFill>
                <a:latin typeface="Arial"/>
              </a:rPr>
              <a:t>vagas de liderança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Arial"/>
              </a:rPr>
              <a:t>(1 Head e 6 Team Leaders)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1625" y="1476375"/>
            <a:ext cx="2371725" cy="466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8E2E"/>
                </a:solidFill>
                <a:latin typeface="Arial"/>
              </a:rPr>
              <a:t>8 de 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1625" y="1914525"/>
            <a:ext cx="2371725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333333"/>
                </a:solidFill>
                <a:latin typeface="Arial"/>
              </a:rPr>
              <a:t>vagas publicadas no Gupy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Arial"/>
              </a:rPr>
              <a:t>— 41 sem status de processo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42900" y="2457450"/>
          <a:ext cx="11220450" cy="3600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900"/>
                <a:gridCol w="742950"/>
                <a:gridCol w="2381250"/>
                <a:gridCol w="628650"/>
                <a:gridCol w="590550"/>
                <a:gridCol w="1066800"/>
                <a:gridCol w="1047750"/>
                <a:gridCol w="2895600"/>
              </a:tblGrid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Bloco (área da vaga)</a:t>
                      </a:r>
                    </a:p>
                  </a:txBody>
                  <a:tcPr marL="38100" marR="3810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C-level</a:t>
                      </a:r>
                    </a:p>
                  </a:txBody>
                  <a:tcPr marL="38100" marR="3810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Head responsável</a:t>
                      </a:r>
                    </a:p>
                  </a:txBody>
                  <a:tcPr marL="38100" marR="3810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Ativos</a:t>
                      </a:r>
                    </a:p>
                  </a:txBody>
                  <a:tcPr marL="38100" marR="3810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Vagas</a:t>
                      </a:r>
                    </a:p>
                  </a:txBody>
                  <a:tcPr marL="38100" marR="3810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do quadro em aberto</a:t>
                      </a:r>
                    </a:p>
                  </a:txBody>
                  <a:tcPr marL="38100" marR="3810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Vagas de liderança</a:t>
                      </a:r>
                    </a:p>
                  </a:txBody>
                  <a:tcPr marL="38100" marR="3810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Custo/mês</a:t>
                      </a:r>
                    </a:p>
                  </a:txBody>
                  <a:tcPr marL="38100" marR="38100" anchor="ctr">
                    <a:solidFill>
                      <a:srgbClr val="005E9E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Air Operations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COO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Carolina Bento Mendoza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18%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R$ 224.666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Air Product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CEO*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Filipe Teixeira Sampaio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19%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R$ 111.233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Healthcare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CCO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Jose Carlos Duarte Freitas Sobrinh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R$ 73.239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Talent Management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Head of Talent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Carolina Karnakis de Nobrega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R$ 42.801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Financial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CFSO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Ana Carolina Botelho Caldeira Vasc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8%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R$ 40.307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Ocean Operations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COO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Natalia Correia Da Costa Parreira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8%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R$ 30.999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Technology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CITO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Cleyton Cardoso Esteves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4%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R$ 19.962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Ocean Product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CEO*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Filipe Carneiro De Oliveira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R$ 35.366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High-Tech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CCO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Ricardo Tebexreni Jakowatz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R$ 16.833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Quality &amp; Op. Intelligence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COO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Marco Antonio Maraia Villa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7%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R$ 15.333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Special Operations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COO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— sem bloco no organograma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R$ 16.833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Overland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COO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Possidonio Dantas de Almeida Neto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R$ 31.833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Services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CEO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Luis Fernando Santos Muniz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R$ 10.333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Total dos blocos com vaga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R$ 669.738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42900" y="6096000"/>
            <a:ext cx="11220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606060"/>
                </a:solidFill>
                <a:latin typeface="Arial"/>
              </a:rPr>
              <a:t>CEO* = Air Product e Ocean Product reportam ao CEO pelas caixas azuis do draft; na planilha Factorial ainda estão sob o COO. Automotive e High-Tech dividem o mesmo head, e o quadro é contado uma vez só.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Healthcare tem mais vaga que gente, Air Product concentra 3 das 7 vagas de chefia e o draft já risca dois Team Leaders de Air Operations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Vagas, pontos de atenção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Blocos com maior proporção de quadro em aberto, camada de liderança descoberta e abertura por região das posições de operação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Fonte: Colaboradores-factorial (3) — organograma, out/26; Vagas 21/10; Base Setembro/26 (RH); Draft 23 Out 26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191500" y="1190625"/>
            <a:ext cx="3657600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5E9E"/>
                </a:solidFill>
                <a:latin typeface="Arial"/>
              </a:rPr>
              <a:t>Para discussão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" y="1476375"/>
            <a:ext cx="2752725" cy="247650"/>
          </a:xfrm>
          <a:prstGeom prst="roundRect">
            <a:avLst>
              <a:gd name="adj" fmla="val 12000"/>
            </a:avLst>
          </a:prstGeom>
          <a:solidFill>
            <a:srgbClr val="FF8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1. Healthcare: mais vaga que gente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" y="1771650"/>
            <a:ext cx="2752725" cy="1990725"/>
          </a:xfrm>
          <a:prstGeom prst="roundRect">
            <a:avLst>
              <a:gd name="adj" fmla="val 6000"/>
            </a:avLst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7150" bIns="57150"/>
          <a:lstStyle/>
          <a:p>
            <a:pPr algn="l">
              <a:spcAft>
                <a:spcPts val="15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• 57% do quadro em aberto, o maior de todos os blocos</a:t>
            </a:r>
          </a:p>
          <a:p>
            <a:pPr algn="l">
              <a:spcAft>
                <a:spcPts val="15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• 3 pessoas ativas e 4 vagas</a:t>
            </a:r>
          </a:p>
          <a:p>
            <a:pPr algn="l">
              <a:spcAft>
                <a:spcPts val="15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• O Head tem só 2 liderados hoje</a:t>
            </a:r>
          </a:p>
          <a:p>
            <a:pPr algn="l">
              <a:spcAft>
                <a:spcPts val="15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• Todas as 4 são BD Executive</a:t>
            </a:r>
          </a:p>
          <a:p>
            <a:pPr algn="l">
              <a:spcAft>
                <a:spcPts val="15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• R$ 73.239 por mês quando preenchidas</a:t>
            </a:r>
          </a:p>
          <a:p>
            <a:pPr algn="l">
              <a:spcAft>
                <a:spcPts val="15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• 1 das 4 está publicada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86125" y="1476375"/>
            <a:ext cx="2752725" cy="247650"/>
          </a:xfrm>
          <a:prstGeom prst="roundRect">
            <a:avLst>
              <a:gd name="adj" fmla="val 12000"/>
            </a:avLst>
          </a:prstGeom>
          <a:solidFill>
            <a:srgbClr val="FF8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2. Chefia em aberto, 3 em Air Product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86125" y="1771650"/>
            <a:ext cx="2752725" cy="1990725"/>
          </a:xfrm>
          <a:prstGeom prst="roundRect">
            <a:avLst>
              <a:gd name="adj" fmla="val 6000"/>
            </a:avLst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7150" bIns="57150"/>
          <a:lstStyle/>
          <a:p>
            <a:pPr algn="l">
              <a:spcAft>
                <a:spcPts val="15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• 3 das 7 vagas de liderança estão em Air Product</a:t>
            </a:r>
          </a:p>
          <a:p>
            <a:pPr algn="l">
              <a:spcAft>
                <a:spcPts val="15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• 1 Air RD TL e 2 Air Ops TL Americas</a:t>
            </a:r>
          </a:p>
          <a:p>
            <a:pPr algn="l">
              <a:spcAft>
                <a:spcPts val="15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• O bloco tem 2 reportes diretos para 29 pessoas</a:t>
            </a:r>
          </a:p>
          <a:p>
            <a:pPr algn="l">
              <a:spcAft>
                <a:spcPts val="15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• Overland Head (Europa) é a única publicada, R$ 31.833</a:t>
            </a:r>
          </a:p>
          <a:p>
            <a:pPr algn="l">
              <a:spcAft>
                <a:spcPts val="15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• Financial e Technology têm 1 TL cada em aberto</a:t>
            </a:r>
          </a:p>
          <a:p>
            <a:pPr algn="l">
              <a:spcAft>
                <a:spcPts val="15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• O draft marca 'Vaga de TL' em High-Tech, que não está na planilha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9350" y="1476375"/>
            <a:ext cx="2752725" cy="247650"/>
          </a:xfrm>
          <a:prstGeom prst="roundRect">
            <a:avLst>
              <a:gd name="adj" fmla="val 12000"/>
            </a:avLst>
          </a:prstGeom>
          <a:solidFill>
            <a:srgbClr val="FF8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3. Abertura por região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9350" y="1771650"/>
            <a:ext cx="2752725" cy="1990725"/>
          </a:xfrm>
          <a:prstGeom prst="roundRect">
            <a:avLst>
              <a:gd name="adj" fmla="val 6000"/>
            </a:avLst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7150" bIns="57150"/>
          <a:lstStyle/>
          <a:p>
            <a:pPr algn="l">
              <a:spcAft>
                <a:spcPts val="15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• Americas 6, Europa 6, EUA 3, Ásia 2</a:t>
            </a:r>
          </a:p>
          <a:p>
            <a:pPr algn="l">
              <a:spcAft>
                <a:spcPts val="15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• 18 das 49 vagas já trazem a região no cargo</a:t>
            </a:r>
          </a:p>
          <a:p>
            <a:pPr algn="l">
              <a:spcAft>
                <a:spcPts val="15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• É exatamente a abertura que o draft pede nos slides 6 e 14</a:t>
            </a:r>
          </a:p>
          <a:p>
            <a:pPr algn="l">
              <a:spcAft>
                <a:spcPts val="15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• Pamela Ibarra, riscada com X no draft, é a única TL sediada na Europa</a:t>
            </a:r>
          </a:p>
          <a:p>
            <a:pPr algn="l">
              <a:spcAft>
                <a:spcPts val="15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• Gabriella Pereira, também riscada, lidera 9 pessoas no Rio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72575" y="1476375"/>
            <a:ext cx="2390775" cy="247650"/>
          </a:xfrm>
          <a:prstGeom prst="roundRect">
            <a:avLst>
              <a:gd name="adj" fmla="val 12000"/>
            </a:avLst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4. Fila sem processo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72575" y="1771650"/>
            <a:ext cx="2390775" cy="1990725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7150" bIns="57150"/>
          <a:lstStyle/>
          <a:p>
            <a:pPr algn="l">
              <a:spcAft>
                <a:spcPts val="15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• 41 das 49 vagas sem status no Gupy</a:t>
            </a:r>
          </a:p>
          <a:p>
            <a:pPr algn="l">
              <a:spcAft>
                <a:spcPts val="15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• 8 publicadas</a:t>
            </a:r>
          </a:p>
          <a:p>
            <a:pPr algn="l">
              <a:spcAft>
                <a:spcPts val="15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• 1 vaga em Colchão, fora da folha</a:t>
            </a:r>
          </a:p>
          <a:p>
            <a:pPr algn="l">
              <a:spcAft>
                <a:spcPts val="15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• Special Operations não tem bloco no organograma</a:t>
            </a:r>
          </a:p>
          <a:p>
            <a:pPr algn="l">
              <a:spcAft>
                <a:spcPts val="15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• 3 vagas de Air Ops Intern sem data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42900" y="3848100"/>
          <a:ext cx="1122045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876300"/>
                <a:gridCol w="742950"/>
                <a:gridCol w="1714500"/>
                <a:gridCol w="2190750"/>
                <a:gridCol w="1238250"/>
                <a:gridCol w="1905000"/>
              </a:tblGrid>
              <a:tr h="20955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Vaga de liderança em aberto</a:t>
                      </a:r>
                    </a:p>
                  </a:txBody>
                  <a:tcPr marL="38100" marR="3810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Nível</a:t>
                      </a:r>
                    </a:p>
                  </a:txBody>
                  <a:tcPr marL="38100" marR="3810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C-level</a:t>
                      </a:r>
                    </a:p>
                  </a:txBody>
                  <a:tcPr marL="38100" marR="3810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Bloco</a:t>
                      </a:r>
                    </a:p>
                  </a:txBody>
                  <a:tcPr marL="38100" marR="3810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Head responsável hoje</a:t>
                      </a:r>
                    </a:p>
                  </a:txBody>
                  <a:tcPr marL="38100" marR="3810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Custo/mês</a:t>
                      </a:r>
                    </a:p>
                  </a:txBody>
                  <a:tcPr marL="38100" marR="3810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Status no Gupy</a:t>
                      </a:r>
                    </a:p>
                  </a:txBody>
                  <a:tcPr marL="38100" marR="38100" anchor="ctr">
                    <a:solidFill>
                      <a:srgbClr val="005E9E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OVERLAND HEAD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Head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COO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Overland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Possidonio Dantas de Almeida N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R$ 31.833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publicada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AIR OPS TL AMERICAS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Team Leader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CEO*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Air Product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Filipe Teixeira Sampaio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R$ 21.833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sem status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AIR OPS TL AMERICAS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Team Leader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CEO*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Air Product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Filipe Teixeira Sampaio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R$ 21.833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sem status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AIR RD TL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Team Leader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CEO*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Air Product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Filipe Teixeira Sampaio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R$ 20.033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sem status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INTR ACCT FIN TL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Team Leader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CFSO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Financial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Ana Carolina Botelho Caldeira 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R$ 16.833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sem status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AIR OPS TL AMERICAS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Team Leader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COO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Air Operations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Carolina Bento Mendoza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R$ 13.833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sem status</a:t>
                      </a:r>
                    </a:p>
                  </a:txBody>
                  <a:tcPr marL="38100" marR="38100" anchor="ctr">
                    <a:solidFill>
                      <a:srgbClr val="F2F2F2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DATA ENGIN TL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Team Leader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CITO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Technology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Cleyton Cardoso Esteves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R$ 3.129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sem status</a:t>
                      </a:r>
                    </a:p>
                  </a:txBody>
                  <a:tcPr marL="38100" marR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342900" y="5600700"/>
            <a:ext cx="11220450" cy="209550"/>
          </a:xfrm>
          <a:prstGeom prst="roundRect">
            <a:avLst>
              <a:gd name="adj" fmla="val 12000"/>
            </a:avLst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Leitura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" y="5838825"/>
            <a:ext cx="11220450" cy="40005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7150" bIns="57150"/>
          <a:lstStyle/>
          <a:p>
            <a:pPr algn="l">
              <a:spcAft>
                <a:spcPts val="150"/>
              </a:spcAft>
            </a:pPr>
            <a:r>
              <a:rPr sz="900">
                <a:solidFill>
                  <a:srgbClr val="333333"/>
                </a:solidFill>
                <a:latin typeface="Arial"/>
              </a:rPr>
              <a:t>• Seis das sete vagas de chefia estão sem status de processo, então a camada de liderança é o gargalo que ninguém começou a resolver — e três delas ficam no mesmo bloco que o draft está reorganizando.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32298" y="4693093"/>
            <a:ext cx="7259701" cy="2164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74757" y="5461584"/>
            <a:ext cx="1736242" cy="975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89350" y="1881165"/>
            <a:ext cx="3148872" cy="132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2324" y="1877402"/>
            <a:ext cx="3107226" cy="1282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07271" y="1877402"/>
            <a:ext cx="3677894" cy="1282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522886" y="1877402"/>
            <a:ext cx="3677894" cy="12825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74538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PLORISREVISION" val="0"/>
  <p:tag name="THINKCELLUNDODONOTDELETE" val="0"/>
  <p:tag name="THINKCELLPRESENTATIONDONOTDELETE" val="&lt;?xml version=&quot;1.0&quot; encoding=&quot;UTF-16&quot; standalone=&quot;yes&quot;?&gt;&lt;root reqver=&quot;28224&quot;&gt;&lt;version val=&quot;35606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%m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3&quot;&gt;&lt;elem m_fUsage=&quot;3.07928112869461489964E+00&quot;&gt;&lt;m_msothmcolidx val=&quot;0&quot;/&gt;&lt;m_rgb r=&quot;E7&quot; g=&quot;EF&quot; b=&quot;EF&quot;/&gt;&lt;/elem&gt;&lt;elem m_fUsage=&quot;2.14582643648100024336E+00&quot;&gt;&lt;m_msothmcolidx val=&quot;0&quot;/&gt;&lt;m_rgb r=&quot;58&quot; g=&quot;BA&quot; b=&quot;BA&quot;/&gt;&lt;/elem&gt;&lt;elem m_fUsage=&quot;1.26753992910000023997E+00&quot;&gt;&lt;m_msothmcolidx val=&quot;0&quot;/&gt;&lt;m_rgb r=&quot;DD&quot; g=&quot;F0&quot; b=&quot;F0&quot;/&gt;&lt;/elem&gt;&lt;elem m_fUsage=&quot;1.12381059609000022448E+00&quot;&gt;&lt;m_msothmcolidx val=&quot;0&quot;/&gt;&lt;m_rgb r=&quot;D6&quot; g=&quot;EE&quot; b=&quot;EE&quot;/&gt;&lt;/elem&gt;&lt;elem m_fUsage=&quot;9.00000000000000022204E-01&quot;&gt;&lt;m_msothmcolidx val=&quot;0&quot;/&gt;&lt;m_rgb r=&quot;42&quot; g=&quot;C7&quot; b=&quot;C7&quot;/&gt;&lt;/elem&gt;&lt;elem m_fUsage=&quot;4.82081938222827299789E-01&quot;&gt;&lt;m_msothmcolidx val=&quot;0&quot;/&gt;&lt;m_rgb r=&quot;A6&quot; g=&quot;A6&quot; b=&quot;A6&quot;/&gt;&lt;/elem&gt;&lt;elem m_fUsage=&quot;4.06756461654867840227E-01&quot;&gt;&lt;m_msothmcolidx val=&quot;0&quot;/&gt;&lt;m_rgb r=&quot;D9&quot; g=&quot;D9&quot; b=&quot;D9&quot;/&gt;&lt;/elem&gt;&lt;elem m_fUsage=&quot;2.61592661457161257399E-01&quot;&gt;&lt;m_msothmcolidx val=&quot;0&quot;/&gt;&lt;m_rgb r=&quot;CB&quot; g=&quot;DD&quot; b=&quot;DD&quot;/&gt;&lt;/elem&gt;&lt;elem m_fUsage=&quot;1.85302018885184188735E-01&quot;&gt;&lt;m_msothmcolidx val=&quot;0&quot;/&gt;&lt;m_rgb r=&quot;7F&quot; g=&quot;7F&quot; b=&quot;7F&quot;/&gt;&lt;/elem&gt;&lt;elem m_fUsage=&quot;3.49730471277284182818E-02&quot;&gt;&lt;m_msothmcolidx val=&quot;0&quot;/&gt;&lt;m_rgb r=&quot;72&quot; g=&quot;22&quot; b=&quot;82&quot;/&gt;&lt;/elem&gt;&lt;elem m_fUsage=&quot;1.47808829414346077497E-02&quot;&gt;&lt;m_msothmcolidx val=&quot;0&quot;/&gt;&lt;m_rgb r=&quot;F1&quot; g=&quot;F1&quot; b=&quot;F1&quot;/&gt;&lt;/elem&gt;&lt;elem m_fUsage=&quot;1.07752636643058292976E-02&quot;&gt;&lt;m_msothmcolidx val=&quot;0&quot;/&gt;&lt;m_rgb r=&quot;E5&quot; g=&quot;DD&quot; b=&quot;D5&quot;/&gt;&lt;/elem&gt;&lt;elem m_fUsage=&quot;8.72796356808772273717E-03&quot;&gt;&lt;m_msothmcolidx val=&quot;0&quot;/&gt;&lt;m_rgb r=&quot;B9&quot; g=&quot;BD&quot; b=&quot;00&quot;/&gt;&lt;/elem&gt;&lt;/m_vecMRU&gt;&lt;/m_mruColor&gt;&lt;m_eweekdayFirstOfWeek val=&quot;2&quot;/&gt;&lt;m_eweekdayFirstOfWorkweek val=&quot;2&quot;/&gt;&lt;m_eweekdayFirstOfWeekend val=&quot;7&quot;/&gt;&lt;/CPresentation&gt;&lt;/root&gt;"/>
  <p:tag name="GRUNT-HP-GEHF7K" val="MgIAAA=="/>
  <p:tag name="POWER_USER_PPT_AGENDA_PRESENTATION_TABLE_OF_CONTENT_STYLE_TAG" val="1"/>
  <p:tag name="POWER_USER_PPT_AGENDA_PRESENTATION_DIVIDERS_STYLE_TAG" val="POWER_USER_LAYOUT_DIVIDER_CUSTOM"/>
  <p:tag name="POWER_USER_PPT_AGENDA_PRESENTATION_SHOULD_CREATE_TABLE_OF_CONTENT_TAG" val="0"/>
  <p:tag name="POWER_USER_PPT_AGENDA_PRESENTATION_SHOW_SECTION_NUMBERS_CHECKED_TAG" val="1"/>
  <p:tag name="POWER_USER_PPT_AGENDA_PRESENTATION_DIVIDERS_CHECKED_TAG" val="0"/>
  <p:tag name="POWER_USER_PPT_AGENDA_PRESENTATION_TITLE_TEXT_TAG" val="POWER_USER_PPT_AGENDA_PRESENTATION_EMPTY_TITLE_TEXT_TAG"/>
  <p:tag name="POWER_USER_PPT_AGENDA_PRESENTATION_TABLE_OF_CONTENT_CHECKED_TAG" val="1"/>
  <p:tag name="POWER_USER_CONTEXTUAL_SHAPES_AGENDA_DESIGNER" val="{&quot;Divider1&quot;:{&quot;Title&quot;:{&quot;AutoShapeType&quot;:1,&quot;Visible&quot;:-1,&quot;LockAspectRatio&quot;:0,&quot;CanUpdateAdjustments&quot;:true,&quot;Adjustment1&quot;:-1.0,&quot;Adjustment2&quot;:-1.0,&quot;CanManagePosition&quot;:true,&quot;Left&quot;:240.0,&quot;Top&quot;:216.0,&quot;Width&quot;:700.0,&quot;Height&quot;:108.0,&quot;Rotation&quot;:-1.0,&quot;TextFrame2AutoSize&quot;:1,&quot;TextFrame2TextRangeFontName&quot;:&quot;&quot;,&quot;TextFrameMarginTop&quot;:0.0,&quot;TextFrameMarginLeft&quot;:0.0,&quot;TextFrameMarginRight&quot;:0.0,&quot;TextFrameMarginBottom&quot;:0.0,&quot;TextFrameWordWrap&quot;:-1,&quot;TextFrameTextRangeFontSize&quot;:30.0,&quot;TextFrameTextRangeFontColorHexa&quot;:&quot;#000000&quot;,&quot;TextFrameTextRangeFontBold&quot;:0,&quot;TextFrameTextRangeFontItalic&quot;:0,&quot;TextFrameTextRangeFontUnderline&quot;:0,&quot;TextFrameVerticalAnchor&quot;:1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Number&quot;:{&quot;AutoShapeType&quot;:1,&quot;Visible&quot;:-1,&quot;LockAspectRatio&quot;:0,&quot;CanUpdateAdjustments&quot;:true,&quot;Adjustment1&quot;:-1.0,&quot;Adjustment2&quot;:-1.0,&quot;CanManagePosition&quot;:true,&quot;Left&quot;:115.2,&quot;Top&quot;:216.0,&quot;Width&quot;:81.0,&quot;Height&quot;:8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30.0,&quot;TextFrameTextRangeFontColorHexa&quot;:&quot;#FFFFFF&quot;,&quot;TextFrameTextRangeFontBold&quot;:0,&quot;TextFrameTextRangeFontItalic&quot;:0,&quot;TextFrameTextRangeFontUnderline&quot;:0,&quot;TextFrameVerticalAnchor&quot;:3,&quot;TextFrameHorizontalAnchor&quot;:2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true},&quot;Line&quot;:{&quot;AutoShapeType&quot;:1,&quot;Visible&quot;:-1,&quot;LockAspectRatio&quot;:0,&quot;CanUpdateAdjustments&quot;:true,&quot;Adjustment1&quot;:-1.0,&quot;Adjustment2&quot;:-1.0,&quot;CanManagePosition&quot;:true,&quot;Left&quot;:240.0,&quot;Top&quot;:331.0,&quot;Width&quot;:700.0,&quot;Height&quot;:0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43CFF6&quot;,&quot;LineWeight&quot;:0.0,&quot;LineDashStyle&quot;:1,&quot;LineEndArrowheadStyle&quot;:1,&quot;LineBeginArrowheadStyle&quot;:1,&quot;ShouldSendToBack&quot;:false,&quot;NeedsApplyToAll&quot;:false}},&quot;TableOfContent1&quot;:{&quot;MarginLeft&quot;:76.8,&quot;MarginRight&quot;:453.942841,&quot;MarginTop&quot;:160.99379,&quot;MarginBottom&quot;:117.391327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Arial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1,&quot;ZOrderPosition&quot;:2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Arial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FFFFFF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1,&quot;ZOrderPosition&quot;:4,&quot;FillVisible&quot;:-1,&quot;FillForeColorHexa&quot;:&quot;#00979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},&quot;Back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Arial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0,&quot;ZOrderPosition&quot;:1,&quot;FillVisible&quot;:-1,&quot;FillForeColorHexa&quot;:&quot;#009796&quot;,&quot;FillTransparency&quot;:0.0,&quot;LineVisible&quot;:0,&quot;LineForeColorHexa&quot;:null,&quot;LineWeight&quot;:0.0,&quot;LineDashStyle&quot;:1,&quot;LineEndArrowheadStyle&quot;:1,&quot;LineBeginArrowheadStyle&quot;:1,&quot;ShouldSendToBack&quot;:true,&quot;NeedsApplyToAll&quot;:false},&quot;Inactive&quot;:{&quot;AutoShapeType&quot;:1,&quot;Visible&quot;:0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null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null,&quot;FillTransparency&quot;:0.0,&quot;LineVisible&quot;:-1,&quot;LineForeColorHexa&quot;:null,&quot;LineWeight&quot;:0.0,&quot;LineDashStyle&quot;:1,&quot;LineEndArrowheadStyle&quot;:1,&quot;LineBeginArrowheadStyle&quot;:1,&quot;ShouldSendToBack&quot;:true,&quot;NeedsApplyToAll&quot;:false},&quot;CoverPage&quot;:{&quot;AutoShapeType&quot;:1,&quot;Visible&quot;:0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null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null,&quot;FillTransparency&quot;:0.0,&quot;LineVisible&quot;:-1,&quot;LineForeColorHexa&quot;:null,&quot;LineWeight&quot;:0.0,&quot;LineDashStyle&quot;:1,&quot;LineEndArrowheadStyle&quot;:1,&quot;LineBeginArrowheadStyle&quot;:1,&quot;ShouldSendToBack&quot;:true,&quot;NeedsApplyToAll&quot;:false}},&quot;Number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Arial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2,&quot;ZOrderPosition&quot;:20,&quot;FillVisible&quot;:-1,&quot;FillForeColorHexa&quot;:&quot;#00979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D9D9D9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},&quot;TableOfContent3&quot;:{&quot;MarginLeft&quot;:76.8,&quot;MarginRight&quot;:76.8,&quot;MarginTop&quot;:86.4,&quot;MarginBottom&quot;:21.6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Number&quot;:{&quot;Activ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Inactiv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43CFF6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FFFFFF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CoverPag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Lin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43CFF6&quot;,&quot;LineWeight&quot;:2.0,&quot;LineDashStyle&quot;:1,&quot;LineEndArrowheadStyle&quot;:1,&quot;LineBeginArrowheadStyle&quot;:1,&quot;ShouldSendToBack&quot;:true,&quot;NeedsApplyToAll&quot;:false}},&quot;TableOfContent4&quot;:{&quot;MarginLeft&quot;:76.8,&quot;MarginRight&quot;:76.8,&quot;MarginTop&quot;:86.4,&quot;MarginBottom&quot;:21.6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Number&quot;:{&quot;Activ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Inactiv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43CFF6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FFFFFF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CoverPag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Arc&quot;:{&quot;AutoShapeType&quot;:25,&quot;Visible&quot;:-1,&quot;LockAspectRatio&quot;:0,&quot;CanUpdateAdjustments&quot;:fals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43CFF6&quot;,&quot;LineWeight&quot;:2.0,&quot;LineDashStyle&quot;:1,&quot;LineEndArrowheadStyle&quot;:1,&quot;LineBeginArrowheadStyle&quot;:1,&quot;ShouldSendToBack&quot;:true,&quot;NeedsApplyToAll&quot;:false}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ain_Analytics">
  <a:themeElements>
    <a:clrScheme name="OCC2017">
      <a:dk1>
        <a:srgbClr val="000000"/>
      </a:dk1>
      <a:lt1>
        <a:srgbClr val="FFFFFF"/>
      </a:lt1>
      <a:dk2>
        <a:srgbClr val="FF8E2E"/>
      </a:dk2>
      <a:lt2>
        <a:srgbClr val="1D368E"/>
      </a:lt2>
      <a:accent1>
        <a:srgbClr val="43CFF6"/>
      </a:accent1>
      <a:accent2>
        <a:srgbClr val="99D5D5"/>
      </a:accent2>
      <a:accent3>
        <a:srgbClr val="B29C86"/>
      </a:accent3>
      <a:accent4>
        <a:srgbClr val="009796"/>
      </a:accent4>
      <a:accent5>
        <a:srgbClr val="FF5A43"/>
      </a:accent5>
      <a:accent6>
        <a:srgbClr val="E6DCD7"/>
      </a:accent6>
      <a:hlink>
        <a:srgbClr val="B29C86"/>
      </a:hlink>
      <a:folHlink>
        <a:srgbClr val="0097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accent4"/>
          </a:solidFill>
        </a:ln>
        <a:effectLst/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4"/>
          </a:solidFill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a14:hiddenEffects>
          </a:ext>
        </a:extLst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Fake Orange">
      <a:srgbClr val="FF9C8E"/>
    </a:custClr>
    <a:custClr name="Lime Green">
      <a:srgbClr val="C6D02C"/>
    </a:custClr>
    <a:custClr name="OC&amp;C Purple">
      <a:srgbClr val="63277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Light Gray">
      <a:srgbClr val="C0C0C0"/>
    </a:custClr>
    <a:custClr name="Medium Gray">
      <a:srgbClr val="969696"/>
    </a:custClr>
    <a:custClr name="Dark Gray">
      <a:srgbClr val="80808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eal 1">
      <a:srgbClr val="99D5D5"/>
    </a:custClr>
    <a:custClr name="Teal 2">
      <a:srgbClr val="6CC0C0"/>
    </a:custClr>
    <a:custClr name="Teal 3">
      <a:srgbClr val="48A6A6"/>
    </a:custClr>
    <a:custClr name="Teal 4">
      <a:srgbClr val="3F8E8C"/>
    </a:custClr>
    <a:custClr name="Teal 5">
      <a:srgbClr val="33726D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aupe 1">
      <a:srgbClr val="E6DCD7"/>
    </a:custClr>
    <a:custClr name="Taupe 2">
      <a:srgbClr val="D7C8BE"/>
    </a:custClr>
    <a:custClr name="Taupe 3">
      <a:srgbClr val="BEAA96"/>
    </a:custClr>
    <a:custClr name="Taupe 4">
      <a:srgbClr val="968C78"/>
    </a:custClr>
    <a:custClr name="Taupe 5">
      <a:srgbClr val="827864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raffic Light Green">
      <a:srgbClr val="92D050"/>
    </a:custClr>
    <a:custClr name="Traffic Light Yellow">
      <a:srgbClr val="FFC000"/>
    </a:custClr>
    <a:custClr name="Traffic Light Red">
      <a:srgbClr val="C0000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e595a2655564a8939bbbd867e2414004 [Read-Only]" id="{AAEB0047-284A-43E4-A725-840A069D86DC}" vid="{8778A659-AD6D-4509-BAE5-229D2A2066C4}"/>
    </a:ext>
  </a:extLst>
</a:theme>
</file>

<file path=ppt/theme/theme2.xml><?xml version="1.0" encoding="utf-8"?>
<a:theme xmlns:a="http://schemas.openxmlformats.org/drawingml/2006/main" name="Main_Analytics [1792534067595]">
  <a:themeElements>
    <a:clrScheme name="DMS Logistics">
      <a:dk1>
        <a:srgbClr val="000000"/>
      </a:dk1>
      <a:lt1>
        <a:srgbClr val="FFFFFF"/>
      </a:lt1>
      <a:dk2>
        <a:srgbClr val="FF8E2E"/>
      </a:dk2>
      <a:lt2>
        <a:srgbClr val="00366C"/>
      </a:lt2>
      <a:accent1>
        <a:srgbClr val="00ACEE"/>
      </a:accent1>
      <a:accent2>
        <a:srgbClr val="7FCBEF"/>
      </a:accent2>
      <a:accent3>
        <a:srgbClr val="B29C86"/>
      </a:accent3>
      <a:accent4>
        <a:srgbClr val="005E9E"/>
      </a:accent4>
      <a:accent5>
        <a:srgbClr val="FF5A43"/>
      </a:accent5>
      <a:accent6>
        <a:srgbClr val="E6DCD7"/>
      </a:accent6>
      <a:hlink>
        <a:srgbClr val="B29C86"/>
      </a:hlink>
      <a:folHlink>
        <a:srgbClr val="005E9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accent4"/>
          </a:solidFill>
        </a:ln>
        <a:effectLst/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4"/>
          </a:solidFill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a14:hiddenEffects>
          </a:ext>
        </a:extLst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Fake Orange">
      <a:srgbClr val="FF9C8E"/>
    </a:custClr>
    <a:custClr name="Lime Green">
      <a:srgbClr val="C6D02C"/>
    </a:custClr>
    <a:custClr name="OC&amp;C Purple">
      <a:srgbClr val="63277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Light Gray">
      <a:srgbClr val="C0C0C0"/>
    </a:custClr>
    <a:custClr name="Medium Gray">
      <a:srgbClr val="969696"/>
    </a:custClr>
    <a:custClr name="Dark Gray">
      <a:srgbClr val="80808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eal 1">
      <a:srgbClr val="99D5D5"/>
    </a:custClr>
    <a:custClr name="Teal 2">
      <a:srgbClr val="6CC0C0"/>
    </a:custClr>
    <a:custClr name="Teal 3">
      <a:srgbClr val="48A6A6"/>
    </a:custClr>
    <a:custClr name="Teal 4">
      <a:srgbClr val="3F8E8C"/>
    </a:custClr>
    <a:custClr name="Teal 5">
      <a:srgbClr val="33726D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aupe 1">
      <a:srgbClr val="E6DCD7"/>
    </a:custClr>
    <a:custClr name="Taupe 2">
      <a:srgbClr val="D7C8BE"/>
    </a:custClr>
    <a:custClr name="Taupe 3">
      <a:srgbClr val="BEAA96"/>
    </a:custClr>
    <a:custClr name="Taupe 4">
      <a:srgbClr val="968C78"/>
    </a:custClr>
    <a:custClr name="Taupe 5">
      <a:srgbClr val="827864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raffic Light Green">
      <a:srgbClr val="92D050"/>
    </a:custClr>
    <a:custClr name="Traffic Light Yellow">
      <a:srgbClr val="FFC000"/>
    </a:custClr>
    <a:custClr name="Traffic Light Red">
      <a:srgbClr val="C0000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e595a2655564a8939bbbd867e2414004 [Read-Only]" id="{AAEB0047-284A-43E4-A725-840A069D86DC}" vid="{8778A659-AD6D-4509-BAE5-229D2A2066C4}"/>
    </a:ext>
  </a:extLst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3111F20-489D-423F-8669-23E3111AA1D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6ae7422-7103-4ba2-b850-d7dcf422d67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6190</TotalTime>
  <Words>1158</Words>
  <Application>Microsoft Office PowerPoint</Application>
  <PresentationFormat>Widescreen</PresentationFormat>
  <Paragraphs>155</Paragraphs>
  <Slides>5</Slides>
  <Notes>3</Notes>
  <HiddenSlides>1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Main_Analytics</vt:lpstr>
      <vt:lpstr>Main_Analytics [1792534067595]</vt:lpstr>
      <vt:lpstr>Apresentação do PowerPoint</vt:lpstr>
      <vt:lpstr>A estrutura desejada contempla 7 analistas um TL, objetivo da estrutura são as tratativas e gestão das atividades relacionados ao agenciamento de carga. </vt:lpstr>
      <vt:lpstr>As vagas da DMS exigem perfis de rotina e controle, que executem os processos definidos no melhor SLA possível e proativamente atuem para mitigar os riscos/danos</vt:lpstr>
      <vt:lpstr>Apresentação do PowerPoint</vt:lpstr>
      <vt:lpstr>A estrutura desejada contempla 7 analistas e somente um TL, entretanto quando olhamos os embarques há espaço para termos 2 TL e os mesmos 4 analistas atuais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Tratamento de Dados do Pro-Frotas</dc:title>
  <dc:creator>Joao Victor Lopes De Paula</dc:creator>
  <cp:keywords/>
  <cp:lastModifiedBy>Gilberto  Volpe</cp:lastModifiedBy>
  <cp:revision>17</cp:revision>
  <dcterms:created xsi:type="dcterms:W3CDTF">2023-01-09T20:59:58Z</dcterms:created>
  <dcterms:modified xsi:type="dcterms:W3CDTF">2026-10-22T14:11:55Z</dcterms:modified>
</cp:coreProperties>
</file>