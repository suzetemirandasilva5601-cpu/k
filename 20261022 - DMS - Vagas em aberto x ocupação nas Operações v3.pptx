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  <p:sldMasterId id="2147483821" r:id="rId2"/>
  </p:sldMasterIdLst>
  <p:notesMasterIdLst>
    <p:notesMasterId r:id="rId8"/>
  </p:notesMasterIdLst>
  <p:handoutMasterIdLst>
    <p:handoutMasterId r:id="rId9"/>
  </p:handoutMasterIdLst>
  <p:sldIdLst>
    <p:sldId id="2147474652" r:id="rId3"/>
    <p:sldId id="2147474653" r:id="rId4"/>
    <p:sldId id="2147474656" r:id="rId5"/>
    <p:sldId id="2147474655" r:id="rId6"/>
    <p:sldId id="2147474651" r:id="rId7"/>
  </p:sldIdLst>
  <p:sldSz cx="12192000" cy="6858000"/>
  <p:notesSz cx="6797675" cy="9928225"/>
  <p:custDataLst>
    <p:tags r:id="rId1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52"/>
            <p14:sldId id="2147474653"/>
            <p14:sldId id="2147474656"/>
            <p14:sldId id="2147474655"/>
            <p14:sldId id="2147474651"/>
          </p14:sldIdLst>
        </p14:section>
        <p14:section name="Equipe e Investimentos" id="{702C7D10-46CA-4A1C-BCF8-1EEFBEEF362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F2"/>
    <a:srgbClr val="FFFFFF"/>
    <a:srgbClr val="9D6699"/>
    <a:srgbClr val="124376"/>
    <a:srgbClr val="E36800"/>
    <a:srgbClr val="FF5A43"/>
    <a:srgbClr val="7B7D7B"/>
    <a:srgbClr val="1D368E"/>
    <a:srgbClr val="009796"/>
    <a:srgbClr val="3D7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726FC-91E3-4BC8-9CA9-442A60F32AE2}" v="1" dt="2026-10-22T22:38:37.928"/>
    <p1510:client id="{42518659-6509-43AF-B550-6071F606072F}" v="106" dt="2026-10-22T22:10:23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8E2E"/>
              </a:solidFill>
            </c:spPr>
            <c:extLst>
              <c:ext xmlns:c16="http://schemas.microsoft.com/office/drawing/2014/chart" uri="{C3380CC4-5D6E-409C-BE32-E72D297353CC}">
                <c16:uniqueId val="{00000001-F175-404D-8962-B62AAE269AA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50" b="1">
                        <a:solidFill>
                          <a:srgbClr val="333333"/>
                        </a:solidFill>
                      </a:rPr>
                      <a:t>35 · 71%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175-404D-8962-B62AAE269AA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50" b="1">
                        <a:solidFill>
                          <a:srgbClr val="333333"/>
                        </a:solidFill>
                      </a:rPr>
                      <a:t>5 · 10%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175-404D-8962-B62AAE269AA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50" b="1">
                        <a:solidFill>
                          <a:srgbClr val="333333"/>
                        </a:solidFill>
                      </a:rPr>
                      <a:t>4 · 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175-404D-8962-B62AAE269AA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50" b="1">
                        <a:solidFill>
                          <a:srgbClr val="333333"/>
                        </a:solidFill>
                      </a:rPr>
                      <a:t>3 · 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175-404D-8962-B62AAE269AA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50" b="1">
                        <a:solidFill>
                          <a:srgbClr val="333333"/>
                        </a:solidFill>
                      </a:rPr>
                      <a:t>2 · 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175-404D-8962-B62AAE269A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COO</c:v>
                </c:pt>
                <c:pt idx="1">
                  <c:v>CCO</c:v>
                </c:pt>
                <c:pt idx="2">
                  <c:v>Co-CEO</c:v>
                </c:pt>
                <c:pt idx="3">
                  <c:v>CFSO</c:v>
                </c:pt>
                <c:pt idx="4">
                  <c:v>CITO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F175-404D-8962-B62AAE269AA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.7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8E2E"/>
              </a:solidFill>
            </c:spPr>
            <c:extLst>
              <c:ext xmlns:c16="http://schemas.microsoft.com/office/drawing/2014/chart" uri="{C3380CC4-5D6E-409C-BE32-E72D297353CC}">
                <c16:uniqueId val="{00000001-0A62-42A7-AC3D-EE4C42437F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1">
                    <a:solidFill>
                      <a:srgbClr val="333333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Air Operations</c:v>
                </c:pt>
                <c:pt idx="1">
                  <c:v>Air Product</c:v>
                </c:pt>
                <c:pt idx="2">
                  <c:v>Ocean Operations</c:v>
                </c:pt>
                <c:pt idx="3">
                  <c:v>Ocean Product</c:v>
                </c:pt>
                <c:pt idx="4">
                  <c:v>Quality &amp; Op. Intel.</c:v>
                </c:pt>
                <c:pt idx="5">
                  <c:v>Special Operations</c:v>
                </c:pt>
                <c:pt idx="6">
                  <c:v>Overland (Europa)</c:v>
                </c:pt>
                <c:pt idx="7">
                  <c:v>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7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A62-42A7-AC3D-EE4C42437F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7.5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1">
                    <a:solidFill>
                      <a:srgbClr val="333333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Brasil / geral (69%)</c:v>
                </c:pt>
                <c:pt idx="1">
                  <c:v>EUA (18%)</c:v>
                </c:pt>
                <c:pt idx="2">
                  <c:v>Europa (12%)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181-4501-A895-F2246BFBC8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9.3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Team Leader</c:v>
                </c:pt>
              </c:strCache>
            </c:strRef>
          </c:tx>
          <c:spPr>
            <a:solidFill>
              <a:srgbClr val="FF8E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ED-4628-90D7-6BD930F275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Specialist</c:v>
                </c:pt>
              </c:strCache>
            </c:strRef>
          </c:tx>
          <c:spPr>
            <a:solidFill>
              <a:srgbClr val="00366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ED-4628-90D7-6BD930F275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Analyst</c:v>
                </c:pt>
              </c:strCache>
            </c:strRef>
          </c:tx>
          <c:spPr>
            <a:solidFill>
              <a:srgbClr val="005E9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1ED-4628-90D7-6BD930F275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23/10/2026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23/10/2026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23/10/2026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23/10/2026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053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23/10/2026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lang="pt-BR"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endParaRPr lang="pt-BR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endParaRPr lang="pt-BR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pt-BR"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MS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0360000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0360000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00" name="Logo DMS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43467" y="154236"/>
            <a:ext cx="1189822" cy="68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B82AB-6ABE-73B1-7FAB-5E0476BAA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390" y="6571866"/>
            <a:ext cx="388386" cy="2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‹#›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‹#›</a:t>
            </a:fld>
            <a:endParaRPr lang="pt-BR" sz="70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</p:grp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lang="pt-BR"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pt-BR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41983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69" y="0"/>
            <a:ext cx="8160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947" y="2507742"/>
            <a:ext cx="8602052" cy="181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629" y="2767698"/>
            <a:ext cx="2326957" cy="130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5834" cy="595304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4455100" y="2600000"/>
            <a:ext cx="5976000" cy="1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Montserrat SemiBold"/>
              </a:rPr>
              <a:t>Projeto Diligenciamento</a:t>
            </a:r>
          </a:p>
          <a:p>
            <a:r>
              <a:rPr sz="1600">
                <a:solidFill>
                  <a:srgbClr val="FFFFFF"/>
                </a:solidFill>
                <a:latin typeface="Montserrat"/>
              </a:rPr>
              <a:t>Vagas em aberto x ocupação nas Operações</a:t>
            </a:r>
          </a:p>
          <a:p>
            <a:r>
              <a:rPr sz="1100">
                <a:solidFill>
                  <a:srgbClr val="FFFFFF"/>
                </a:solidFill>
                <a:latin typeface="Montserrat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2739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49 vagas realmente em aberto, 35 estão sob o COO e Operações concentra 17 delas e ainda temos pendente 12 vagas de abertura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Operações, vagas em aberto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Fonte: Base Setembro/26 (RH); planilha de vagas (21/10/2026); Gupy; CIS, ORDERS.parquet (13/10/2026)</a:t>
            </a:r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371600"/>
            <a:ext cx="2119579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400" b="1">
                <a:solidFill>
                  <a:srgbClr val="005E9E"/>
                </a:solidFill>
                <a:latin typeface="Arial"/>
              </a:rPr>
              <a:t>49</a:t>
            </a:r>
            <a:endParaRPr sz="2400" b="1">
              <a:solidFill>
                <a:srgbClr val="005E9E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err="1">
                <a:solidFill>
                  <a:srgbClr val="333333"/>
                </a:solidFill>
                <a:latin typeface="Arial"/>
              </a:rPr>
              <a:t>posições</a:t>
            </a:r>
            <a:r>
              <a:rPr sz="1000" b="0">
                <a:solidFill>
                  <a:srgbClr val="333333"/>
                </a:solidFill>
                <a:latin typeface="Arial"/>
              </a:rPr>
              <a:t> </a:t>
            </a:r>
            <a:r>
              <a:rPr sz="1000" b="0" err="1">
                <a:solidFill>
                  <a:srgbClr val="333333"/>
                </a:solidFill>
                <a:latin typeface="Arial"/>
              </a:rPr>
              <a:t>em</a:t>
            </a:r>
            <a:r>
              <a:rPr sz="1000" b="0">
                <a:solidFill>
                  <a:srgbClr val="333333"/>
                </a:solidFill>
                <a:latin typeface="Arial"/>
              </a:rPr>
              <a:t> </a:t>
            </a:r>
            <a:r>
              <a:rPr sz="1000" b="0" err="1">
                <a:solidFill>
                  <a:srgbClr val="333333"/>
                </a:solidFill>
                <a:latin typeface="Arial"/>
              </a:rPr>
              <a:t>aberto</a:t>
            </a:r>
            <a:endParaRPr sz="10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de 65 </a:t>
            </a:r>
            <a:r>
              <a:rPr sz="1000" b="0" err="1">
                <a:solidFill>
                  <a:srgbClr val="595959"/>
                </a:solidFill>
                <a:latin typeface="Arial"/>
              </a:rPr>
              <a:t>registros</a:t>
            </a:r>
            <a:r>
              <a:rPr sz="1000" b="0">
                <a:solidFill>
                  <a:srgbClr val="595959"/>
                </a:solidFill>
                <a:latin typeface="Arial"/>
              </a:rPr>
              <a:t> </a:t>
            </a:r>
            <a:r>
              <a:rPr sz="1000" b="0" err="1">
                <a:solidFill>
                  <a:srgbClr val="595959"/>
                </a:solidFill>
                <a:latin typeface="Arial"/>
              </a:rPr>
              <a:t>na</a:t>
            </a:r>
            <a:r>
              <a:rPr sz="1000" b="0">
                <a:solidFill>
                  <a:srgbClr val="595959"/>
                </a:solidFill>
                <a:latin typeface="Arial"/>
              </a:rPr>
              <a:t> </a:t>
            </a:r>
            <a:r>
              <a:rPr sz="1000" b="0" err="1">
                <a:solidFill>
                  <a:srgbClr val="595959"/>
                </a:solidFill>
                <a:latin typeface="Arial"/>
              </a:rPr>
              <a:t>planilha</a:t>
            </a:r>
            <a:endParaRPr sz="1000" b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32227" y="1371600"/>
            <a:ext cx="2119579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26 de </a:t>
            </a:r>
            <a:r>
              <a:rPr lang="pt-BR" sz="2400" b="1">
                <a:solidFill>
                  <a:srgbClr val="005E9E"/>
                </a:solidFill>
                <a:latin typeface="Arial"/>
              </a:rPr>
              <a:t>35</a:t>
            </a:r>
            <a:endParaRPr sz="2400" b="1">
              <a:solidFill>
                <a:srgbClr val="005E9E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err="1">
                <a:solidFill>
                  <a:srgbClr val="333333"/>
                </a:solidFill>
                <a:latin typeface="Arial"/>
              </a:rPr>
              <a:t>vagas</a:t>
            </a:r>
            <a:r>
              <a:rPr sz="1000" b="0">
                <a:solidFill>
                  <a:srgbClr val="333333"/>
                </a:solidFill>
                <a:latin typeface="Arial"/>
              </a:rPr>
              <a:t> do COO </a:t>
            </a:r>
            <a:r>
              <a:rPr sz="1000" b="0" err="1">
                <a:solidFill>
                  <a:srgbClr val="333333"/>
                </a:solidFill>
                <a:latin typeface="Arial"/>
              </a:rPr>
              <a:t>são</a:t>
            </a:r>
            <a:r>
              <a:rPr sz="1000" b="0">
                <a:solidFill>
                  <a:srgbClr val="333333"/>
                </a:solidFill>
                <a:latin typeface="Arial"/>
              </a:rPr>
              <a:t> 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Analyst </a:t>
            </a:r>
            <a:r>
              <a:rPr sz="1000" b="0" err="1">
                <a:solidFill>
                  <a:srgbClr val="595959"/>
                </a:solidFill>
                <a:latin typeface="Arial"/>
              </a:rPr>
              <a:t>ou</a:t>
            </a:r>
            <a:r>
              <a:rPr sz="1000" b="0">
                <a:solidFill>
                  <a:srgbClr val="595959"/>
                </a:solidFill>
                <a:latin typeface="Arial"/>
              </a:rPr>
              <a:t> Specialist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2499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4686" y="1371600"/>
            <a:ext cx="2119579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6 de </a:t>
            </a:r>
            <a:r>
              <a:rPr lang="pt-BR" sz="2400" b="1">
                <a:solidFill>
                  <a:srgbClr val="005E9E"/>
                </a:solidFill>
                <a:latin typeface="Arial"/>
              </a:rPr>
              <a:t>35</a:t>
            </a:r>
            <a:endParaRPr sz="2400" b="1">
              <a:solidFill>
                <a:srgbClr val="005E9E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err="1">
                <a:solidFill>
                  <a:srgbClr val="333333"/>
                </a:solidFill>
                <a:latin typeface="Arial"/>
              </a:rPr>
              <a:t>vagas</a:t>
            </a:r>
            <a:r>
              <a:rPr sz="1000" b="0">
                <a:solidFill>
                  <a:srgbClr val="333333"/>
                </a:solidFill>
                <a:latin typeface="Arial"/>
              </a:rPr>
              <a:t> do COO </a:t>
            </a:r>
            <a:r>
              <a:rPr sz="1000" b="0" err="1">
                <a:solidFill>
                  <a:srgbClr val="333333"/>
                </a:solidFill>
                <a:latin typeface="Arial"/>
              </a:rPr>
              <a:t>estão</a:t>
            </a:r>
            <a:endParaRPr sz="10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err="1">
                <a:solidFill>
                  <a:srgbClr val="595959"/>
                </a:solidFill>
                <a:latin typeface="Arial"/>
              </a:rPr>
              <a:t>publicadas</a:t>
            </a:r>
            <a:endParaRPr sz="1000" b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24958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37145" y="1371600"/>
            <a:ext cx="2119579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17 de </a:t>
            </a:r>
            <a:r>
              <a:rPr lang="pt-BR" sz="2400" b="1">
                <a:solidFill>
                  <a:srgbClr val="005E9E"/>
                </a:solidFill>
                <a:latin typeface="Arial"/>
              </a:rPr>
              <a:t>35</a:t>
            </a:r>
            <a:endParaRPr sz="2400" b="1">
              <a:solidFill>
                <a:srgbClr val="005E9E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err="1">
                <a:solidFill>
                  <a:srgbClr val="333333"/>
                </a:solidFill>
                <a:latin typeface="Arial"/>
              </a:rPr>
              <a:t>vagas</a:t>
            </a:r>
            <a:r>
              <a:rPr sz="1000" b="0">
                <a:solidFill>
                  <a:srgbClr val="333333"/>
                </a:solidFill>
                <a:latin typeface="Arial"/>
              </a:rPr>
              <a:t> do COO </a:t>
            </a:r>
            <a:r>
              <a:rPr sz="1000" b="0" err="1">
                <a:solidFill>
                  <a:srgbClr val="333333"/>
                </a:solidFill>
                <a:latin typeface="Arial"/>
              </a:rPr>
              <a:t>estão</a:t>
            </a:r>
            <a:endParaRPr sz="10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000" b="0" err="1">
                <a:solidFill>
                  <a:srgbClr val="595959"/>
                </a:solidFill>
                <a:latin typeface="Arial"/>
              </a:rPr>
              <a:t>nos</a:t>
            </a:r>
            <a:r>
              <a:rPr sz="1000" b="0">
                <a:solidFill>
                  <a:srgbClr val="595959"/>
                </a:solidFill>
                <a:latin typeface="Arial"/>
              </a:rPr>
              <a:t> </a:t>
            </a:r>
            <a:r>
              <a:rPr sz="1000" b="0" err="1">
                <a:solidFill>
                  <a:srgbClr val="595959"/>
                </a:solidFill>
                <a:latin typeface="Arial"/>
              </a:rPr>
              <a:t>blocos</a:t>
            </a:r>
            <a:r>
              <a:rPr sz="1000" b="0">
                <a:solidFill>
                  <a:srgbClr val="595959"/>
                </a:solidFill>
                <a:latin typeface="Arial"/>
              </a:rPr>
              <a:t> de </a:t>
            </a:r>
            <a:r>
              <a:rPr sz="1000" b="0" err="1">
                <a:solidFill>
                  <a:srgbClr val="595959"/>
                </a:solidFill>
                <a:latin typeface="Arial"/>
              </a:rPr>
              <a:t>Operações</a:t>
            </a:r>
            <a:endParaRPr sz="1000" b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27417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39604" y="1371600"/>
            <a:ext cx="21195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8E2E"/>
                </a:solidFill>
                <a:latin typeface="Arial"/>
              </a:rPr>
              <a:t>12 de 17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vagas de Operações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ainda a abrir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9876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377440"/>
            <a:ext cx="3654552" cy="2743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5E9E"/>
                </a:solidFill>
                <a:latin typeface="Arial"/>
              </a:rPr>
              <a:t>Vagas em aberto por C-Level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267919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Char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038465"/>
              </p:ext>
            </p:extLst>
          </p:nvPr>
        </p:nvGraphicFramePr>
        <p:xfrm>
          <a:off x="292608" y="2788920"/>
          <a:ext cx="370027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67200" y="2377440"/>
            <a:ext cx="3654552" cy="2743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5E9E"/>
                </a:solidFill>
                <a:latin typeface="Arial"/>
              </a:rPr>
              <a:t>Vagas do COO por área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267919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480490"/>
              </p:ext>
            </p:extLst>
          </p:nvPr>
        </p:nvGraphicFramePr>
        <p:xfrm>
          <a:off x="4221480" y="2788920"/>
          <a:ext cx="370027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196072" y="2377440"/>
            <a:ext cx="3654552" cy="2743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5E9E"/>
                </a:solidFill>
                <a:latin typeface="Arial"/>
              </a:rPr>
              <a:t>Vagas em aberto por geografia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6072" y="267919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806703"/>
              </p:ext>
            </p:extLst>
          </p:nvPr>
        </p:nvGraphicFramePr>
        <p:xfrm>
          <a:off x="8150351" y="2788920"/>
          <a:ext cx="370027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38328" y="6184391"/>
            <a:ext cx="3654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366C"/>
                </a:solidFill>
                <a:latin typeface="Arial"/>
              </a:rPr>
              <a:t>Total: 49 vagas em aberto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Em comparação ao DRE, precisamos preencher 9 vagas no total, sendo </a:t>
            </a:r>
            <a:r>
              <a:rPr dirty="0" err="1"/>
              <a:t>Inland</a:t>
            </a:r>
            <a:r>
              <a:rPr dirty="0"/>
              <a:t> </a:t>
            </a:r>
            <a:r>
              <a:rPr dirty="0" err="1"/>
              <a:t>Freight</a:t>
            </a:r>
            <a:r>
              <a:rPr dirty="0"/>
              <a:t> </a:t>
            </a:r>
            <a:r>
              <a:rPr dirty="0" err="1"/>
              <a:t>Americas</a:t>
            </a:r>
            <a:r>
              <a:rPr dirty="0"/>
              <a:t> a única com excesso com relação ao DRE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Operações, ativos x vagas por local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Fonte: Base Setembro/26 (RH); Baseline DRE 26.2 (ativos agosto); planilha de vagas (21/10/2026); Gupy; CIS, ORDERS.parquet (13/10/2026)</a:t>
            </a:r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7" name="Pentagon 6"/>
          <p:cNvSpPr/>
          <p:nvPr/>
        </p:nvSpPr>
        <p:spPr>
          <a:xfrm>
            <a:off x="338328" y="1417320"/>
            <a:ext cx="2960370" cy="502920"/>
          </a:xfrm>
          <a:prstGeom prst="homePlate">
            <a:avLst/>
          </a:prstGeom>
          <a:solidFill>
            <a:srgbClr val="00366C"/>
          </a:solidFill>
          <a:ln>
            <a:noFill/>
          </a:ln>
          <a:effectLst/>
        </p:spPr>
        <p:txBody>
          <a:bodyPr lIns="109728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  <a:r>
              <a:rPr lang="pt-BR" sz="1700" b="1">
                <a:solidFill>
                  <a:srgbClr val="FFFFFF"/>
                </a:solidFill>
                <a:latin typeface="Arial"/>
              </a:rPr>
              <a:t>5</a:t>
            </a:r>
            <a:r>
              <a:rPr sz="1700" b="1">
                <a:solidFill>
                  <a:srgbClr val="FFFFFF"/>
                </a:solidFill>
                <a:latin typeface="Arial"/>
              </a:rPr>
              <a:t>  </a:t>
            </a:r>
            <a:r>
              <a:rPr sz="1100" err="1">
                <a:solidFill>
                  <a:srgbClr val="FFFFFF"/>
                </a:solidFill>
                <a:latin typeface="Arial"/>
              </a:rPr>
              <a:t>vagas</a:t>
            </a:r>
            <a:r>
              <a:rPr sz="1100">
                <a:solidFill>
                  <a:srgbClr val="FFFFFF"/>
                </a:solidFill>
                <a:latin typeface="Arial"/>
              </a:rPr>
              <a:t> do COO</a:t>
            </a:r>
          </a:p>
        </p:txBody>
      </p:sp>
      <p:sp>
        <p:nvSpPr>
          <p:cNvPr id="8" name="Chevron 7"/>
          <p:cNvSpPr/>
          <p:nvPr/>
        </p:nvSpPr>
        <p:spPr>
          <a:xfrm>
            <a:off x="3188970" y="1417320"/>
            <a:ext cx="2960370" cy="502920"/>
          </a:xfrm>
          <a:prstGeom prst="chevron">
            <a:avLst/>
          </a:prstGeom>
          <a:solidFill>
            <a:srgbClr val="005E9E"/>
          </a:solidFill>
          <a:ln>
            <a:noFill/>
          </a:ln>
          <a:effectLst/>
        </p:spPr>
        <p:txBody>
          <a:bodyPr lIns="27432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17  </a:t>
            </a:r>
            <a:r>
              <a:rPr sz="1100">
                <a:solidFill>
                  <a:srgbClr val="FFFFFF"/>
                </a:solidFill>
                <a:latin typeface="Arial"/>
              </a:rPr>
              <a:t>nos blocos de Operações</a:t>
            </a:r>
          </a:p>
        </p:txBody>
      </p:sp>
      <p:sp>
        <p:nvSpPr>
          <p:cNvPr id="9" name="Chevron 8"/>
          <p:cNvSpPr/>
          <p:nvPr/>
        </p:nvSpPr>
        <p:spPr>
          <a:xfrm>
            <a:off x="6039612" y="1417320"/>
            <a:ext cx="2960370" cy="502920"/>
          </a:xfrm>
          <a:prstGeom prst="chevron">
            <a:avLst/>
          </a:prstGeom>
          <a:solidFill>
            <a:srgbClr val="7FCBEF"/>
          </a:solidFill>
          <a:ln>
            <a:noFill/>
          </a:ln>
          <a:effectLst/>
        </p:spPr>
        <p:txBody>
          <a:bodyPr lIns="27432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  </a:t>
            </a:r>
            <a:r>
              <a:rPr sz="1100">
                <a:solidFill>
                  <a:srgbClr val="FFFFFF"/>
                </a:solidFill>
                <a:latin typeface="Arial"/>
              </a:rPr>
              <a:t>publicadas no Gupy</a:t>
            </a:r>
          </a:p>
        </p:txBody>
      </p:sp>
      <p:sp>
        <p:nvSpPr>
          <p:cNvPr id="10" name="Chevron 9"/>
          <p:cNvSpPr/>
          <p:nvPr/>
        </p:nvSpPr>
        <p:spPr>
          <a:xfrm>
            <a:off x="8890254" y="1417320"/>
            <a:ext cx="2960370" cy="502920"/>
          </a:xfrm>
          <a:prstGeom prst="chevron">
            <a:avLst/>
          </a:prstGeom>
          <a:solidFill>
            <a:srgbClr val="FF8E2E"/>
          </a:solidFill>
          <a:ln>
            <a:noFill/>
          </a:ln>
          <a:effectLst/>
        </p:spPr>
        <p:txBody>
          <a:bodyPr lIns="27432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12  </a:t>
            </a:r>
            <a:r>
              <a:rPr sz="1100">
                <a:solidFill>
                  <a:srgbClr val="FFFFFF"/>
                </a:solidFill>
                <a:latin typeface="Arial"/>
              </a:rPr>
              <a:t>ainda a abrir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938528"/>
            <a:ext cx="11512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dirty="0">
                <a:solidFill>
                  <a:srgbClr val="00366C"/>
                </a:solidFill>
                <a:latin typeface="Arial"/>
              </a:rPr>
              <a:t>As </a:t>
            </a:r>
            <a:r>
              <a:rPr sz="900" b="1" dirty="0" err="1">
                <a:solidFill>
                  <a:srgbClr val="00366C"/>
                </a:solidFill>
                <a:latin typeface="Arial"/>
              </a:rPr>
              <a:t>outras</a:t>
            </a:r>
            <a:r>
              <a:rPr sz="900" b="1" dirty="0">
                <a:solidFill>
                  <a:srgbClr val="00366C"/>
                </a:solidFill>
                <a:latin typeface="Arial"/>
              </a:rPr>
              <a:t> 18 </a:t>
            </a:r>
            <a:r>
              <a:rPr sz="900" b="1" dirty="0" err="1">
                <a:solidFill>
                  <a:srgbClr val="00366C"/>
                </a:solidFill>
                <a:latin typeface="Arial"/>
              </a:rPr>
              <a:t>vagas</a:t>
            </a:r>
            <a:r>
              <a:rPr sz="900" b="1" dirty="0">
                <a:solidFill>
                  <a:srgbClr val="00366C"/>
                </a:solidFill>
                <a:latin typeface="Arial"/>
              </a:rPr>
              <a:t> do COO </a:t>
            </a:r>
            <a:r>
              <a:rPr sz="900" b="0" dirty="0" err="1">
                <a:solidFill>
                  <a:srgbClr val="595959"/>
                </a:solidFill>
                <a:latin typeface="Arial"/>
              </a:rPr>
              <a:t>estão</a:t>
            </a:r>
            <a:r>
              <a:rPr sz="900" b="0" dirty="0">
                <a:solidFill>
                  <a:srgbClr val="595959"/>
                </a:solidFill>
                <a:latin typeface="Arial"/>
              </a:rPr>
              <a:t> fora dos </a:t>
            </a:r>
            <a:r>
              <a:rPr sz="900" b="0" dirty="0" err="1">
                <a:solidFill>
                  <a:srgbClr val="595959"/>
                </a:solidFill>
                <a:latin typeface="Arial"/>
              </a:rPr>
              <a:t>blocos</a:t>
            </a:r>
            <a:r>
              <a:rPr sz="900" b="0" dirty="0">
                <a:solidFill>
                  <a:srgbClr val="595959"/>
                </a:solidFill>
                <a:latin typeface="Arial"/>
              </a:rPr>
              <a:t>: Air Product, Ocean, Quality, Special Operations, Services, Overland Head e cargos </a:t>
            </a:r>
            <a:r>
              <a:rPr sz="900" b="0" dirty="0" err="1">
                <a:solidFill>
                  <a:srgbClr val="595959"/>
                </a:solidFill>
                <a:latin typeface="Arial"/>
              </a:rPr>
              <a:t>sem</a:t>
            </a:r>
            <a:r>
              <a:rPr sz="900" b="0" dirty="0">
                <a:solidFill>
                  <a:srgbClr val="595959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Arial"/>
              </a:rPr>
              <a:t>marcador</a:t>
            </a:r>
            <a:r>
              <a:rPr sz="900" b="0" dirty="0">
                <a:solidFill>
                  <a:srgbClr val="595959"/>
                </a:solidFill>
                <a:latin typeface="Arial"/>
              </a:rPr>
              <a:t> de </a:t>
            </a:r>
            <a:r>
              <a:rPr sz="900" b="0" dirty="0" err="1">
                <a:solidFill>
                  <a:srgbClr val="595959"/>
                </a:solidFill>
                <a:latin typeface="Arial"/>
              </a:rPr>
              <a:t>bloco</a:t>
            </a:r>
            <a:r>
              <a:rPr sz="900" b="0" dirty="0">
                <a:solidFill>
                  <a:srgbClr val="595959"/>
                </a:solidFill>
                <a:latin typeface="Arial"/>
              </a:rPr>
              <a:t>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13925"/>
              </p:ext>
            </p:extLst>
          </p:nvPr>
        </p:nvGraphicFramePr>
        <p:xfrm>
          <a:off x="338328" y="2176271"/>
          <a:ext cx="11512297" cy="40944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319">
                  <a:extLst>
                    <a:ext uri="{9D8B030D-6E8A-4147-A177-3AD203B41FA5}">
                      <a16:colId xmlns:a16="http://schemas.microsoft.com/office/drawing/2014/main" val="3423870402"/>
                    </a:ext>
                  </a:extLst>
                </a:gridCol>
                <a:gridCol w="601509">
                  <a:extLst>
                    <a:ext uri="{9D8B030D-6E8A-4147-A177-3AD203B41FA5}">
                      <a16:colId xmlns:a16="http://schemas.microsoft.com/office/drawing/2014/main" val="3455376467"/>
                    </a:ext>
                  </a:extLst>
                </a:gridCol>
                <a:gridCol w="694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43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945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8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Local · </a:t>
                      </a:r>
                      <a:r>
                        <a:rPr sz="1100" b="1" err="1">
                          <a:solidFill>
                            <a:srgbClr val="FFFFFF"/>
                          </a:solidFill>
                          <a:latin typeface="Arial"/>
                        </a:rPr>
                        <a:t>bloco</a:t>
                      </a:r>
                      <a:endParaRPr sz="1200" b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Ativos DRE</a:t>
                      </a: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Ativos Set</a:t>
                      </a: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Abertas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45720" marR="45720" marT="27432" marB="27432" anchor="ctr"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Área do head</a:t>
                      </a:r>
                    </a:p>
                  </a:txBody>
                  <a:tcPr marL="45720" marR="45720" marT="27432" marB="27432" anchor="ctr"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err="1">
                          <a:solidFill>
                            <a:srgbClr val="FFFFFF"/>
                          </a:solidFill>
                          <a:latin typeface="Arial"/>
                        </a:rPr>
                        <a:t>Descrição</a:t>
                      </a:r>
                      <a:endParaRPr sz="1200" b="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5720" marR="45720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EUA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21</a:t>
                      </a:r>
                      <a:endParaRPr sz="1200" b="1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  <a:endParaRPr sz="1200" b="1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-1</a:t>
                      </a:r>
                      <a:endParaRPr sz="1200" b="1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Air Ops, Air Prod., Overland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6 das 9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Arial"/>
                        </a:rPr>
                        <a:t>vagas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 a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Arial"/>
                        </a:rPr>
                        <a:t>abrir</a:t>
                      </a:r>
                      <a:endParaRPr sz="1200" b="1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Operações </a:t>
                      </a:r>
                      <a:r>
                        <a:rPr sz="1100" b="1" err="1">
                          <a:solidFill>
                            <a:srgbClr val="333333"/>
                          </a:solidFill>
                          <a:latin typeface="Arial"/>
                        </a:rPr>
                        <a:t>America</a:t>
                      </a:r>
                      <a:endParaRPr sz="1200" b="1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  <a:endParaRPr sz="12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-1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Air Ops e Air Product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3 vagas de TL; analista adm. 20/10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Inland Freight America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  <a:endParaRPr sz="12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+1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Air Ops e Air Product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3 </a:t>
                      </a:r>
                      <a:r>
                        <a:rPr sz="1100" b="0" err="1">
                          <a:solidFill>
                            <a:srgbClr val="595959"/>
                          </a:solidFill>
                          <a:latin typeface="Arial"/>
                        </a:rPr>
                        <a:t>vagas</a:t>
                      </a:r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 de </a:t>
                      </a:r>
                      <a:r>
                        <a:rPr sz="1100" b="0" err="1">
                          <a:solidFill>
                            <a:srgbClr val="595959"/>
                          </a:solidFill>
                          <a:latin typeface="Arial"/>
                        </a:rPr>
                        <a:t>analista</a:t>
                      </a:r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 </a:t>
                      </a:r>
                      <a:r>
                        <a:rPr sz="1100" b="0" err="1">
                          <a:solidFill>
                            <a:srgbClr val="595959"/>
                          </a:solidFill>
                          <a:latin typeface="Arial"/>
                        </a:rPr>
                        <a:t>publicadas</a:t>
                      </a:r>
                      <a:endParaRPr sz="1200" b="0">
                        <a:solidFill>
                          <a:srgbClr val="595959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Warehouses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  <a:endParaRPr sz="12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-1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Overland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1 WH TL e 4 clerks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Europa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>
                          <a:solidFill>
                            <a:srgbClr val="333333"/>
                          </a:solidFill>
                          <a:latin typeface="Arial"/>
                        </a:rPr>
                        <a:t>22</a:t>
                      </a:r>
                      <a:endParaRPr sz="1200" b="1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  <a:endParaRPr sz="1200" b="1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333333"/>
                          </a:solidFill>
                          <a:latin typeface="Arial"/>
                        </a:rPr>
                        <a:t>-4</a:t>
                      </a:r>
                      <a:endParaRPr sz="1200" b="1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Air Ops, Air Product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As 6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Arial"/>
                        </a:rPr>
                        <a:t>vagas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 a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Arial"/>
                        </a:rPr>
                        <a:t>abrir</a:t>
                      </a:r>
                      <a:endParaRPr sz="1100" b="1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Inland Freight Europa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  <a:endParaRPr sz="12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-2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Air Ops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Sem TL; analista adm. 13/10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Operações Europa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  <a:endParaRPr sz="12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  <a:endParaRPr sz="1200" b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dirty="0">
                          <a:solidFill>
                            <a:srgbClr val="333333"/>
                          </a:solidFill>
                          <a:latin typeface="Arial"/>
                        </a:rPr>
                        <a:t>-2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Air Ops e Air Product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2 vagas de analista a abrir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Brasil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Air Ops, Ocean Ops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As 2 vagas publicadas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Exportação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Air Ops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Maior volume por pessoa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    Customer Care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Air Ops e Ocean Ops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1 vaga publicada; atende MIA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Total </a:t>
                      </a:r>
                      <a:r>
                        <a:rPr sz="1100" b="1" err="1">
                          <a:solidFill>
                            <a:srgbClr val="333333"/>
                          </a:solidFill>
                          <a:latin typeface="Arial"/>
                        </a:rPr>
                        <a:t>Operações</a:t>
                      </a:r>
                      <a:endParaRPr sz="1200" b="1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4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Arial"/>
                        </a:rPr>
                        <a:t>heads</a:t>
                      </a:r>
                      <a:endParaRPr sz="1100" b="1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333333"/>
                          </a:solidFill>
                          <a:latin typeface="Arial"/>
                        </a:rPr>
                        <a:t>12 das 17 vagas a abrir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02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Precisamos atuar de forma precisa para completar as 12 vagas em aberto na área Operacional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Operações, plano de 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Fonte: Base Setembro/26 (RH); planilha de vagas (21/10/2026); Gupy; CIS, ORDERS.parquet (13/10/2026)</a:t>
            </a:r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068597"/>
              </p:ext>
            </p:extLst>
          </p:nvPr>
        </p:nvGraphicFramePr>
        <p:xfrm>
          <a:off x="338328" y="1463040"/>
          <a:ext cx="11512296" cy="27249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5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62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6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Local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Ação prioritária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005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EUA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8E2E"/>
                          </a:solidFill>
                          <a:latin typeface="Arial"/>
                        </a:rPr>
                        <a:t>6 a abrir · 3 publicadas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8E2E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Abrir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as 6 vagas de Operações America, começando pelas 3 de team leader, com faixa e budget pré-aprovados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Europa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8E2E"/>
                          </a:solidFill>
                          <a:latin typeface="Arial"/>
                        </a:rPr>
                        <a:t>6 a abrir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8E2E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Abrir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as 6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vagas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reaproveitando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finalistas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de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processos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recentes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, com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prioridade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para Inland Freight Europa,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hoje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sem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Arial"/>
                        </a:rPr>
                        <a:t>liderança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Brasil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2 publicadas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Arial"/>
                        </a:rPr>
                        <a:t>Processo enxuto nas 2 vagas já publicadas, com prioridade para </a:t>
                      </a:r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Exportação</a:t>
                      </a:r>
                      <a:endParaRPr sz="12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</a:rPr>
                        <a:t>Carol Mendoza e Natália Costa + RH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12 a abrir · 5 publicadas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366C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366C"/>
                          </a:solidFill>
                          <a:latin typeface="Arial"/>
                        </a:rPr>
                        <a:t>Pré-aprovar faixa e budget destrava a abertura: hoje só 6 das 35 vagas do COO estão publicadas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366C"/>
                          </a:solidFill>
                          <a:latin typeface="Arial"/>
                        </a:rPr>
                        <a:t>RH + Carol Mendoza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5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8328" y="4343400"/>
            <a:ext cx="3654552" cy="2743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5E9E"/>
                </a:solidFill>
                <a:latin typeface="Arial"/>
              </a:rPr>
              <a:t>As 17 vagas por nível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464515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92608" y="4727448"/>
          <a:ext cx="3700272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298" y="4693093"/>
            <a:ext cx="7259701" cy="216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4757" y="5461584"/>
            <a:ext cx="1736242" cy="97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9350" y="1881165"/>
            <a:ext cx="3148872" cy="132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2324" y="1877402"/>
            <a:ext cx="3107226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7271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2886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53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Main_Analytics [1792534067595]">
  <a:themeElements>
    <a:clrScheme name="DMS Logistics">
      <a:dk1>
        <a:srgbClr val="000000"/>
      </a:dk1>
      <a:lt1>
        <a:srgbClr val="FFFFFF"/>
      </a:lt1>
      <a:dk2>
        <a:srgbClr val="FF8E2E"/>
      </a:dk2>
      <a:lt2>
        <a:srgbClr val="00366C"/>
      </a:lt2>
      <a:accent1>
        <a:srgbClr val="00ACEE"/>
      </a:accent1>
      <a:accent2>
        <a:srgbClr val="7FCBEF"/>
      </a:accent2>
      <a:accent3>
        <a:srgbClr val="B29C86"/>
      </a:accent3>
      <a:accent4>
        <a:srgbClr val="005E9E"/>
      </a:accent4>
      <a:accent5>
        <a:srgbClr val="FF5A43"/>
      </a:accent5>
      <a:accent6>
        <a:srgbClr val="E6DCD7"/>
      </a:accent6>
      <a:hlink>
        <a:srgbClr val="B29C86"/>
      </a:hlink>
      <a:folHlink>
        <a:srgbClr val="005E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11F20-489D-423F-8669-23E3111AA1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ae7422-7103-4ba2-b850-d7dcf422d6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</TotalTime>
  <Words>712</Words>
  <Application>Microsoft Office PowerPoint</Application>
  <PresentationFormat>Widescreen</PresentationFormat>
  <Paragraphs>194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Main_Analytics</vt:lpstr>
      <vt:lpstr>Main_Analytics [1792534067595]</vt:lpstr>
      <vt:lpstr>PowerPoint Presentation</vt:lpstr>
      <vt:lpstr>Das 49 vagas realmente em aberto, 35 estão sob o COO e Operações concentra 17 delas e ainda temos pendente 12 vagas de abertura</vt:lpstr>
      <vt:lpstr>Em comparação ao DRE, precisamos preencher 9 vagas no total, sendo Inland Freight Americas a única com excesso com relação ao DRE</vt:lpstr>
      <vt:lpstr>Precisamos atuar de forma precisa para completar as 12 vagas em aberto na área Operacional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Gilberto  Volpe</cp:lastModifiedBy>
  <cp:revision>2</cp:revision>
  <dcterms:created xsi:type="dcterms:W3CDTF">2023-01-09T20:59:58Z</dcterms:created>
  <dcterms:modified xsi:type="dcterms:W3CDTF">2026-10-23T20:19:51Z</dcterms:modified>
</cp:coreProperties>
</file>