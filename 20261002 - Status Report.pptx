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4"/>
  </p:sldMasterIdLst>
  <p:notesMasterIdLst>
    <p:notesMasterId r:id="rId9"/>
  </p:notesMasterIdLst>
  <p:handoutMasterIdLst>
    <p:handoutMasterId r:id="rId10"/>
  </p:handoutMasterIdLst>
  <p:sldIdLst>
    <p:sldId id="2147475257" r:id="rId5"/>
    <p:sldId id="2147475600" r:id="rId6"/>
    <p:sldId id="2147475599" r:id="rId7"/>
    <p:sldId id="2147475469" r:id="rId8"/>
  </p:sldIdLst>
  <p:sldSz cx="12192000" cy="6858000"/>
  <p:notesSz cx="6797675" cy="9928225"/>
  <p:custDataLst>
    <p:tags r:id="rId1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56BDAC4-B98A-4B57-A8DB-23B54F0D1082}">
          <p14:sldIdLst>
            <p14:sldId id="2147475257"/>
          </p14:sldIdLst>
        </p14:section>
        <p14:section name="Cronograma" id="{BC864CDD-B20E-4B6B-B515-E557775E20AC}">
          <p14:sldIdLst>
            <p14:sldId id="2147475600"/>
          </p14:sldIdLst>
        </p14:section>
        <p14:section name="Status Report" id="{54C8D1C1-C38D-4166-B338-87E886896165}">
          <p14:sldIdLst>
            <p14:sldId id="2147475599"/>
          </p14:sldIdLst>
        </p14:section>
        <p14:section name="Fim" id="{C1DC953D-9B49-46ED-98E8-011CE27E333B}">
          <p14:sldIdLst>
            <p14:sldId id="21474754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43BD5E-A30E-945E-9DF7-0707586BBC36}" name="Gabriel Kamimura" initials="GK" userId="S::gkamimura@atyconsulting.com::8625c588-77d7-415d-b427-540cae773a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EF6"/>
    <a:srgbClr val="F3F1F3"/>
    <a:srgbClr val="E5E8EC"/>
    <a:srgbClr val="FFCDCD"/>
    <a:srgbClr val="DBE9D3"/>
    <a:srgbClr val="6A994E"/>
    <a:srgbClr val="58D68E"/>
    <a:srgbClr val="031F38"/>
    <a:srgbClr val="7F7F7F"/>
    <a:srgbClr val="C77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F335F-79B6-6949-A638-454997400118}" v="2" dt="2026-10-02T15:06:44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64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AA92-E479-E154-8AC9-07FBE414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1B637-A73C-1828-488E-54A0361C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94C36-26A0-219E-A1C9-2C31C11A1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90C1-5311-D3BD-83EE-E2831A7E37E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4632-F963-ADA1-EF15-F5DCB36F1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0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0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334363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9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  <p:pic>
        <p:nvPicPr>
          <p:cNvPr id="5" name="Imagem 4" descr="DMS Logistics | LinkedIn">
            <a:extLst>
              <a:ext uri="{FF2B5EF4-FFF2-40B4-BE49-F238E27FC236}">
                <a16:creationId xmlns:a16="http://schemas.microsoft.com/office/drawing/2014/main" id="{A59467C9-35D5-753B-69C9-D9268523A0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615" t="27132" r="11403" b="24868"/>
          <a:stretch>
            <a:fillRect/>
          </a:stretch>
        </p:blipFill>
        <p:spPr>
          <a:xfrm>
            <a:off x="310121" y="6565935"/>
            <a:ext cx="422694" cy="2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  <p:pic>
        <p:nvPicPr>
          <p:cNvPr id="3" name="Picture 2" descr="MARAVILHAS DO LAR | Iguatemi Esplanada">
            <a:extLst>
              <a:ext uri="{FF2B5EF4-FFF2-40B4-BE49-F238E27FC236}">
                <a16:creationId xmlns:a16="http://schemas.microsoft.com/office/drawing/2014/main" id="{FF9E0548-DB3B-1579-B2BE-17622093E5D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92" b="29388"/>
          <a:stretch/>
        </p:blipFill>
        <p:spPr bwMode="auto">
          <a:xfrm>
            <a:off x="335999" y="6576358"/>
            <a:ext cx="584835" cy="22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2" descr="MARAVILHAS DO LAR | Iguatemi Esplanada">
            <a:extLst>
              <a:ext uri="{FF2B5EF4-FFF2-40B4-BE49-F238E27FC236}">
                <a16:creationId xmlns:a16="http://schemas.microsoft.com/office/drawing/2014/main" id="{4036A7E4-4BF4-DCE5-2247-5D203CF0E2C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92" b="29388"/>
          <a:stretch/>
        </p:blipFill>
        <p:spPr bwMode="auto">
          <a:xfrm>
            <a:off x="335999" y="6576358"/>
            <a:ext cx="584835" cy="22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2973561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95" imgH="296" progId="TCLayout.ActiveDocument.1">
                  <p:embed/>
                </p:oleObj>
              </mc:Choice>
              <mc:Fallback>
                <p:oleObj name="think-cell Slide" r:id="rId3" imgW="295" imgH="29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Click to edit Master title style</a:t>
            </a:r>
          </a:p>
        </p:txBody>
      </p:sp>
      <p:pic>
        <p:nvPicPr>
          <p:cNvPr id="4" name="Picture 2" descr="MARAVILHAS DO LAR | Iguatemi Esplanada">
            <a:extLst>
              <a:ext uri="{FF2B5EF4-FFF2-40B4-BE49-F238E27FC236}">
                <a16:creationId xmlns:a16="http://schemas.microsoft.com/office/drawing/2014/main" id="{0E152458-0001-6DDD-DBF2-662F90246A7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92" b="29388"/>
          <a:stretch/>
        </p:blipFill>
        <p:spPr bwMode="auto">
          <a:xfrm>
            <a:off x="335999" y="6576358"/>
            <a:ext cx="584835" cy="22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397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091196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horz" anchor="ctr" anchorCtr="0"/>
          <a:lstStyle>
            <a:lvl1pPr algn="r">
              <a:defRPr sz="900">
                <a:solidFill>
                  <a:srgbClr val="004454"/>
                </a:solidFill>
                <a:latin typeface="+mn-lt"/>
              </a:defRPr>
            </a:lvl1pPr>
          </a:lstStyle>
          <a:p>
            <a:fld id="{892EE196-DDA1-41FD-83E0-096904DE06E3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3" name="Picture 2" descr="MARAVILHAS DO LAR | Iguatemi Esplanada">
            <a:extLst>
              <a:ext uri="{FF2B5EF4-FFF2-40B4-BE49-F238E27FC236}">
                <a16:creationId xmlns:a16="http://schemas.microsoft.com/office/drawing/2014/main" id="{63ED220C-DD57-FF92-DEA8-C76F827A8BB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92" b="29388"/>
          <a:stretch/>
        </p:blipFill>
        <p:spPr bwMode="auto">
          <a:xfrm>
            <a:off x="335999" y="6576358"/>
            <a:ext cx="584835" cy="22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5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60" imgH="360" progId="TCLayout.ActiveDocument.1">
                  <p:embed/>
                </p:oleObj>
              </mc:Choice>
              <mc:Fallback>
                <p:oleObj name="think-cell Slide" r:id="rId16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‹#›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r>
              <a:rPr lang="pt-BR" sz="600" noProof="0">
                <a:solidFill>
                  <a:srgbClr val="000000"/>
                </a:solidFill>
                <a:latin typeface="Bradley Hand ITC" panose="03070402050302030203" pitchFamily="66" charset="0"/>
                <a:cs typeface="Arial" panose="020B0604020202020204" pitchFamily="34" charset="0"/>
              </a:rPr>
              <a:t>| ATY </a:t>
            </a:r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22" r:id="rId2"/>
    <p:sldLayoutId id="2147483823" r:id="rId3"/>
    <p:sldLayoutId id="214748380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808" r:id="rId10"/>
    <p:sldLayoutId id="2147483818" r:id="rId11"/>
    <p:sldLayoutId id="2147483819" r:id="rId12"/>
    <p:sldLayoutId id="2147483821" r:id="rId13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14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image" Target="../media/image13.png"/><Relationship Id="rId2" Type="http://schemas.openxmlformats.org/officeDocument/2006/relationships/tags" Target="../tags/tag16.xml"/><Relationship Id="rId16" Type="http://schemas.openxmlformats.org/officeDocument/2006/relationships/image" Target="../media/image12.emf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oleObject" Target="../embeddings/oleObject11.bin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4.png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13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12.emf"/><Relationship Id="rId5" Type="http://schemas.openxmlformats.org/officeDocument/2006/relationships/tags" Target="../tags/tag31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30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143A159C-63E7-30DD-64D6-0CED822CD3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1" imgH="423" progId="TCLayout.ActiveDocument.1">
                  <p:embed/>
                </p:oleObj>
              </mc:Choice>
              <mc:Fallback>
                <p:oleObj name="think-cell Slide" r:id="rId15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143A159C-63E7-30DD-64D6-0CED822CD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89F41087-4073-577E-F290-6A788287E1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11">
            <a:extLst>
              <a:ext uri="{FF2B5EF4-FFF2-40B4-BE49-F238E27FC236}">
                <a16:creationId xmlns:a16="http://schemas.microsoft.com/office/drawing/2014/main" id="{E029C937-7021-5B1F-825C-CDAB217DB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28263" y="3699455"/>
            <a:ext cx="1846980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1200">
                <a:solidFill>
                  <a:schemeClr val="bg1"/>
                </a:solidFill>
                <a:latin typeface="Arial"/>
                <a:cs typeface="Arial"/>
              </a:rPr>
              <a:t>25 de setembro de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59AFCA5-30B8-C566-FCFE-446CE57B620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pt-BR"/>
              <a:t> </a:t>
            </a:r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53819B30-2220-92E2-A29C-D0F965AF447B}"/>
              </a:ext>
            </a:extLst>
          </p:cNvPr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428263" y="2150392"/>
            <a:ext cx="5899385" cy="891608"/>
          </a:xfrm>
        </p:spPr>
        <p:txBody>
          <a:bodyPr vert="horz" anchor="ctr"/>
          <a:lstStyle/>
          <a:p>
            <a:pPr algn="l" fontAlgn="auto">
              <a:spcAft>
                <a:spcPts val="600"/>
              </a:spcAft>
            </a:pPr>
            <a:r>
              <a:rPr lang="pt-BR" sz="3600">
                <a:solidFill>
                  <a:schemeClr val="bg1"/>
                </a:solidFill>
              </a:rPr>
              <a:t>Status report</a:t>
            </a:r>
            <a:endParaRPr lang="pt-BR" sz="2000" b="0" i="1">
              <a:solidFill>
                <a:schemeClr val="bg1"/>
              </a:solidFill>
            </a:endParaRP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CADBFD8A-A09B-CD81-2E43-9DA5B137203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28263" y="3218068"/>
            <a:ext cx="4642767" cy="276999"/>
          </a:xfrm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pt-BR" sz="1200">
              <a:solidFill>
                <a:schemeClr val="bg1"/>
              </a:solidFill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D851D84D-F111-9039-1F62-2CA0312EA59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 flipH="1">
            <a:off x="311250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7FFB358-4290-7427-2BBD-7D3DA4AAA4D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 flipH="1" flipV="1">
            <a:off x="311250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2E678F2-BE98-9C30-AD99-FE7D3939E7F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67328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2EC26EB5-2B19-D064-94F9-FAFD488FFDA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 flipV="1">
            <a:off x="6067328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5CB8C9-ADAE-91F2-5B1C-E7FAC2A303C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11250" y="5941982"/>
            <a:ext cx="1368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bg1"/>
                </a:solidFill>
                <a:latin typeface="Bradley Hand ITC" panose="03070402050302030203" pitchFamily="66" charset="0"/>
              </a:rPr>
              <a:t>ATY</a:t>
            </a:r>
          </a:p>
        </p:txBody>
      </p:sp>
      <p:pic>
        <p:nvPicPr>
          <p:cNvPr id="42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D52487C3-05F1-8B51-D5B7-AD357A19DFE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810249" y="4055693"/>
            <a:ext cx="6381751" cy="28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1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852EE-188D-F099-4097-0082EA86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4FB51-77EB-D524-42E9-BE80654D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Cinco frentes em andamento nos próximos meses: Rota 2030, Bússola, Custo de Servir e Desdobramento seguem o ciclo inteiro, e </a:t>
            </a:r>
            <a:r>
              <a:rPr lang="pt-BR" dirty="0" err="1"/>
              <a:t>Action</a:t>
            </a:r>
            <a:r>
              <a:rPr lang="pt-BR" dirty="0"/>
              <a:t> IA + Processos fecha em 12/26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EC0E13-2BCB-D0A7-D835-7DD171423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Status Report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118787-4485-28A9-5A82-54F718BDA6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Projetos em andamento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88C4A9-0DB3-23D9-0CD1-89E8B79FB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Fonte: ATY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17A754-6943-A39D-FED0-158748366FE7}"/>
              </a:ext>
            </a:extLst>
          </p:cNvPr>
          <p:cNvGrpSpPr/>
          <p:nvPr/>
        </p:nvGrpSpPr>
        <p:grpSpPr>
          <a:xfrm>
            <a:off x="335998" y="1454248"/>
            <a:ext cx="11515712" cy="4756052"/>
            <a:chOff x="335998" y="1454248"/>
            <a:chExt cx="11515712" cy="4279802"/>
          </a:xfrm>
        </p:grpSpPr>
        <p:sp>
          <p:nvSpPr>
            <p:cNvPr id="32" name="Rectangle: Rounded Corners 15">
              <a:extLst>
                <a:ext uri="{FF2B5EF4-FFF2-40B4-BE49-F238E27FC236}">
                  <a16:creationId xmlns:a16="http://schemas.microsoft.com/office/drawing/2014/main" id="{3DD5B49E-B354-D3EB-2541-919C855FA00E}"/>
                </a:ext>
              </a:extLst>
            </p:cNvPr>
            <p:cNvSpPr/>
            <p:nvPr/>
          </p:nvSpPr>
          <p:spPr>
            <a:xfrm>
              <a:off x="2753474" y="1454248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10/26</a:t>
              </a:r>
            </a:p>
          </p:txBody>
        </p:sp>
        <p:sp>
          <p:nvSpPr>
            <p:cNvPr id="33" name="Rectangle: Rounded Corners 20">
              <a:extLst>
                <a:ext uri="{FF2B5EF4-FFF2-40B4-BE49-F238E27FC236}">
                  <a16:creationId xmlns:a16="http://schemas.microsoft.com/office/drawing/2014/main" id="{839617BE-D65F-F819-680E-4F47C5970E84}"/>
                </a:ext>
              </a:extLst>
            </p:cNvPr>
            <p:cNvSpPr/>
            <p:nvPr/>
          </p:nvSpPr>
          <p:spPr>
            <a:xfrm>
              <a:off x="4288571" y="1454248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11/26</a:t>
              </a:r>
            </a:p>
          </p:txBody>
        </p:sp>
        <p:sp>
          <p:nvSpPr>
            <p:cNvPr id="34" name="Rectangle: Rounded Corners 21">
              <a:extLst>
                <a:ext uri="{FF2B5EF4-FFF2-40B4-BE49-F238E27FC236}">
                  <a16:creationId xmlns:a16="http://schemas.microsoft.com/office/drawing/2014/main" id="{BE8A3F1C-52F4-A972-3827-E11018715D32}"/>
                </a:ext>
              </a:extLst>
            </p:cNvPr>
            <p:cNvSpPr/>
            <p:nvPr/>
          </p:nvSpPr>
          <p:spPr>
            <a:xfrm>
              <a:off x="5823668" y="1454248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12/26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2101EC5-D419-601C-020D-D96F5500D0E4}"/>
                </a:ext>
              </a:extLst>
            </p:cNvPr>
            <p:cNvGrpSpPr/>
            <p:nvPr/>
          </p:nvGrpSpPr>
          <p:grpSpPr>
            <a:xfrm>
              <a:off x="335998" y="2010962"/>
              <a:ext cx="11515712" cy="3723088"/>
              <a:chOff x="335998" y="2010962"/>
              <a:chExt cx="11515712" cy="3723088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A7E0798-AFDF-01E4-01C2-2AE8E1357EE5}"/>
                  </a:ext>
                </a:extLst>
              </p:cNvPr>
              <p:cNvCxnSpPr/>
              <p:nvPr/>
            </p:nvCxnSpPr>
            <p:spPr>
              <a:xfrm>
                <a:off x="340292" y="2688826"/>
                <a:ext cx="11511418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prstDash val="dash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7DB558-B9A9-697A-9BCD-704622E7FA54}"/>
                  </a:ext>
                </a:extLst>
              </p:cNvPr>
              <p:cNvCxnSpPr/>
              <p:nvPr/>
            </p:nvCxnSpPr>
            <p:spPr>
              <a:xfrm>
                <a:off x="340292" y="3479494"/>
                <a:ext cx="11511418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prstDash val="dash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F0F8695-9809-EFBE-15A3-996AC58239F6}"/>
                  </a:ext>
                </a:extLst>
              </p:cNvPr>
              <p:cNvCxnSpPr/>
              <p:nvPr/>
            </p:nvCxnSpPr>
            <p:spPr>
              <a:xfrm>
                <a:off x="340292" y="4270591"/>
                <a:ext cx="11511418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prstDash val="dash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3BAAF07-E1C7-012D-0895-BE13196C2988}"/>
                  </a:ext>
                </a:extLst>
              </p:cNvPr>
              <p:cNvCxnSpPr/>
              <p:nvPr/>
            </p:nvCxnSpPr>
            <p:spPr>
              <a:xfrm>
                <a:off x="340292" y="5056184"/>
                <a:ext cx="11511418" cy="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prstDash val="dash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40000" dist="20000" dir="5400000" rotWithShape="0">
                        <a:srgbClr val="000000">
                          <a:alpha val="38000"/>
                        </a:srgbClr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49E8204-6D0F-BCAD-4B16-E68BEAA42E8B}"/>
                  </a:ext>
                </a:extLst>
              </p:cNvPr>
              <p:cNvGrpSpPr/>
              <p:nvPr/>
            </p:nvGrpSpPr>
            <p:grpSpPr>
              <a:xfrm>
                <a:off x="335998" y="2795118"/>
                <a:ext cx="6922655" cy="578084"/>
                <a:chOff x="335998" y="2415678"/>
                <a:chExt cx="6922655" cy="453076"/>
              </a:xfrm>
            </p:grpSpPr>
            <p:sp>
              <p:nvSpPr>
                <p:cNvPr id="26" name="Rectangle: Rounded Corners 2">
                  <a:extLst>
                    <a:ext uri="{FF2B5EF4-FFF2-40B4-BE49-F238E27FC236}">
                      <a16:creationId xmlns:a16="http://schemas.microsoft.com/office/drawing/2014/main" id="{BABAE15C-3A65-010D-4195-5735A89C6234}"/>
                    </a:ext>
                  </a:extLst>
                </p:cNvPr>
                <p:cNvSpPr/>
                <p:nvPr/>
              </p:nvSpPr>
              <p:spPr>
                <a:xfrm>
                  <a:off x="335998" y="2420782"/>
                  <a:ext cx="2335283" cy="447972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pt-BR" sz="1200" b="1">
                      <a:solidFill>
                        <a:schemeClr val="bg1"/>
                      </a:solidFill>
                    </a:rPr>
                    <a:t>Frente </a:t>
                  </a:r>
                  <a:r>
                    <a:rPr lang="pt-BR" sz="1200" b="1" err="1">
                      <a:solidFill>
                        <a:schemeClr val="bg1"/>
                      </a:solidFill>
                    </a:rPr>
                    <a:t>Action</a:t>
                  </a:r>
                  <a:r>
                    <a:rPr lang="pt-BR" sz="1200" b="1">
                      <a:solidFill>
                        <a:schemeClr val="bg1"/>
                      </a:solidFill>
                    </a:rPr>
                    <a:t> IA + Processos</a:t>
                  </a:r>
                </a:p>
              </p:txBody>
            </p:sp>
            <p:sp>
              <p:nvSpPr>
                <p:cNvPr id="47" name="Rectangle: Rounded Corners 40">
                  <a:extLst>
                    <a:ext uri="{FF2B5EF4-FFF2-40B4-BE49-F238E27FC236}">
                      <a16:creationId xmlns:a16="http://schemas.microsoft.com/office/drawing/2014/main" id="{66EDF317-2B18-F991-FECB-35AEFC456BD9}"/>
                    </a:ext>
                  </a:extLst>
                </p:cNvPr>
                <p:cNvSpPr/>
                <p:nvPr/>
              </p:nvSpPr>
              <p:spPr>
                <a:xfrm>
                  <a:off x="2753475" y="2415678"/>
                  <a:ext cx="4505178" cy="44704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4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20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7AA75A4-21E2-389E-5DB4-E055FDBDC69A}"/>
                  </a:ext>
                </a:extLst>
              </p:cNvPr>
              <p:cNvGrpSpPr/>
              <p:nvPr/>
            </p:nvGrpSpPr>
            <p:grpSpPr>
              <a:xfrm>
                <a:off x="345261" y="3585786"/>
                <a:ext cx="11501475" cy="578513"/>
                <a:chOff x="345261" y="3985847"/>
                <a:chExt cx="11501475" cy="453412"/>
              </a:xfrm>
            </p:grpSpPr>
            <p:sp>
              <p:nvSpPr>
                <p:cNvPr id="29" name="Rectangle: Rounded Corners 10">
                  <a:extLst>
                    <a:ext uri="{FF2B5EF4-FFF2-40B4-BE49-F238E27FC236}">
                      <a16:creationId xmlns:a16="http://schemas.microsoft.com/office/drawing/2014/main" id="{7654C7F0-4F59-6B94-7BD5-9ACEF04918B4}"/>
                    </a:ext>
                  </a:extLst>
                </p:cNvPr>
                <p:cNvSpPr/>
                <p:nvPr/>
              </p:nvSpPr>
              <p:spPr>
                <a:xfrm>
                  <a:off x="345261" y="3985847"/>
                  <a:ext cx="2328700" cy="447972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pt-BR" sz="1200" b="1">
                      <a:solidFill>
                        <a:schemeClr val="bg1"/>
                      </a:solidFill>
                    </a:rPr>
                    <a:t>Bússola</a:t>
                  </a:r>
                </a:p>
              </p:txBody>
            </p:sp>
            <p:sp>
              <p:nvSpPr>
                <p:cNvPr id="52" name="Rectangle: Rounded Corners 42">
                  <a:extLst>
                    <a:ext uri="{FF2B5EF4-FFF2-40B4-BE49-F238E27FC236}">
                      <a16:creationId xmlns:a16="http://schemas.microsoft.com/office/drawing/2014/main" id="{013410CE-8496-BE11-3EF0-60D3DE2F0D58}"/>
                    </a:ext>
                  </a:extLst>
                </p:cNvPr>
                <p:cNvSpPr/>
                <p:nvPr/>
              </p:nvSpPr>
              <p:spPr>
                <a:xfrm>
                  <a:off x="2753474" y="3992211"/>
                  <a:ext cx="9093262" cy="447048"/>
                </a:xfrm>
                <a:prstGeom prst="homePlat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20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B4816B-53EB-956C-8E0C-A764E19C52D0}"/>
                  </a:ext>
                </a:extLst>
              </p:cNvPr>
              <p:cNvGrpSpPr/>
              <p:nvPr/>
            </p:nvGrpSpPr>
            <p:grpSpPr>
              <a:xfrm>
                <a:off x="335998" y="2010962"/>
                <a:ext cx="11510713" cy="571572"/>
                <a:chOff x="335998" y="1890575"/>
                <a:chExt cx="11510713" cy="447972"/>
              </a:xfrm>
            </p:grpSpPr>
            <p:sp>
              <p:nvSpPr>
                <p:cNvPr id="24" name="Rectangle: Rounded Corners 1">
                  <a:extLst>
                    <a:ext uri="{FF2B5EF4-FFF2-40B4-BE49-F238E27FC236}">
                      <a16:creationId xmlns:a16="http://schemas.microsoft.com/office/drawing/2014/main" id="{9D137F54-9C16-FA8E-3D87-7056DCE1C097}"/>
                    </a:ext>
                  </a:extLst>
                </p:cNvPr>
                <p:cNvSpPr/>
                <p:nvPr/>
              </p:nvSpPr>
              <p:spPr>
                <a:xfrm>
                  <a:off x="335998" y="1890575"/>
                  <a:ext cx="2335283" cy="447972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pt-BR" sz="1200" b="1">
                      <a:solidFill>
                        <a:schemeClr val="bg1"/>
                      </a:solidFill>
                    </a:rPr>
                    <a:t>Frente Rota 2030</a:t>
                  </a:r>
                </a:p>
              </p:txBody>
            </p:sp>
            <p:sp>
              <p:nvSpPr>
                <p:cNvPr id="15" name="Rectangle: Rounded Corners 41">
                  <a:extLst>
                    <a:ext uri="{FF2B5EF4-FFF2-40B4-BE49-F238E27FC236}">
                      <a16:creationId xmlns:a16="http://schemas.microsoft.com/office/drawing/2014/main" id="{E077E2B9-1B35-97E1-EE88-5AD16F434000}"/>
                    </a:ext>
                  </a:extLst>
                </p:cNvPr>
                <p:cNvSpPr/>
                <p:nvPr/>
              </p:nvSpPr>
              <p:spPr>
                <a:xfrm>
                  <a:off x="2753474" y="1897682"/>
                  <a:ext cx="9093237" cy="439533"/>
                </a:xfrm>
                <a:prstGeom prst="homePlat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4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20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9409DAF-647D-78F2-671A-C367F9BB8956}"/>
                  </a:ext>
                </a:extLst>
              </p:cNvPr>
              <p:cNvGrpSpPr/>
              <p:nvPr/>
            </p:nvGrpSpPr>
            <p:grpSpPr>
              <a:xfrm>
                <a:off x="340630" y="4376883"/>
                <a:ext cx="11506106" cy="573009"/>
                <a:chOff x="340630" y="4515672"/>
                <a:chExt cx="11506106" cy="449098"/>
              </a:xfrm>
            </p:grpSpPr>
            <p:sp>
              <p:nvSpPr>
                <p:cNvPr id="40" name="Rectangle: Rounded Corners 10">
                  <a:extLst>
                    <a:ext uri="{FF2B5EF4-FFF2-40B4-BE49-F238E27FC236}">
                      <a16:creationId xmlns:a16="http://schemas.microsoft.com/office/drawing/2014/main" id="{39924FC9-AA92-066E-F541-D1A0A5B2DC8A}"/>
                    </a:ext>
                  </a:extLst>
                </p:cNvPr>
                <p:cNvSpPr/>
                <p:nvPr/>
              </p:nvSpPr>
              <p:spPr>
                <a:xfrm>
                  <a:off x="340630" y="4515672"/>
                  <a:ext cx="2328700" cy="447972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pt-BR" sz="1200" b="1">
                      <a:solidFill>
                        <a:schemeClr val="bg1"/>
                      </a:solidFill>
                    </a:rPr>
                    <a:t>Custo de Servir</a:t>
                  </a:r>
                </a:p>
              </p:txBody>
            </p:sp>
            <p:sp>
              <p:nvSpPr>
                <p:cNvPr id="57" name="Rectangle: Rounded Corners 42">
                  <a:extLst>
                    <a:ext uri="{FF2B5EF4-FFF2-40B4-BE49-F238E27FC236}">
                      <a16:creationId xmlns:a16="http://schemas.microsoft.com/office/drawing/2014/main" id="{36D0A9E8-356C-E10E-9375-5D4E6E2F886F}"/>
                    </a:ext>
                  </a:extLst>
                </p:cNvPr>
                <p:cNvSpPr/>
                <p:nvPr/>
              </p:nvSpPr>
              <p:spPr>
                <a:xfrm>
                  <a:off x="2753474" y="4517722"/>
                  <a:ext cx="9093262" cy="447048"/>
                </a:xfrm>
                <a:prstGeom prst="homePlat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20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6B53FAB-C6AF-EF38-4315-D8C122F60F19}"/>
                  </a:ext>
                </a:extLst>
              </p:cNvPr>
              <p:cNvGrpSpPr/>
              <p:nvPr/>
            </p:nvGrpSpPr>
            <p:grpSpPr>
              <a:xfrm>
                <a:off x="340630" y="5162477"/>
                <a:ext cx="11506106" cy="571573"/>
                <a:chOff x="340630" y="5042762"/>
                <a:chExt cx="11506106" cy="447972"/>
              </a:xfrm>
            </p:grpSpPr>
            <p:sp>
              <p:nvSpPr>
                <p:cNvPr id="41" name="Rectangle: Rounded Corners 10">
                  <a:extLst>
                    <a:ext uri="{FF2B5EF4-FFF2-40B4-BE49-F238E27FC236}">
                      <a16:creationId xmlns:a16="http://schemas.microsoft.com/office/drawing/2014/main" id="{503998B5-3860-0C6E-DF60-CB3DD2AC7353}"/>
                    </a:ext>
                  </a:extLst>
                </p:cNvPr>
                <p:cNvSpPr/>
                <p:nvPr/>
              </p:nvSpPr>
              <p:spPr>
                <a:xfrm>
                  <a:off x="340630" y="5042762"/>
                  <a:ext cx="2328700" cy="447972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solidFill>
                    <a:schemeClr val="accent3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pt-BR" sz="1200" b="1">
                      <a:solidFill>
                        <a:schemeClr val="bg1"/>
                      </a:solidFill>
                    </a:rPr>
                    <a:t>Desdobramento de Custos</a:t>
                  </a:r>
                </a:p>
              </p:txBody>
            </p:sp>
            <p:sp>
              <p:nvSpPr>
                <p:cNvPr id="58" name="Rectangle: Rounded Corners 42">
                  <a:extLst>
                    <a:ext uri="{FF2B5EF4-FFF2-40B4-BE49-F238E27FC236}">
                      <a16:creationId xmlns:a16="http://schemas.microsoft.com/office/drawing/2014/main" id="{7F148E1F-6A2F-722F-576E-C2C45965F7C8}"/>
                    </a:ext>
                  </a:extLst>
                </p:cNvPr>
                <p:cNvSpPr/>
                <p:nvPr/>
              </p:nvSpPr>
              <p:spPr>
                <a:xfrm>
                  <a:off x="2753474" y="5043233"/>
                  <a:ext cx="9093262" cy="447048"/>
                </a:xfrm>
                <a:prstGeom prst="homePlat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3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20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Rectangle: Rounded Corners 15">
              <a:extLst>
                <a:ext uri="{FF2B5EF4-FFF2-40B4-BE49-F238E27FC236}">
                  <a16:creationId xmlns:a16="http://schemas.microsoft.com/office/drawing/2014/main" id="{C6347A0F-0B9C-4B7B-8A60-6E88FB006D7B}"/>
                </a:ext>
              </a:extLst>
            </p:cNvPr>
            <p:cNvSpPr/>
            <p:nvPr/>
          </p:nvSpPr>
          <p:spPr>
            <a:xfrm>
              <a:off x="7341522" y="1457137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01/27</a:t>
              </a:r>
            </a:p>
          </p:txBody>
        </p:sp>
        <p:sp>
          <p:nvSpPr>
            <p:cNvPr id="10" name="Rectangle: Rounded Corners 20">
              <a:extLst>
                <a:ext uri="{FF2B5EF4-FFF2-40B4-BE49-F238E27FC236}">
                  <a16:creationId xmlns:a16="http://schemas.microsoft.com/office/drawing/2014/main" id="{BF03F1BC-A1EE-20EF-A455-2AA3CF734B6C}"/>
                </a:ext>
              </a:extLst>
            </p:cNvPr>
            <p:cNvSpPr/>
            <p:nvPr/>
          </p:nvSpPr>
          <p:spPr>
            <a:xfrm>
              <a:off x="8876619" y="1457137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02/27</a:t>
              </a:r>
            </a:p>
          </p:txBody>
        </p:sp>
        <p:sp>
          <p:nvSpPr>
            <p:cNvPr id="13" name="Rectangle: Rounded Corners 21">
              <a:extLst>
                <a:ext uri="{FF2B5EF4-FFF2-40B4-BE49-F238E27FC236}">
                  <a16:creationId xmlns:a16="http://schemas.microsoft.com/office/drawing/2014/main" id="{6B26EE98-A95A-DDB7-EDA7-C4954AF3FEED}"/>
                </a:ext>
              </a:extLst>
            </p:cNvPr>
            <p:cNvSpPr/>
            <p:nvPr/>
          </p:nvSpPr>
          <p:spPr>
            <a:xfrm>
              <a:off x="10411716" y="1457137"/>
              <a:ext cx="1434995" cy="46957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03/27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898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56CA-8BA8-0B49-4252-CDB6CE5A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E8788-D2D0-D69B-43ED-C7E786C1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Rota 2030 fechou o mapeamento dos macroprocessos e abre a reestruturação de Produtos; a Bússola já mostra onde o lucro cai e passa a abrir charge a charge e detalhar agentes e rotas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F98C5A-749A-5D00-F6A1-3DC177500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Status Report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E51A8A-B041-EDBD-CEE7-1C49F0A18B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Detalhamento das frentes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A4682EC-5B2C-6971-54C8-DE58274A83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Fonte: ATY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3453953-DFDF-314E-656C-95E7DFFDBEEE}"/>
              </a:ext>
            </a:extLst>
          </p:cNvPr>
          <p:cNvCxnSpPr/>
          <p:nvPr/>
        </p:nvCxnSpPr>
        <p:spPr>
          <a:xfrm>
            <a:off x="6101190" y="1710112"/>
            <a:ext cx="0" cy="460123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 10">
            <a:extLst>
              <a:ext uri="{FF2B5EF4-FFF2-40B4-BE49-F238E27FC236}">
                <a16:creationId xmlns:a16="http://schemas.microsoft.com/office/drawing/2014/main" id="{917ADBF6-4000-6030-1C00-968386DD084A}"/>
              </a:ext>
            </a:extLst>
          </p:cNvPr>
          <p:cNvSpPr/>
          <p:nvPr/>
        </p:nvSpPr>
        <p:spPr>
          <a:xfrm>
            <a:off x="330675" y="1710112"/>
            <a:ext cx="5693885" cy="45460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Rota 2030 + </a:t>
            </a:r>
            <a:r>
              <a:rPr lang="pt-BR" sz="1400" b="1" dirty="0" err="1">
                <a:solidFill>
                  <a:schemeClr val="bg1"/>
                </a:solidFill>
              </a:rPr>
              <a:t>Action</a:t>
            </a:r>
            <a:r>
              <a:rPr lang="pt-BR" sz="1400" b="1" dirty="0">
                <a:solidFill>
                  <a:schemeClr val="bg1"/>
                </a:solidFill>
              </a:rPr>
              <a:t> AI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1C175AA-348F-4BC2-85B9-EA59FD9A07C0}"/>
              </a:ext>
            </a:extLst>
          </p:cNvPr>
          <p:cNvSpPr/>
          <p:nvPr/>
        </p:nvSpPr>
        <p:spPr>
          <a:xfrm>
            <a:off x="341321" y="2302390"/>
            <a:ext cx="5693876" cy="3968381"/>
          </a:xfrm>
          <a:prstGeom prst="roundRect">
            <a:avLst>
              <a:gd name="adj" fmla="val 325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6E0EA"/>
            </a:solidFill>
            <a:prstDash val="solid"/>
          </a:ln>
          <a:effectLst>
            <a:outerShdw blurRad="114300" dist="38100" dir="5400000" algn="bl" rotWithShape="0">
              <a:srgbClr val="0E2A47">
                <a:alpha val="15000"/>
              </a:srgbClr>
            </a:outerShdw>
          </a:effectLst>
        </p:spPr>
        <p:txBody>
          <a:bodyPr anchor="t"/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Status atual da frente: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Avanço de 34% na frente cold </a:t>
            </a:r>
            <a:r>
              <a:rPr lang="pt-BR" sz="1300" b="1" dirty="0" err="1">
                <a:ea typeface="Calibri" pitchFamily="34" charset="-122"/>
                <a:cs typeface="Calibri" pitchFamily="34" charset="-120"/>
              </a:rPr>
              <a:t>chain</a:t>
            </a:r>
            <a:r>
              <a:rPr lang="pt-BR" sz="1300" b="1" dirty="0"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0858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a typeface="Calibri" pitchFamily="34" charset="-122"/>
                <a:cs typeface="Calibri" pitchFamily="34" charset="-120"/>
              </a:rPr>
              <a:t>Blocos </a:t>
            </a:r>
            <a:r>
              <a:rPr lang="pt-BR" sz="1400" b="1" dirty="0">
                <a:solidFill>
                  <a:srgbClr val="333333"/>
                </a:solidFill>
                <a:latin typeface="Arial"/>
              </a:rPr>
              <a:t>Visão geral da área, Fornecedores e parceiros </a:t>
            </a:r>
            <a:r>
              <a:rPr lang="pt-BR" sz="1400" dirty="0">
                <a:solidFill>
                  <a:srgbClr val="333333"/>
                </a:solidFill>
                <a:latin typeface="Arial"/>
              </a:rPr>
              <a:t>e </a:t>
            </a:r>
            <a:r>
              <a:rPr lang="pt-BR" sz="1400" b="1" dirty="0">
                <a:solidFill>
                  <a:srgbClr val="333333"/>
                </a:solidFill>
                <a:latin typeface="Arial"/>
              </a:rPr>
              <a:t>Estrutura e contatos-chave </a:t>
            </a:r>
            <a:r>
              <a:rPr lang="pt-BR" sz="1400" dirty="0">
                <a:solidFill>
                  <a:srgbClr val="333333"/>
                </a:solidFill>
                <a:latin typeface="Arial"/>
              </a:rPr>
              <a:t>com </a:t>
            </a:r>
            <a:r>
              <a:rPr lang="pt-BR" sz="1400" b="1" dirty="0">
                <a:solidFill>
                  <a:srgbClr val="333333"/>
                </a:solidFill>
                <a:latin typeface="Arial"/>
              </a:rPr>
              <a:t>avanço &gt;50%</a:t>
            </a:r>
          </a:p>
          <a:p>
            <a:pPr marL="10858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33333"/>
                </a:solidFill>
                <a:latin typeface="Arial"/>
              </a:rPr>
              <a:t>Demais blocos com avanços incipientes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b="1" dirty="0" err="1">
                <a:solidFill>
                  <a:srgbClr val="333333"/>
                </a:solidFill>
                <a:latin typeface="Arial"/>
              </a:rPr>
              <a:t>Action</a:t>
            </a:r>
            <a:r>
              <a:rPr lang="pt-BR" sz="1400" b="1" dirty="0">
                <a:solidFill>
                  <a:srgbClr val="333333"/>
                </a:solidFill>
                <a:latin typeface="Arial"/>
              </a:rPr>
              <a:t> AI com mapeamento solicitado ao time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latin typeface="Arial"/>
              </a:rPr>
              <a:t>Cards dos projetos elaborados pelo time em revisão pela ATY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Próximos passos:</a:t>
            </a:r>
            <a:endParaRPr lang="pt-BR" sz="300" b="1" dirty="0"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dirty="0" err="1">
                <a:ea typeface="Calibri" pitchFamily="34" charset="-122"/>
                <a:cs typeface="Calibri" pitchFamily="34" charset="-120"/>
              </a:rPr>
              <a:t>Kick</a:t>
            </a:r>
            <a:r>
              <a:rPr lang="pt-BR" sz="1300" dirty="0">
                <a:ea typeface="Calibri" pitchFamily="34" charset="-122"/>
                <a:cs typeface="Calibri" pitchFamily="34" charset="-120"/>
              </a:rPr>
              <a:t> off frente de SLA para 05/10/2024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Continuidade com reuniões com Head Cold Chain e diretos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Checkpoint com sócios para apresentação do </a:t>
            </a:r>
            <a:r>
              <a:rPr lang="pt-BR" sz="1300" b="1" dirty="0" err="1">
                <a:ea typeface="Calibri" pitchFamily="34" charset="-122"/>
                <a:cs typeface="Calibri" pitchFamily="34" charset="-120"/>
              </a:rPr>
              <a:t>Playbook</a:t>
            </a:r>
            <a:r>
              <a:rPr lang="pt-BR" sz="1300" b="1" dirty="0">
                <a:ea typeface="Calibri" pitchFamily="34" charset="-122"/>
                <a:cs typeface="Calibri" pitchFamily="34" charset="-120"/>
              </a:rPr>
              <a:t> Cold Chain – WIP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Correção de Rota do projeto de </a:t>
            </a:r>
            <a:r>
              <a:rPr lang="pt-BR" sz="1300" b="1" dirty="0" err="1">
                <a:ea typeface="Calibri" pitchFamily="34" charset="-122"/>
                <a:cs typeface="Calibri" pitchFamily="34" charset="-120"/>
              </a:rPr>
              <a:t>Action</a:t>
            </a:r>
            <a:r>
              <a:rPr lang="pt-BR" sz="1300" b="1" dirty="0">
                <a:ea typeface="Calibri" pitchFamily="34" charset="-122"/>
                <a:cs typeface="Calibri" pitchFamily="34" charset="-120"/>
              </a:rPr>
              <a:t> IA com foco nos projetos priorizados pela diretoria</a:t>
            </a:r>
          </a:p>
        </p:txBody>
      </p:sp>
      <p:sp>
        <p:nvSpPr>
          <p:cNvPr id="22" name="Retângulo 10">
            <a:extLst>
              <a:ext uri="{FF2B5EF4-FFF2-40B4-BE49-F238E27FC236}">
                <a16:creationId xmlns:a16="http://schemas.microsoft.com/office/drawing/2014/main" id="{83512EBB-139D-00AE-75FE-0D167A00E362}"/>
              </a:ext>
            </a:extLst>
          </p:cNvPr>
          <p:cNvSpPr/>
          <p:nvPr/>
        </p:nvSpPr>
        <p:spPr>
          <a:xfrm>
            <a:off x="6203033" y="1710112"/>
            <a:ext cx="5693885" cy="454605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b="1">
                <a:solidFill>
                  <a:schemeClr val="bg1"/>
                </a:solidFill>
              </a:rPr>
              <a:t>Bússola + Custo de Servir + Desdobramento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EB7859EF-CFCF-E150-BAB2-A121C38BD1D6}"/>
              </a:ext>
            </a:extLst>
          </p:cNvPr>
          <p:cNvSpPr/>
          <p:nvPr/>
        </p:nvSpPr>
        <p:spPr>
          <a:xfrm>
            <a:off x="6178081" y="2302390"/>
            <a:ext cx="5693876" cy="3968381"/>
          </a:xfrm>
          <a:prstGeom prst="roundRect">
            <a:avLst>
              <a:gd name="adj" fmla="val 3256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6E0EA"/>
            </a:solidFill>
            <a:prstDash val="solid"/>
          </a:ln>
          <a:effectLst>
            <a:outerShdw blurRad="114300" dist="38100" dir="5400000" algn="bl" rotWithShape="0">
              <a:srgbClr val="0E2A47">
                <a:alpha val="15000"/>
              </a:srgbClr>
            </a:outerShdw>
          </a:effectLst>
        </p:spPr>
        <p:txBody>
          <a:bodyPr lIns="36000" rIns="36000" anchor="t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Status atual da frente:</a:t>
            </a:r>
            <a:endParaRPr lang="pt-BR" sz="13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b="1" dirty="0"/>
              <a:t>Bússola inicial do lucro montada</a:t>
            </a:r>
            <a:r>
              <a:rPr lang="pt-BR" sz="1300" dirty="0"/>
              <a:t>: queda do lucro por ciclo e modal, efeito do câmbio e serviços.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b="1" dirty="0"/>
              <a:t>Frete por rota normalizado pela distância</a:t>
            </a:r>
            <a:r>
              <a:rPr lang="pt-BR" sz="1300" dirty="0"/>
              <a:t> e o caso </a:t>
            </a:r>
            <a:r>
              <a:rPr lang="pt-BR" sz="1300" b="1" dirty="0"/>
              <a:t>Miami x Houston</a:t>
            </a:r>
            <a:r>
              <a:rPr lang="pt-BR" sz="1300" dirty="0"/>
              <a:t> no modal aéreo.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dirty="0"/>
              <a:t>Entendimento da relação entre quantidade de embarques e peso taxável semanalmente na rota </a:t>
            </a:r>
            <a:r>
              <a:rPr lang="pt-BR" sz="1300" b="1" dirty="0"/>
              <a:t>MIA→GIG</a:t>
            </a:r>
            <a:r>
              <a:rPr lang="pt-BR" sz="13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dirty="0"/>
              <a:t>Inclusão do </a:t>
            </a:r>
            <a:r>
              <a:rPr lang="pt-BR" sz="1300" b="1" dirty="0"/>
              <a:t>tipo de carga </a:t>
            </a:r>
            <a:r>
              <a:rPr lang="pt-BR" sz="1300" dirty="0"/>
              <a:t>nas análises de frete.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b="1" dirty="0"/>
              <a:t>Rankings de charges </a:t>
            </a:r>
            <a:r>
              <a:rPr lang="pt-BR" sz="1300" dirty="0"/>
              <a:t>mais simples para análise inicial</a:t>
            </a:r>
          </a:p>
          <a:p>
            <a:pPr lvl="1"/>
            <a:endParaRPr lang="pt-BR" sz="13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300" b="1" dirty="0">
                <a:ea typeface="Calibri" pitchFamily="34" charset="-122"/>
                <a:cs typeface="Calibri" pitchFamily="34" charset="-120"/>
              </a:rPr>
              <a:t>Próximos passos:</a:t>
            </a:r>
            <a:endParaRPr lang="pt-BR" sz="300" b="1" dirty="0"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300" b="1" dirty="0"/>
              <a:t>Aprofundamento em charges </a:t>
            </a:r>
            <a:r>
              <a:rPr lang="pt-BR" sz="1300" dirty="0"/>
              <a:t>com foco no aéreo, começando das mais simples (como Delivery e Desconsolidação) para as mais complexas, analisando as mais de 70 charges da mesma forma</a:t>
            </a:r>
          </a:p>
        </p:txBody>
      </p:sp>
    </p:spTree>
    <p:extLst>
      <p:ext uri="{BB962C8B-B14F-4D97-AF65-F5344CB8AC3E}">
        <p14:creationId xmlns:p14="http://schemas.microsoft.com/office/powerpoint/2010/main" val="308672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2586-CF33-2B03-2A8E-0977E5C0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D70F649E-EFA0-3DD0-E67E-CD706CF361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21" imgH="423" progId="TCLayout.ActiveDocument.1">
                  <p:embed/>
                </p:oleObj>
              </mc:Choice>
              <mc:Fallback>
                <p:oleObj name="think-cell Slide" r:id="rId10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D70F649E-EFA0-3DD0-E67E-CD706CF36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25F0B456-9322-E844-3154-A51F6FB259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1DE56B-1F84-035C-F557-7D75FF08A78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pt-BR"/>
              <a:t> </a:t>
            </a:r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482AF1D5-08C1-D100-115C-35CA3D3072C8}"/>
              </a:ext>
            </a:extLst>
          </p:cNvPr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428263" y="1919052"/>
            <a:ext cx="5899385" cy="1122948"/>
          </a:xfrm>
        </p:spPr>
        <p:txBody>
          <a:bodyPr vert="horz" anchor="ctr"/>
          <a:lstStyle/>
          <a:p>
            <a:pPr algn="l" fontAlgn="auto">
              <a:spcAft>
                <a:spcPts val="600"/>
              </a:spcAft>
            </a:pPr>
            <a:r>
              <a:rPr lang="pt-BR" sz="3600" i="1">
                <a:solidFill>
                  <a:schemeClr val="bg1"/>
                </a:solidFill>
              </a:rPr>
              <a:t>Obrigado!</a:t>
            </a:r>
            <a:endParaRPr lang="pt-BR" sz="2000" i="1">
              <a:solidFill>
                <a:schemeClr val="bg1"/>
              </a:solidFill>
            </a:endParaRP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BCE95F19-7716-1B09-229E-035C8FD40C8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28263" y="3218068"/>
            <a:ext cx="4642767" cy="276999"/>
          </a:xfrm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pt-BR"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1FF828-73A2-4911-17BF-F60B4E9DA05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1250" y="5941982"/>
            <a:ext cx="1368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chemeClr val="bg1"/>
                </a:solidFill>
                <a:latin typeface="Bradley Hand ITC" panose="03070402050302030203" pitchFamily="66" charset="0"/>
              </a:rPr>
              <a:t>ATY</a:t>
            </a:r>
          </a:p>
        </p:txBody>
      </p:sp>
      <p:pic>
        <p:nvPicPr>
          <p:cNvPr id="42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B3D8FB7D-044E-E577-DBA0-2F8FF2E3EC9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810249" y="4055693"/>
            <a:ext cx="6381751" cy="28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093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dQEAAA=="/>
  <p:tag name="POWER_USER_PPT_AGENDA_PRESENTATION_TABLE_OF_CONTENT_STYLE_TAG" val="1"/>
  <p:tag name="POWER_USER_PPT_AGENDA_PRESENTATION_DIVIDERS_STYLE_TAG" val="POWER_USER_LAYOUT_DIVIDER_CUSTOM"/>
  <p:tag name="POWER_USER_PPT_AGENDA_PRESENTATION_SHOW_SECTION_NUMBERS_CHECKED_TAG" val="1"/>
  <p:tag name="POWER_USER_PPT_AGENDA_PRESENTATION_TABLE_OF_CONTENT_CHECKED_TAG" val="1"/>
  <p:tag name="POWER_USER_PPT_AGENDA_PRESENTATION_SHOULD_CREATE_TABLE_OF_CONTENT_TAG" val="0"/>
  <p:tag name="POWER_USER_PPT_AGENDA_PRESENTATION_DIVIDERS_CHECKED_TAG" val="0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8.514282,&quot;MarginTop&quot;:132.616211,&quot;MarginBottom&quot;:162.681061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3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  <p:tag name="SMART" val="&lt;smart xmlns:xsd=&quot;http://www.w3.org/2001/XMLSchema&quot; xmlns:xsi=&quot;http://www.w3.org/2001/XMLSchema-instance&quot;&gt;&lt;presentationSettings&gt;&lt;agenda createSections=&quot;true&quot; enableNavigation=&quot;false&quot; hideNavigationUnderline=&quot;false&quot; id=&quot;1a51685d-0f5e-459a-b9da-b395655376c0&quot; isSaved=&quot;false&quot; isTouched=&quot;false&quot; mode=&quot;Agenda&quot; showDuration=&quot;false&quot; showHeaders=&quot;false&quot; showOnlyStartTime=&quot;false&quot; showPageNumber=&quot;false&quot; showResponsible=&quot;false&quot; showSubTopics=&quot;false&quot; showTimeSlot=&quot;false&quot; showTopicNumber=&quot;false&quot; slidesForSubTopics=&quot;false&quot; timeFormat=&quot;396611c8-d43d-4486-886a-4656dcc502a6&quot;&gt;&lt;columns&gt;&lt;column displayIndex=&quot;0&quot; header=&quot;#&quot; id=&quot;8fc7e105-5a32-4a72-bc85-7d3ff1e7b9d7&quot; visible=&quot;true&quot; width=&quot;170&quot; /&gt;&lt;column displayIndex=&quot;1&quot; header=&quot;Agenda Topic Number 1&quot; id=&quot;8f81a0ad-7497-4bbb-a001-838bad8c0faa&quot; visible=&quot;true&quot; width=&quot;160&quot; /&gt;&lt;column displayIndex=&quot;2&quot; header=&quot;Responsible&quot; id=&quot;2f9b06db-11e3-45bc-aecb-cf6141b9856b&quot; visible=&quot;true&quot; width=&quot;165&quot; /&gt;&lt;column displayIndex=&quot;3&quot; header=&quot;Min.&quot; id=&quot;99d05e97-02f5-4087-be8e-b10736e0c9ca&quot; visible=&quot;true&quot; width=&quot;150&quot; /&gt;&lt;column displayIndex=&quot;4&quot; header=&quot;Time&quot; id=&quot;fd356bfd-687f-40e8-b861-574837edbc46&quot; visible=&quot;true&quot; width=&quot;180&quot; /&gt;&lt;column displayIndex=&quot;5&quot; header=&quot;Page&quot; id=&quot;db91063f-fada-4f32-86c9-9368cd93fa26&quot; visible=&quot;true&quot; width=&quot;170&quot; /&gt;&lt;/columns&gt;&lt;layout id=&quot;1077&quot; name=&quot;Box Agenda&quot; /&gt;&lt;rows&gt;&lt;row duration=&quot;30&quot; id=&quot;0bddfcf4-0934-4932-ae21-d893299a8140&quot; slideNumber=&quot;0&quot; topic=&quot;Abordagem&quot; topicNumber=&quot;1&quot;&gt;&lt;values /&gt;&lt;StartTime&gt;PT9H&lt;/StartTime&gt;&lt;/row&gt;&lt;row duration=&quot;30&quot; id=&quot;b282d535-c388-4bce-ad41-61562abd6a99&quot; slideNumber=&quot;0&quot; topic=&quot;Equipe&quot; topicNumber=&quot;2&quot;&gt;&lt;values /&gt;&lt;StartTime&gt;PT9H30M&lt;/StartTime&gt;&lt;/row&gt;&lt;row duration=&quot;30&quot; id=&quot;6f085785-0e6a-416a-b8f3-60ef267af50c&quot; slideNumber=&quot;0&quot; topic=&quot;Comercial&quot; topicNumber=&quot;3&quot;&gt;&lt;values /&gt;&lt;StartTime&gt;PT10H&lt;/StartTime&gt;&lt;/row&gt;&lt;row duration=&quot;30&quot; id=&quot;4fc379a2-97da-41bd-b527-c5186f0e6050&quot; slideNumber=&quot;0&quot; topic=&quot;Cases&quot; topicNumber=&quot;4&quot;&gt;&lt;values /&gt;&lt;StartTime&gt;PT10H30M&lt;/StartTime&gt;&lt;/row&gt;&lt;/rows&gt;&lt;/agenda&gt;&lt;/presentationSettings&gt;&lt;/smar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7CCA89B0758541BF11A4EAA1F2ACAB" ma:contentTypeVersion="12" ma:contentTypeDescription="Create a new document." ma:contentTypeScope="" ma:versionID="74fdf47dae72a1d9d977c2df6cb144fc">
  <xsd:schema xmlns:xsd="http://www.w3.org/2001/XMLSchema" xmlns:xs="http://www.w3.org/2001/XMLSchema" xmlns:p="http://schemas.microsoft.com/office/2006/metadata/properties" xmlns:ns3="0efc0232-82fe-4533-96a1-02510e00692b" targetNamespace="http://schemas.microsoft.com/office/2006/metadata/properties" ma:root="true" ma:fieldsID="48afc7e2c1b0ec344d0cc8d0ef08b3c4" ns3:_="">
    <xsd:import namespace="0efc0232-82fe-4533-96a1-02510e00692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c0232-82fe-4533-96a1-02510e00692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fc0232-82fe-4533-96a1-02510e00692b" xsi:nil="true"/>
  </documentManagement>
</p:properties>
</file>

<file path=customXml/itemProps1.xml><?xml version="1.0" encoding="utf-8"?>
<ds:datastoreItem xmlns:ds="http://schemas.openxmlformats.org/officeDocument/2006/customXml" ds:itemID="{59D90352-7D0A-4C9E-B1C6-06644330B1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764D14-9DFA-4960-9EC4-E83D0D9FBD76}">
  <ds:schemaRefs>
    <ds:schemaRef ds:uri="0efc0232-82fe-4533-96a1-02510e0069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0DB7E4-6410-4C32-99FA-1E1DB469B3CD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0efc0232-82fe-4533-96a1-02510e00692b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</TotalTime>
  <Words>343</Words>
  <Application>Microsoft Office PowerPoint</Application>
  <PresentationFormat>Widescreen</PresentationFormat>
  <Paragraphs>54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Main_Analytics</vt:lpstr>
      <vt:lpstr>Status report</vt:lpstr>
      <vt:lpstr>Cinco frentes em andamento nos próximos meses: Rota 2030, Bússola, Custo de Servir e Desdobramento seguem o ciclo inteiro, e Action IA + Processos fecha em 12/26</vt:lpstr>
      <vt:lpstr>Rota 2030 fechou o mapeamento dos macroprocessos e abre a reestruturação de Produtos; a Bússola já mostra onde o lucro cai e passa a abrir charge a charge e detalhar agentes e rotas</vt:lpstr>
      <vt:lpstr>Obrigado!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Validação de dados</dc:title>
  <dc:creator>Joao Victor Lopes De Paula</dc:creator>
  <cp:keywords/>
  <cp:lastModifiedBy>Gustavo  Horta</cp:lastModifiedBy>
  <cp:revision>2</cp:revision>
  <dcterms:created xsi:type="dcterms:W3CDTF">2023-01-09T20:59:58Z</dcterms:created>
  <dcterms:modified xsi:type="dcterms:W3CDTF">2026-10-29T21:45:23Z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0x010100E17CCA89B0758541BF11A4EAA1F2ACAB</vt:lpwstr>
  </property>
</Properties>
</file>