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4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colorstyle+xml" PartName="/ppt/charts/colors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3.xml"/>
  <Override ContentType="application/vnd.ms-office.chartstyle+xml" PartName="/ppt/charts/style4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6858000" cy="9144000"/>
  <p:embeddedFontLst>
    <p:embeddedFont>
      <p:font typeface="Kanit SemiBold"/>
      <p:regular r:id="rId46"/>
      <p:bold r:id="rId47"/>
      <p:italic r:id="rId48"/>
      <p:boldItalic r:id="rId49"/>
    </p:embeddedFont>
    <p:embeddedFont>
      <p:font typeface="Work Sans"/>
      <p:regular r:id="rId50"/>
      <p:bold r:id="rId51"/>
      <p:italic r:id="rId52"/>
      <p:boldItalic r:id="rId53"/>
    </p:embeddedFont>
    <p:embeddedFont>
      <p:font typeface="Kanit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8" roundtripDataSignature="AMtx7mgSsEw8US8TBeXRkgndFAZuf9Be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font" Target="fonts/KanitSemiBold-regular.fntdata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KanitSemiBold-italic.fntdata"/><Relationship Id="rId47" Type="http://schemas.openxmlformats.org/officeDocument/2006/relationships/font" Target="fonts/KanitSemiBold-bold.fntdata"/><Relationship Id="rId49" Type="http://schemas.openxmlformats.org/officeDocument/2006/relationships/font" Target="fonts/KanitSemi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WorkSans-bold.fntdata"/><Relationship Id="rId50" Type="http://schemas.openxmlformats.org/officeDocument/2006/relationships/font" Target="fonts/WorkSans-regular.fntdata"/><Relationship Id="rId53" Type="http://schemas.openxmlformats.org/officeDocument/2006/relationships/font" Target="fonts/WorkSans-boldItalic.fntdata"/><Relationship Id="rId52" Type="http://schemas.openxmlformats.org/officeDocument/2006/relationships/font" Target="fonts/WorkSans-italic.fntdata"/><Relationship Id="rId11" Type="http://schemas.openxmlformats.org/officeDocument/2006/relationships/slide" Target="slides/slide7.xml"/><Relationship Id="rId55" Type="http://schemas.openxmlformats.org/officeDocument/2006/relationships/font" Target="fonts/Kanit-bold.fntdata"/><Relationship Id="rId10" Type="http://schemas.openxmlformats.org/officeDocument/2006/relationships/slide" Target="slides/slide6.xml"/><Relationship Id="rId54" Type="http://schemas.openxmlformats.org/officeDocument/2006/relationships/font" Target="fonts/Kanit-regular.fntdata"/><Relationship Id="rId13" Type="http://schemas.openxmlformats.org/officeDocument/2006/relationships/slide" Target="slides/slide9.xml"/><Relationship Id="rId57" Type="http://schemas.openxmlformats.org/officeDocument/2006/relationships/font" Target="fonts/Kanit-boldItalic.fntdata"/><Relationship Id="rId12" Type="http://schemas.openxmlformats.org/officeDocument/2006/relationships/slide" Target="slides/slide8.xml"/><Relationship Id="rId56" Type="http://schemas.openxmlformats.org/officeDocument/2006/relationships/font" Target="fonts/Kanit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8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Book1" TargetMode="External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Book1" TargetMode="External"/></Relationships>
</file>

<file path=ppt/charts/_rels/chart3.xml.rels><?xml version="1.0" encoding="UTF-8" standalone="yes"?>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Book1" TargetMode="External"/></Relationships>
</file>

<file path=ppt/charts/_rels/chart4.xml.rels><?xml version="1.0" encoding="UTF-8" standalone="yes"?>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600" b="1">
                <a:latin typeface="Arial" panose="020B0604020202020204" pitchFamily="34" charset="0"/>
              </a:rPr>
              <a:t>Ganhos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1272D"/>
            </a:solidFill>
            <a:ln>
              <a:noFill/>
            </a:ln>
            <a:effectLst/>
          </c:spPr>
          <c:invertIfNegative val="0"/>
          <c:cat>
            <c:strRef>
              <c:f>Sheet1!$F$3:$F$6</c:f>
              <c:strCache>
                <c:ptCount val="4"/>
                <c:pt idx="0">
                  <c:v>Patrocínio</c:v>
                </c:pt>
                <c:pt idx="1">
                  <c:v>Preço dos ingressos</c:v>
                </c:pt>
                <c:pt idx="2">
                  <c:v>Diretos de mídia</c:v>
                </c:pt>
                <c:pt idx="3">
                  <c:v>Merchandising</c:v>
                </c:pt>
              </c:strCache>
            </c:strRef>
          </c:cat>
          <c:val>
            <c:numRef>
              <c:f>Sheet1!$G$3:$G$6</c:f>
              <c:numCache>
                <c:formatCode>0%</c:formatCode>
                <c:ptCount val="4"/>
                <c:pt idx="0">
                  <c:v>0.08</c:v>
                </c:pt>
                <c:pt idx="1">
                  <c:v>0.05</c:v>
                </c:pt>
                <c:pt idx="2">
                  <c:v>0.04</c:v>
                </c:pt>
                <c:pt idx="3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23-4DCB-B313-81E5BED6A2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7"/>
        <c:axId val="1708381183"/>
        <c:axId val="1708378687"/>
      </c:barChart>
      <c:catAx>
        <c:axId val="1708381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08378687"/>
        <c:crosses val="autoZero"/>
        <c:auto val="1"/>
        <c:lblAlgn val="ctr"/>
        <c:lblOffset val="100"/>
        <c:noMultiLvlLbl val="0"/>
      </c:catAx>
      <c:valAx>
        <c:axId val="1708378687"/>
        <c:scaling>
          <c:orientation val="minMax"/>
          <c:max val="8.0000000000000016E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083811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600" b="1">
                <a:latin typeface="Arial" panose="020B0604020202020204" pitchFamily="34" charset="0"/>
              </a:rPr>
              <a:t>Custos - Benchmarking</a:t>
            </a:r>
            <a:r>
              <a:rPr lang="pt-BR" sz="1600" b="1" baseline="0">
                <a:latin typeface="Arial" panose="020B0604020202020204" pitchFamily="34" charset="0"/>
              </a:rPr>
              <a:t> liga</a:t>
            </a:r>
            <a:endParaRPr lang="pt-BR" sz="1600" b="1">
              <a:latin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826-4FF6-BB60-D4AD0A3CFF06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826-4FF6-BB60-D4AD0A3CFF06}"/>
              </c:ext>
            </c:extLst>
          </c:dPt>
          <c:dPt>
            <c:idx val="2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826-4FF6-BB60-D4AD0A3CFF06}"/>
              </c:ext>
            </c:extLst>
          </c:dPt>
          <c:dPt>
            <c:idx val="3"/>
            <c:bubble3D val="0"/>
            <c:spPr>
              <a:solidFill>
                <a:srgbClr val="C1272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826-4FF6-BB60-D4AD0A3CFF0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Sheet1!$B$2:$B$5</c:f>
              <c:strCache>
                <c:ptCount val="4"/>
                <c:pt idx="0">
                  <c:v>Manutenção do estádio</c:v>
                </c:pt>
                <c:pt idx="1">
                  <c:v>Vendas e Marketing</c:v>
                </c:pt>
                <c:pt idx="2">
                  <c:v>Administrativo</c:v>
                </c:pt>
                <c:pt idx="3">
                  <c:v>Salários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0.1</c:v>
                </c:pt>
                <c:pt idx="1">
                  <c:v>0.2</c:v>
                </c:pt>
                <c:pt idx="2">
                  <c:v>0.1</c:v>
                </c:pt>
                <c:pt idx="3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826-4FF6-BB60-D4AD0A3CFF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474538082362245"/>
          <c:y val="0.27631383731261305"/>
          <c:w val="0.32525449776248122"/>
          <c:h val="0.5666047511506794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600" b="1">
                <a:latin typeface="Arial" panose="020B0604020202020204" pitchFamily="34" charset="0"/>
              </a:rPr>
              <a:t>Ganhos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1272D"/>
            </a:solidFill>
            <a:ln>
              <a:noFill/>
            </a:ln>
            <a:effectLst/>
          </c:spPr>
          <c:invertIfNegative val="0"/>
          <c:cat>
            <c:strRef>
              <c:f>Sheet1!$F$3:$F$6</c:f>
              <c:strCache>
                <c:ptCount val="4"/>
                <c:pt idx="0">
                  <c:v>Patrocínio</c:v>
                </c:pt>
                <c:pt idx="1">
                  <c:v>Preço dos ingressos</c:v>
                </c:pt>
                <c:pt idx="2">
                  <c:v>Diretos de mídia</c:v>
                </c:pt>
                <c:pt idx="3">
                  <c:v>Merchandising</c:v>
                </c:pt>
              </c:strCache>
            </c:strRef>
          </c:cat>
          <c:val>
            <c:numRef>
              <c:f>Sheet1!$G$3:$G$6</c:f>
              <c:numCache>
                <c:formatCode>0%</c:formatCode>
                <c:ptCount val="4"/>
                <c:pt idx="0">
                  <c:v>0.08</c:v>
                </c:pt>
                <c:pt idx="1">
                  <c:v>0.05</c:v>
                </c:pt>
                <c:pt idx="2">
                  <c:v>0.04</c:v>
                </c:pt>
                <c:pt idx="3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6E-4620-BAE6-FC3F4C4D3C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7"/>
        <c:axId val="1708381183"/>
        <c:axId val="1708378687"/>
      </c:barChart>
      <c:catAx>
        <c:axId val="1708381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08378687"/>
        <c:crosses val="autoZero"/>
        <c:auto val="1"/>
        <c:lblAlgn val="ctr"/>
        <c:lblOffset val="100"/>
        <c:noMultiLvlLbl val="0"/>
      </c:catAx>
      <c:valAx>
        <c:axId val="1708378687"/>
        <c:scaling>
          <c:orientation val="minMax"/>
          <c:max val="8.0000000000000016E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083811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600" b="1">
                <a:latin typeface="Arial" panose="020B0604020202020204" pitchFamily="34" charset="0"/>
              </a:rPr>
              <a:t>Custos - Benchmarking</a:t>
            </a:r>
            <a:r>
              <a:rPr lang="pt-BR" sz="1600" b="1" baseline="0">
                <a:latin typeface="Arial" panose="020B0604020202020204" pitchFamily="34" charset="0"/>
              </a:rPr>
              <a:t> liga</a:t>
            </a:r>
            <a:endParaRPr lang="pt-BR" sz="1600" b="1">
              <a:latin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FFF9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8CA-471F-9B01-20EB55C98CA0}"/>
              </c:ext>
            </c:extLst>
          </c:dPt>
          <c:dPt>
            <c:idx val="1"/>
            <c:bubble3D val="0"/>
            <c:spPr>
              <a:solidFill>
                <a:srgbClr val="66CC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8CA-471F-9B01-20EB55C98CA0}"/>
              </c:ext>
            </c:extLst>
          </c:dPt>
          <c:dPt>
            <c:idx val="2"/>
            <c:bubble3D val="0"/>
            <c:spPr>
              <a:solidFill>
                <a:srgbClr val="CCFF3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8CA-471F-9B01-20EB55C98CA0}"/>
              </c:ext>
            </c:extLst>
          </c:dPt>
          <c:dPt>
            <c:idx val="3"/>
            <c:bubble3D val="0"/>
            <c:spPr>
              <a:solidFill>
                <a:srgbClr val="C1272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8CA-471F-9B01-20EB55C98CA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Sheet1!$B$2:$B$5</c:f>
              <c:strCache>
                <c:ptCount val="4"/>
                <c:pt idx="0">
                  <c:v>Manutenção do estádio</c:v>
                </c:pt>
                <c:pt idx="1">
                  <c:v>Vendas e Marketing</c:v>
                </c:pt>
                <c:pt idx="2">
                  <c:v>Administrativo</c:v>
                </c:pt>
                <c:pt idx="3">
                  <c:v>Salários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0.1</c:v>
                </c:pt>
                <c:pt idx="1">
                  <c:v>0.2</c:v>
                </c:pt>
                <c:pt idx="2">
                  <c:v>0.1</c:v>
                </c:pt>
                <c:pt idx="3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8CA-471F-9B01-20EB55C98C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699453159984089"/>
          <c:y val="0.25138261255696304"/>
          <c:w val="0.3300546840015911"/>
          <c:h val="0.629756884119511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7" name="Google Shape;737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0" name="Google Shape;750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5" name="Google Shape;785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4" name="Google Shape;7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1"/>
          <p:cNvSpPr txBox="1"/>
          <p:nvPr>
            <p:ph type="ctrTitle"/>
          </p:nvPr>
        </p:nvSpPr>
        <p:spPr>
          <a:xfrm>
            <a:off x="722375" y="1194750"/>
            <a:ext cx="4161900" cy="227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41"/>
          <p:cNvSpPr txBox="1"/>
          <p:nvPr>
            <p:ph idx="1" type="subTitle"/>
          </p:nvPr>
        </p:nvSpPr>
        <p:spPr>
          <a:xfrm>
            <a:off x="722375" y="3504425"/>
            <a:ext cx="4161900" cy="44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41"/>
          <p:cNvSpPr/>
          <p:nvPr>
            <p:ph idx="2" type="pic"/>
          </p:nvPr>
        </p:nvSpPr>
        <p:spPr>
          <a:xfrm>
            <a:off x="6183100" y="125"/>
            <a:ext cx="2344800" cy="5143500"/>
          </a:xfrm>
          <a:prstGeom prst="parallelogram">
            <a:avLst>
              <a:gd fmla="val 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2"/>
          <p:cNvSpPr txBox="1"/>
          <p:nvPr>
            <p:ph type="title"/>
          </p:nvPr>
        </p:nvSpPr>
        <p:spPr>
          <a:xfrm>
            <a:off x="610450" y="383528"/>
            <a:ext cx="512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" name="Google Shape;14;p42"/>
          <p:cNvSpPr txBox="1"/>
          <p:nvPr>
            <p:ph idx="2" type="title"/>
          </p:nvPr>
        </p:nvSpPr>
        <p:spPr>
          <a:xfrm>
            <a:off x="1353720" y="1300700"/>
            <a:ext cx="804600" cy="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" name="Google Shape;15;p42"/>
          <p:cNvSpPr txBox="1"/>
          <p:nvPr>
            <p:ph idx="3" type="title"/>
          </p:nvPr>
        </p:nvSpPr>
        <p:spPr>
          <a:xfrm>
            <a:off x="4183600" y="1300700"/>
            <a:ext cx="804600" cy="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" name="Google Shape;16;p42"/>
          <p:cNvSpPr txBox="1"/>
          <p:nvPr>
            <p:ph idx="4" type="title"/>
          </p:nvPr>
        </p:nvSpPr>
        <p:spPr>
          <a:xfrm>
            <a:off x="1353720" y="3047028"/>
            <a:ext cx="804600" cy="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" name="Google Shape;17;p42"/>
          <p:cNvSpPr txBox="1"/>
          <p:nvPr>
            <p:ph idx="5" type="title"/>
          </p:nvPr>
        </p:nvSpPr>
        <p:spPr>
          <a:xfrm>
            <a:off x="4183600" y="3047036"/>
            <a:ext cx="804600" cy="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" name="Google Shape;18;p42"/>
          <p:cNvSpPr txBox="1"/>
          <p:nvPr>
            <p:ph idx="1" type="subTitle"/>
          </p:nvPr>
        </p:nvSpPr>
        <p:spPr>
          <a:xfrm>
            <a:off x="957420" y="2147375"/>
            <a:ext cx="15972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19" name="Google Shape;19;p42"/>
          <p:cNvSpPr txBox="1"/>
          <p:nvPr>
            <p:ph idx="6" type="subTitle"/>
          </p:nvPr>
        </p:nvSpPr>
        <p:spPr>
          <a:xfrm>
            <a:off x="3787300" y="2147375"/>
            <a:ext cx="15972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20" name="Google Shape;20;p42"/>
          <p:cNvSpPr txBox="1"/>
          <p:nvPr>
            <p:ph idx="7" type="subTitle"/>
          </p:nvPr>
        </p:nvSpPr>
        <p:spPr>
          <a:xfrm>
            <a:off x="957420" y="3893825"/>
            <a:ext cx="15972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21" name="Google Shape;21;p42"/>
          <p:cNvSpPr txBox="1"/>
          <p:nvPr>
            <p:ph idx="8" type="subTitle"/>
          </p:nvPr>
        </p:nvSpPr>
        <p:spPr>
          <a:xfrm>
            <a:off x="3787300" y="3893826"/>
            <a:ext cx="15972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22" name="Google Shape;22;p42"/>
          <p:cNvSpPr/>
          <p:nvPr>
            <p:ph idx="9" type="pic"/>
          </p:nvPr>
        </p:nvSpPr>
        <p:spPr>
          <a:xfrm>
            <a:off x="6330350" y="125"/>
            <a:ext cx="2344800" cy="5143500"/>
          </a:xfrm>
          <a:prstGeom prst="parallelogram">
            <a:avLst>
              <a:gd fmla="val 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/>
          <p:cNvSpPr/>
          <p:nvPr>
            <p:ph idx="2" type="pic"/>
          </p:nvPr>
        </p:nvSpPr>
        <p:spPr>
          <a:xfrm>
            <a:off x="610450" y="0"/>
            <a:ext cx="2338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43"/>
          <p:cNvSpPr txBox="1"/>
          <p:nvPr>
            <p:ph type="title"/>
          </p:nvPr>
        </p:nvSpPr>
        <p:spPr>
          <a:xfrm>
            <a:off x="4685400" y="2959400"/>
            <a:ext cx="3582900" cy="1644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43"/>
          <p:cNvSpPr txBox="1"/>
          <p:nvPr>
            <p:ph idx="3" type="title"/>
          </p:nvPr>
        </p:nvSpPr>
        <p:spPr>
          <a:xfrm>
            <a:off x="7008600" y="1601400"/>
            <a:ext cx="1259700" cy="125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0"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3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9" name="Google Shape;29;p5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0" name="Google Shape;30;p53"/>
            <p:cNvSpPr/>
            <p:nvPr/>
          </p:nvSpPr>
          <p:spPr>
            <a:xfrm flipH="1" rot="10800000">
              <a:off x="0" y="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53"/>
            <p:cNvSpPr/>
            <p:nvPr/>
          </p:nvSpPr>
          <p:spPr>
            <a:xfrm flipH="1">
              <a:off x="8746800" y="98280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5"/>
          <p:cNvSpPr txBox="1"/>
          <p:nvPr>
            <p:ph type="title"/>
          </p:nvPr>
        </p:nvSpPr>
        <p:spPr>
          <a:xfrm>
            <a:off x="722375" y="384050"/>
            <a:ext cx="5052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45"/>
          <p:cNvSpPr txBox="1"/>
          <p:nvPr>
            <p:ph idx="1" type="body"/>
          </p:nvPr>
        </p:nvSpPr>
        <p:spPr>
          <a:xfrm>
            <a:off x="965025" y="1638050"/>
            <a:ext cx="3549900" cy="1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" name="Google Shape;35;p45"/>
          <p:cNvSpPr/>
          <p:nvPr>
            <p:ph idx="2" type="pic"/>
          </p:nvPr>
        </p:nvSpPr>
        <p:spPr>
          <a:xfrm>
            <a:off x="6183025" y="125"/>
            <a:ext cx="2344800" cy="5143500"/>
          </a:xfrm>
          <a:prstGeom prst="parallelogram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36" name="Google Shape;36;p45"/>
          <p:cNvSpPr/>
          <p:nvPr/>
        </p:nvSpPr>
        <p:spPr>
          <a:xfrm>
            <a:off x="0" y="98280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6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" type="subTitle"/>
          </p:nvPr>
        </p:nvSpPr>
        <p:spPr>
          <a:xfrm>
            <a:off x="1224723" y="2684175"/>
            <a:ext cx="3004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2" type="subTitle"/>
          </p:nvPr>
        </p:nvSpPr>
        <p:spPr>
          <a:xfrm>
            <a:off x="4915077" y="2684175"/>
            <a:ext cx="3004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" name="Google Shape;41;p46"/>
          <p:cNvSpPr txBox="1"/>
          <p:nvPr>
            <p:ph idx="3" type="subTitle"/>
          </p:nvPr>
        </p:nvSpPr>
        <p:spPr>
          <a:xfrm>
            <a:off x="1224723" y="2293900"/>
            <a:ext cx="3004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42" name="Google Shape;42;p46"/>
          <p:cNvSpPr txBox="1"/>
          <p:nvPr>
            <p:ph idx="4" type="subTitle"/>
          </p:nvPr>
        </p:nvSpPr>
        <p:spPr>
          <a:xfrm>
            <a:off x="4915034" y="2293900"/>
            <a:ext cx="3004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grpSp>
        <p:nvGrpSpPr>
          <p:cNvPr id="43" name="Google Shape;43;p4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4" name="Google Shape;44;p46"/>
            <p:cNvSpPr/>
            <p:nvPr/>
          </p:nvSpPr>
          <p:spPr>
            <a:xfrm flipH="1" rot="10800000">
              <a:off x="0" y="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6"/>
            <p:cNvSpPr/>
            <p:nvPr/>
          </p:nvSpPr>
          <p:spPr>
            <a:xfrm flipH="1">
              <a:off x="8746800" y="98280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8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" name="Google Shape;48;p48"/>
          <p:cNvSpPr txBox="1"/>
          <p:nvPr>
            <p:ph idx="1" type="subTitle"/>
          </p:nvPr>
        </p:nvSpPr>
        <p:spPr>
          <a:xfrm>
            <a:off x="1569075" y="1800825"/>
            <a:ext cx="27825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" name="Google Shape;49;p48"/>
          <p:cNvSpPr txBox="1"/>
          <p:nvPr>
            <p:ph idx="2" type="subTitle"/>
          </p:nvPr>
        </p:nvSpPr>
        <p:spPr>
          <a:xfrm>
            <a:off x="5484225" y="1800825"/>
            <a:ext cx="27825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" name="Google Shape;50;p48"/>
          <p:cNvSpPr txBox="1"/>
          <p:nvPr>
            <p:ph idx="3" type="subTitle"/>
          </p:nvPr>
        </p:nvSpPr>
        <p:spPr>
          <a:xfrm>
            <a:off x="1569074" y="1409025"/>
            <a:ext cx="278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51" name="Google Shape;51;p48"/>
          <p:cNvSpPr txBox="1"/>
          <p:nvPr>
            <p:ph idx="4" type="subTitle"/>
          </p:nvPr>
        </p:nvSpPr>
        <p:spPr>
          <a:xfrm>
            <a:off x="5484125" y="1409025"/>
            <a:ext cx="278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52" name="Google Shape;52;p48"/>
          <p:cNvSpPr txBox="1"/>
          <p:nvPr>
            <p:ph idx="5" type="subTitle"/>
          </p:nvPr>
        </p:nvSpPr>
        <p:spPr>
          <a:xfrm>
            <a:off x="1569075" y="3548575"/>
            <a:ext cx="27825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6" type="subTitle"/>
          </p:nvPr>
        </p:nvSpPr>
        <p:spPr>
          <a:xfrm>
            <a:off x="5484225" y="3548575"/>
            <a:ext cx="27825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p48"/>
          <p:cNvSpPr txBox="1"/>
          <p:nvPr>
            <p:ph idx="7" type="subTitle"/>
          </p:nvPr>
        </p:nvSpPr>
        <p:spPr>
          <a:xfrm>
            <a:off x="1569074" y="3156773"/>
            <a:ext cx="278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55" name="Google Shape;55;p48"/>
          <p:cNvSpPr txBox="1"/>
          <p:nvPr>
            <p:ph idx="8" type="subTitle"/>
          </p:nvPr>
        </p:nvSpPr>
        <p:spPr>
          <a:xfrm>
            <a:off x="5484125" y="3156773"/>
            <a:ext cx="278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grpSp>
        <p:nvGrpSpPr>
          <p:cNvPr id="56" name="Google Shape;56;p4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7" name="Google Shape;57;p48"/>
            <p:cNvSpPr/>
            <p:nvPr/>
          </p:nvSpPr>
          <p:spPr>
            <a:xfrm rot="10800000">
              <a:off x="8746800" y="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48"/>
            <p:cNvSpPr/>
            <p:nvPr/>
          </p:nvSpPr>
          <p:spPr>
            <a:xfrm>
              <a:off x="0" y="98280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9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49"/>
          <p:cNvSpPr txBox="1"/>
          <p:nvPr>
            <p:ph idx="1" type="subTitle"/>
          </p:nvPr>
        </p:nvSpPr>
        <p:spPr>
          <a:xfrm>
            <a:off x="722375" y="1805726"/>
            <a:ext cx="2492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49"/>
          <p:cNvSpPr txBox="1"/>
          <p:nvPr>
            <p:ph idx="2" type="subTitle"/>
          </p:nvPr>
        </p:nvSpPr>
        <p:spPr>
          <a:xfrm>
            <a:off x="3325688" y="1805726"/>
            <a:ext cx="2492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49"/>
          <p:cNvSpPr txBox="1"/>
          <p:nvPr>
            <p:ph idx="3" type="subTitle"/>
          </p:nvPr>
        </p:nvSpPr>
        <p:spPr>
          <a:xfrm>
            <a:off x="5929001" y="1805726"/>
            <a:ext cx="2492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49"/>
          <p:cNvSpPr txBox="1"/>
          <p:nvPr>
            <p:ph idx="4" type="subTitle"/>
          </p:nvPr>
        </p:nvSpPr>
        <p:spPr>
          <a:xfrm>
            <a:off x="722375" y="1511700"/>
            <a:ext cx="24927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65" name="Google Shape;65;p49"/>
          <p:cNvSpPr txBox="1"/>
          <p:nvPr>
            <p:ph idx="5" type="subTitle"/>
          </p:nvPr>
        </p:nvSpPr>
        <p:spPr>
          <a:xfrm>
            <a:off x="3325600" y="1511700"/>
            <a:ext cx="24927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66" name="Google Shape;66;p49"/>
          <p:cNvSpPr txBox="1"/>
          <p:nvPr>
            <p:ph idx="6" type="subTitle"/>
          </p:nvPr>
        </p:nvSpPr>
        <p:spPr>
          <a:xfrm>
            <a:off x="5928875" y="1511700"/>
            <a:ext cx="24927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67" name="Google Shape;67;p49"/>
          <p:cNvSpPr txBox="1"/>
          <p:nvPr>
            <p:ph idx="7" type="subTitle"/>
          </p:nvPr>
        </p:nvSpPr>
        <p:spPr>
          <a:xfrm>
            <a:off x="722375" y="3533900"/>
            <a:ext cx="2492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" name="Google Shape;68;p49"/>
          <p:cNvSpPr txBox="1"/>
          <p:nvPr>
            <p:ph idx="8" type="subTitle"/>
          </p:nvPr>
        </p:nvSpPr>
        <p:spPr>
          <a:xfrm>
            <a:off x="3325688" y="3533900"/>
            <a:ext cx="2492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49"/>
          <p:cNvSpPr txBox="1"/>
          <p:nvPr>
            <p:ph idx="9" type="subTitle"/>
          </p:nvPr>
        </p:nvSpPr>
        <p:spPr>
          <a:xfrm>
            <a:off x="5929001" y="3533900"/>
            <a:ext cx="2492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3" type="subTitle"/>
          </p:nvPr>
        </p:nvSpPr>
        <p:spPr>
          <a:xfrm>
            <a:off x="722375" y="3239900"/>
            <a:ext cx="24927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71" name="Google Shape;71;p49"/>
          <p:cNvSpPr txBox="1"/>
          <p:nvPr>
            <p:ph idx="14" type="subTitle"/>
          </p:nvPr>
        </p:nvSpPr>
        <p:spPr>
          <a:xfrm>
            <a:off x="3325600" y="3239900"/>
            <a:ext cx="24927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72" name="Google Shape;72;p49"/>
          <p:cNvSpPr txBox="1"/>
          <p:nvPr>
            <p:ph idx="15" type="subTitle"/>
          </p:nvPr>
        </p:nvSpPr>
        <p:spPr>
          <a:xfrm>
            <a:off x="5928875" y="3239900"/>
            <a:ext cx="24927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grpSp>
        <p:nvGrpSpPr>
          <p:cNvPr id="73" name="Google Shape;73;p4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74" name="Google Shape;74;p49"/>
            <p:cNvSpPr/>
            <p:nvPr/>
          </p:nvSpPr>
          <p:spPr>
            <a:xfrm flipH="1" rot="10800000">
              <a:off x="0" y="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9"/>
            <p:cNvSpPr/>
            <p:nvPr/>
          </p:nvSpPr>
          <p:spPr>
            <a:xfrm flipH="1">
              <a:off x="8746800" y="98280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4"/>
          <p:cNvSpPr txBox="1"/>
          <p:nvPr>
            <p:ph type="ctrTitle"/>
          </p:nvPr>
        </p:nvSpPr>
        <p:spPr>
          <a:xfrm>
            <a:off x="4011025" y="677125"/>
            <a:ext cx="36552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" name="Google Shape;78;p44"/>
          <p:cNvSpPr txBox="1"/>
          <p:nvPr>
            <p:ph idx="1" type="subTitle"/>
          </p:nvPr>
        </p:nvSpPr>
        <p:spPr>
          <a:xfrm>
            <a:off x="4011025" y="1546325"/>
            <a:ext cx="36552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44"/>
          <p:cNvSpPr/>
          <p:nvPr>
            <p:ph idx="2" type="pic"/>
          </p:nvPr>
        </p:nvSpPr>
        <p:spPr>
          <a:xfrm>
            <a:off x="610450" y="125"/>
            <a:ext cx="2344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44"/>
          <p:cNvSpPr/>
          <p:nvPr/>
        </p:nvSpPr>
        <p:spPr>
          <a:xfrm flipH="1">
            <a:off x="8746800" y="98280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4"/>
          <p:cNvSpPr txBox="1"/>
          <p:nvPr/>
        </p:nvSpPr>
        <p:spPr>
          <a:xfrm>
            <a:off x="4247234" y="3442416"/>
            <a:ext cx="341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CREDITS: This presentation template was created by </a:t>
            </a:r>
            <a:r>
              <a:rPr b="1" i="0" lang="en" sz="1000" u="none" cap="none" strike="noStrike">
                <a:solidFill>
                  <a:schemeClr val="lt1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, including icons by </a:t>
            </a:r>
            <a:r>
              <a:rPr b="1" i="0" lang="en" sz="1000" u="none" cap="none" strike="noStrike">
                <a:solidFill>
                  <a:schemeClr val="lt1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and infographics &amp; images by </a:t>
            </a:r>
            <a:r>
              <a:rPr b="1" i="0" lang="en" sz="1000" u="none" cap="none" strike="noStrike">
                <a:solidFill>
                  <a:schemeClr val="lt1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0"/>
          <p:cNvSpPr/>
          <p:nvPr>
            <p:ph idx="2" type="pic"/>
          </p:nvPr>
        </p:nvSpPr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60"/>
          <p:cNvSpPr txBox="1"/>
          <p:nvPr>
            <p:ph type="title"/>
          </p:nvPr>
        </p:nvSpPr>
        <p:spPr>
          <a:xfrm>
            <a:off x="1955850" y="932400"/>
            <a:ext cx="5232300" cy="327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85" name="Google Shape;85;p6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86" name="Google Shape;86;p60"/>
            <p:cNvSpPr/>
            <p:nvPr/>
          </p:nvSpPr>
          <p:spPr>
            <a:xfrm flipH="1" rot="10800000">
              <a:off x="0" y="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60"/>
            <p:cNvSpPr/>
            <p:nvPr/>
          </p:nvSpPr>
          <p:spPr>
            <a:xfrm flipH="1">
              <a:off x="8746800" y="98280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1"/>
          <p:cNvSpPr txBox="1"/>
          <p:nvPr>
            <p:ph type="title"/>
          </p:nvPr>
        </p:nvSpPr>
        <p:spPr>
          <a:xfrm>
            <a:off x="2549400" y="1584300"/>
            <a:ext cx="40452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61"/>
          <p:cNvSpPr txBox="1"/>
          <p:nvPr>
            <p:ph idx="1" type="subTitle"/>
          </p:nvPr>
        </p:nvSpPr>
        <p:spPr>
          <a:xfrm>
            <a:off x="2549400" y="2324100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grpSp>
        <p:nvGrpSpPr>
          <p:cNvPr id="91" name="Google Shape;91;p61"/>
          <p:cNvGrpSpPr/>
          <p:nvPr/>
        </p:nvGrpSpPr>
        <p:grpSpPr>
          <a:xfrm flipH="1">
            <a:off x="0" y="0"/>
            <a:ext cx="9144000" cy="5143500"/>
            <a:chOff x="0" y="0"/>
            <a:chExt cx="9144000" cy="5143500"/>
          </a:xfrm>
        </p:grpSpPr>
        <p:sp>
          <p:nvSpPr>
            <p:cNvPr id="92" name="Google Shape;92;p61"/>
            <p:cNvSpPr/>
            <p:nvPr/>
          </p:nvSpPr>
          <p:spPr>
            <a:xfrm flipH="1" rot="10800000">
              <a:off x="0" y="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61"/>
            <p:cNvSpPr/>
            <p:nvPr/>
          </p:nvSpPr>
          <p:spPr>
            <a:xfrm flipH="1">
              <a:off x="8746800" y="98280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4"/>
          <p:cNvSpPr/>
          <p:nvPr/>
        </p:nvSpPr>
        <p:spPr>
          <a:xfrm flipH="1" rot="10800000">
            <a:off x="0" y="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4"/>
          <p:cNvSpPr/>
          <p:nvPr/>
        </p:nvSpPr>
        <p:spPr>
          <a:xfrm flipH="1">
            <a:off x="8746800" y="98280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7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5"/>
          <p:cNvSpPr/>
          <p:nvPr/>
        </p:nvSpPr>
        <p:spPr>
          <a:xfrm>
            <a:off x="0" y="98280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5"/>
          <p:cNvSpPr/>
          <p:nvPr/>
        </p:nvSpPr>
        <p:spPr>
          <a:xfrm rot="10800000">
            <a:off x="8746800" y="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>
            <a:alpha val="94902"/>
          </a:scheme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25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52.png"/><Relationship Id="rId6" Type="http://schemas.openxmlformats.org/officeDocument/2006/relationships/image" Target="../media/image22.png"/><Relationship Id="rId7" Type="http://schemas.openxmlformats.org/officeDocument/2006/relationships/image" Target="../media/image57.png"/><Relationship Id="rId8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4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2.png"/><Relationship Id="rId4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Relationship Id="rId4" Type="http://schemas.openxmlformats.org/officeDocument/2006/relationships/image" Target="../media/image4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png"/><Relationship Id="rId4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8.png"/><Relationship Id="rId4" Type="http://schemas.openxmlformats.org/officeDocument/2006/relationships/image" Target="../media/image54.png"/><Relationship Id="rId5" Type="http://schemas.openxmlformats.org/officeDocument/2006/relationships/image" Target="../media/image59.png"/><Relationship Id="rId6" Type="http://schemas.openxmlformats.org/officeDocument/2006/relationships/image" Target="../media/image39.png"/><Relationship Id="rId7" Type="http://schemas.openxmlformats.org/officeDocument/2006/relationships/image" Target="../media/image5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5.png"/><Relationship Id="rId4" Type="http://schemas.openxmlformats.org/officeDocument/2006/relationships/chart" Target="../charts/chart3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Relationship Id="rId3" Type="http://schemas.openxmlformats.org/officeDocument/2006/relationships/chart" Target="../charts/chart4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5.png"/><Relationship Id="rId4" Type="http://schemas.openxmlformats.org/officeDocument/2006/relationships/image" Target="../media/image4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32.png"/><Relationship Id="rId5" Type="http://schemas.openxmlformats.org/officeDocument/2006/relationships/image" Target="../media/image56.png"/><Relationship Id="rId6" Type="http://schemas.openxmlformats.org/officeDocument/2006/relationships/image" Target="../media/image49.png"/><Relationship Id="rId7" Type="http://schemas.openxmlformats.org/officeDocument/2006/relationships/hyperlink" Target="mailto:equipeccu@gmail.com" TargetMode="External"/><Relationship Id="rId8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/>
          <p:nvPr/>
        </p:nvSpPr>
        <p:spPr>
          <a:xfrm>
            <a:off x="-64294" y="-57150"/>
            <a:ext cx="9279732" cy="52506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>
            <p:ph type="ctrTitle"/>
          </p:nvPr>
        </p:nvSpPr>
        <p:spPr>
          <a:xfrm>
            <a:off x="307141" y="2262214"/>
            <a:ext cx="5488584" cy="139205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000">
                <a:solidFill>
                  <a:srgbClr val="C1272D"/>
                </a:solidFill>
              </a:rPr>
              <a:t>FINANÇAS PARA CASE</a:t>
            </a:r>
            <a:br>
              <a:rPr lang="en" sz="4000"/>
            </a:br>
            <a:r>
              <a:rPr b="0" lang="en" sz="2000">
                <a:solidFill>
                  <a:schemeClr val="lt2"/>
                </a:solidFill>
              </a:rPr>
              <a:t>Módulo 09</a:t>
            </a:r>
            <a:endParaRPr b="0" sz="2000">
              <a:solidFill>
                <a:schemeClr val="lt2"/>
              </a:solidFill>
            </a:endParaRPr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981" y="4550167"/>
            <a:ext cx="2387225" cy="29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 txBox="1"/>
          <p:nvPr/>
        </p:nvSpPr>
        <p:spPr>
          <a:xfrm>
            <a:off x="294680" y="3697310"/>
            <a:ext cx="46541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2"/>
                </a:solidFill>
              </a:rPr>
              <a:t>Vinícius Xavier Nery</a:t>
            </a:r>
            <a:r>
              <a:rPr b="0" i="0" lang="en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">
                <a:solidFill>
                  <a:schemeClr val="lt2"/>
                </a:solidFill>
              </a:rPr>
              <a:t>Membro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Matteo Lucato – Membro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"/>
          <p:cNvPicPr preferRelativeResize="0"/>
          <p:nvPr/>
        </p:nvPicPr>
        <p:blipFill rotWithShape="1">
          <a:blip r:embed="rId4">
            <a:alphaModFix/>
          </a:blip>
          <a:srcRect b="33529" l="0" r="0" t="24866"/>
          <a:stretch/>
        </p:blipFill>
        <p:spPr>
          <a:xfrm>
            <a:off x="-64294" y="-57150"/>
            <a:ext cx="4114800" cy="213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>
            <p:ph type="title"/>
          </p:nvPr>
        </p:nvSpPr>
        <p:spPr>
          <a:xfrm>
            <a:off x="610450" y="383528"/>
            <a:ext cx="512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C1272D"/>
                </a:solidFill>
              </a:rPr>
              <a:t>VISÃO GERAL DO MÓDULO</a:t>
            </a:r>
            <a:endParaRPr>
              <a:solidFill>
                <a:srgbClr val="C1272D"/>
              </a:solidFill>
            </a:endParaRPr>
          </a:p>
        </p:txBody>
      </p:sp>
      <p:sp>
        <p:nvSpPr>
          <p:cNvPr id="117" name="Google Shape;117;p2"/>
          <p:cNvSpPr txBox="1"/>
          <p:nvPr>
            <p:ph idx="2" type="title"/>
          </p:nvPr>
        </p:nvSpPr>
        <p:spPr>
          <a:xfrm>
            <a:off x="900072" y="1300699"/>
            <a:ext cx="482224" cy="416375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01</a:t>
            </a:r>
            <a:r>
              <a:rPr lang="en" sz="3200"/>
              <a:t>.</a:t>
            </a:r>
            <a:endParaRPr sz="2400"/>
          </a:p>
        </p:txBody>
      </p:sp>
      <p:sp>
        <p:nvSpPr>
          <p:cNvPr id="118" name="Google Shape;118;p2"/>
          <p:cNvSpPr txBox="1"/>
          <p:nvPr>
            <p:ph idx="1" type="subTitle"/>
          </p:nvPr>
        </p:nvSpPr>
        <p:spPr>
          <a:xfrm>
            <a:off x="1497346" y="1295683"/>
            <a:ext cx="4525108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Noções básicas de matemática financeira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900072" y="1960309"/>
            <a:ext cx="482224" cy="416375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Kanit"/>
                <a:ea typeface="Kanit"/>
                <a:cs typeface="Kanit"/>
                <a:sym typeface="Kanit"/>
              </a:rPr>
              <a:t>02</a:t>
            </a:r>
            <a:r>
              <a:rPr b="0" i="0" lang="en" sz="3000" u="none" cap="none" strike="noStrike">
                <a:solidFill>
                  <a:schemeClr val="dk2"/>
                </a:solidFill>
                <a:latin typeface="Kanit"/>
                <a:ea typeface="Kanit"/>
                <a:cs typeface="Kanit"/>
                <a:sym typeface="Kani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1497346" y="1962244"/>
            <a:ext cx="3476134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Conceitos financeiros para case</a:t>
            </a:r>
            <a:endParaRPr b="0" i="0" sz="1800" u="none" cap="none" strike="noStrike">
              <a:solidFill>
                <a:schemeClr val="lt1"/>
              </a:solidFill>
              <a:latin typeface="Kanit SemiBold"/>
              <a:ea typeface="Kanit SemiBold"/>
              <a:cs typeface="Kanit SemiBold"/>
              <a:sym typeface="Kanit SemiBold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900072" y="2618959"/>
            <a:ext cx="482224" cy="416375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Kanit"/>
                <a:ea typeface="Kanit"/>
                <a:cs typeface="Kanit"/>
                <a:sym typeface="Kanit"/>
              </a:rPr>
              <a:t>03</a:t>
            </a:r>
            <a:r>
              <a:rPr b="0" i="0" lang="en" sz="3200" u="none" cap="none" strike="noStrike">
                <a:solidFill>
                  <a:schemeClr val="dk2"/>
                </a:solidFill>
                <a:latin typeface="Kanit"/>
                <a:ea typeface="Kanit"/>
                <a:cs typeface="Kanit"/>
                <a:sym typeface="Kani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497346" y="2636245"/>
            <a:ext cx="3656916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Indicadores financeiros para case</a:t>
            </a:r>
            <a:endParaRPr b="0" i="0" sz="1800" u="none" cap="none" strike="noStrike">
              <a:solidFill>
                <a:schemeClr val="lt1"/>
              </a:solidFill>
              <a:latin typeface="Kanit SemiBold"/>
              <a:ea typeface="Kanit SemiBold"/>
              <a:cs typeface="Kanit SemiBold"/>
              <a:sym typeface="Kanit SemiBold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900072" y="3277609"/>
            <a:ext cx="482224" cy="416375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Kanit"/>
                <a:ea typeface="Kanit"/>
                <a:cs typeface="Kanit"/>
                <a:sym typeface="Kanit"/>
              </a:rPr>
              <a:t>04</a:t>
            </a:r>
            <a:r>
              <a:rPr b="0" i="0" lang="en" sz="3200" u="none" cap="none" strike="noStrike">
                <a:solidFill>
                  <a:schemeClr val="dk2"/>
                </a:solidFill>
                <a:latin typeface="Kanit"/>
                <a:ea typeface="Kanit"/>
                <a:cs typeface="Kanit"/>
                <a:sym typeface="Kani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497346" y="3283294"/>
            <a:ext cx="1625563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Case aplicado</a:t>
            </a:r>
            <a:endParaRPr b="0" i="0" sz="1800" u="none" cap="none" strike="noStrike">
              <a:solidFill>
                <a:schemeClr val="lt1"/>
              </a:solidFill>
              <a:latin typeface="Kanit SemiBold"/>
              <a:ea typeface="Kanit SemiBold"/>
              <a:cs typeface="Kanit SemiBold"/>
              <a:sym typeface="Kanit SemiBold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>
            <p:ph type="title"/>
          </p:nvPr>
        </p:nvSpPr>
        <p:spPr>
          <a:xfrm>
            <a:off x="3048000" y="2959400"/>
            <a:ext cx="5783385" cy="164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000">
                <a:solidFill>
                  <a:srgbClr val="C1272D"/>
                </a:solidFill>
              </a:rPr>
              <a:t>Noções básicas de </a:t>
            </a:r>
            <a:r>
              <a:rPr lang="en" sz="4000">
                <a:solidFill>
                  <a:schemeClr val="lt1"/>
                </a:solidFill>
              </a:rPr>
              <a:t>matemática financeira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133" name="Google Shape;133;p3"/>
          <p:cNvSpPr txBox="1"/>
          <p:nvPr>
            <p:ph idx="3" type="title"/>
          </p:nvPr>
        </p:nvSpPr>
        <p:spPr>
          <a:xfrm>
            <a:off x="7008600" y="1601400"/>
            <a:ext cx="1259700" cy="1259700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4226120" y="4825425"/>
            <a:ext cx="2631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/>
        </p:nvSpPr>
        <p:spPr>
          <a:xfrm>
            <a:off x="779663" y="2844108"/>
            <a:ext cx="1764000" cy="29876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Inscrição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1259359" y="1911934"/>
            <a:ext cx="804600" cy="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3F3F3"/>
                </a:solidFill>
                <a:latin typeface="Kanit"/>
                <a:ea typeface="Kanit"/>
                <a:cs typeface="Kanit"/>
                <a:sym typeface="Kanit"/>
              </a:rPr>
              <a:t>01</a:t>
            </a:r>
            <a:endParaRPr b="0" i="0" sz="3000" u="none" cap="none" strike="noStrike">
              <a:solidFill>
                <a:srgbClr val="F3F3F3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3199584" y="1911934"/>
            <a:ext cx="804600" cy="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3F3F3"/>
                </a:solidFill>
                <a:latin typeface="Kanit"/>
                <a:ea typeface="Kanit"/>
                <a:cs typeface="Kanit"/>
                <a:sym typeface="Kanit"/>
              </a:rPr>
              <a:t>02</a:t>
            </a:r>
            <a:endParaRPr b="0" i="0" sz="3000" u="none" cap="none" strike="noStrike">
              <a:solidFill>
                <a:srgbClr val="F3F3F3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5139809" y="1911934"/>
            <a:ext cx="804600" cy="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3F3F3"/>
                </a:solidFill>
                <a:latin typeface="Kanit"/>
                <a:ea typeface="Kanit"/>
                <a:cs typeface="Kanit"/>
                <a:sym typeface="Kanit"/>
              </a:rPr>
              <a:t>03</a:t>
            </a:r>
            <a:endParaRPr b="0" i="0" sz="3000" u="none" cap="none" strike="noStrike">
              <a:solidFill>
                <a:srgbClr val="F3F3F3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7080034" y="1911934"/>
            <a:ext cx="804600" cy="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3F3F3"/>
                </a:solidFill>
                <a:latin typeface="Kanit"/>
                <a:ea typeface="Kanit"/>
                <a:cs typeface="Kanit"/>
                <a:sym typeface="Kanit"/>
              </a:rPr>
              <a:t>04</a:t>
            </a:r>
            <a:endParaRPr b="0" i="0" sz="3000" u="none" cap="none" strike="noStrike">
              <a:solidFill>
                <a:srgbClr val="F3F3F3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cxnSp>
        <p:nvCxnSpPr>
          <p:cNvPr id="146" name="Google Shape;146;p15"/>
          <p:cNvCxnSpPr>
            <a:stCxn id="142" idx="3"/>
            <a:endCxn id="143" idx="1"/>
          </p:cNvCxnSpPr>
          <p:nvPr/>
        </p:nvCxnSpPr>
        <p:spPr>
          <a:xfrm>
            <a:off x="2063959" y="2312734"/>
            <a:ext cx="113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15"/>
          <p:cNvCxnSpPr>
            <a:stCxn id="143" idx="3"/>
            <a:endCxn id="144" idx="1"/>
          </p:cNvCxnSpPr>
          <p:nvPr/>
        </p:nvCxnSpPr>
        <p:spPr>
          <a:xfrm>
            <a:off x="4004184" y="2312734"/>
            <a:ext cx="113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15"/>
          <p:cNvCxnSpPr>
            <a:stCxn id="144" idx="3"/>
            <a:endCxn id="145" idx="1"/>
          </p:cNvCxnSpPr>
          <p:nvPr/>
        </p:nvCxnSpPr>
        <p:spPr>
          <a:xfrm>
            <a:off x="5944409" y="2312734"/>
            <a:ext cx="113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5"/>
          <p:cNvSpPr txBox="1"/>
          <p:nvPr/>
        </p:nvSpPr>
        <p:spPr>
          <a:xfrm>
            <a:off x="2726132" y="2830766"/>
            <a:ext cx="187315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Jogos e provas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4639003" y="2814120"/>
            <a:ext cx="187315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Etapas intermediárias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6545756" y="2830766"/>
            <a:ext cx="187315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Entrevistas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846732" y="3191666"/>
            <a:ext cx="1873156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Currículo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1800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Histórico escolar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1800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Cover Letter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1800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Vídeo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2628888" y="3185996"/>
            <a:ext cx="2144699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Raciocínio lógico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1800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Conhecimento em negócios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1800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Comportamental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1800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Situacional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4639003" y="3193192"/>
            <a:ext cx="197843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Dinâmica em grupo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1800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Apresentação de case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6629203" y="3191666"/>
            <a:ext cx="1873156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Fit Interview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1800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Case Interview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6" name="Google Shape;156;p15"/>
          <p:cNvSpPr txBox="1"/>
          <p:nvPr>
            <p:ph type="title"/>
          </p:nvPr>
        </p:nvSpPr>
        <p:spPr>
          <a:xfrm>
            <a:off x="722375" y="360212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Noções básicas de matemática financeira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779663" y="970100"/>
            <a:ext cx="1048066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Grandes etapas comuns em processos seletivos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4226120" y="4825425"/>
            <a:ext cx="2631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>
            <a:alpha val="94902"/>
          </a:schemeClr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>
            <p:ph type="title"/>
          </p:nvPr>
        </p:nvSpPr>
        <p:spPr>
          <a:xfrm>
            <a:off x="361187" y="356103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Noções básicas de matemática financeira</a:t>
            </a:r>
            <a:endParaRPr/>
          </a:p>
        </p:txBody>
      </p:sp>
      <p:pic>
        <p:nvPicPr>
          <p:cNvPr descr="Bank with solid fill" id="166" name="Google Shape;1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4678" y="1385998"/>
            <a:ext cx="1355222" cy="14831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n in a polo shirt" id="167" name="Google Shape;16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670681" y="1960067"/>
            <a:ext cx="475285" cy="1297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oman with ponytail hair" id="168" name="Google Shape;16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03589" y="1910950"/>
            <a:ext cx="669881" cy="129711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 txBox="1"/>
          <p:nvPr/>
        </p:nvSpPr>
        <p:spPr>
          <a:xfrm>
            <a:off x="3448289" y="2746023"/>
            <a:ext cx="1887999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Sistema Financeiro Nacional</a:t>
            </a:r>
            <a:endParaRPr b="0" i="0" sz="8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70" name="Google Shape;170;p5"/>
          <p:cNvCxnSpPr>
            <a:stCxn id="166" idx="1"/>
          </p:cNvCxnSpPr>
          <p:nvPr/>
        </p:nvCxnSpPr>
        <p:spPr>
          <a:xfrm>
            <a:off x="3714678" y="2127556"/>
            <a:ext cx="1927200" cy="23700"/>
          </a:xfrm>
          <a:prstGeom prst="straightConnector1">
            <a:avLst/>
          </a:prstGeom>
          <a:noFill/>
          <a:ln cap="flat" cmpd="sng" w="28575">
            <a:solidFill>
              <a:srgbClr val="C1272D"/>
            </a:solidFill>
            <a:prstDash val="solid"/>
            <a:miter lim="8000"/>
            <a:headEnd len="sm" w="sm" type="none"/>
            <a:tailEnd len="med" w="med" type="triangle"/>
          </a:ln>
        </p:spPr>
      </p:cxnSp>
      <p:pic>
        <p:nvPicPr>
          <p:cNvPr descr="Dollar with solid fill" id="171" name="Google Shape;17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1454" y="1945720"/>
            <a:ext cx="386755" cy="3867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llar with solid fill" id="172" name="Google Shape;17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92510" y="1836186"/>
            <a:ext cx="386755" cy="3867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llar with solid fill" id="173" name="Google Shape;17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443000">
            <a:off x="3298855" y="2009883"/>
            <a:ext cx="386755" cy="38675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"/>
          <p:cNvSpPr/>
          <p:nvPr/>
        </p:nvSpPr>
        <p:spPr>
          <a:xfrm>
            <a:off x="2849743" y="1687176"/>
            <a:ext cx="864935" cy="864935"/>
          </a:xfrm>
          <a:prstGeom prst="ellipse">
            <a:avLst/>
          </a:prstGeom>
          <a:noFill/>
          <a:ln cap="flat" cmpd="sng" w="28575">
            <a:solidFill>
              <a:srgbClr val="C1272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3282210" y="939125"/>
            <a:ext cx="2237388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Transfere o dinheiro de quem tem sobrando para quem tem faltando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227843" y="1842438"/>
            <a:ext cx="2050047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Empresta dinheiro agora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Recebe dinheiro de volta no futuro com acréscimo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6651333" y="1836186"/>
            <a:ext cx="2082891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Receberá o dinheiro no presente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Devolverá o dinheiro no futuro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Pagará uma extra pelo empréstimo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1371771" y="3358515"/>
            <a:ext cx="2133516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Hoje, possui </a:t>
            </a:r>
            <a:r>
              <a:rPr b="1" i="0" lang="en" sz="1000" u="none" cap="none" strike="noStrike">
                <a:solidFill>
                  <a:srgbClr val="C00000"/>
                </a:solidFill>
                <a:latin typeface="Work Sans"/>
                <a:ea typeface="Work Sans"/>
                <a:cs typeface="Work Sans"/>
                <a:sym typeface="Work Sans"/>
              </a:rPr>
              <a:t>dinheiro sobrando</a:t>
            </a: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, mas gostaria de mais do que tem para utilizar no </a:t>
            </a:r>
            <a:r>
              <a:rPr b="1" i="0" lang="en" sz="1000" u="none" cap="none" strike="noStrike">
                <a:solidFill>
                  <a:srgbClr val="C00000"/>
                </a:solidFill>
                <a:latin typeface="Work Sans"/>
                <a:ea typeface="Work Sans"/>
                <a:cs typeface="Work Sans"/>
                <a:sym typeface="Work Sans"/>
              </a:rPr>
              <a:t>futuro</a:t>
            </a:r>
            <a:endParaRPr b="0" i="0" sz="1000" u="none" cap="none" strike="noStrike">
              <a:solidFill>
                <a:srgbClr val="C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685699" y="4073383"/>
            <a:ext cx="3505660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Agente 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Work Sans"/>
                <a:ea typeface="Work Sans"/>
                <a:cs typeface="Work Sans"/>
                <a:sym typeface="Work Sans"/>
              </a:rPr>
              <a:t>superavitário</a:t>
            </a:r>
            <a:endParaRPr b="1" i="0" sz="1000" u="none" cap="none" strike="noStrike">
              <a:solidFill>
                <a:srgbClr val="C1272D"/>
              </a:solidFill>
              <a:highlight>
                <a:srgbClr val="FFFF00"/>
              </a:highlight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4900313" y="3356204"/>
            <a:ext cx="2438928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Hoje, possui </a:t>
            </a:r>
            <a:r>
              <a:rPr b="1" i="0" lang="en" sz="1000" u="none" cap="none" strike="noStrike">
                <a:solidFill>
                  <a:srgbClr val="C00000"/>
                </a:solidFill>
                <a:latin typeface="Work Sans"/>
                <a:ea typeface="Work Sans"/>
                <a:cs typeface="Work Sans"/>
                <a:sym typeface="Work Sans"/>
              </a:rPr>
              <a:t>dinheiro faltando</a:t>
            </a: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, mas </a:t>
            </a:r>
            <a:r>
              <a:rPr b="1" i="0" lang="en" sz="1000" u="none" cap="none" strike="noStrike">
                <a:solidFill>
                  <a:srgbClr val="C00000"/>
                </a:solidFill>
                <a:latin typeface="Work Sans"/>
                <a:ea typeface="Work Sans"/>
                <a:cs typeface="Work Sans"/>
                <a:sym typeface="Work Sans"/>
              </a:rPr>
              <a:t>precisa utilizá-lo agora</a:t>
            </a: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, no presente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4574139" y="4065284"/>
            <a:ext cx="2937852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Agente 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Work Sans"/>
                <a:ea typeface="Work Sans"/>
                <a:cs typeface="Work Sans"/>
                <a:sym typeface="Work Sans"/>
              </a:rPr>
              <a:t>deficitário</a:t>
            </a:r>
            <a:endParaRPr b="1" i="0" sz="1000" u="none" cap="none" strike="noStrike">
              <a:solidFill>
                <a:srgbClr val="C1272D"/>
              </a:solidFill>
              <a:highlight>
                <a:srgbClr val="FFFF00"/>
              </a:highlight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226120" y="4825425"/>
            <a:ext cx="2631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6"/>
          <p:cNvSpPr txBox="1"/>
          <p:nvPr>
            <p:ph type="title"/>
          </p:nvPr>
        </p:nvSpPr>
        <p:spPr>
          <a:xfrm>
            <a:off x="361187" y="356103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Noções básicas de matemática financeira</a:t>
            </a:r>
            <a:endParaRPr/>
          </a:p>
        </p:txBody>
      </p:sp>
      <p:sp>
        <p:nvSpPr>
          <p:cNvPr id="190" name="Google Shape;190;p66"/>
          <p:cNvSpPr txBox="1"/>
          <p:nvPr/>
        </p:nvSpPr>
        <p:spPr>
          <a:xfrm>
            <a:off x="361187" y="1004145"/>
            <a:ext cx="4768374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Definição de matemática financeira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1" name="Google Shape;191;p66"/>
          <p:cNvSpPr txBox="1"/>
          <p:nvPr/>
        </p:nvSpPr>
        <p:spPr>
          <a:xfrm>
            <a:off x="1167605" y="2017772"/>
            <a:ext cx="7214395" cy="1107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</a:pPr>
            <a:r>
              <a:rPr b="0" i="0" lang="en" sz="2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 matemática financeira visa estudar o </a:t>
            </a:r>
            <a:r>
              <a:rPr b="1" i="0" lang="en" sz="2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valor do dinheiro no tempo</a:t>
            </a:r>
            <a:r>
              <a:rPr b="0" i="0" lang="en" sz="22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 </a:t>
            </a:r>
            <a:r>
              <a:rPr b="0" i="0" lang="en" sz="2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nas</a:t>
            </a:r>
            <a:r>
              <a:rPr b="0" i="0" lang="en" sz="22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b="1" i="0" lang="en" sz="2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aplicações</a:t>
            </a:r>
            <a:r>
              <a:rPr b="0" i="0" lang="en" sz="22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b="0" i="0" lang="en" sz="2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 dinheiro e nos </a:t>
            </a:r>
            <a:r>
              <a:rPr b="1" i="0" lang="en" sz="2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pagamentos de empréstimos</a:t>
            </a:r>
            <a:r>
              <a:rPr b="0" i="0" lang="en" sz="22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/>
          </a:p>
        </p:txBody>
      </p:sp>
      <p:sp>
        <p:nvSpPr>
          <p:cNvPr id="192" name="Google Shape;192;p66"/>
          <p:cNvSpPr txBox="1"/>
          <p:nvPr/>
        </p:nvSpPr>
        <p:spPr>
          <a:xfrm>
            <a:off x="659703" y="1607216"/>
            <a:ext cx="4083086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</a:pPr>
            <a:r>
              <a:rPr b="1" i="0" lang="en" sz="8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 b="1" i="0" sz="80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3" name="Google Shape;193;p66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6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6"/>
          <p:cNvSpPr/>
          <p:nvPr/>
        </p:nvSpPr>
        <p:spPr>
          <a:xfrm>
            <a:off x="4226120" y="4825425"/>
            <a:ext cx="2631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6"/>
          <p:cNvSpPr txBox="1"/>
          <p:nvPr/>
        </p:nvSpPr>
        <p:spPr>
          <a:xfrm rot="10800000">
            <a:off x="4489253" y="2422343"/>
            <a:ext cx="4083086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</a:pPr>
            <a:r>
              <a:rPr b="1" i="0" lang="en" sz="8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 b="1" i="0" sz="80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 txBox="1"/>
          <p:nvPr>
            <p:ph type="title"/>
          </p:nvPr>
        </p:nvSpPr>
        <p:spPr>
          <a:xfrm>
            <a:off x="722313" y="384175"/>
            <a:ext cx="7699375" cy="5730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Noções básicas de matemática financeira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722312" y="884871"/>
            <a:ext cx="10480665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Para a tomada de decisões financeiras, a análise dos pontos abaixo é fundamental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03" name="Google Shape;2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43" y="1669482"/>
            <a:ext cx="1804535" cy="1804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0281" y="1719762"/>
            <a:ext cx="1804535" cy="1804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0720" y="1819321"/>
            <a:ext cx="1605416" cy="160541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 txBox="1"/>
          <p:nvPr/>
        </p:nvSpPr>
        <p:spPr>
          <a:xfrm>
            <a:off x="252460" y="3704529"/>
            <a:ext cx="279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8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Quanto vale?</a:t>
            </a:r>
            <a:endParaRPr b="1" i="0" sz="1000" u="none" cap="none" strike="noStrike">
              <a:solidFill>
                <a:srgbClr val="C1272D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3118148" y="3727884"/>
            <a:ext cx="30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8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Quanto tempo?</a:t>
            </a:r>
            <a:endParaRPr b="1" i="0" sz="1050" u="none" cap="none" strike="noStrike">
              <a:solidFill>
                <a:srgbClr val="C1272D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6344676" y="3704529"/>
            <a:ext cx="2495100" cy="51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8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Vale a pena?</a:t>
            </a:r>
            <a:endParaRPr b="1" i="0" sz="1000" u="none" cap="none" strike="noStrike">
              <a:solidFill>
                <a:srgbClr val="C1272D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226120" y="4825425"/>
            <a:ext cx="2631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7"/>
          <p:cNvSpPr txBox="1"/>
          <p:nvPr>
            <p:ph type="title"/>
          </p:nvPr>
        </p:nvSpPr>
        <p:spPr>
          <a:xfrm>
            <a:off x="361187" y="356103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Noções básicas de matemática financeira</a:t>
            </a:r>
            <a:endParaRPr/>
          </a:p>
        </p:txBody>
      </p:sp>
      <p:sp>
        <p:nvSpPr>
          <p:cNvPr id="217" name="Google Shape;217;p67"/>
          <p:cNvSpPr txBox="1"/>
          <p:nvPr/>
        </p:nvSpPr>
        <p:spPr>
          <a:xfrm>
            <a:off x="320511" y="987876"/>
            <a:ext cx="1048066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Os conceitos abaixos são base para o estudo de matemática financeira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8" name="Google Shape;218;p67"/>
          <p:cNvSpPr txBox="1"/>
          <p:nvPr/>
        </p:nvSpPr>
        <p:spPr>
          <a:xfrm>
            <a:off x="636898" y="1690739"/>
            <a:ext cx="1107861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Qualquer valor monetário que uma pessoa (física ou jurídica) empresta para outra durante um determinado tempo.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9" name="Google Shape;219;p67"/>
          <p:cNvSpPr txBox="1"/>
          <p:nvPr/>
        </p:nvSpPr>
        <p:spPr>
          <a:xfrm>
            <a:off x="521632" y="1394887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Capital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0" name="Google Shape;220;p67"/>
          <p:cNvSpPr txBox="1"/>
          <p:nvPr/>
        </p:nvSpPr>
        <p:spPr>
          <a:xfrm>
            <a:off x="636898" y="2509792"/>
            <a:ext cx="1107861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Custo do empréstimo (para o tomador da dívida) ou a remuneração pelo uso do capital (para o emprestador).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1" name="Google Shape;221;p67"/>
          <p:cNvSpPr txBox="1"/>
          <p:nvPr/>
        </p:nvSpPr>
        <p:spPr>
          <a:xfrm>
            <a:off x="521630" y="2216605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Juro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2" name="Google Shape;222;p67"/>
          <p:cNvSpPr txBox="1"/>
          <p:nvPr/>
        </p:nvSpPr>
        <p:spPr>
          <a:xfrm>
            <a:off x="636898" y="3354338"/>
            <a:ext cx="1107861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 valor do juro em determinada unidade de tempo, dado como uma porcentagem do capital.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3" name="Google Shape;223;p67"/>
          <p:cNvSpPr txBox="1"/>
          <p:nvPr/>
        </p:nvSpPr>
        <p:spPr>
          <a:xfrm>
            <a:off x="521630" y="3032994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Taxa de juros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4" name="Google Shape;224;p67"/>
          <p:cNvSpPr txBox="1"/>
          <p:nvPr/>
        </p:nvSpPr>
        <p:spPr>
          <a:xfrm>
            <a:off x="636898" y="4150474"/>
            <a:ext cx="1992002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Soma do capital com o juro.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5" name="Google Shape;225;p67"/>
          <p:cNvSpPr txBox="1"/>
          <p:nvPr/>
        </p:nvSpPr>
        <p:spPr>
          <a:xfrm>
            <a:off x="521630" y="3853876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Montante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6" name="Google Shape;226;p67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7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7"/>
          <p:cNvSpPr/>
          <p:nvPr/>
        </p:nvSpPr>
        <p:spPr>
          <a:xfrm>
            <a:off x="4226120" y="4825425"/>
            <a:ext cx="2631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8"/>
          <p:cNvSpPr txBox="1"/>
          <p:nvPr>
            <p:ph type="title"/>
          </p:nvPr>
        </p:nvSpPr>
        <p:spPr>
          <a:xfrm>
            <a:off x="722313" y="384175"/>
            <a:ext cx="7699375" cy="5730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Noções básicas de matemática financeira</a:t>
            </a:r>
            <a:endParaRPr/>
          </a:p>
        </p:txBody>
      </p:sp>
      <p:sp>
        <p:nvSpPr>
          <p:cNvPr id="234" name="Google Shape;234;p68"/>
          <p:cNvSpPr txBox="1"/>
          <p:nvPr/>
        </p:nvSpPr>
        <p:spPr>
          <a:xfrm>
            <a:off x="722313" y="976918"/>
            <a:ext cx="1048066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Regime de capitalização simples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35" name="Google Shape;235;p68"/>
          <p:cNvSpPr txBox="1"/>
          <p:nvPr/>
        </p:nvSpPr>
        <p:spPr>
          <a:xfrm>
            <a:off x="1077491" y="1399721"/>
            <a:ext cx="9483827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 taxa de juros </a:t>
            </a: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(i) 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atua somente sobre o capital inicial </a:t>
            </a: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(PV)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36" name="Google Shape;236;p68"/>
          <p:cNvSpPr txBox="1"/>
          <p:nvPr/>
        </p:nvSpPr>
        <p:spPr>
          <a:xfrm>
            <a:off x="1077491" y="2559922"/>
            <a:ext cx="9923442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R$ 100.000,00 capitalizado a juros simples por 3 anos. </a:t>
            </a: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Taxa de juros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 10% a.a.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37" name="Google Shape;237;p68"/>
          <p:cNvSpPr txBox="1"/>
          <p:nvPr/>
        </p:nvSpPr>
        <p:spPr>
          <a:xfrm>
            <a:off x="1077490" y="3124925"/>
            <a:ext cx="9483827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Ano 0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 R$ 100.000,00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Ano 1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 R$ 100.000,00 + R$ 10.000,00 = R$ 110.000,00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Ano 2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 R$ 110.000,00 + R$ 10.000,00 = R$ 120.000,00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Ano 3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 R$ 120.000,00 + R$ 10.000,00 = R$ 130.000,00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38" name="Google Shape;238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7304" y="1974334"/>
            <a:ext cx="276225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8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8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8"/>
          <p:cNvSpPr/>
          <p:nvPr/>
        </p:nvSpPr>
        <p:spPr>
          <a:xfrm>
            <a:off x="4129088" y="4825425"/>
            <a:ext cx="442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9"/>
          <p:cNvSpPr txBox="1"/>
          <p:nvPr>
            <p:ph type="title"/>
          </p:nvPr>
        </p:nvSpPr>
        <p:spPr>
          <a:xfrm>
            <a:off x="361187" y="356103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Noções básicas de matemática financeira</a:t>
            </a:r>
            <a:endParaRPr/>
          </a:p>
        </p:txBody>
      </p:sp>
      <p:sp>
        <p:nvSpPr>
          <p:cNvPr id="247" name="Google Shape;247;p69"/>
          <p:cNvSpPr txBox="1"/>
          <p:nvPr/>
        </p:nvSpPr>
        <p:spPr>
          <a:xfrm>
            <a:off x="320511" y="985895"/>
            <a:ext cx="1048066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Regime de capitalização composto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48" name="Google Shape;248;p69"/>
          <p:cNvSpPr txBox="1"/>
          <p:nvPr/>
        </p:nvSpPr>
        <p:spPr>
          <a:xfrm>
            <a:off x="1077493" y="1599669"/>
            <a:ext cx="9483827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 taxa de juros </a:t>
            </a: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(i)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atua somente sobre montante anterior.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49" name="Google Shape;249;p69"/>
          <p:cNvSpPr txBox="1"/>
          <p:nvPr/>
        </p:nvSpPr>
        <p:spPr>
          <a:xfrm>
            <a:off x="1077493" y="2680537"/>
            <a:ext cx="1038767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R$ 100.000,00 capitalizado a juros compostos por 3 anos. Taxa de juros: 10% a.a.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50" name="Google Shape;250;p69"/>
          <p:cNvSpPr txBox="1"/>
          <p:nvPr/>
        </p:nvSpPr>
        <p:spPr>
          <a:xfrm>
            <a:off x="1077493" y="3131825"/>
            <a:ext cx="9483827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Ano 0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 R$ 100.000,00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Ano 1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 R$ 100.000,00 + R$ 10.000,00 = R$ 110.000,00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Ano 2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 R$ 110.000,00 + R$ 11.000,00 = R$ 121.000,00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Ano 3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 R$ 121.000,00 + R$ 12.100,00 = R$ 133.100,00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51" name="Google Shape;25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9087" y="2143706"/>
            <a:ext cx="2486025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69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9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9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70"/>
          <p:cNvGrpSpPr/>
          <p:nvPr/>
        </p:nvGrpSpPr>
        <p:grpSpPr>
          <a:xfrm>
            <a:off x="2554378" y="1804982"/>
            <a:ext cx="344903" cy="340151"/>
            <a:chOff x="2079300" y="4399325"/>
            <a:chExt cx="489850" cy="483100"/>
          </a:xfrm>
        </p:grpSpPr>
        <p:sp>
          <p:nvSpPr>
            <p:cNvPr id="260" name="Google Shape;260;p70"/>
            <p:cNvSpPr/>
            <p:nvPr/>
          </p:nvSpPr>
          <p:spPr>
            <a:xfrm>
              <a:off x="2079300" y="4399325"/>
              <a:ext cx="489850" cy="483100"/>
            </a:xfrm>
            <a:custGeom>
              <a:rect b="b" l="l" r="r" t="t"/>
              <a:pathLst>
                <a:path extrusionOk="0" h="19324" w="19594">
                  <a:moveTo>
                    <a:pt x="17109" y="1134"/>
                  </a:moveTo>
                  <a:cubicBezTo>
                    <a:pt x="17415" y="1134"/>
                    <a:pt x="17714" y="1254"/>
                    <a:pt x="17939" y="1479"/>
                  </a:cubicBezTo>
                  <a:cubicBezTo>
                    <a:pt x="18268" y="1805"/>
                    <a:pt x="18371" y="2297"/>
                    <a:pt x="18205" y="2732"/>
                  </a:cubicBezTo>
                  <a:cubicBezTo>
                    <a:pt x="18003" y="3260"/>
                    <a:pt x="17770" y="3774"/>
                    <a:pt x="17507" y="4275"/>
                  </a:cubicBezTo>
                  <a:cubicBezTo>
                    <a:pt x="16288" y="4088"/>
                    <a:pt x="15330" y="3130"/>
                    <a:pt x="15143" y="1911"/>
                  </a:cubicBezTo>
                  <a:cubicBezTo>
                    <a:pt x="15644" y="1648"/>
                    <a:pt x="16158" y="1415"/>
                    <a:pt x="16686" y="1210"/>
                  </a:cubicBezTo>
                  <a:lnTo>
                    <a:pt x="16686" y="1213"/>
                  </a:lnTo>
                  <a:cubicBezTo>
                    <a:pt x="16824" y="1160"/>
                    <a:pt x="16967" y="1134"/>
                    <a:pt x="17109" y="1134"/>
                  </a:cubicBezTo>
                  <a:close/>
                  <a:moveTo>
                    <a:pt x="2905" y="2901"/>
                  </a:moveTo>
                  <a:lnTo>
                    <a:pt x="10016" y="4541"/>
                  </a:lnTo>
                  <a:cubicBezTo>
                    <a:pt x="9744" y="4855"/>
                    <a:pt x="9485" y="5178"/>
                    <a:pt x="9234" y="5513"/>
                  </a:cubicBezTo>
                  <a:lnTo>
                    <a:pt x="9234" y="5516"/>
                  </a:lnTo>
                  <a:lnTo>
                    <a:pt x="7812" y="7463"/>
                  </a:lnTo>
                  <a:lnTo>
                    <a:pt x="2027" y="3780"/>
                  </a:lnTo>
                  <a:lnTo>
                    <a:pt x="2905" y="2901"/>
                  </a:lnTo>
                  <a:close/>
                  <a:moveTo>
                    <a:pt x="2465" y="11352"/>
                  </a:moveTo>
                  <a:lnTo>
                    <a:pt x="4738" y="11676"/>
                  </a:lnTo>
                  <a:lnTo>
                    <a:pt x="3488" y="13388"/>
                  </a:lnTo>
                  <a:lnTo>
                    <a:pt x="1574" y="12240"/>
                  </a:lnTo>
                  <a:lnTo>
                    <a:pt x="2465" y="11352"/>
                  </a:lnTo>
                  <a:close/>
                  <a:moveTo>
                    <a:pt x="14111" y="2502"/>
                  </a:moveTo>
                  <a:cubicBezTo>
                    <a:pt x="14479" y="3870"/>
                    <a:pt x="15545" y="4939"/>
                    <a:pt x="16913" y="5308"/>
                  </a:cubicBezTo>
                  <a:cubicBezTo>
                    <a:pt x="16318" y="6250"/>
                    <a:pt x="15617" y="7122"/>
                    <a:pt x="14823" y="7907"/>
                  </a:cubicBezTo>
                  <a:cubicBezTo>
                    <a:pt x="14811" y="7916"/>
                    <a:pt x="14802" y="7928"/>
                    <a:pt x="14793" y="7937"/>
                  </a:cubicBezTo>
                  <a:cubicBezTo>
                    <a:pt x="14304" y="8418"/>
                    <a:pt x="13784" y="8861"/>
                    <a:pt x="13235" y="9269"/>
                  </a:cubicBezTo>
                  <a:lnTo>
                    <a:pt x="5140" y="15184"/>
                  </a:lnTo>
                  <a:cubicBezTo>
                    <a:pt x="5128" y="15196"/>
                    <a:pt x="5113" y="15208"/>
                    <a:pt x="5101" y="15217"/>
                  </a:cubicBezTo>
                  <a:cubicBezTo>
                    <a:pt x="5082" y="15235"/>
                    <a:pt x="5061" y="15248"/>
                    <a:pt x="5040" y="15260"/>
                  </a:cubicBezTo>
                  <a:cubicBezTo>
                    <a:pt x="5031" y="15263"/>
                    <a:pt x="5022" y="15269"/>
                    <a:pt x="5016" y="15272"/>
                  </a:cubicBezTo>
                  <a:cubicBezTo>
                    <a:pt x="4925" y="15314"/>
                    <a:pt x="4801" y="15339"/>
                    <a:pt x="4674" y="15339"/>
                  </a:cubicBezTo>
                  <a:cubicBezTo>
                    <a:pt x="4506" y="15339"/>
                    <a:pt x="4333" y="15295"/>
                    <a:pt x="4228" y="15190"/>
                  </a:cubicBezTo>
                  <a:cubicBezTo>
                    <a:pt x="3998" y="14961"/>
                    <a:pt x="4004" y="14544"/>
                    <a:pt x="4237" y="14278"/>
                  </a:cubicBezTo>
                  <a:cubicBezTo>
                    <a:pt x="4249" y="14266"/>
                    <a:pt x="4261" y="14251"/>
                    <a:pt x="4270" y="14239"/>
                  </a:cubicBezTo>
                  <a:lnTo>
                    <a:pt x="10149" y="6186"/>
                  </a:lnTo>
                  <a:cubicBezTo>
                    <a:pt x="11230" y="4722"/>
                    <a:pt x="12574" y="3475"/>
                    <a:pt x="14111" y="2502"/>
                  </a:cubicBezTo>
                  <a:close/>
                  <a:moveTo>
                    <a:pt x="14877" y="9402"/>
                  </a:moveTo>
                  <a:lnTo>
                    <a:pt x="16517" y="16513"/>
                  </a:lnTo>
                  <a:lnTo>
                    <a:pt x="15635" y="17391"/>
                  </a:lnTo>
                  <a:lnTo>
                    <a:pt x="11955" y="11606"/>
                  </a:lnTo>
                  <a:lnTo>
                    <a:pt x="13905" y="10181"/>
                  </a:lnTo>
                  <a:cubicBezTo>
                    <a:pt x="14240" y="9933"/>
                    <a:pt x="14563" y="9674"/>
                    <a:pt x="14877" y="9402"/>
                  </a:cubicBezTo>
                  <a:close/>
                  <a:moveTo>
                    <a:pt x="7743" y="14686"/>
                  </a:moveTo>
                  <a:lnTo>
                    <a:pt x="8069" y="16957"/>
                  </a:lnTo>
                  <a:lnTo>
                    <a:pt x="7181" y="17844"/>
                  </a:lnTo>
                  <a:lnTo>
                    <a:pt x="6034" y="15936"/>
                  </a:lnTo>
                  <a:lnTo>
                    <a:pt x="7743" y="14686"/>
                  </a:lnTo>
                  <a:close/>
                  <a:moveTo>
                    <a:pt x="17108" y="0"/>
                  </a:moveTo>
                  <a:cubicBezTo>
                    <a:pt x="16830" y="0"/>
                    <a:pt x="16550" y="50"/>
                    <a:pt x="16282" y="153"/>
                  </a:cubicBezTo>
                  <a:cubicBezTo>
                    <a:pt x="14280" y="923"/>
                    <a:pt x="12456" y="2092"/>
                    <a:pt x="10919" y="3586"/>
                  </a:cubicBezTo>
                  <a:lnTo>
                    <a:pt x="7758" y="2856"/>
                  </a:lnTo>
                  <a:lnTo>
                    <a:pt x="7978" y="2635"/>
                  </a:lnTo>
                  <a:cubicBezTo>
                    <a:pt x="8198" y="2415"/>
                    <a:pt x="8198" y="2056"/>
                    <a:pt x="7978" y="1835"/>
                  </a:cubicBezTo>
                  <a:cubicBezTo>
                    <a:pt x="7868" y="1724"/>
                    <a:pt x="7724" y="1669"/>
                    <a:pt x="7579" y="1669"/>
                  </a:cubicBezTo>
                  <a:cubicBezTo>
                    <a:pt x="7434" y="1669"/>
                    <a:pt x="7288" y="1725"/>
                    <a:pt x="7178" y="1835"/>
                  </a:cubicBezTo>
                  <a:lnTo>
                    <a:pt x="6456" y="2557"/>
                  </a:lnTo>
                  <a:lnTo>
                    <a:pt x="3850" y="1956"/>
                  </a:lnTo>
                  <a:lnTo>
                    <a:pt x="4074" y="1736"/>
                  </a:lnTo>
                  <a:cubicBezTo>
                    <a:pt x="4300" y="1515"/>
                    <a:pt x="4303" y="1150"/>
                    <a:pt x="4080" y="926"/>
                  </a:cubicBezTo>
                  <a:cubicBezTo>
                    <a:pt x="3969" y="816"/>
                    <a:pt x="3824" y="761"/>
                    <a:pt x="3679" y="761"/>
                  </a:cubicBezTo>
                  <a:cubicBezTo>
                    <a:pt x="3531" y="761"/>
                    <a:pt x="3384" y="818"/>
                    <a:pt x="3274" y="932"/>
                  </a:cubicBezTo>
                  <a:lnTo>
                    <a:pt x="1945" y="2261"/>
                  </a:lnTo>
                  <a:lnTo>
                    <a:pt x="725" y="3478"/>
                  </a:lnTo>
                  <a:cubicBezTo>
                    <a:pt x="469" y="3734"/>
                    <a:pt x="517" y="4163"/>
                    <a:pt x="822" y="4356"/>
                  </a:cubicBezTo>
                  <a:lnTo>
                    <a:pt x="7145" y="8378"/>
                  </a:lnTo>
                  <a:lnTo>
                    <a:pt x="5496" y="10640"/>
                  </a:lnTo>
                  <a:lnTo>
                    <a:pt x="2344" y="10190"/>
                  </a:lnTo>
                  <a:cubicBezTo>
                    <a:pt x="2317" y="10186"/>
                    <a:pt x="2290" y="10185"/>
                    <a:pt x="2264" y="10185"/>
                  </a:cubicBezTo>
                  <a:cubicBezTo>
                    <a:pt x="2113" y="10185"/>
                    <a:pt x="1969" y="10242"/>
                    <a:pt x="1864" y="10350"/>
                  </a:cubicBezTo>
                  <a:lnTo>
                    <a:pt x="260" y="11950"/>
                  </a:lnTo>
                  <a:cubicBezTo>
                    <a:pt x="1" y="12213"/>
                    <a:pt x="55" y="12648"/>
                    <a:pt x="369" y="12838"/>
                  </a:cubicBezTo>
                  <a:lnTo>
                    <a:pt x="2966" y="14393"/>
                  </a:lnTo>
                  <a:cubicBezTo>
                    <a:pt x="2851" y="14964"/>
                    <a:pt x="3008" y="15574"/>
                    <a:pt x="3428" y="15990"/>
                  </a:cubicBezTo>
                  <a:cubicBezTo>
                    <a:pt x="3757" y="16322"/>
                    <a:pt x="4219" y="16467"/>
                    <a:pt x="4669" y="16467"/>
                  </a:cubicBezTo>
                  <a:cubicBezTo>
                    <a:pt x="4786" y="16467"/>
                    <a:pt x="4901" y="16458"/>
                    <a:pt x="5016" y="16440"/>
                  </a:cubicBezTo>
                  <a:lnTo>
                    <a:pt x="6580" y="19049"/>
                  </a:lnTo>
                  <a:cubicBezTo>
                    <a:pt x="6671" y="19197"/>
                    <a:pt x="6825" y="19297"/>
                    <a:pt x="6997" y="19318"/>
                  </a:cubicBezTo>
                  <a:cubicBezTo>
                    <a:pt x="7021" y="19321"/>
                    <a:pt x="7042" y="19324"/>
                    <a:pt x="7066" y="19324"/>
                  </a:cubicBezTo>
                  <a:cubicBezTo>
                    <a:pt x="7217" y="19324"/>
                    <a:pt x="7359" y="19263"/>
                    <a:pt x="7465" y="19158"/>
                  </a:cubicBezTo>
                  <a:lnTo>
                    <a:pt x="9068" y="17554"/>
                  </a:lnTo>
                  <a:cubicBezTo>
                    <a:pt x="9192" y="17431"/>
                    <a:pt x="9252" y="17252"/>
                    <a:pt x="9228" y="17074"/>
                  </a:cubicBezTo>
                  <a:lnTo>
                    <a:pt x="8778" y="13931"/>
                  </a:lnTo>
                  <a:lnTo>
                    <a:pt x="11040" y="12276"/>
                  </a:lnTo>
                  <a:lnTo>
                    <a:pt x="15062" y="18596"/>
                  </a:lnTo>
                  <a:cubicBezTo>
                    <a:pt x="15152" y="18741"/>
                    <a:pt x="15306" y="18835"/>
                    <a:pt x="15475" y="18853"/>
                  </a:cubicBezTo>
                  <a:cubicBezTo>
                    <a:pt x="15496" y="18856"/>
                    <a:pt x="15518" y="18859"/>
                    <a:pt x="15539" y="18859"/>
                  </a:cubicBezTo>
                  <a:cubicBezTo>
                    <a:pt x="15687" y="18859"/>
                    <a:pt x="15832" y="18798"/>
                    <a:pt x="15937" y="18693"/>
                  </a:cubicBezTo>
                  <a:lnTo>
                    <a:pt x="16740" y="17890"/>
                  </a:lnTo>
                  <a:lnTo>
                    <a:pt x="18483" y="16144"/>
                  </a:lnTo>
                  <a:cubicBezTo>
                    <a:pt x="18712" y="15924"/>
                    <a:pt x="18715" y="15562"/>
                    <a:pt x="18492" y="15338"/>
                  </a:cubicBezTo>
                  <a:cubicBezTo>
                    <a:pt x="18381" y="15228"/>
                    <a:pt x="18236" y="15172"/>
                    <a:pt x="18090" y="15172"/>
                  </a:cubicBezTo>
                  <a:cubicBezTo>
                    <a:pt x="17942" y="15172"/>
                    <a:pt x="17794" y="15230"/>
                    <a:pt x="17683" y="15344"/>
                  </a:cubicBezTo>
                  <a:lnTo>
                    <a:pt x="17462" y="15568"/>
                  </a:lnTo>
                  <a:lnTo>
                    <a:pt x="16861" y="12965"/>
                  </a:lnTo>
                  <a:lnTo>
                    <a:pt x="17583" y="12243"/>
                  </a:lnTo>
                  <a:cubicBezTo>
                    <a:pt x="17803" y="12020"/>
                    <a:pt x="17803" y="11660"/>
                    <a:pt x="17583" y="11440"/>
                  </a:cubicBezTo>
                  <a:cubicBezTo>
                    <a:pt x="17473" y="11330"/>
                    <a:pt x="17328" y="11275"/>
                    <a:pt x="17183" y="11275"/>
                  </a:cubicBezTo>
                  <a:cubicBezTo>
                    <a:pt x="17038" y="11275"/>
                    <a:pt x="16893" y="11330"/>
                    <a:pt x="16783" y="11440"/>
                  </a:cubicBezTo>
                  <a:lnTo>
                    <a:pt x="16559" y="11663"/>
                  </a:lnTo>
                  <a:lnTo>
                    <a:pt x="15835" y="8499"/>
                  </a:lnTo>
                  <a:cubicBezTo>
                    <a:pt x="17329" y="6962"/>
                    <a:pt x="18498" y="5138"/>
                    <a:pt x="19265" y="3137"/>
                  </a:cubicBezTo>
                  <a:cubicBezTo>
                    <a:pt x="19594" y="2285"/>
                    <a:pt x="19389" y="1322"/>
                    <a:pt x="18742" y="676"/>
                  </a:cubicBezTo>
                  <a:cubicBezTo>
                    <a:pt x="18302" y="236"/>
                    <a:pt x="17711" y="0"/>
                    <a:pt x="171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70"/>
            <p:cNvSpPr/>
            <p:nvPr/>
          </p:nvSpPr>
          <p:spPr>
            <a:xfrm>
              <a:off x="2348725" y="4522375"/>
              <a:ext cx="94375" cy="88150"/>
            </a:xfrm>
            <a:custGeom>
              <a:rect b="b" l="l" r="r" t="t"/>
              <a:pathLst>
                <a:path extrusionOk="0" h="3526" w="3775">
                  <a:moveTo>
                    <a:pt x="3155" y="0"/>
                  </a:moveTo>
                  <a:cubicBezTo>
                    <a:pt x="3013" y="0"/>
                    <a:pt x="2870" y="53"/>
                    <a:pt x="2760" y="159"/>
                  </a:cubicBezTo>
                  <a:lnTo>
                    <a:pt x="359" y="2560"/>
                  </a:lnTo>
                  <a:cubicBezTo>
                    <a:pt x="0" y="2916"/>
                    <a:pt x="254" y="3526"/>
                    <a:pt x="758" y="3526"/>
                  </a:cubicBezTo>
                  <a:cubicBezTo>
                    <a:pt x="909" y="3526"/>
                    <a:pt x="1054" y="3468"/>
                    <a:pt x="1160" y="3360"/>
                  </a:cubicBezTo>
                  <a:lnTo>
                    <a:pt x="3560" y="959"/>
                  </a:lnTo>
                  <a:cubicBezTo>
                    <a:pt x="3774" y="736"/>
                    <a:pt x="3771" y="383"/>
                    <a:pt x="3554" y="165"/>
                  </a:cubicBezTo>
                  <a:cubicBezTo>
                    <a:pt x="3444" y="55"/>
                    <a:pt x="3300" y="0"/>
                    <a:pt x="31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" name="Google Shape;262;p70"/>
          <p:cNvGrpSpPr/>
          <p:nvPr/>
        </p:nvGrpSpPr>
        <p:grpSpPr>
          <a:xfrm>
            <a:off x="6270180" y="1828022"/>
            <a:ext cx="293997" cy="294073"/>
            <a:chOff x="5053900" y="4993700"/>
            <a:chExt cx="483150" cy="483275"/>
          </a:xfrm>
        </p:grpSpPr>
        <p:sp>
          <p:nvSpPr>
            <p:cNvPr id="263" name="Google Shape;263;p70"/>
            <p:cNvSpPr/>
            <p:nvPr/>
          </p:nvSpPr>
          <p:spPr>
            <a:xfrm>
              <a:off x="5053900" y="4993700"/>
              <a:ext cx="483150" cy="483275"/>
            </a:xfrm>
            <a:custGeom>
              <a:rect b="b" l="l" r="r" t="t"/>
              <a:pathLst>
                <a:path extrusionOk="0" h="19331" w="19326">
                  <a:moveTo>
                    <a:pt x="9470" y="1131"/>
                  </a:moveTo>
                  <a:cubicBezTo>
                    <a:pt x="9519" y="1131"/>
                    <a:pt x="9569" y="1143"/>
                    <a:pt x="9615" y="1165"/>
                  </a:cubicBezTo>
                  <a:lnTo>
                    <a:pt x="17505" y="5208"/>
                  </a:lnTo>
                  <a:lnTo>
                    <a:pt x="14283" y="6820"/>
                  </a:lnTo>
                  <a:lnTo>
                    <a:pt x="6429" y="2720"/>
                  </a:lnTo>
                  <a:lnTo>
                    <a:pt x="9325" y="1168"/>
                  </a:lnTo>
                  <a:cubicBezTo>
                    <a:pt x="9369" y="1143"/>
                    <a:pt x="9419" y="1131"/>
                    <a:pt x="9470" y="1131"/>
                  </a:cubicBezTo>
                  <a:close/>
                  <a:moveTo>
                    <a:pt x="5222" y="3366"/>
                  </a:moveTo>
                  <a:lnTo>
                    <a:pt x="13033" y="7445"/>
                  </a:lnTo>
                  <a:lnTo>
                    <a:pt x="9467" y="9230"/>
                  </a:lnTo>
                  <a:lnTo>
                    <a:pt x="1779" y="5208"/>
                  </a:lnTo>
                  <a:lnTo>
                    <a:pt x="5222" y="3366"/>
                  </a:lnTo>
                  <a:close/>
                  <a:moveTo>
                    <a:pt x="1133" y="6150"/>
                  </a:moveTo>
                  <a:lnTo>
                    <a:pt x="8896" y="10208"/>
                  </a:lnTo>
                  <a:lnTo>
                    <a:pt x="8896" y="17935"/>
                  </a:lnTo>
                  <a:lnTo>
                    <a:pt x="1299" y="13916"/>
                  </a:lnTo>
                  <a:cubicBezTo>
                    <a:pt x="1197" y="13862"/>
                    <a:pt x="1133" y="13753"/>
                    <a:pt x="1133" y="13638"/>
                  </a:cubicBezTo>
                  <a:lnTo>
                    <a:pt x="1133" y="6150"/>
                  </a:lnTo>
                  <a:close/>
                  <a:moveTo>
                    <a:pt x="18193" y="6132"/>
                  </a:moveTo>
                  <a:lnTo>
                    <a:pt x="18193" y="13629"/>
                  </a:lnTo>
                  <a:cubicBezTo>
                    <a:pt x="18193" y="13744"/>
                    <a:pt x="18127" y="13853"/>
                    <a:pt x="18021" y="13907"/>
                  </a:cubicBezTo>
                  <a:lnTo>
                    <a:pt x="10029" y="17953"/>
                  </a:lnTo>
                  <a:lnTo>
                    <a:pt x="10029" y="10217"/>
                  </a:lnTo>
                  <a:lnTo>
                    <a:pt x="13730" y="8363"/>
                  </a:lnTo>
                  <a:lnTo>
                    <a:pt x="13730" y="10281"/>
                  </a:lnTo>
                  <a:cubicBezTo>
                    <a:pt x="13730" y="10592"/>
                    <a:pt x="13984" y="10845"/>
                    <a:pt x="14298" y="10845"/>
                  </a:cubicBezTo>
                  <a:cubicBezTo>
                    <a:pt x="14609" y="10845"/>
                    <a:pt x="14863" y="10592"/>
                    <a:pt x="14863" y="10281"/>
                  </a:cubicBezTo>
                  <a:lnTo>
                    <a:pt x="14863" y="7796"/>
                  </a:lnTo>
                  <a:lnTo>
                    <a:pt x="18193" y="6132"/>
                  </a:lnTo>
                  <a:close/>
                  <a:moveTo>
                    <a:pt x="9472" y="0"/>
                  </a:moveTo>
                  <a:cubicBezTo>
                    <a:pt x="9237" y="0"/>
                    <a:pt x="9002" y="58"/>
                    <a:pt x="8788" y="172"/>
                  </a:cubicBezTo>
                  <a:lnTo>
                    <a:pt x="765" y="4468"/>
                  </a:lnTo>
                  <a:cubicBezTo>
                    <a:pt x="294" y="4719"/>
                    <a:pt x="1" y="5208"/>
                    <a:pt x="1" y="5739"/>
                  </a:cubicBezTo>
                  <a:lnTo>
                    <a:pt x="1" y="13638"/>
                  </a:lnTo>
                  <a:cubicBezTo>
                    <a:pt x="1" y="14173"/>
                    <a:pt x="297" y="14665"/>
                    <a:pt x="771" y="14913"/>
                  </a:cubicBezTo>
                  <a:lnTo>
                    <a:pt x="8797" y="19164"/>
                  </a:lnTo>
                  <a:cubicBezTo>
                    <a:pt x="9008" y="19275"/>
                    <a:pt x="9240" y="19331"/>
                    <a:pt x="9473" y="19331"/>
                  </a:cubicBezTo>
                  <a:cubicBezTo>
                    <a:pt x="9696" y="19331"/>
                    <a:pt x="9920" y="19279"/>
                    <a:pt x="10125" y="19176"/>
                  </a:cubicBezTo>
                  <a:lnTo>
                    <a:pt x="18534" y="14916"/>
                  </a:lnTo>
                  <a:cubicBezTo>
                    <a:pt x="19020" y="14671"/>
                    <a:pt x="19325" y="14173"/>
                    <a:pt x="19325" y="13629"/>
                  </a:cubicBezTo>
                  <a:lnTo>
                    <a:pt x="19325" y="5752"/>
                  </a:lnTo>
                  <a:cubicBezTo>
                    <a:pt x="19325" y="5208"/>
                    <a:pt x="19023" y="4713"/>
                    <a:pt x="18537" y="4465"/>
                  </a:cubicBezTo>
                  <a:lnTo>
                    <a:pt x="10128" y="160"/>
                  </a:lnTo>
                  <a:cubicBezTo>
                    <a:pt x="9923" y="53"/>
                    <a:pt x="9698" y="0"/>
                    <a:pt x="9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70"/>
            <p:cNvSpPr/>
            <p:nvPr/>
          </p:nvSpPr>
          <p:spPr>
            <a:xfrm>
              <a:off x="5123725" y="5264025"/>
              <a:ext cx="105200" cy="61775"/>
            </a:xfrm>
            <a:custGeom>
              <a:rect b="b" l="l" r="r" t="t"/>
              <a:pathLst>
                <a:path extrusionOk="0" h="2471" w="4208">
                  <a:moveTo>
                    <a:pt x="3561" y="1"/>
                  </a:moveTo>
                  <a:cubicBezTo>
                    <a:pt x="3462" y="1"/>
                    <a:pt x="3362" y="26"/>
                    <a:pt x="3271" y="81"/>
                  </a:cubicBezTo>
                  <a:lnTo>
                    <a:pt x="1523" y="1122"/>
                  </a:lnTo>
                  <a:lnTo>
                    <a:pt x="1139" y="449"/>
                  </a:lnTo>
                  <a:cubicBezTo>
                    <a:pt x="1035" y="266"/>
                    <a:pt x="844" y="162"/>
                    <a:pt x="647" y="162"/>
                  </a:cubicBezTo>
                  <a:cubicBezTo>
                    <a:pt x="551" y="162"/>
                    <a:pt x="455" y="187"/>
                    <a:pt x="366" y="238"/>
                  </a:cubicBezTo>
                  <a:cubicBezTo>
                    <a:pt x="95" y="392"/>
                    <a:pt x="1" y="736"/>
                    <a:pt x="155" y="1008"/>
                  </a:cubicBezTo>
                  <a:lnTo>
                    <a:pt x="825" y="2185"/>
                  </a:lnTo>
                  <a:lnTo>
                    <a:pt x="831" y="2191"/>
                  </a:lnTo>
                  <a:cubicBezTo>
                    <a:pt x="831" y="2194"/>
                    <a:pt x="831" y="2194"/>
                    <a:pt x="831" y="2194"/>
                  </a:cubicBezTo>
                  <a:cubicBezTo>
                    <a:pt x="834" y="2200"/>
                    <a:pt x="837" y="2203"/>
                    <a:pt x="840" y="2206"/>
                  </a:cubicBezTo>
                  <a:lnTo>
                    <a:pt x="849" y="2224"/>
                  </a:lnTo>
                  <a:lnTo>
                    <a:pt x="861" y="2240"/>
                  </a:lnTo>
                  <a:lnTo>
                    <a:pt x="874" y="2255"/>
                  </a:lnTo>
                  <a:lnTo>
                    <a:pt x="883" y="2270"/>
                  </a:lnTo>
                  <a:lnTo>
                    <a:pt x="898" y="2282"/>
                  </a:lnTo>
                  <a:lnTo>
                    <a:pt x="910" y="2297"/>
                  </a:lnTo>
                  <a:lnTo>
                    <a:pt x="922" y="2312"/>
                  </a:lnTo>
                  <a:lnTo>
                    <a:pt x="937" y="2324"/>
                  </a:lnTo>
                  <a:lnTo>
                    <a:pt x="949" y="2336"/>
                  </a:lnTo>
                  <a:lnTo>
                    <a:pt x="964" y="2348"/>
                  </a:lnTo>
                  <a:cubicBezTo>
                    <a:pt x="970" y="2351"/>
                    <a:pt x="973" y="2354"/>
                    <a:pt x="979" y="2357"/>
                  </a:cubicBezTo>
                  <a:lnTo>
                    <a:pt x="994" y="2369"/>
                  </a:lnTo>
                  <a:lnTo>
                    <a:pt x="1009" y="2378"/>
                  </a:lnTo>
                  <a:lnTo>
                    <a:pt x="1028" y="2391"/>
                  </a:lnTo>
                  <a:lnTo>
                    <a:pt x="1040" y="2400"/>
                  </a:lnTo>
                  <a:lnTo>
                    <a:pt x="1058" y="2409"/>
                  </a:lnTo>
                  <a:lnTo>
                    <a:pt x="1073" y="2415"/>
                  </a:lnTo>
                  <a:cubicBezTo>
                    <a:pt x="1079" y="2418"/>
                    <a:pt x="1085" y="2421"/>
                    <a:pt x="1091" y="2424"/>
                  </a:cubicBezTo>
                  <a:lnTo>
                    <a:pt x="1106" y="2430"/>
                  </a:lnTo>
                  <a:lnTo>
                    <a:pt x="1124" y="2436"/>
                  </a:lnTo>
                  <a:lnTo>
                    <a:pt x="1139" y="2442"/>
                  </a:lnTo>
                  <a:lnTo>
                    <a:pt x="1160" y="2448"/>
                  </a:lnTo>
                  <a:lnTo>
                    <a:pt x="1176" y="2454"/>
                  </a:lnTo>
                  <a:lnTo>
                    <a:pt x="1197" y="2457"/>
                  </a:lnTo>
                  <a:lnTo>
                    <a:pt x="1212" y="2460"/>
                  </a:lnTo>
                  <a:lnTo>
                    <a:pt x="1233" y="2463"/>
                  </a:lnTo>
                  <a:lnTo>
                    <a:pt x="1245" y="2466"/>
                  </a:lnTo>
                  <a:cubicBezTo>
                    <a:pt x="1254" y="2466"/>
                    <a:pt x="1263" y="2466"/>
                    <a:pt x="1269" y="2469"/>
                  </a:cubicBezTo>
                  <a:cubicBezTo>
                    <a:pt x="1272" y="2470"/>
                    <a:pt x="1274" y="2470"/>
                    <a:pt x="1276" y="2470"/>
                  </a:cubicBezTo>
                  <a:cubicBezTo>
                    <a:pt x="1279" y="2470"/>
                    <a:pt x="1279" y="2469"/>
                    <a:pt x="1281" y="2469"/>
                  </a:cubicBezTo>
                  <a:lnTo>
                    <a:pt x="1369" y="2469"/>
                  </a:lnTo>
                  <a:lnTo>
                    <a:pt x="1393" y="2466"/>
                  </a:lnTo>
                  <a:lnTo>
                    <a:pt x="1408" y="2463"/>
                  </a:lnTo>
                  <a:cubicBezTo>
                    <a:pt x="1414" y="2463"/>
                    <a:pt x="1420" y="2463"/>
                    <a:pt x="1426" y="2460"/>
                  </a:cubicBezTo>
                  <a:lnTo>
                    <a:pt x="1444" y="2457"/>
                  </a:lnTo>
                  <a:lnTo>
                    <a:pt x="1462" y="2451"/>
                  </a:lnTo>
                  <a:lnTo>
                    <a:pt x="1480" y="2448"/>
                  </a:lnTo>
                  <a:lnTo>
                    <a:pt x="1499" y="2442"/>
                  </a:lnTo>
                  <a:lnTo>
                    <a:pt x="1517" y="2436"/>
                  </a:lnTo>
                  <a:cubicBezTo>
                    <a:pt x="1523" y="2433"/>
                    <a:pt x="1529" y="2430"/>
                    <a:pt x="1535" y="2427"/>
                  </a:cubicBezTo>
                  <a:lnTo>
                    <a:pt x="1553" y="2421"/>
                  </a:lnTo>
                  <a:lnTo>
                    <a:pt x="1568" y="2412"/>
                  </a:lnTo>
                  <a:lnTo>
                    <a:pt x="1586" y="2403"/>
                  </a:lnTo>
                  <a:cubicBezTo>
                    <a:pt x="1589" y="2403"/>
                    <a:pt x="1595" y="2400"/>
                    <a:pt x="1598" y="2397"/>
                  </a:cubicBezTo>
                  <a:cubicBezTo>
                    <a:pt x="1600" y="2395"/>
                    <a:pt x="1600" y="2395"/>
                    <a:pt x="1601" y="2395"/>
                  </a:cubicBezTo>
                  <a:cubicBezTo>
                    <a:pt x="1601" y="2395"/>
                    <a:pt x="1601" y="2395"/>
                    <a:pt x="1601" y="2394"/>
                  </a:cubicBezTo>
                  <a:lnTo>
                    <a:pt x="1607" y="2391"/>
                  </a:lnTo>
                  <a:lnTo>
                    <a:pt x="3851" y="1053"/>
                  </a:lnTo>
                  <a:cubicBezTo>
                    <a:pt x="4119" y="893"/>
                    <a:pt x="4207" y="546"/>
                    <a:pt x="4047" y="277"/>
                  </a:cubicBezTo>
                  <a:cubicBezTo>
                    <a:pt x="3941" y="99"/>
                    <a:pt x="3753" y="1"/>
                    <a:pt x="35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" name="Google Shape;265;p70"/>
          <p:cNvSpPr txBox="1"/>
          <p:nvPr>
            <p:ph type="title"/>
          </p:nvPr>
        </p:nvSpPr>
        <p:spPr>
          <a:xfrm>
            <a:off x="722313" y="384175"/>
            <a:ext cx="7699375" cy="5730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Noções básicas de matemática financeira</a:t>
            </a:r>
            <a:endParaRPr/>
          </a:p>
        </p:txBody>
      </p:sp>
      <p:sp>
        <p:nvSpPr>
          <p:cNvPr id="266" name="Google Shape;266;p70"/>
          <p:cNvSpPr txBox="1"/>
          <p:nvPr/>
        </p:nvSpPr>
        <p:spPr>
          <a:xfrm>
            <a:off x="641575" y="905423"/>
            <a:ext cx="1048066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 inflação possui um efeito sobre o dinheiro, diminuindo o poder de compra ao longo do tempo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descr="Grocery bag with solid fill" id="267" name="Google Shape;26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2578" y="1780765"/>
            <a:ext cx="1255622" cy="118257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70"/>
          <p:cNvSpPr/>
          <p:nvPr/>
        </p:nvSpPr>
        <p:spPr>
          <a:xfrm>
            <a:off x="4452951" y="1890990"/>
            <a:ext cx="331236" cy="1268479"/>
          </a:xfrm>
          <a:prstGeom prst="chevron">
            <a:avLst>
              <a:gd fmla="val 50000" name="adj"/>
            </a:avLst>
          </a:prstGeom>
          <a:solidFill>
            <a:srgbClr val="C1272D"/>
          </a:solidFill>
          <a:ln cap="flat" cmpd="sng" w="9525">
            <a:solidFill>
              <a:srgbClr val="C127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333"/>
              </a:srgbClr>
            </a:outerShdw>
          </a:effectLst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0"/>
          <p:cNvSpPr txBox="1"/>
          <p:nvPr/>
        </p:nvSpPr>
        <p:spPr>
          <a:xfrm>
            <a:off x="5055512" y="2409861"/>
            <a:ext cx="4656799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Jan/2022: R$ 1.000,00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70" name="Google Shape;270;p70"/>
          <p:cNvSpPr txBox="1"/>
          <p:nvPr/>
        </p:nvSpPr>
        <p:spPr>
          <a:xfrm>
            <a:off x="5055511" y="2747169"/>
            <a:ext cx="4656799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Jan/2023: R$ 1.058,00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71" name="Google Shape;271;p70"/>
          <p:cNvSpPr txBox="1"/>
          <p:nvPr/>
        </p:nvSpPr>
        <p:spPr>
          <a:xfrm>
            <a:off x="641575" y="2970117"/>
            <a:ext cx="4557628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Inflação acumulada em 2022*: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Work Sans"/>
                <a:ea typeface="Work Sans"/>
                <a:cs typeface="Work Sans"/>
                <a:sym typeface="Work Sans"/>
              </a:rPr>
              <a:t>5,8%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72" name="Google Shape;272;p70"/>
          <p:cNvSpPr txBox="1"/>
          <p:nvPr/>
        </p:nvSpPr>
        <p:spPr>
          <a:xfrm>
            <a:off x="5055512" y="1890845"/>
            <a:ext cx="2578327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Em média, uma mesma compra de supermercado custaria: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73" name="Google Shape;273;p70"/>
          <p:cNvSpPr txBox="1"/>
          <p:nvPr/>
        </p:nvSpPr>
        <p:spPr>
          <a:xfrm>
            <a:off x="4665622" y="3258664"/>
            <a:ext cx="4094655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Por causa da inflação, em jan/2023, os mesmos R$ 1.000,00 não têm o mesmo poder de compra que em jan/2022.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74" name="Google Shape;274;p70"/>
          <p:cNvSpPr txBox="1"/>
          <p:nvPr/>
        </p:nvSpPr>
        <p:spPr>
          <a:xfrm>
            <a:off x="452048" y="3913861"/>
            <a:ext cx="6112129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*Medida de acordo com o IPCA (Índice de Preços ao Consumidor Amplo)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75" name="Google Shape;275;p70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0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0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1"/>
          <p:cNvSpPr txBox="1"/>
          <p:nvPr>
            <p:ph type="title"/>
          </p:nvPr>
        </p:nvSpPr>
        <p:spPr>
          <a:xfrm>
            <a:off x="361187" y="356103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Noções básicas de matemática financeira</a:t>
            </a:r>
            <a:endParaRPr/>
          </a:p>
        </p:txBody>
      </p:sp>
      <p:sp>
        <p:nvSpPr>
          <p:cNvPr id="283" name="Google Shape;283;p71"/>
          <p:cNvSpPr txBox="1"/>
          <p:nvPr/>
        </p:nvSpPr>
        <p:spPr>
          <a:xfrm>
            <a:off x="361187" y="932103"/>
            <a:ext cx="1048066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Nos investimentos, a inflação reduz a taxa de ganho; por isso, pode-se avaliar a taxa de maneiras nominal ou real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84" name="Google Shape;284;p71"/>
          <p:cNvSpPr txBox="1"/>
          <p:nvPr/>
        </p:nvSpPr>
        <p:spPr>
          <a:xfrm>
            <a:off x="677576" y="1648031"/>
            <a:ext cx="7663616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Um investimento de R$ 100.000,00 foi realizado e, ao final de 1 ano, o saldo era de R$ 120.000,00. A inflação no período foi de 10%. Qual é a taxa nominal e a taxa real de ganho?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85" name="Google Shape;285;p71"/>
          <p:cNvSpPr txBox="1"/>
          <p:nvPr/>
        </p:nvSpPr>
        <p:spPr>
          <a:xfrm>
            <a:off x="562309" y="1382828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Exemplo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86" name="Google Shape;286;p71"/>
          <p:cNvSpPr txBox="1"/>
          <p:nvPr/>
        </p:nvSpPr>
        <p:spPr>
          <a:xfrm>
            <a:off x="1062169" y="2433270"/>
            <a:ext cx="2737762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Taxa nominal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87" name="Google Shape;287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522" y="2782271"/>
            <a:ext cx="2553056" cy="77163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71"/>
          <p:cNvSpPr txBox="1"/>
          <p:nvPr/>
        </p:nvSpPr>
        <p:spPr>
          <a:xfrm>
            <a:off x="5341839" y="2433270"/>
            <a:ext cx="2737762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Taxa real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89" name="Google Shape;289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0938" y="3460323"/>
            <a:ext cx="1739564" cy="576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6424" y="2879432"/>
            <a:ext cx="2904768" cy="4993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1" name="Google Shape;291;p71"/>
          <p:cNvCxnSpPr/>
          <p:nvPr/>
        </p:nvCxnSpPr>
        <p:spPr>
          <a:xfrm>
            <a:off x="4509384" y="2443520"/>
            <a:ext cx="0" cy="1870449"/>
          </a:xfrm>
          <a:prstGeom prst="straightConnector1">
            <a:avLst/>
          </a:prstGeom>
          <a:noFill/>
          <a:ln cap="flat" cmpd="sng" w="9525">
            <a:solidFill>
              <a:srgbClr val="C1272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2" name="Google Shape;292;p71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1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1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2"/>
          <p:cNvSpPr txBox="1"/>
          <p:nvPr>
            <p:ph type="title"/>
          </p:nvPr>
        </p:nvSpPr>
        <p:spPr>
          <a:xfrm>
            <a:off x="722313" y="384175"/>
            <a:ext cx="7699375" cy="5730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Noções básicas de matemática financeira</a:t>
            </a:r>
            <a:endParaRPr/>
          </a:p>
        </p:txBody>
      </p:sp>
      <p:sp>
        <p:nvSpPr>
          <p:cNvPr id="300" name="Google Shape;300;p72"/>
          <p:cNvSpPr txBox="1"/>
          <p:nvPr/>
        </p:nvSpPr>
        <p:spPr>
          <a:xfrm>
            <a:off x="703719" y="928604"/>
            <a:ext cx="7717967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Como forma de avaliar o custo de oportunidade e risco associados a investimentos futuros, usa-se a taxa de desconto para determinar o valor presente de fluxos futuros 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01" name="Google Shape;301;p72"/>
          <p:cNvSpPr txBox="1"/>
          <p:nvPr/>
        </p:nvSpPr>
        <p:spPr>
          <a:xfrm>
            <a:off x="855008" y="1803182"/>
            <a:ext cx="7159841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Considere um projeto que possua fluxo de pagamentos de $ 10 M no final dos quatro primeiros anos e $ 100 M no final do quinto ano. Qual é a soma dos fluxos de caixa?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02" name="Google Shape;302;p72"/>
          <p:cNvSpPr txBox="1"/>
          <p:nvPr/>
        </p:nvSpPr>
        <p:spPr>
          <a:xfrm>
            <a:off x="855008" y="1473473"/>
            <a:ext cx="11309150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4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Exemplo</a:t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303" name="Google Shape;303;p72"/>
          <p:cNvCxnSpPr/>
          <p:nvPr/>
        </p:nvCxnSpPr>
        <p:spPr>
          <a:xfrm rot="10800000">
            <a:off x="3347717" y="2476351"/>
            <a:ext cx="0" cy="6432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4" name="Google Shape;304;p72"/>
          <p:cNvCxnSpPr/>
          <p:nvPr/>
        </p:nvCxnSpPr>
        <p:spPr>
          <a:xfrm rot="10800000">
            <a:off x="7389558" y="2476351"/>
            <a:ext cx="0" cy="6432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5" name="Google Shape;305;p72"/>
          <p:cNvSpPr txBox="1"/>
          <p:nvPr/>
        </p:nvSpPr>
        <p:spPr>
          <a:xfrm>
            <a:off x="3342170" y="2377567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$10M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2"/>
          <p:cNvSpPr txBox="1"/>
          <p:nvPr/>
        </p:nvSpPr>
        <p:spPr>
          <a:xfrm>
            <a:off x="2000436" y="2347599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$10M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2"/>
          <p:cNvSpPr txBox="1"/>
          <p:nvPr/>
        </p:nvSpPr>
        <p:spPr>
          <a:xfrm>
            <a:off x="7402870" y="2347599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$10M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2"/>
          <p:cNvSpPr txBox="1"/>
          <p:nvPr/>
        </p:nvSpPr>
        <p:spPr>
          <a:xfrm>
            <a:off x="855008" y="3331201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2"/>
          <p:cNvSpPr txBox="1"/>
          <p:nvPr/>
        </p:nvSpPr>
        <p:spPr>
          <a:xfrm>
            <a:off x="3239738" y="3378197"/>
            <a:ext cx="19593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2"/>
          <p:cNvSpPr txBox="1"/>
          <p:nvPr/>
        </p:nvSpPr>
        <p:spPr>
          <a:xfrm>
            <a:off x="5944312" y="3350982"/>
            <a:ext cx="195929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2"/>
          <p:cNvSpPr txBox="1"/>
          <p:nvPr/>
        </p:nvSpPr>
        <p:spPr>
          <a:xfrm>
            <a:off x="722313" y="3776459"/>
            <a:ext cx="11309100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1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Maneira errada de somar os fluxos de caixa</a:t>
            </a:r>
            <a:endParaRPr b="0" i="0" sz="11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12" name="Google Shape;312;p72"/>
          <p:cNvSpPr txBox="1"/>
          <p:nvPr/>
        </p:nvSpPr>
        <p:spPr>
          <a:xfrm>
            <a:off x="722313" y="4027241"/>
            <a:ext cx="11309150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 = $ 10M + $ 10M + $ 10M + $ 10M + $ 100M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 = $ 140M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13" name="Google Shape;313;p72"/>
          <p:cNvSpPr txBox="1"/>
          <p:nvPr/>
        </p:nvSpPr>
        <p:spPr>
          <a:xfrm>
            <a:off x="703720" y="4433990"/>
            <a:ext cx="11309150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Nota: Não se pode somar valores de momentos distintos em fluxos de caixa.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14" name="Google Shape;314;p72"/>
          <p:cNvSpPr/>
          <p:nvPr/>
        </p:nvSpPr>
        <p:spPr>
          <a:xfrm>
            <a:off x="873742" y="3104296"/>
            <a:ext cx="7233309" cy="215342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72"/>
          <p:cNvCxnSpPr/>
          <p:nvPr/>
        </p:nvCxnSpPr>
        <p:spPr>
          <a:xfrm rot="10800000">
            <a:off x="2000437" y="2476351"/>
            <a:ext cx="0" cy="6432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6" name="Google Shape;316;p72"/>
          <p:cNvCxnSpPr/>
          <p:nvPr/>
        </p:nvCxnSpPr>
        <p:spPr>
          <a:xfrm rot="10800000">
            <a:off x="4694997" y="2476351"/>
            <a:ext cx="0" cy="6432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7" name="Google Shape;317;p72"/>
          <p:cNvCxnSpPr/>
          <p:nvPr/>
        </p:nvCxnSpPr>
        <p:spPr>
          <a:xfrm rot="10800000">
            <a:off x="6042277" y="2476351"/>
            <a:ext cx="0" cy="6432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" name="Google Shape;318;p72"/>
          <p:cNvSpPr/>
          <p:nvPr/>
        </p:nvSpPr>
        <p:spPr>
          <a:xfrm>
            <a:off x="7850090" y="3039679"/>
            <a:ext cx="547200" cy="355800"/>
          </a:xfrm>
          <a:prstGeom prst="chevron">
            <a:avLst>
              <a:gd fmla="val 50000" name="adj"/>
            </a:avLst>
          </a:prstGeom>
          <a:solidFill>
            <a:srgbClr val="910F13"/>
          </a:solidFill>
          <a:ln>
            <a:noFill/>
          </a:ln>
          <a:effectLst>
            <a:outerShdw blurRad="40000" rotWithShape="0" dir="5400000" dist="23000">
              <a:srgbClr val="000000">
                <a:alpha val="3333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72"/>
          <p:cNvSpPr txBox="1"/>
          <p:nvPr/>
        </p:nvSpPr>
        <p:spPr>
          <a:xfrm>
            <a:off x="4692224" y="2347599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$10M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72"/>
          <p:cNvSpPr txBox="1"/>
          <p:nvPr/>
        </p:nvSpPr>
        <p:spPr>
          <a:xfrm>
            <a:off x="6047547" y="2347599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$10M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2"/>
          <p:cNvSpPr txBox="1"/>
          <p:nvPr/>
        </p:nvSpPr>
        <p:spPr>
          <a:xfrm>
            <a:off x="1917877" y="3341599"/>
            <a:ext cx="457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22" name="Google Shape;322;p72"/>
          <p:cNvSpPr txBox="1"/>
          <p:nvPr/>
        </p:nvSpPr>
        <p:spPr>
          <a:xfrm>
            <a:off x="4646505" y="3388493"/>
            <a:ext cx="64285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23" name="Google Shape;323;p72"/>
          <p:cNvSpPr txBox="1"/>
          <p:nvPr/>
        </p:nvSpPr>
        <p:spPr>
          <a:xfrm>
            <a:off x="7279689" y="3323818"/>
            <a:ext cx="64285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24" name="Google Shape;324;p72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72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72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3"/>
          <p:cNvSpPr txBox="1"/>
          <p:nvPr>
            <p:ph type="title"/>
          </p:nvPr>
        </p:nvSpPr>
        <p:spPr>
          <a:xfrm>
            <a:off x="722313" y="384175"/>
            <a:ext cx="7699375" cy="5730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Arial"/>
                <a:ea typeface="Arial"/>
                <a:cs typeface="Arial"/>
                <a:sym typeface="Arial"/>
              </a:rPr>
              <a:t>Noções básicas de matemática financeira</a:t>
            </a:r>
            <a:endParaRPr/>
          </a:p>
        </p:txBody>
      </p:sp>
      <p:sp>
        <p:nvSpPr>
          <p:cNvPr id="332" name="Google Shape;332;p73"/>
          <p:cNvSpPr txBox="1"/>
          <p:nvPr/>
        </p:nvSpPr>
        <p:spPr>
          <a:xfrm>
            <a:off x="703720" y="928604"/>
            <a:ext cx="627078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forma de avaliar o custo de oportunidade e risco associados a investimentos futuros, usa-se a taxa de desconto para determinar o valor presente de fluxos futuros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73"/>
          <p:cNvCxnSpPr/>
          <p:nvPr/>
        </p:nvCxnSpPr>
        <p:spPr>
          <a:xfrm rot="10800000">
            <a:off x="3265158" y="1524755"/>
            <a:ext cx="0" cy="6432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4" name="Google Shape;334;p73"/>
          <p:cNvCxnSpPr/>
          <p:nvPr/>
        </p:nvCxnSpPr>
        <p:spPr>
          <a:xfrm rot="10800000">
            <a:off x="7306999" y="1524755"/>
            <a:ext cx="0" cy="6432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5" name="Google Shape;335;p73"/>
          <p:cNvSpPr txBox="1"/>
          <p:nvPr/>
        </p:nvSpPr>
        <p:spPr>
          <a:xfrm>
            <a:off x="3259611" y="1425971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$10M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3"/>
          <p:cNvSpPr txBox="1"/>
          <p:nvPr/>
        </p:nvSpPr>
        <p:spPr>
          <a:xfrm>
            <a:off x="1917877" y="1396003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$10M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73"/>
          <p:cNvSpPr txBox="1"/>
          <p:nvPr/>
        </p:nvSpPr>
        <p:spPr>
          <a:xfrm>
            <a:off x="7301453" y="1413846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$10M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73"/>
          <p:cNvSpPr txBox="1"/>
          <p:nvPr/>
        </p:nvSpPr>
        <p:spPr>
          <a:xfrm>
            <a:off x="703720" y="2311474"/>
            <a:ext cx="455762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3"/>
          <p:cNvSpPr txBox="1"/>
          <p:nvPr/>
        </p:nvSpPr>
        <p:spPr>
          <a:xfrm>
            <a:off x="3281719" y="2311474"/>
            <a:ext cx="19593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3"/>
          <p:cNvSpPr txBox="1"/>
          <p:nvPr/>
        </p:nvSpPr>
        <p:spPr>
          <a:xfrm>
            <a:off x="5855124" y="2339547"/>
            <a:ext cx="195929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3"/>
          <p:cNvSpPr/>
          <p:nvPr/>
        </p:nvSpPr>
        <p:spPr>
          <a:xfrm>
            <a:off x="663015" y="2144388"/>
            <a:ext cx="7233309" cy="215342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73"/>
          <p:cNvCxnSpPr/>
          <p:nvPr/>
        </p:nvCxnSpPr>
        <p:spPr>
          <a:xfrm rot="10800000">
            <a:off x="1917878" y="1524755"/>
            <a:ext cx="0" cy="6432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" name="Google Shape;343;p73"/>
          <p:cNvCxnSpPr/>
          <p:nvPr/>
        </p:nvCxnSpPr>
        <p:spPr>
          <a:xfrm rot="10800000">
            <a:off x="4612438" y="1524755"/>
            <a:ext cx="0" cy="6432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4" name="Google Shape;344;p73"/>
          <p:cNvCxnSpPr/>
          <p:nvPr/>
        </p:nvCxnSpPr>
        <p:spPr>
          <a:xfrm rot="10800000">
            <a:off x="5959718" y="1524755"/>
            <a:ext cx="0" cy="6432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5" name="Google Shape;345;p73"/>
          <p:cNvSpPr/>
          <p:nvPr/>
        </p:nvSpPr>
        <p:spPr>
          <a:xfrm>
            <a:off x="7767531" y="2088083"/>
            <a:ext cx="547200" cy="355800"/>
          </a:xfrm>
          <a:prstGeom prst="chevron">
            <a:avLst>
              <a:gd fmla="val 50000" name="adj"/>
            </a:avLst>
          </a:prstGeom>
          <a:solidFill>
            <a:srgbClr val="910F13"/>
          </a:solidFill>
          <a:ln>
            <a:noFill/>
          </a:ln>
          <a:effectLst>
            <a:outerShdw blurRad="40000" rotWithShape="0" dir="5400000" dist="23000">
              <a:srgbClr val="000000">
                <a:alpha val="3333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73"/>
          <p:cNvSpPr txBox="1"/>
          <p:nvPr/>
        </p:nvSpPr>
        <p:spPr>
          <a:xfrm>
            <a:off x="4609665" y="1396003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$10M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73"/>
          <p:cNvSpPr txBox="1"/>
          <p:nvPr/>
        </p:nvSpPr>
        <p:spPr>
          <a:xfrm>
            <a:off x="5964988" y="1396003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$10M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73"/>
          <p:cNvSpPr txBox="1"/>
          <p:nvPr/>
        </p:nvSpPr>
        <p:spPr>
          <a:xfrm>
            <a:off x="1773754" y="2311474"/>
            <a:ext cx="28824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49" name="Google Shape;349;p73"/>
          <p:cNvSpPr txBox="1"/>
          <p:nvPr/>
        </p:nvSpPr>
        <p:spPr>
          <a:xfrm>
            <a:off x="4521276" y="2311474"/>
            <a:ext cx="64285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50" name="Google Shape;350;p73"/>
          <p:cNvSpPr txBox="1"/>
          <p:nvPr/>
        </p:nvSpPr>
        <p:spPr>
          <a:xfrm>
            <a:off x="7215837" y="2311474"/>
            <a:ext cx="64285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51" name="Google Shape;351;p73"/>
          <p:cNvSpPr txBox="1"/>
          <p:nvPr/>
        </p:nvSpPr>
        <p:spPr>
          <a:xfrm>
            <a:off x="483532" y="2884483"/>
            <a:ext cx="11309150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000" u="none" cap="none" strike="noStrike">
                <a:solidFill>
                  <a:srgbClr val="C1272D"/>
                </a:solidFill>
                <a:latin typeface="Arial"/>
                <a:ea typeface="Arial"/>
                <a:cs typeface="Arial"/>
                <a:sym typeface="Arial"/>
              </a:rPr>
              <a:t>Maneira correta de somar os fluxos de caixa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73"/>
          <p:cNvSpPr txBox="1"/>
          <p:nvPr/>
        </p:nvSpPr>
        <p:spPr>
          <a:xfrm>
            <a:off x="461068" y="3156440"/>
            <a:ext cx="11309150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Considerar uma taxa de desconto para trazer cada valor futuro do fluxo de caixa a valor presente.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73"/>
          <p:cNvSpPr txBox="1"/>
          <p:nvPr/>
        </p:nvSpPr>
        <p:spPr>
          <a:xfrm>
            <a:off x="483532" y="3460838"/>
            <a:ext cx="11309150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Considerando-se, por exemplo, uma taxa de desconto de 5%: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3213" y="3846391"/>
            <a:ext cx="2128247" cy="33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4611" y="3774953"/>
            <a:ext cx="1350054" cy="5403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6" name="Google Shape;356;p73"/>
          <p:cNvCxnSpPr/>
          <p:nvPr/>
        </p:nvCxnSpPr>
        <p:spPr>
          <a:xfrm>
            <a:off x="4382357" y="4009791"/>
            <a:ext cx="538036" cy="0"/>
          </a:xfrm>
          <a:prstGeom prst="straightConnector1">
            <a:avLst/>
          </a:prstGeom>
          <a:noFill/>
          <a:ln cap="flat" cmpd="sng" w="38100">
            <a:solidFill>
              <a:srgbClr val="C1272D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57" name="Google Shape;357;p73"/>
          <p:cNvSpPr txBox="1"/>
          <p:nvPr/>
        </p:nvSpPr>
        <p:spPr>
          <a:xfrm>
            <a:off x="483532" y="4351307"/>
            <a:ext cx="11309150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 = $ 9,52M + $ 9,07M + $ 8,64M + $ 8,23M + $ 78,35M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 = $ 113,81M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73"/>
          <p:cNvSpPr txBox="1"/>
          <p:nvPr/>
        </p:nvSpPr>
        <p:spPr>
          <a:xfrm>
            <a:off x="1632303" y="2522193"/>
            <a:ext cx="691963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$9,52M</a:t>
            </a:r>
            <a:endParaRPr b="0" i="0" sz="10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73"/>
          <p:cNvSpPr txBox="1"/>
          <p:nvPr/>
        </p:nvSpPr>
        <p:spPr>
          <a:xfrm>
            <a:off x="3067336" y="2548447"/>
            <a:ext cx="1310974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$9,07M</a:t>
            </a:r>
            <a:endParaRPr b="0" i="0" sz="10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73"/>
          <p:cNvSpPr txBox="1"/>
          <p:nvPr/>
        </p:nvSpPr>
        <p:spPr>
          <a:xfrm>
            <a:off x="7048934" y="2541556"/>
            <a:ext cx="904574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$8,35M</a:t>
            </a:r>
            <a:endParaRPr b="0" i="0" sz="10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73"/>
          <p:cNvSpPr txBox="1"/>
          <p:nvPr/>
        </p:nvSpPr>
        <p:spPr>
          <a:xfrm>
            <a:off x="5726860" y="2554176"/>
            <a:ext cx="904574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$8,23M</a:t>
            </a:r>
            <a:endParaRPr b="0" i="0" sz="10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73"/>
          <p:cNvSpPr txBox="1"/>
          <p:nvPr/>
        </p:nvSpPr>
        <p:spPr>
          <a:xfrm>
            <a:off x="4368154" y="2559942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$8,64M</a:t>
            </a:r>
            <a:endParaRPr b="0" i="0" sz="10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73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73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73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74"/>
          <p:cNvSpPr txBox="1"/>
          <p:nvPr>
            <p:ph type="title"/>
          </p:nvPr>
        </p:nvSpPr>
        <p:spPr>
          <a:xfrm>
            <a:off x="722313" y="384175"/>
            <a:ext cx="7699375" cy="5730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Arial"/>
                <a:ea typeface="Arial"/>
                <a:cs typeface="Arial"/>
                <a:sym typeface="Arial"/>
              </a:rPr>
              <a:t>Noções básicas de matemática financeira</a:t>
            </a:r>
            <a:endParaRPr/>
          </a:p>
        </p:txBody>
      </p:sp>
      <p:sp>
        <p:nvSpPr>
          <p:cNvPr id="371" name="Google Shape;371;p74"/>
          <p:cNvSpPr txBox="1"/>
          <p:nvPr/>
        </p:nvSpPr>
        <p:spPr>
          <a:xfrm>
            <a:off x="852763" y="1357067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74"/>
          <p:cNvCxnSpPr/>
          <p:nvPr/>
        </p:nvCxnSpPr>
        <p:spPr>
          <a:xfrm rot="10800000">
            <a:off x="3326738" y="1872886"/>
            <a:ext cx="0" cy="6432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3" name="Google Shape;373;p74"/>
          <p:cNvCxnSpPr/>
          <p:nvPr/>
        </p:nvCxnSpPr>
        <p:spPr>
          <a:xfrm rot="10800000">
            <a:off x="7368579" y="1872886"/>
            <a:ext cx="0" cy="6432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4" name="Google Shape;374;p74"/>
          <p:cNvSpPr txBox="1"/>
          <p:nvPr/>
        </p:nvSpPr>
        <p:spPr>
          <a:xfrm>
            <a:off x="3321191" y="1774102"/>
            <a:ext cx="514408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$3M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74"/>
          <p:cNvSpPr txBox="1"/>
          <p:nvPr/>
        </p:nvSpPr>
        <p:spPr>
          <a:xfrm>
            <a:off x="1979457" y="1744134"/>
            <a:ext cx="628464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$3M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74"/>
          <p:cNvSpPr txBox="1"/>
          <p:nvPr/>
        </p:nvSpPr>
        <p:spPr>
          <a:xfrm>
            <a:off x="7381891" y="1744134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$3M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74"/>
          <p:cNvSpPr txBox="1"/>
          <p:nvPr/>
        </p:nvSpPr>
        <p:spPr>
          <a:xfrm>
            <a:off x="834029" y="2727736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74"/>
          <p:cNvSpPr txBox="1"/>
          <p:nvPr/>
        </p:nvSpPr>
        <p:spPr>
          <a:xfrm>
            <a:off x="3218759" y="2774732"/>
            <a:ext cx="19593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74"/>
          <p:cNvSpPr/>
          <p:nvPr/>
        </p:nvSpPr>
        <p:spPr>
          <a:xfrm>
            <a:off x="852763" y="2500831"/>
            <a:ext cx="7233309" cy="215342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p74"/>
          <p:cNvCxnSpPr/>
          <p:nvPr/>
        </p:nvCxnSpPr>
        <p:spPr>
          <a:xfrm rot="10800000">
            <a:off x="1979458" y="1872886"/>
            <a:ext cx="0" cy="6432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1" name="Google Shape;381;p74"/>
          <p:cNvCxnSpPr/>
          <p:nvPr/>
        </p:nvCxnSpPr>
        <p:spPr>
          <a:xfrm rot="10800000">
            <a:off x="4674018" y="1872886"/>
            <a:ext cx="0" cy="6432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2" name="Google Shape;382;p74"/>
          <p:cNvSpPr/>
          <p:nvPr/>
        </p:nvSpPr>
        <p:spPr>
          <a:xfrm>
            <a:off x="7829111" y="2436214"/>
            <a:ext cx="547200" cy="355800"/>
          </a:xfrm>
          <a:prstGeom prst="chevron">
            <a:avLst>
              <a:gd fmla="val 50000" name="adj"/>
            </a:avLst>
          </a:prstGeom>
          <a:solidFill>
            <a:srgbClr val="910F13"/>
          </a:solidFill>
          <a:ln>
            <a:noFill/>
          </a:ln>
          <a:effectLst>
            <a:outerShdw blurRad="40000" rotWithShape="0" dir="5400000" dist="23000">
              <a:srgbClr val="000000">
                <a:alpha val="3333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74"/>
          <p:cNvSpPr txBox="1"/>
          <p:nvPr/>
        </p:nvSpPr>
        <p:spPr>
          <a:xfrm>
            <a:off x="4671245" y="1744134"/>
            <a:ext cx="595198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$3M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74"/>
          <p:cNvSpPr txBox="1"/>
          <p:nvPr/>
        </p:nvSpPr>
        <p:spPr>
          <a:xfrm>
            <a:off x="1896898" y="2738134"/>
            <a:ext cx="457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85" name="Google Shape;385;p74"/>
          <p:cNvSpPr txBox="1"/>
          <p:nvPr/>
        </p:nvSpPr>
        <p:spPr>
          <a:xfrm>
            <a:off x="4625526" y="2785028"/>
            <a:ext cx="64285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86" name="Google Shape;386;p74"/>
          <p:cNvSpPr txBox="1"/>
          <p:nvPr/>
        </p:nvSpPr>
        <p:spPr>
          <a:xfrm>
            <a:off x="730758" y="942603"/>
            <a:ext cx="8100850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Para alguns projetos com vários períodos de análise, pode-se considerar que o fluxo analisado é “infinito”, e isso pode ser usado em cases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74"/>
          <p:cNvSpPr txBox="1"/>
          <p:nvPr/>
        </p:nvSpPr>
        <p:spPr>
          <a:xfrm>
            <a:off x="1083298" y="1606565"/>
            <a:ext cx="1107861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loja de uma determinada franquia gera lucro anual de $ 3 M.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 Rerum Natura: O OITO E O INFINITO" id="388" name="Google Shape;388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8116" y="2838741"/>
            <a:ext cx="267549" cy="13589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74"/>
          <p:cNvSpPr txBox="1"/>
          <p:nvPr/>
        </p:nvSpPr>
        <p:spPr>
          <a:xfrm>
            <a:off x="5975416" y="2658095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1650" y="3027395"/>
            <a:ext cx="865344" cy="427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67581" y="3027395"/>
            <a:ext cx="761501" cy="42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79670" y="3027395"/>
            <a:ext cx="1088176" cy="42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7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24491" y="3027395"/>
            <a:ext cx="1088176" cy="424177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74"/>
          <p:cNvSpPr txBox="1"/>
          <p:nvPr/>
        </p:nvSpPr>
        <p:spPr>
          <a:xfrm>
            <a:off x="343587" y="3449641"/>
            <a:ext cx="8251659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 um case, se quiséssemos estimar o valor da loja (quanto ela vale), poderíamos somar os lucros anuais futuros trazidos a valor presente, de maneira que essa soma seria: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4"/>
          <p:cNvSpPr txBox="1"/>
          <p:nvPr/>
        </p:nvSpPr>
        <p:spPr>
          <a:xfrm>
            <a:off x="397397" y="4347606"/>
            <a:ext cx="11309151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Considerando-se uma taxa de desconto de 10%, por exemplo, o valuation da loja seria $ 30 M.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p7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70676" y="3847392"/>
            <a:ext cx="4206299" cy="460597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74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74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74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5"/>
          <p:cNvSpPr txBox="1"/>
          <p:nvPr>
            <p:ph type="title"/>
          </p:nvPr>
        </p:nvSpPr>
        <p:spPr>
          <a:xfrm>
            <a:off x="3048000" y="2959400"/>
            <a:ext cx="5783385" cy="1644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000">
                <a:solidFill>
                  <a:srgbClr val="C1272D"/>
                </a:solidFill>
              </a:rPr>
              <a:t>Conceitos financeiros </a:t>
            </a:r>
            <a:br>
              <a:rPr lang="en" sz="4000">
                <a:solidFill>
                  <a:schemeClr val="lt1"/>
                </a:solidFill>
              </a:rPr>
            </a:br>
            <a:r>
              <a:rPr lang="en" sz="4000">
                <a:solidFill>
                  <a:schemeClr val="lt1"/>
                </a:solidFill>
              </a:rPr>
              <a:t>para case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405" name="Google Shape;405;p75"/>
          <p:cNvSpPr txBox="1"/>
          <p:nvPr>
            <p:ph idx="3" type="title"/>
          </p:nvPr>
        </p:nvSpPr>
        <p:spPr>
          <a:xfrm>
            <a:off x="7008600" y="1601400"/>
            <a:ext cx="1259700" cy="1259700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406" name="Google Shape;406;p75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75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75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6"/>
          <p:cNvSpPr txBox="1"/>
          <p:nvPr>
            <p:ph type="title"/>
          </p:nvPr>
        </p:nvSpPr>
        <p:spPr>
          <a:xfrm>
            <a:off x="361187" y="356103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Conceitos financeiros para case</a:t>
            </a:r>
            <a:endParaRPr/>
          </a:p>
        </p:txBody>
      </p:sp>
      <p:sp>
        <p:nvSpPr>
          <p:cNvPr id="414" name="Google Shape;414;p76"/>
          <p:cNvSpPr txBox="1"/>
          <p:nvPr/>
        </p:nvSpPr>
        <p:spPr>
          <a:xfrm>
            <a:off x="320511" y="981019"/>
            <a:ext cx="882125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 </a:t>
            </a: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investimento</a:t>
            </a: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de uma empresa é o aporte financeiro necessário para tornar-se um negócio funcional, isto é, os recursos financeiros aplicados para tornar-se um projeto realidade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15" name="Google Shape;415;p76"/>
          <p:cNvSpPr txBox="1"/>
          <p:nvPr/>
        </p:nvSpPr>
        <p:spPr>
          <a:xfrm>
            <a:off x="752167" y="1925732"/>
            <a:ext cx="8030645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Nosso cliente, Mike Apparel, é uma grande empresa de vestuário e artigos esportivos. O cliente está interessado em entrar no mercado de vestuário de golfe feminino e está procurando orientação sobre se esta é uma boa ideia.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16" name="Google Shape;416;p76"/>
          <p:cNvSpPr txBox="1"/>
          <p:nvPr/>
        </p:nvSpPr>
        <p:spPr>
          <a:xfrm>
            <a:off x="521632" y="1596527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Exemplo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17" name="Google Shape;417;p76"/>
          <p:cNvSpPr txBox="1"/>
          <p:nvPr/>
        </p:nvSpPr>
        <p:spPr>
          <a:xfrm>
            <a:off x="752167" y="3416596"/>
            <a:ext cx="9809152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US$ 255 M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18" name="Google Shape;418;p76"/>
          <p:cNvSpPr txBox="1"/>
          <p:nvPr/>
        </p:nvSpPr>
        <p:spPr>
          <a:xfrm>
            <a:off x="521632" y="3047026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Informações de investimentos com P&amp;D: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19" name="Google Shape;419;p76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76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76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7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Conceitos financeiros para case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27" name="Google Shape;427;p77"/>
          <p:cNvSpPr txBox="1"/>
          <p:nvPr/>
        </p:nvSpPr>
        <p:spPr>
          <a:xfrm>
            <a:off x="320512" y="984528"/>
            <a:ext cx="742306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Receita</a:t>
            </a: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é a entrada de recursos financeiros para a empresa proveniente da operação dela, isto é, que não representam recursos dos sócios (ou de terceiros)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28" name="Google Shape;428;p77"/>
          <p:cNvSpPr txBox="1"/>
          <p:nvPr/>
        </p:nvSpPr>
        <p:spPr>
          <a:xfrm>
            <a:off x="752166" y="1824689"/>
            <a:ext cx="7845431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Soma de todas as entradas de recursos da empresa provenientes da venda de bens e serviço, antes de qualquer dedução.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29" name="Google Shape;429;p77"/>
          <p:cNvSpPr txBox="1"/>
          <p:nvPr/>
        </p:nvSpPr>
        <p:spPr>
          <a:xfrm>
            <a:off x="546403" y="1555774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Receita bruta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430" name="Google Shape;43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1491" y="2540831"/>
            <a:ext cx="555132" cy="583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1455" y="2673393"/>
            <a:ext cx="547200" cy="465544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77"/>
          <p:cNvSpPr txBox="1"/>
          <p:nvPr/>
        </p:nvSpPr>
        <p:spPr>
          <a:xfrm>
            <a:off x="3315265" y="2662170"/>
            <a:ext cx="287547" cy="3693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8404" y="2401169"/>
            <a:ext cx="371111" cy="461624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77"/>
          <p:cNvSpPr txBox="1"/>
          <p:nvPr/>
        </p:nvSpPr>
        <p:spPr>
          <a:xfrm>
            <a:off x="4298375" y="2640598"/>
            <a:ext cx="547200" cy="3693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4500" y="2850200"/>
            <a:ext cx="370094" cy="40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0593" y="2747707"/>
            <a:ext cx="370095" cy="46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5514" y="2275226"/>
            <a:ext cx="370096" cy="492431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77"/>
          <p:cNvSpPr txBox="1"/>
          <p:nvPr/>
        </p:nvSpPr>
        <p:spPr>
          <a:xfrm>
            <a:off x="2606932" y="3316331"/>
            <a:ext cx="59656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77"/>
          <p:cNvSpPr txBox="1"/>
          <p:nvPr/>
        </p:nvSpPr>
        <p:spPr>
          <a:xfrm>
            <a:off x="3637494" y="3316331"/>
            <a:ext cx="78910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R$ 5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77"/>
          <p:cNvSpPr txBox="1"/>
          <p:nvPr/>
        </p:nvSpPr>
        <p:spPr>
          <a:xfrm>
            <a:off x="4860596" y="3316331"/>
            <a:ext cx="102799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R$ 5M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77"/>
          <p:cNvSpPr txBox="1"/>
          <p:nvPr/>
        </p:nvSpPr>
        <p:spPr>
          <a:xfrm>
            <a:off x="752166" y="4070718"/>
            <a:ext cx="110786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Valor da receita bruta subtraído de devoluções, reembolsos, impostos etc.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42" name="Google Shape;442;p77"/>
          <p:cNvSpPr txBox="1"/>
          <p:nvPr/>
        </p:nvSpPr>
        <p:spPr>
          <a:xfrm>
            <a:off x="546403" y="3785859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Receita líquida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43" name="Google Shape;443;p77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77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77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8"/>
          <p:cNvSpPr txBox="1"/>
          <p:nvPr>
            <p:ph type="title"/>
          </p:nvPr>
        </p:nvSpPr>
        <p:spPr>
          <a:xfrm>
            <a:off x="361187" y="356103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Conceitos financeiros para case</a:t>
            </a:r>
            <a:endParaRPr/>
          </a:p>
        </p:txBody>
      </p:sp>
      <p:sp>
        <p:nvSpPr>
          <p:cNvPr id="451" name="Google Shape;451;p78"/>
          <p:cNvSpPr txBox="1"/>
          <p:nvPr/>
        </p:nvSpPr>
        <p:spPr>
          <a:xfrm>
            <a:off x="320511" y="995491"/>
            <a:ext cx="1048066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Custo</a:t>
            </a: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x </a:t>
            </a: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despesa</a:t>
            </a:r>
            <a:endParaRPr b="1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52" name="Google Shape;452;p78"/>
          <p:cNvSpPr txBox="1"/>
          <p:nvPr/>
        </p:nvSpPr>
        <p:spPr>
          <a:xfrm>
            <a:off x="674464" y="1605506"/>
            <a:ext cx="110786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Tudo aquilo que se relaciona à aquisição de estoques, produção ou prestação do serviço.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53" name="Google Shape;453;p78"/>
          <p:cNvSpPr txBox="1"/>
          <p:nvPr/>
        </p:nvSpPr>
        <p:spPr>
          <a:xfrm>
            <a:off x="521631" y="1343573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Custos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454" name="Google Shape;454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5267" y="2077659"/>
            <a:ext cx="651161" cy="651161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78"/>
          <p:cNvSpPr txBox="1"/>
          <p:nvPr/>
        </p:nvSpPr>
        <p:spPr>
          <a:xfrm>
            <a:off x="944721" y="2540247"/>
            <a:ext cx="1892251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Matéria-prima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456" name="Google Shape;456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2090" y="2077659"/>
            <a:ext cx="525560" cy="52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5949" y="2077659"/>
            <a:ext cx="520049" cy="550943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78"/>
          <p:cNvSpPr txBox="1"/>
          <p:nvPr/>
        </p:nvSpPr>
        <p:spPr>
          <a:xfrm>
            <a:off x="3189847" y="2568768"/>
            <a:ext cx="1892251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Mão de obra direta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59" name="Google Shape;459;p78"/>
          <p:cNvSpPr txBox="1"/>
          <p:nvPr/>
        </p:nvSpPr>
        <p:spPr>
          <a:xfrm>
            <a:off x="5398744" y="2568768"/>
            <a:ext cx="1892251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Depreciação e manutenção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60" name="Google Shape;460;p78"/>
          <p:cNvSpPr txBox="1"/>
          <p:nvPr/>
        </p:nvSpPr>
        <p:spPr>
          <a:xfrm>
            <a:off x="674464" y="3179156"/>
            <a:ext cx="110786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Gasto necessário para manter as atividades, mas que não se relaciona à produção diretamente.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61" name="Google Shape;461;p78"/>
          <p:cNvSpPr txBox="1"/>
          <p:nvPr/>
        </p:nvSpPr>
        <p:spPr>
          <a:xfrm>
            <a:off x="521631" y="2896978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Despesas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462" name="Google Shape;462;p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61208" y="3655409"/>
            <a:ext cx="608569" cy="608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7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65267" y="3646306"/>
            <a:ext cx="597821" cy="59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7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16590" y="3515345"/>
            <a:ext cx="754007" cy="754007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78"/>
          <p:cNvSpPr txBox="1"/>
          <p:nvPr/>
        </p:nvSpPr>
        <p:spPr>
          <a:xfrm>
            <a:off x="910394" y="4223794"/>
            <a:ext cx="1892251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Material de escritório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66" name="Google Shape;466;p78"/>
          <p:cNvSpPr txBox="1"/>
          <p:nvPr/>
        </p:nvSpPr>
        <p:spPr>
          <a:xfrm>
            <a:off x="5347467" y="4214516"/>
            <a:ext cx="1892251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Salário da contabilidade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67" name="Google Shape;467;p78"/>
          <p:cNvSpPr txBox="1"/>
          <p:nvPr/>
        </p:nvSpPr>
        <p:spPr>
          <a:xfrm>
            <a:off x="3371766" y="4214516"/>
            <a:ext cx="1892251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Marketing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68" name="Google Shape;468;p78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78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78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8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Conceitos financeiros para case</a:t>
            </a:r>
            <a:endParaRPr/>
          </a:p>
        </p:txBody>
      </p:sp>
      <p:sp>
        <p:nvSpPr>
          <p:cNvPr id="476" name="Google Shape;476;p8"/>
          <p:cNvSpPr txBox="1"/>
          <p:nvPr/>
        </p:nvSpPr>
        <p:spPr>
          <a:xfrm>
            <a:off x="394715" y="1042863"/>
            <a:ext cx="1048066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Custos </a:t>
            </a: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fixos</a:t>
            </a: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x custos </a:t>
            </a: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variáveis</a:t>
            </a:r>
            <a:endParaRPr b="1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77" name="Google Shape;477;p8"/>
          <p:cNvSpPr txBox="1"/>
          <p:nvPr/>
        </p:nvSpPr>
        <p:spPr>
          <a:xfrm>
            <a:off x="666285" y="1709120"/>
            <a:ext cx="110786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Não sofre alteração de valor com o aumento ou a diminuição de produção.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78" name="Google Shape;478;p8"/>
          <p:cNvSpPr txBox="1"/>
          <p:nvPr/>
        </p:nvSpPr>
        <p:spPr>
          <a:xfrm>
            <a:off x="551018" y="1404590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Custos fixos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79" name="Google Shape;479;p8"/>
          <p:cNvSpPr txBox="1"/>
          <p:nvPr/>
        </p:nvSpPr>
        <p:spPr>
          <a:xfrm>
            <a:off x="666286" y="3166467"/>
            <a:ext cx="8279594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Varia proporcionalmente com o nível de produção ou atividade da empresa; valores dependem diretamente do volume produzido ou volume de vendas efetivado num determinado período.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80" name="Google Shape;480;p8"/>
          <p:cNvSpPr txBox="1"/>
          <p:nvPr/>
        </p:nvSpPr>
        <p:spPr>
          <a:xfrm>
            <a:off x="551018" y="2920286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Custos variáveis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81" name="Google Shape;481;p8"/>
          <p:cNvSpPr txBox="1"/>
          <p:nvPr/>
        </p:nvSpPr>
        <p:spPr>
          <a:xfrm>
            <a:off x="2122648" y="2583052"/>
            <a:ext cx="1892251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Aluguel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82" name="Google Shape;482;p8"/>
          <p:cNvSpPr txBox="1"/>
          <p:nvPr/>
        </p:nvSpPr>
        <p:spPr>
          <a:xfrm>
            <a:off x="4427727" y="2602848"/>
            <a:ext cx="1892251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Salários de funcionários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83" name="Google Shape;483;p8"/>
          <p:cNvSpPr txBox="1"/>
          <p:nvPr/>
        </p:nvSpPr>
        <p:spPr>
          <a:xfrm>
            <a:off x="2168703" y="4266720"/>
            <a:ext cx="1892251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Matéria-prima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84" name="Google Shape;484;p8"/>
          <p:cNvSpPr txBox="1"/>
          <p:nvPr/>
        </p:nvSpPr>
        <p:spPr>
          <a:xfrm>
            <a:off x="4427727" y="4266720"/>
            <a:ext cx="1892251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Comissões de vendas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485" name="Google Shape;4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0331" y="1986079"/>
            <a:ext cx="536884" cy="57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3177" y="2157079"/>
            <a:ext cx="538112" cy="538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1146" y="3771122"/>
            <a:ext cx="596953" cy="659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78621" y="3763359"/>
            <a:ext cx="541186" cy="50336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8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8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8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9"/>
          <p:cNvSpPr txBox="1"/>
          <p:nvPr>
            <p:ph type="title"/>
          </p:nvPr>
        </p:nvSpPr>
        <p:spPr>
          <a:xfrm>
            <a:off x="3794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Conceitos financeiros para case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97" name="Google Shape;497;p79"/>
          <p:cNvSpPr txBox="1"/>
          <p:nvPr/>
        </p:nvSpPr>
        <p:spPr>
          <a:xfrm>
            <a:off x="379475" y="1061523"/>
            <a:ext cx="7994905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 maneira simplificada, o resultado entre receitas subtraídas de custos e despesas nos fornece o lucro ou prejuízo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498" name="Google Shape;498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061" y="1743949"/>
            <a:ext cx="6413309" cy="280216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79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79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79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0"/>
          <p:cNvSpPr txBox="1"/>
          <p:nvPr>
            <p:ph type="title"/>
          </p:nvPr>
        </p:nvSpPr>
        <p:spPr>
          <a:xfrm>
            <a:off x="361187" y="356103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Conceitos financeiros para case</a:t>
            </a:r>
            <a:endParaRPr/>
          </a:p>
        </p:txBody>
      </p:sp>
      <p:sp>
        <p:nvSpPr>
          <p:cNvPr id="507" name="Google Shape;507;p80"/>
          <p:cNvSpPr txBox="1"/>
          <p:nvPr/>
        </p:nvSpPr>
        <p:spPr>
          <a:xfrm>
            <a:off x="320511" y="994380"/>
            <a:ext cx="1048066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Visualizando os conceitos em um exemplo prático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08" name="Google Shape;508;p80"/>
          <p:cNvSpPr txBox="1"/>
          <p:nvPr/>
        </p:nvSpPr>
        <p:spPr>
          <a:xfrm>
            <a:off x="647393" y="1503587"/>
            <a:ext cx="740672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Uma concessionária de automóveis vende 40 veículos por mês e o valor de cada carro é, em média, R$ 41.990,00. Qual é o lucro mensal, considerando-se os custos abaixo?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09" name="Google Shape;509;p80"/>
          <p:cNvSpPr txBox="1"/>
          <p:nvPr/>
        </p:nvSpPr>
        <p:spPr>
          <a:xfrm>
            <a:off x="512080" y="1269632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Exemplo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descr="Volkswagen Gol 2019: Preço, fotos e ofertas | Webmotors" id="510" name="Google Shape;51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8601" y="1209272"/>
            <a:ext cx="4534980" cy="3401236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80"/>
          <p:cNvSpPr txBox="1"/>
          <p:nvPr/>
        </p:nvSpPr>
        <p:spPr>
          <a:xfrm>
            <a:off x="933249" y="3071680"/>
            <a:ext cx="1440624" cy="357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Custos:</a:t>
            </a:r>
            <a:endParaRPr b="1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12" name="Google Shape;512;p80"/>
          <p:cNvSpPr/>
          <p:nvPr/>
        </p:nvSpPr>
        <p:spPr>
          <a:xfrm>
            <a:off x="2494016" y="2077985"/>
            <a:ext cx="261205" cy="234503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C127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80"/>
          <p:cNvSpPr txBox="1"/>
          <p:nvPr/>
        </p:nvSpPr>
        <p:spPr>
          <a:xfrm>
            <a:off x="2875364" y="2368428"/>
            <a:ext cx="4209485" cy="1725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Automóvel: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R$ 36.990,00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Funcionários: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R$ 25.000,00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Luz, Água e Telefone: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R$ 800,00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Aluguel: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R$ 5.000,00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Comissão: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4% do valor do carro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14" name="Google Shape;514;p80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80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80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1"/>
          <p:cNvSpPr txBox="1"/>
          <p:nvPr>
            <p:ph type="title"/>
          </p:nvPr>
        </p:nvSpPr>
        <p:spPr>
          <a:xfrm>
            <a:off x="361187" y="356103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Conceitos financeiros para case</a:t>
            </a:r>
            <a:endParaRPr/>
          </a:p>
        </p:txBody>
      </p:sp>
      <p:sp>
        <p:nvSpPr>
          <p:cNvPr id="522" name="Google Shape;522;p81"/>
          <p:cNvSpPr txBox="1"/>
          <p:nvPr/>
        </p:nvSpPr>
        <p:spPr>
          <a:xfrm>
            <a:off x="762436" y="1316140"/>
            <a:ext cx="1328082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Receita: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23" name="Google Shape;523;p81"/>
          <p:cNvSpPr txBox="1"/>
          <p:nvPr/>
        </p:nvSpPr>
        <p:spPr>
          <a:xfrm>
            <a:off x="762435" y="2201041"/>
            <a:ext cx="9483827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Custos fixos: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24" name="Google Shape;524;p81"/>
          <p:cNvSpPr txBox="1"/>
          <p:nvPr/>
        </p:nvSpPr>
        <p:spPr>
          <a:xfrm>
            <a:off x="762435" y="3252840"/>
            <a:ext cx="9483827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Custos variáveis: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25" name="Google Shape;525;p81"/>
          <p:cNvSpPr txBox="1"/>
          <p:nvPr/>
        </p:nvSpPr>
        <p:spPr>
          <a:xfrm>
            <a:off x="798263" y="3991660"/>
            <a:ext cx="1117068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Lucro: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26" name="Google Shape;526;p81"/>
          <p:cNvSpPr txBox="1"/>
          <p:nvPr/>
        </p:nvSpPr>
        <p:spPr>
          <a:xfrm>
            <a:off x="3651429" y="1352157"/>
            <a:ext cx="8370277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Volume de vendas x preço: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40 x R$ 41.990,00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27" name="Google Shape;527;p81"/>
          <p:cNvSpPr/>
          <p:nvPr/>
        </p:nvSpPr>
        <p:spPr>
          <a:xfrm>
            <a:off x="3369677" y="1834271"/>
            <a:ext cx="228412" cy="1015622"/>
          </a:xfrm>
          <a:prstGeom prst="leftBrace">
            <a:avLst>
              <a:gd fmla="val 179921" name="adj1"/>
              <a:gd fmla="val 50000" name="adj2"/>
            </a:avLst>
          </a:prstGeom>
          <a:noFill/>
          <a:ln cap="flat" cmpd="sng" w="28575">
            <a:solidFill>
              <a:srgbClr val="C127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28" name="Google Shape;528;p81"/>
          <p:cNvSpPr txBox="1"/>
          <p:nvPr/>
        </p:nvSpPr>
        <p:spPr>
          <a:xfrm>
            <a:off x="3651429" y="1742934"/>
            <a:ext cx="3290319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Funcionários: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R$ 25.000,00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Luz, Água e Telefone: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R$ 800,00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Aluguel: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R$ 5.000,00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29" name="Google Shape;529;p81"/>
          <p:cNvSpPr txBox="1"/>
          <p:nvPr/>
        </p:nvSpPr>
        <p:spPr>
          <a:xfrm>
            <a:off x="3651429" y="3032865"/>
            <a:ext cx="3985001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Automóveis:</a:t>
            </a: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40 unidades x R$ 36.990,00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Comissão:</a:t>
            </a: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4% x R$ 1.679.600,00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30" name="Google Shape;530;p81"/>
          <p:cNvSpPr txBox="1"/>
          <p:nvPr/>
        </p:nvSpPr>
        <p:spPr>
          <a:xfrm>
            <a:off x="2279818" y="3892356"/>
            <a:ext cx="6643402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R$ 1.679.600,00 – R$ 30.800,00 – R$ 1.479.600,00 – R$ 67.184,00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31" name="Google Shape;531;p81"/>
          <p:cNvSpPr txBox="1"/>
          <p:nvPr/>
        </p:nvSpPr>
        <p:spPr>
          <a:xfrm>
            <a:off x="6941748" y="1363166"/>
            <a:ext cx="2307102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= R$ 1.679.600,00 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32" name="Google Shape;532;p81"/>
          <p:cNvSpPr txBox="1"/>
          <p:nvPr/>
        </p:nvSpPr>
        <p:spPr>
          <a:xfrm>
            <a:off x="6941748" y="2160185"/>
            <a:ext cx="2307102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= R$ 30.800,00 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33" name="Google Shape;533;p81"/>
          <p:cNvSpPr txBox="1"/>
          <p:nvPr/>
        </p:nvSpPr>
        <p:spPr>
          <a:xfrm>
            <a:off x="6946972" y="3026755"/>
            <a:ext cx="2307102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R$ 1.479.600,00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81"/>
          <p:cNvSpPr txBox="1"/>
          <p:nvPr/>
        </p:nvSpPr>
        <p:spPr>
          <a:xfrm>
            <a:off x="6956025" y="3354649"/>
            <a:ext cx="2307102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R$ 67.184,00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81"/>
          <p:cNvSpPr txBox="1"/>
          <p:nvPr/>
        </p:nvSpPr>
        <p:spPr>
          <a:xfrm>
            <a:off x="6941748" y="3992110"/>
            <a:ext cx="2307102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R$ 102.016,00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81"/>
          <p:cNvSpPr txBox="1"/>
          <p:nvPr/>
        </p:nvSpPr>
        <p:spPr>
          <a:xfrm>
            <a:off x="361187" y="917683"/>
            <a:ext cx="1048066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Visualizando os conceitos em um exemplo prático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37" name="Google Shape;537;p81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81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81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82"/>
          <p:cNvSpPr txBox="1"/>
          <p:nvPr>
            <p:ph type="title"/>
          </p:nvPr>
        </p:nvSpPr>
        <p:spPr>
          <a:xfrm>
            <a:off x="2800350" y="2959400"/>
            <a:ext cx="6031035" cy="1644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000">
                <a:solidFill>
                  <a:srgbClr val="C1272D"/>
                </a:solidFill>
              </a:rPr>
              <a:t>Indicadores financeiros </a:t>
            </a:r>
            <a:br>
              <a:rPr lang="en" sz="4000">
                <a:solidFill>
                  <a:schemeClr val="lt1"/>
                </a:solidFill>
              </a:rPr>
            </a:br>
            <a:r>
              <a:rPr lang="en" sz="4000">
                <a:solidFill>
                  <a:schemeClr val="lt1"/>
                </a:solidFill>
              </a:rPr>
              <a:t>para case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545" name="Google Shape;545;p82"/>
          <p:cNvSpPr txBox="1"/>
          <p:nvPr>
            <p:ph idx="3" type="title"/>
          </p:nvPr>
        </p:nvSpPr>
        <p:spPr>
          <a:xfrm>
            <a:off x="7008600" y="1601400"/>
            <a:ext cx="1259700" cy="1259700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546" name="Google Shape;546;p82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82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82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3"/>
          <p:cNvSpPr txBox="1"/>
          <p:nvPr>
            <p:ph type="title"/>
          </p:nvPr>
        </p:nvSpPr>
        <p:spPr>
          <a:xfrm>
            <a:off x="722375" y="384048"/>
            <a:ext cx="7133845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Indicadores financeiros para case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54" name="Google Shape;554;p83"/>
          <p:cNvSpPr txBox="1"/>
          <p:nvPr/>
        </p:nvSpPr>
        <p:spPr>
          <a:xfrm>
            <a:off x="398359" y="1117269"/>
            <a:ext cx="8181762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 </a:t>
            </a: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ROI (Return on Investment) </a:t>
            </a: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avalia a eficiência de um investimento ou compara vários investimentos diferentes.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55" name="Google Shape;555;p83"/>
          <p:cNvSpPr txBox="1"/>
          <p:nvPr/>
        </p:nvSpPr>
        <p:spPr>
          <a:xfrm>
            <a:off x="612195" y="2730599"/>
            <a:ext cx="7847899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Um investimento de R$ 1M em ações gerou um valor de R$ 1,2M após 3 anos. Qual é o ROI?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56" name="Google Shape;556;p83"/>
          <p:cNvSpPr txBox="1"/>
          <p:nvPr/>
        </p:nvSpPr>
        <p:spPr>
          <a:xfrm>
            <a:off x="470915" y="2354136"/>
            <a:ext cx="8828521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Exemplo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557" name="Google Shape;557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7183" y="1498903"/>
            <a:ext cx="2284228" cy="566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583" y="3236445"/>
            <a:ext cx="2119313" cy="659713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83"/>
          <p:cNvSpPr txBox="1"/>
          <p:nvPr/>
        </p:nvSpPr>
        <p:spPr>
          <a:xfrm>
            <a:off x="612193" y="4006707"/>
            <a:ext cx="7847899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OBS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 Para os cases, não é necessário ajustar o valor de 1,2M para o cálculo do que seria o ROI real devido a simplicidade.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60" name="Google Shape;560;p83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83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83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4"/>
          <p:cNvSpPr txBox="1"/>
          <p:nvPr>
            <p:ph type="title"/>
          </p:nvPr>
        </p:nvSpPr>
        <p:spPr>
          <a:xfrm>
            <a:off x="361187" y="356103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Indicadores financeiros para case</a:t>
            </a:r>
            <a:endParaRPr/>
          </a:p>
        </p:txBody>
      </p:sp>
      <p:sp>
        <p:nvSpPr>
          <p:cNvPr id="568" name="Google Shape;568;p84"/>
          <p:cNvSpPr txBox="1"/>
          <p:nvPr/>
        </p:nvSpPr>
        <p:spPr>
          <a:xfrm>
            <a:off x="320510" y="964654"/>
            <a:ext cx="8166265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 </a:t>
            </a: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payback</a:t>
            </a: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representa o tempo de retorno de um investimento, isto é, serve para entender em quanto tempo o investimento “se paga”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69" name="Google Shape;569;p84"/>
          <p:cNvSpPr txBox="1"/>
          <p:nvPr/>
        </p:nvSpPr>
        <p:spPr>
          <a:xfrm>
            <a:off x="752167" y="2368805"/>
            <a:ext cx="110786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Representa o quanto se investiu sobre o fluxo de caixa.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70" name="Google Shape;570;p84"/>
          <p:cNvSpPr txBox="1"/>
          <p:nvPr/>
        </p:nvSpPr>
        <p:spPr>
          <a:xfrm>
            <a:off x="521633" y="2005244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Payback simples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71" name="Google Shape;571;p84"/>
          <p:cNvSpPr txBox="1"/>
          <p:nvPr/>
        </p:nvSpPr>
        <p:spPr>
          <a:xfrm>
            <a:off x="752166" y="3383192"/>
            <a:ext cx="110786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Considera uma taxa de desconto que faz a correção de valores do período.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72" name="Google Shape;572;p84"/>
          <p:cNvSpPr txBox="1"/>
          <p:nvPr/>
        </p:nvSpPr>
        <p:spPr>
          <a:xfrm>
            <a:off x="521632" y="3019631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Payback descontado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73" name="Google Shape;573;p84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84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84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5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Indicadores financeiros para case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81" name="Google Shape;581;p85"/>
          <p:cNvSpPr txBox="1"/>
          <p:nvPr/>
        </p:nvSpPr>
        <p:spPr>
          <a:xfrm>
            <a:off x="598380" y="1033892"/>
            <a:ext cx="7947189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Uma empresa avalia o investimento de R$ 750.000,00 em um projeto de infraestrutura. Sabendo-se que a taxa de desconto para o projeto é de 10,00% a.a., calcule o payback considerando-se o seguinte fluxo de caixa.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82" name="Google Shape;582;p85"/>
          <p:cNvSpPr/>
          <p:nvPr/>
        </p:nvSpPr>
        <p:spPr>
          <a:xfrm>
            <a:off x="1416705" y="2646215"/>
            <a:ext cx="6403751" cy="228600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85"/>
          <p:cNvSpPr/>
          <p:nvPr/>
        </p:nvSpPr>
        <p:spPr>
          <a:xfrm>
            <a:off x="7532212" y="2623015"/>
            <a:ext cx="407370" cy="292200"/>
          </a:xfrm>
          <a:prstGeom prst="chevron">
            <a:avLst>
              <a:gd fmla="val 50000" name="adj"/>
            </a:avLst>
          </a:prstGeom>
          <a:solidFill>
            <a:srgbClr val="910F13"/>
          </a:solidFill>
          <a:ln>
            <a:noFill/>
          </a:ln>
          <a:effectLst>
            <a:outerShdw blurRad="40000" rotWithShape="0" dir="5400000" dist="23000">
              <a:srgbClr val="000000">
                <a:alpha val="3333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4" name="Google Shape;584;p85"/>
          <p:cNvCxnSpPr/>
          <p:nvPr/>
        </p:nvCxnSpPr>
        <p:spPr>
          <a:xfrm rot="10800000">
            <a:off x="2449927" y="2275166"/>
            <a:ext cx="0" cy="584366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5" name="Google Shape;585;p85"/>
          <p:cNvCxnSpPr/>
          <p:nvPr/>
        </p:nvCxnSpPr>
        <p:spPr>
          <a:xfrm rot="10800000">
            <a:off x="5744628" y="2303700"/>
            <a:ext cx="0" cy="584364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6" name="Google Shape;586;p85"/>
          <p:cNvCxnSpPr/>
          <p:nvPr/>
        </p:nvCxnSpPr>
        <p:spPr>
          <a:xfrm rot="10800000">
            <a:off x="3569222" y="2442615"/>
            <a:ext cx="0" cy="4134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7" name="Google Shape;587;p85"/>
          <p:cNvCxnSpPr/>
          <p:nvPr/>
        </p:nvCxnSpPr>
        <p:spPr>
          <a:xfrm rot="10800000">
            <a:off x="4648946" y="2078660"/>
            <a:ext cx="0" cy="782622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8" name="Google Shape;588;p85"/>
          <p:cNvSpPr txBox="1"/>
          <p:nvPr/>
        </p:nvSpPr>
        <p:spPr>
          <a:xfrm>
            <a:off x="1884789" y="1973675"/>
            <a:ext cx="1224713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R$250 mil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89" name="Google Shape;589;p85"/>
          <p:cNvSpPr txBox="1"/>
          <p:nvPr/>
        </p:nvSpPr>
        <p:spPr>
          <a:xfrm>
            <a:off x="2999837" y="2078660"/>
            <a:ext cx="1224715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R$200 mil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90" name="Google Shape;590;p85"/>
          <p:cNvSpPr txBox="1"/>
          <p:nvPr/>
        </p:nvSpPr>
        <p:spPr>
          <a:xfrm>
            <a:off x="4066474" y="1698008"/>
            <a:ext cx="1261985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R$300 mil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91" name="Google Shape;591;p85"/>
          <p:cNvSpPr txBox="1"/>
          <p:nvPr/>
        </p:nvSpPr>
        <p:spPr>
          <a:xfrm>
            <a:off x="5138099" y="1987461"/>
            <a:ext cx="1252152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R$250 mil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92" name="Google Shape;592;p85"/>
          <p:cNvSpPr txBox="1"/>
          <p:nvPr/>
        </p:nvSpPr>
        <p:spPr>
          <a:xfrm>
            <a:off x="1412805" y="2276915"/>
            <a:ext cx="44199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85"/>
          <p:cNvSpPr txBox="1"/>
          <p:nvPr/>
        </p:nvSpPr>
        <p:spPr>
          <a:xfrm>
            <a:off x="2307972" y="2953263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85"/>
          <p:cNvSpPr txBox="1"/>
          <p:nvPr/>
        </p:nvSpPr>
        <p:spPr>
          <a:xfrm>
            <a:off x="3469327" y="2934464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85"/>
          <p:cNvSpPr txBox="1"/>
          <p:nvPr/>
        </p:nvSpPr>
        <p:spPr>
          <a:xfrm>
            <a:off x="4489651" y="2955012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85"/>
          <p:cNvSpPr txBox="1"/>
          <p:nvPr/>
        </p:nvSpPr>
        <p:spPr>
          <a:xfrm>
            <a:off x="5570495" y="2981797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7" name="Google Shape;597;p85"/>
          <p:cNvCxnSpPr/>
          <p:nvPr/>
        </p:nvCxnSpPr>
        <p:spPr>
          <a:xfrm>
            <a:off x="1516413" y="2861278"/>
            <a:ext cx="0" cy="301022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8" name="Google Shape;598;p85"/>
          <p:cNvSpPr txBox="1"/>
          <p:nvPr/>
        </p:nvSpPr>
        <p:spPr>
          <a:xfrm>
            <a:off x="908533" y="3170844"/>
            <a:ext cx="1286355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R$750 mil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99" name="Google Shape;599;p85"/>
          <p:cNvSpPr txBox="1"/>
          <p:nvPr/>
        </p:nvSpPr>
        <p:spPr>
          <a:xfrm>
            <a:off x="598380" y="3593957"/>
            <a:ext cx="8206559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Ano 1: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- R$ 750.000,00 + R$ 250.000,00 = - R$ 500.000,00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Ano 2: 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- R$ 500.000,00 + R$ 200.000,00 = - R$ 300.000,00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Ano 3: 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- R$ 300.000,00 + R$ 300.000,00 = R$ 0,00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00" name="Google Shape;600;p85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85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85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86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Indicadores financeiros para case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08" name="Google Shape;608;p86"/>
          <p:cNvSpPr txBox="1"/>
          <p:nvPr/>
        </p:nvSpPr>
        <p:spPr>
          <a:xfrm>
            <a:off x="598380" y="1033892"/>
            <a:ext cx="7947189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Uma empresa avalia o investimento de R$ 750.000,00 em um projeto de infraestrutura. Sabendo-se que a taxa de desconto para o projeto é de 10,00% a.a., calcule o payback considerando-se o seguinte fluxo de caixa.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09" name="Google Shape;609;p86"/>
          <p:cNvSpPr/>
          <p:nvPr/>
        </p:nvSpPr>
        <p:spPr>
          <a:xfrm>
            <a:off x="1450127" y="2046019"/>
            <a:ext cx="6403751" cy="228600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86"/>
          <p:cNvSpPr/>
          <p:nvPr/>
        </p:nvSpPr>
        <p:spPr>
          <a:xfrm>
            <a:off x="7612970" y="1991559"/>
            <a:ext cx="407370" cy="292200"/>
          </a:xfrm>
          <a:prstGeom prst="chevron">
            <a:avLst>
              <a:gd fmla="val 50000" name="adj"/>
            </a:avLst>
          </a:prstGeom>
          <a:solidFill>
            <a:srgbClr val="910F13"/>
          </a:solidFill>
          <a:ln>
            <a:noFill/>
          </a:ln>
          <a:effectLst>
            <a:outerShdw blurRad="40000" rotWithShape="0" dir="5400000" dist="23000">
              <a:srgbClr val="000000">
                <a:alpha val="3333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" name="Google Shape;611;p86"/>
          <p:cNvCxnSpPr/>
          <p:nvPr/>
        </p:nvCxnSpPr>
        <p:spPr>
          <a:xfrm rot="10800000">
            <a:off x="5778050" y="1861369"/>
            <a:ext cx="0" cy="426499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2" name="Google Shape;612;p86"/>
          <p:cNvCxnSpPr/>
          <p:nvPr/>
        </p:nvCxnSpPr>
        <p:spPr>
          <a:xfrm rot="10800000">
            <a:off x="3602644" y="1842419"/>
            <a:ext cx="0" cy="4134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3" name="Google Shape;613;p86"/>
          <p:cNvCxnSpPr/>
          <p:nvPr/>
        </p:nvCxnSpPr>
        <p:spPr>
          <a:xfrm rot="10800000">
            <a:off x="4682368" y="1842419"/>
            <a:ext cx="0" cy="418667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4" name="Google Shape;614;p86"/>
          <p:cNvSpPr txBox="1"/>
          <p:nvPr/>
        </p:nvSpPr>
        <p:spPr>
          <a:xfrm>
            <a:off x="1845244" y="1603897"/>
            <a:ext cx="1224713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R$250 mil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86"/>
          <p:cNvSpPr txBox="1"/>
          <p:nvPr/>
        </p:nvSpPr>
        <p:spPr>
          <a:xfrm>
            <a:off x="3005440" y="1591625"/>
            <a:ext cx="1224715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R$200 mil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86"/>
          <p:cNvSpPr txBox="1"/>
          <p:nvPr/>
        </p:nvSpPr>
        <p:spPr>
          <a:xfrm>
            <a:off x="4067332" y="1580924"/>
            <a:ext cx="1261985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R$300 mil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86"/>
          <p:cNvSpPr txBox="1"/>
          <p:nvPr/>
        </p:nvSpPr>
        <p:spPr>
          <a:xfrm>
            <a:off x="5196803" y="1584394"/>
            <a:ext cx="1252152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R$250 mil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86"/>
          <p:cNvSpPr txBox="1"/>
          <p:nvPr/>
        </p:nvSpPr>
        <p:spPr>
          <a:xfrm>
            <a:off x="1446227" y="1676719"/>
            <a:ext cx="44199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86"/>
          <p:cNvSpPr txBox="1"/>
          <p:nvPr/>
        </p:nvSpPr>
        <p:spPr>
          <a:xfrm>
            <a:off x="2341394" y="2353067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86"/>
          <p:cNvSpPr txBox="1"/>
          <p:nvPr/>
        </p:nvSpPr>
        <p:spPr>
          <a:xfrm>
            <a:off x="3502749" y="2334268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86"/>
          <p:cNvSpPr txBox="1"/>
          <p:nvPr/>
        </p:nvSpPr>
        <p:spPr>
          <a:xfrm>
            <a:off x="4523073" y="2354816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86"/>
          <p:cNvSpPr txBox="1"/>
          <p:nvPr/>
        </p:nvSpPr>
        <p:spPr>
          <a:xfrm>
            <a:off x="5603917" y="2381601"/>
            <a:ext cx="1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3" name="Google Shape;623;p86"/>
          <p:cNvCxnSpPr/>
          <p:nvPr/>
        </p:nvCxnSpPr>
        <p:spPr>
          <a:xfrm>
            <a:off x="1564038" y="2269626"/>
            <a:ext cx="0" cy="301022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4" name="Google Shape;624;p86"/>
          <p:cNvSpPr txBox="1"/>
          <p:nvPr/>
        </p:nvSpPr>
        <p:spPr>
          <a:xfrm>
            <a:off x="941955" y="2570648"/>
            <a:ext cx="1286355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R$750 mil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5" name="Google Shape;625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631" y="3030694"/>
            <a:ext cx="2657172" cy="1592474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86"/>
          <p:cNvSpPr txBox="1"/>
          <p:nvPr/>
        </p:nvSpPr>
        <p:spPr>
          <a:xfrm>
            <a:off x="3713622" y="3015370"/>
            <a:ext cx="4037177" cy="1135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Ano 1: - R$750.000,00 + R$227.273,00 = - R$522.727,00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Ano 2: - R$522.727,00 + R$165.289,00 = - R$357.438,00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Ano 3: - R$357.438,00 + R$225.394,00 = - R$132.044,00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Ano 4: R$ - 132.044,00 + R$170.753,00 = R$38.710,00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627" name="Google Shape;627;p86"/>
          <p:cNvCxnSpPr/>
          <p:nvPr/>
        </p:nvCxnSpPr>
        <p:spPr>
          <a:xfrm rot="10800000">
            <a:off x="2462133" y="1873305"/>
            <a:ext cx="0" cy="413400"/>
          </a:xfrm>
          <a:prstGeom prst="straightConnector1">
            <a:avLst/>
          </a:pr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8" name="Google Shape;628;p86"/>
          <p:cNvSpPr txBox="1"/>
          <p:nvPr/>
        </p:nvSpPr>
        <p:spPr>
          <a:xfrm>
            <a:off x="7295974" y="4184622"/>
            <a:ext cx="1848026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Payback descontado</a:t>
            </a: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 3 anos e 282 dias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29" name="Google Shape;629;p86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86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86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7"/>
          <p:cNvSpPr txBox="1"/>
          <p:nvPr>
            <p:ph type="title"/>
          </p:nvPr>
        </p:nvSpPr>
        <p:spPr>
          <a:xfrm>
            <a:off x="722375" y="376360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Indicadores financeiros para case</a:t>
            </a:r>
            <a:endParaRPr/>
          </a:p>
        </p:txBody>
      </p:sp>
      <p:sp>
        <p:nvSpPr>
          <p:cNvPr id="637" name="Google Shape;637;p87"/>
          <p:cNvSpPr txBox="1"/>
          <p:nvPr/>
        </p:nvSpPr>
        <p:spPr>
          <a:xfrm>
            <a:off x="444336" y="936531"/>
            <a:ext cx="1048066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 </a:t>
            </a: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breakeven</a:t>
            </a: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mapeia o “ponto de virada” no qual o investimento começa a gerar lucro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638" name="Google Shape;638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5340" y="1431422"/>
            <a:ext cx="3556404" cy="2952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w to Calculate Your Business's Break Even Point [Video Included]" id="639" name="Google Shape;639;p87"/>
          <p:cNvPicPr preferRelativeResize="0"/>
          <p:nvPr/>
        </p:nvPicPr>
        <p:blipFill rotWithShape="1">
          <a:blip r:embed="rId4">
            <a:alphaModFix/>
          </a:blip>
          <a:srcRect b="29643" l="1527" r="1715" t="13047"/>
          <a:stretch/>
        </p:blipFill>
        <p:spPr>
          <a:xfrm>
            <a:off x="622944" y="2562257"/>
            <a:ext cx="3949056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87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87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87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88"/>
          <p:cNvSpPr txBox="1"/>
          <p:nvPr/>
        </p:nvSpPr>
        <p:spPr>
          <a:xfrm>
            <a:off x="272795" y="1037348"/>
            <a:ext cx="1048066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Exemplo do uso de breakeven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48" name="Google Shape;648;p88"/>
          <p:cNvSpPr txBox="1"/>
          <p:nvPr/>
        </p:nvSpPr>
        <p:spPr>
          <a:xfrm>
            <a:off x="647703" y="1626611"/>
            <a:ext cx="7208517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Uma rede de fast food deseja abrir uma nova franquia. O valor do aluguel do ponto é R$ 8.400,00. Salários e encargos somam R$ 8.000,00, enquanto luz e água somam R$ 1.600,00. Sabendo-se que, em média, o preço do lanche é R$ 18,00 e que são gastos R$ 9,00 com insumos. Calcule o breakeven. 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49" name="Google Shape;649;p88"/>
          <p:cNvSpPr txBox="1"/>
          <p:nvPr/>
        </p:nvSpPr>
        <p:spPr>
          <a:xfrm>
            <a:off x="500678" y="1423835"/>
            <a:ext cx="1130915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Exemplo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50" name="Google Shape;650;p88"/>
          <p:cNvSpPr txBox="1"/>
          <p:nvPr/>
        </p:nvSpPr>
        <p:spPr>
          <a:xfrm>
            <a:off x="632713" y="2895858"/>
            <a:ext cx="2343022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2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Custos fixos</a:t>
            </a:r>
            <a:r>
              <a:rPr b="1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51" name="Google Shape;651;p88"/>
          <p:cNvSpPr/>
          <p:nvPr/>
        </p:nvSpPr>
        <p:spPr>
          <a:xfrm>
            <a:off x="2904114" y="2526529"/>
            <a:ext cx="184400" cy="1091721"/>
          </a:xfrm>
          <a:prstGeom prst="leftBrace">
            <a:avLst>
              <a:gd fmla="val 49656" name="adj1"/>
              <a:gd fmla="val 50000" name="adj2"/>
            </a:avLst>
          </a:prstGeom>
          <a:noFill/>
          <a:ln cap="flat" cmpd="sng" w="28575">
            <a:solidFill>
              <a:srgbClr val="C127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52" name="Google Shape;652;p88"/>
          <p:cNvSpPr txBox="1"/>
          <p:nvPr/>
        </p:nvSpPr>
        <p:spPr>
          <a:xfrm>
            <a:off x="3088514" y="2528827"/>
            <a:ext cx="3290319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Aluguel</a:t>
            </a: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R$ 8.400,00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Funcionários</a:t>
            </a: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R$ 8.000,00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Luz e água</a:t>
            </a:r>
            <a:r>
              <a:rPr b="1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R$ 1.600,00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53" name="Google Shape;653;p88"/>
          <p:cNvSpPr txBox="1"/>
          <p:nvPr/>
        </p:nvSpPr>
        <p:spPr>
          <a:xfrm>
            <a:off x="500678" y="3791111"/>
            <a:ext cx="5416060" cy="1249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Custo variável por produto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 R$ 9,00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Preço do lanche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 R$ 18,00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C1272D"/>
                </a:solidFill>
                <a:latin typeface="Work Sans"/>
                <a:ea typeface="Work Sans"/>
                <a:cs typeface="Work Sans"/>
                <a:sym typeface="Work Sans"/>
              </a:rPr>
              <a:t>Margem de contribuição</a:t>
            </a:r>
            <a:r>
              <a:rPr b="0" i="0" lang="en" sz="10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 R$ 18,00 – R$ 9,00 = R$ 9,00</a:t>
            </a:r>
            <a:endParaRPr b="0" i="0" sz="1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654" name="Google Shape;65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9325" y="2581753"/>
            <a:ext cx="2966972" cy="481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7729" y="3638299"/>
            <a:ext cx="3190031" cy="495682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88"/>
          <p:cNvSpPr txBox="1"/>
          <p:nvPr>
            <p:ph type="title"/>
          </p:nvPr>
        </p:nvSpPr>
        <p:spPr>
          <a:xfrm>
            <a:off x="722375" y="338744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>
                <a:solidFill>
                  <a:srgbClr val="C1272D"/>
                </a:solidFill>
                <a:latin typeface="Arial"/>
                <a:ea typeface="Arial"/>
                <a:cs typeface="Arial"/>
                <a:sym typeface="Arial"/>
              </a:rPr>
              <a:t>Indicadores financeiros para case</a:t>
            </a:r>
            <a:endParaRPr/>
          </a:p>
        </p:txBody>
      </p:sp>
      <p:sp>
        <p:nvSpPr>
          <p:cNvPr id="657" name="Google Shape;657;p88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88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88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9"/>
          <p:cNvSpPr txBox="1"/>
          <p:nvPr>
            <p:ph type="title"/>
          </p:nvPr>
        </p:nvSpPr>
        <p:spPr>
          <a:xfrm>
            <a:off x="2237265" y="3020962"/>
            <a:ext cx="6031035" cy="1644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000">
                <a:solidFill>
                  <a:srgbClr val="C1272D"/>
                </a:solidFill>
              </a:rPr>
              <a:t>Case</a:t>
            </a:r>
            <a:br>
              <a:rPr lang="en" sz="4000">
                <a:solidFill>
                  <a:schemeClr val="lt1"/>
                </a:solidFill>
              </a:rPr>
            </a:br>
            <a:r>
              <a:rPr lang="en" sz="4000">
                <a:solidFill>
                  <a:schemeClr val="lt1"/>
                </a:solidFill>
              </a:rPr>
              <a:t>Aplicado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665" name="Google Shape;665;p89"/>
          <p:cNvSpPr txBox="1"/>
          <p:nvPr>
            <p:ph idx="3" type="title"/>
          </p:nvPr>
        </p:nvSpPr>
        <p:spPr>
          <a:xfrm>
            <a:off x="7008600" y="1601400"/>
            <a:ext cx="1259700" cy="1259700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666" name="Google Shape;666;p89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89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89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90"/>
          <p:cNvSpPr txBox="1"/>
          <p:nvPr>
            <p:ph type="title"/>
          </p:nvPr>
        </p:nvSpPr>
        <p:spPr>
          <a:xfrm>
            <a:off x="361187" y="356103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>
                <a:solidFill>
                  <a:srgbClr val="C1272D"/>
                </a:solidFill>
                <a:latin typeface="Kanit"/>
                <a:ea typeface="Kanit"/>
                <a:cs typeface="Kanit"/>
                <a:sym typeface="Kanit"/>
              </a:rPr>
              <a:t>Case aplicado</a:t>
            </a:r>
            <a:endParaRPr/>
          </a:p>
        </p:txBody>
      </p:sp>
      <p:sp>
        <p:nvSpPr>
          <p:cNvPr id="674" name="Google Shape;674;p90"/>
          <p:cNvSpPr txBox="1"/>
          <p:nvPr/>
        </p:nvSpPr>
        <p:spPr>
          <a:xfrm>
            <a:off x="494537" y="932103"/>
            <a:ext cx="1048066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Prompt</a:t>
            </a:r>
            <a:endParaRPr b="0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675" name="Google Shape;675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4845" y="2213360"/>
            <a:ext cx="6682806" cy="2139566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90"/>
          <p:cNvSpPr txBox="1"/>
          <p:nvPr/>
        </p:nvSpPr>
        <p:spPr>
          <a:xfrm>
            <a:off x="641919" y="1209062"/>
            <a:ext cx="7806756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 República Partners, uma firma de Private Equity, está interessada em adquirir uma franquia da principal liga de basquete do mundo. A RP já encontrou um time a venda e o atual dono disse que considera uma oferta de US$ 1.4 bilhão satisfatória. Sua equipe foi contratada para entender se esse é um bom investimento e realizar uma recomendação à RP.</a:t>
            </a:r>
            <a:endParaRPr b="1" i="0" sz="12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77" name="Google Shape;677;p90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90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90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Case aplicado</a:t>
            </a:r>
            <a:endParaRPr/>
          </a:p>
        </p:txBody>
      </p:sp>
      <p:sp>
        <p:nvSpPr>
          <p:cNvPr id="685" name="Google Shape;685;p9"/>
          <p:cNvSpPr txBox="1"/>
          <p:nvPr/>
        </p:nvSpPr>
        <p:spPr>
          <a:xfrm>
            <a:off x="515095" y="949380"/>
            <a:ext cx="1048066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Quais aspectos deveríamos analisar para decidir se vale a pena comprar o time?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86" name="Google Shape;686;p9"/>
          <p:cNvSpPr/>
          <p:nvPr/>
        </p:nvSpPr>
        <p:spPr>
          <a:xfrm>
            <a:off x="336988" y="2743289"/>
            <a:ext cx="1440000" cy="540904"/>
          </a:xfrm>
          <a:prstGeom prst="roundRect">
            <a:avLst>
              <a:gd fmla="val 16667" name="adj"/>
            </a:avLst>
          </a:prstGeom>
          <a:solidFill>
            <a:srgbClr val="C1272D"/>
          </a:solidFill>
          <a:ln cap="flat" cmpd="sng" w="12700">
            <a:solidFill>
              <a:srgbClr val="C1272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9"/>
          <p:cNvSpPr txBox="1"/>
          <p:nvPr/>
        </p:nvSpPr>
        <p:spPr>
          <a:xfrm>
            <a:off x="325136" y="2828651"/>
            <a:ext cx="1429074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Work Sans"/>
                <a:ea typeface="Work Sans"/>
                <a:cs typeface="Work Sans"/>
                <a:sym typeface="Work Sans"/>
              </a:rPr>
              <a:t>Deve-se comprar o time?</a:t>
            </a:r>
            <a:endParaRPr b="0" i="0" sz="1000" u="none" cap="none" strike="noStrike">
              <a:solidFill>
                <a:schemeClr val="lt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88" name="Google Shape;688;p9"/>
          <p:cNvSpPr/>
          <p:nvPr/>
        </p:nvSpPr>
        <p:spPr>
          <a:xfrm>
            <a:off x="2619983" y="1412251"/>
            <a:ext cx="2086718" cy="369923"/>
          </a:xfrm>
          <a:prstGeom prst="roundRect">
            <a:avLst>
              <a:gd fmla="val 16667" name="adj"/>
            </a:avLst>
          </a:prstGeom>
          <a:solidFill>
            <a:srgbClr val="C1272D"/>
          </a:solidFill>
          <a:ln cap="flat" cmpd="sng" w="12700">
            <a:solidFill>
              <a:srgbClr val="C1272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89" name="Google Shape;689;p9"/>
          <p:cNvSpPr txBox="1"/>
          <p:nvPr/>
        </p:nvSpPr>
        <p:spPr>
          <a:xfrm>
            <a:off x="2269206" y="1459888"/>
            <a:ext cx="2874537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Work Sans"/>
                <a:ea typeface="Work Sans"/>
                <a:cs typeface="Work Sans"/>
                <a:sym typeface="Work Sans"/>
              </a:rPr>
              <a:t>Finanças</a:t>
            </a:r>
            <a:endParaRPr b="0" i="0" sz="1000" u="none" cap="none" strike="noStrike">
              <a:solidFill>
                <a:schemeClr val="lt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690" name="Google Shape;690;p9"/>
          <p:cNvCxnSpPr/>
          <p:nvPr/>
        </p:nvCxnSpPr>
        <p:spPr>
          <a:xfrm rot="10800000">
            <a:off x="2079983" y="1616726"/>
            <a:ext cx="540000" cy="0"/>
          </a:xfrm>
          <a:prstGeom prst="straightConnector1">
            <a:avLst/>
          </a:prstGeom>
          <a:noFill/>
          <a:ln cap="flat" cmpd="sng" w="9525">
            <a:solidFill>
              <a:srgbClr val="C1272D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91" name="Google Shape;691;p9"/>
          <p:cNvCxnSpPr/>
          <p:nvPr/>
        </p:nvCxnSpPr>
        <p:spPr>
          <a:xfrm>
            <a:off x="2067051" y="1616726"/>
            <a:ext cx="6478" cy="3013036"/>
          </a:xfrm>
          <a:prstGeom prst="straightConnector1">
            <a:avLst/>
          </a:prstGeom>
          <a:noFill/>
          <a:ln cap="flat" cmpd="sng" w="9525">
            <a:solidFill>
              <a:srgbClr val="C1272D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92" name="Google Shape;692;p9"/>
          <p:cNvCxnSpPr/>
          <p:nvPr/>
        </p:nvCxnSpPr>
        <p:spPr>
          <a:xfrm rot="10800000">
            <a:off x="1539982" y="3025830"/>
            <a:ext cx="540000" cy="0"/>
          </a:xfrm>
          <a:prstGeom prst="straightConnector1">
            <a:avLst/>
          </a:prstGeom>
          <a:noFill/>
          <a:ln cap="flat" cmpd="sng" w="9525">
            <a:solidFill>
              <a:srgbClr val="C1272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93" name="Google Shape;693;p9"/>
          <p:cNvSpPr txBox="1"/>
          <p:nvPr/>
        </p:nvSpPr>
        <p:spPr>
          <a:xfrm>
            <a:off x="4791769" y="1375507"/>
            <a:ext cx="2086718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" sz="9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Principais linhas de receitas</a:t>
            </a:r>
            <a:endParaRPr b="0" i="0" sz="9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" sz="9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Principais linhas de custos</a:t>
            </a:r>
            <a:endParaRPr b="0" i="0" sz="9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" sz="9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Potenciais ganhos com sinergias</a:t>
            </a:r>
            <a:endParaRPr b="0" i="0" sz="9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94" name="Google Shape;694;p9"/>
          <p:cNvSpPr txBox="1"/>
          <p:nvPr/>
        </p:nvSpPr>
        <p:spPr>
          <a:xfrm>
            <a:off x="4774085" y="2421610"/>
            <a:ext cx="1871854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" sz="9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Capital necessário</a:t>
            </a:r>
            <a:endParaRPr b="0" i="0" sz="9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" sz="9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Know-how esportivo</a:t>
            </a:r>
            <a:endParaRPr b="0" i="0" sz="9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95" name="Google Shape;695;p9"/>
          <p:cNvSpPr txBox="1"/>
          <p:nvPr/>
        </p:nvSpPr>
        <p:spPr>
          <a:xfrm>
            <a:off x="4791769" y="3433272"/>
            <a:ext cx="1534882" cy="406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" sz="9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Liga de basquete</a:t>
            </a:r>
            <a:endParaRPr b="0" i="0" sz="9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" sz="9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Dos fãs</a:t>
            </a:r>
            <a:endParaRPr b="0" i="0" sz="9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96" name="Google Shape;696;p9"/>
          <p:cNvSpPr txBox="1"/>
          <p:nvPr/>
        </p:nvSpPr>
        <p:spPr>
          <a:xfrm>
            <a:off x="4760698" y="4426652"/>
            <a:ext cx="3599920" cy="406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" sz="9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Mais interessantes</a:t>
            </a:r>
            <a:endParaRPr b="0" i="0" sz="9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" sz="9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Mais rentáveis</a:t>
            </a:r>
            <a:endParaRPr b="0" i="0" sz="9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697" name="Google Shape;6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6045" y="1382355"/>
            <a:ext cx="1740396" cy="2692511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"/>
          <p:cNvSpPr/>
          <p:nvPr/>
        </p:nvSpPr>
        <p:spPr>
          <a:xfrm>
            <a:off x="2619983" y="2414768"/>
            <a:ext cx="2086718" cy="369923"/>
          </a:xfrm>
          <a:prstGeom prst="roundRect">
            <a:avLst>
              <a:gd fmla="val 16667" name="adj"/>
            </a:avLst>
          </a:prstGeom>
          <a:solidFill>
            <a:srgbClr val="C1272D"/>
          </a:solidFill>
          <a:ln cap="flat" cmpd="sng" w="12700">
            <a:solidFill>
              <a:srgbClr val="C1272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9"/>
          <p:cNvSpPr/>
          <p:nvPr/>
        </p:nvSpPr>
        <p:spPr>
          <a:xfrm>
            <a:off x="2619983" y="3417285"/>
            <a:ext cx="2086718" cy="369923"/>
          </a:xfrm>
          <a:prstGeom prst="roundRect">
            <a:avLst>
              <a:gd fmla="val 16667" name="adj"/>
            </a:avLst>
          </a:prstGeom>
          <a:solidFill>
            <a:srgbClr val="C1272D"/>
          </a:solidFill>
          <a:ln cap="flat" cmpd="sng" w="12700">
            <a:solidFill>
              <a:srgbClr val="C1272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9"/>
          <p:cNvSpPr/>
          <p:nvPr/>
        </p:nvSpPr>
        <p:spPr>
          <a:xfrm>
            <a:off x="2619983" y="4419803"/>
            <a:ext cx="2086718" cy="369923"/>
          </a:xfrm>
          <a:prstGeom prst="roundRect">
            <a:avLst>
              <a:gd fmla="val 16667" name="adj"/>
            </a:avLst>
          </a:prstGeom>
          <a:solidFill>
            <a:srgbClr val="C1272D"/>
          </a:solidFill>
          <a:ln cap="flat" cmpd="sng" w="12700">
            <a:solidFill>
              <a:srgbClr val="C1272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1" name="Google Shape;701;p9"/>
          <p:cNvCxnSpPr/>
          <p:nvPr/>
        </p:nvCxnSpPr>
        <p:spPr>
          <a:xfrm rot="10800000">
            <a:off x="2079983" y="2578751"/>
            <a:ext cx="540000" cy="0"/>
          </a:xfrm>
          <a:prstGeom prst="straightConnector1">
            <a:avLst/>
          </a:prstGeom>
          <a:noFill/>
          <a:ln cap="flat" cmpd="sng" w="9525">
            <a:solidFill>
              <a:srgbClr val="C1272D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02" name="Google Shape;702;p9"/>
          <p:cNvCxnSpPr/>
          <p:nvPr/>
        </p:nvCxnSpPr>
        <p:spPr>
          <a:xfrm rot="10800000">
            <a:off x="2079983" y="3581268"/>
            <a:ext cx="540000" cy="0"/>
          </a:xfrm>
          <a:prstGeom prst="straightConnector1">
            <a:avLst/>
          </a:prstGeom>
          <a:noFill/>
          <a:ln cap="flat" cmpd="sng" w="9525">
            <a:solidFill>
              <a:srgbClr val="C1272D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03" name="Google Shape;703;p9"/>
          <p:cNvCxnSpPr/>
          <p:nvPr/>
        </p:nvCxnSpPr>
        <p:spPr>
          <a:xfrm rot="10800000">
            <a:off x="2079983" y="4619928"/>
            <a:ext cx="540000" cy="0"/>
          </a:xfrm>
          <a:prstGeom prst="straightConnector1">
            <a:avLst/>
          </a:prstGeom>
          <a:noFill/>
          <a:ln cap="flat" cmpd="sng" w="9525">
            <a:solidFill>
              <a:srgbClr val="C1272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04" name="Google Shape;704;p9"/>
          <p:cNvSpPr txBox="1"/>
          <p:nvPr/>
        </p:nvSpPr>
        <p:spPr>
          <a:xfrm>
            <a:off x="2261818" y="2480858"/>
            <a:ext cx="2874537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Work Sans"/>
                <a:ea typeface="Work Sans"/>
                <a:cs typeface="Work Sans"/>
                <a:sym typeface="Work Sans"/>
              </a:rPr>
              <a:t>República Partners</a:t>
            </a:r>
            <a:endParaRPr b="0" i="0" sz="1000" u="none" cap="none" strike="noStrike">
              <a:solidFill>
                <a:schemeClr val="lt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05" name="Google Shape;705;p9"/>
          <p:cNvSpPr txBox="1"/>
          <p:nvPr/>
        </p:nvSpPr>
        <p:spPr>
          <a:xfrm>
            <a:off x="2220442" y="4484528"/>
            <a:ext cx="2874537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Work Sans"/>
                <a:ea typeface="Work Sans"/>
                <a:cs typeface="Work Sans"/>
                <a:sym typeface="Work Sans"/>
              </a:rPr>
              <a:t>Outros investimentos</a:t>
            </a:r>
            <a:endParaRPr b="0" i="0" sz="1000" u="none" cap="none" strike="noStrike">
              <a:solidFill>
                <a:schemeClr val="lt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06" name="Google Shape;706;p9"/>
          <p:cNvSpPr txBox="1"/>
          <p:nvPr/>
        </p:nvSpPr>
        <p:spPr>
          <a:xfrm>
            <a:off x="2207648" y="3472366"/>
            <a:ext cx="2874537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Work Sans"/>
                <a:ea typeface="Work Sans"/>
                <a:cs typeface="Work Sans"/>
                <a:sym typeface="Work Sans"/>
              </a:rPr>
              <a:t>Aprovação</a:t>
            </a:r>
            <a:endParaRPr b="0" i="0" sz="1000" u="none" cap="none" strike="noStrike">
              <a:solidFill>
                <a:schemeClr val="lt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07" name="Google Shape;707;p9"/>
          <p:cNvSpPr txBox="1"/>
          <p:nvPr/>
        </p:nvSpPr>
        <p:spPr>
          <a:xfrm>
            <a:off x="0" y="4854554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9"/>
          <p:cNvSpPr txBox="1"/>
          <p:nvPr/>
        </p:nvSpPr>
        <p:spPr>
          <a:xfrm>
            <a:off x="4281900" y="4854554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9"/>
          <p:cNvSpPr/>
          <p:nvPr/>
        </p:nvSpPr>
        <p:spPr>
          <a:xfrm>
            <a:off x="4218975" y="4817844"/>
            <a:ext cx="395886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" name="Google Shape;714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8006" y="932103"/>
            <a:ext cx="4862100" cy="738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2983" y="2104390"/>
            <a:ext cx="2436073" cy="157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32983" y="3747287"/>
            <a:ext cx="2436073" cy="559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9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2100" y="2107060"/>
            <a:ext cx="2598412" cy="75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9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62100" y="2995005"/>
            <a:ext cx="2598412" cy="67204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91"/>
          <p:cNvSpPr txBox="1"/>
          <p:nvPr/>
        </p:nvSpPr>
        <p:spPr>
          <a:xfrm>
            <a:off x="534568" y="1744710"/>
            <a:ext cx="9483827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Anexo 1 – Receitas e custos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91"/>
          <p:cNvSpPr txBox="1"/>
          <p:nvPr>
            <p:ph type="title"/>
          </p:nvPr>
        </p:nvSpPr>
        <p:spPr>
          <a:xfrm>
            <a:off x="361187" y="356103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>
                <a:solidFill>
                  <a:srgbClr val="C1272D"/>
                </a:solidFill>
                <a:latin typeface="Kanit"/>
                <a:ea typeface="Kanit"/>
                <a:cs typeface="Kanit"/>
                <a:sym typeface="Kanit"/>
              </a:rPr>
              <a:t>Case aplicado</a:t>
            </a:r>
            <a:endParaRPr/>
          </a:p>
        </p:txBody>
      </p:sp>
      <p:sp>
        <p:nvSpPr>
          <p:cNvPr id="721" name="Google Shape;721;p91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91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91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92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"/>
              <a:t>Case aplicado</a:t>
            </a:r>
            <a:endParaRPr/>
          </a:p>
        </p:txBody>
      </p:sp>
      <p:pic>
        <p:nvPicPr>
          <p:cNvPr id="729" name="Google Shape;729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4" y="1891198"/>
            <a:ext cx="3557295" cy="2551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4102" y="2087518"/>
            <a:ext cx="2613236" cy="2188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8886" y="1187508"/>
            <a:ext cx="4826178" cy="70368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92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92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92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93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"/>
              <a:t>Case aplicado</a:t>
            </a:r>
            <a:endParaRPr/>
          </a:p>
        </p:txBody>
      </p:sp>
      <p:sp>
        <p:nvSpPr>
          <p:cNvPr id="740" name="Google Shape;740;p93"/>
          <p:cNvSpPr txBox="1"/>
          <p:nvPr/>
        </p:nvSpPr>
        <p:spPr>
          <a:xfrm>
            <a:off x="722375" y="994845"/>
            <a:ext cx="8086653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Como o fundo de PE já teve experiências prévias com times esportivos, através do Benchmark com franquias passadas, identificou-se as seguintes sinergias. Qual o impacto delas no Valuation?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41" name="Google Shape;741;p93"/>
          <p:cNvSpPr txBox="1"/>
          <p:nvPr/>
        </p:nvSpPr>
        <p:spPr>
          <a:xfrm>
            <a:off x="334922" y="5728392"/>
            <a:ext cx="3114938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Custo sem sinergia: $ 200 M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Custo com sinergias: $ 160 M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42" name="Google Shape;742;p93"/>
          <p:cNvGraphicFramePr/>
          <p:nvPr/>
        </p:nvGraphicFramePr>
        <p:xfrm>
          <a:off x="4614860" y="1394913"/>
          <a:ext cx="4111473" cy="3270097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743" name="Google Shape;743;p93"/>
          <p:cNvGraphicFramePr/>
          <p:nvPr/>
        </p:nvGraphicFramePr>
        <p:xfrm>
          <a:off x="583433" y="1582815"/>
          <a:ext cx="3531367" cy="284597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744" name="Google Shape;744;p93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93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93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93"/>
          <p:cNvSpPr txBox="1"/>
          <p:nvPr/>
        </p:nvSpPr>
        <p:spPr>
          <a:xfrm>
            <a:off x="790288" y="4148655"/>
            <a:ext cx="44881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Custos sem sinergia:  200M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Custos do time com sinergia:  160M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94"/>
          <p:cNvSpPr txBox="1"/>
          <p:nvPr/>
        </p:nvSpPr>
        <p:spPr>
          <a:xfrm>
            <a:off x="320512" y="994712"/>
            <a:ext cx="812244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Como o fundo de PE já teve experiências prévias com times esportivos, através do Benchmark com franquias passadas, identificou-se as seguintes sinergias. Qual o impacto delas no Valuation?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753" name="Google Shape;75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1729212"/>
            <a:ext cx="3233420" cy="24195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4" name="Google Shape;754;p94"/>
          <p:cNvGraphicFramePr/>
          <p:nvPr/>
        </p:nvGraphicFramePr>
        <p:xfrm>
          <a:off x="4571999" y="1565078"/>
          <a:ext cx="4000500" cy="3151605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755" name="Google Shape;755;p94"/>
          <p:cNvSpPr txBox="1"/>
          <p:nvPr>
            <p:ph type="title"/>
          </p:nvPr>
        </p:nvSpPr>
        <p:spPr>
          <a:xfrm>
            <a:off x="361187" y="356103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>
                <a:solidFill>
                  <a:srgbClr val="C1272D"/>
                </a:solidFill>
                <a:latin typeface="Kanit"/>
                <a:ea typeface="Kanit"/>
                <a:cs typeface="Kanit"/>
                <a:sym typeface="Kanit"/>
              </a:rPr>
              <a:t>Case aplicado</a:t>
            </a:r>
            <a:endParaRPr/>
          </a:p>
        </p:txBody>
      </p:sp>
      <p:sp>
        <p:nvSpPr>
          <p:cNvPr id="756" name="Google Shape;756;p94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94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94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95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"/>
              <a:t>Case aplicado</a:t>
            </a:r>
            <a:endParaRPr/>
          </a:p>
        </p:txBody>
      </p:sp>
      <p:sp>
        <p:nvSpPr>
          <p:cNvPr id="764" name="Google Shape;764;p95"/>
          <p:cNvSpPr txBox="1"/>
          <p:nvPr/>
        </p:nvSpPr>
        <p:spPr>
          <a:xfrm>
            <a:off x="621010" y="992575"/>
            <a:ext cx="8005803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Como o fundo de PE já teve experiências prévias com times esportivos, através do Benchmark com franquias passadas, identificou-se as seguintes sinergias. Qual o impacto delas no Valuation?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65" name="Google Shape;765;p95"/>
          <p:cNvSpPr txBox="1"/>
          <p:nvPr/>
        </p:nvSpPr>
        <p:spPr>
          <a:xfrm>
            <a:off x="347623" y="5654501"/>
            <a:ext cx="3083876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Custo sem sinergia: $ 200 M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Custo com sinergias: $ 160 M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66" name="Google Shape;766;p95"/>
          <p:cNvGraphicFramePr/>
          <p:nvPr/>
        </p:nvGraphicFramePr>
        <p:xfrm>
          <a:off x="819511" y="1702148"/>
          <a:ext cx="4238534" cy="2625826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767" name="Google Shape;767;p95"/>
          <p:cNvSpPr txBox="1"/>
          <p:nvPr/>
        </p:nvSpPr>
        <p:spPr>
          <a:xfrm>
            <a:off x="5689664" y="2114635"/>
            <a:ext cx="2937149" cy="14772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Economia nos custos</a:t>
            </a:r>
            <a:endParaRPr b="1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Custos sem sinergia:  200M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Custos do time com sinergia:  160M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Economia: 200M - 160M = 40M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68" name="Google Shape;768;p95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95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95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95"/>
          <p:cNvSpPr txBox="1"/>
          <p:nvPr/>
        </p:nvSpPr>
        <p:spPr>
          <a:xfrm>
            <a:off x="1270348" y="4159288"/>
            <a:ext cx="44881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Custos sem sinergia:  200M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Custos do time com sinergia:  160M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96"/>
          <p:cNvSpPr txBox="1"/>
          <p:nvPr>
            <p:ph type="title"/>
          </p:nvPr>
        </p:nvSpPr>
        <p:spPr>
          <a:xfrm>
            <a:off x="361187" y="356103"/>
            <a:ext cx="84216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" sz="2400">
                <a:solidFill>
                  <a:srgbClr val="C1272D"/>
                </a:solidFill>
                <a:latin typeface="Kanit"/>
                <a:ea typeface="Kanit"/>
                <a:cs typeface="Kanit"/>
                <a:sym typeface="Kanit"/>
              </a:rPr>
              <a:t>Case aplicado</a:t>
            </a:r>
            <a:endParaRPr/>
          </a:p>
        </p:txBody>
      </p:sp>
      <p:pic>
        <p:nvPicPr>
          <p:cNvPr id="777" name="Google Shape;777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802" y="1864487"/>
            <a:ext cx="2879537" cy="211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7840" y="307413"/>
            <a:ext cx="2977597" cy="671748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96"/>
          <p:cNvSpPr txBox="1"/>
          <p:nvPr/>
        </p:nvSpPr>
        <p:spPr>
          <a:xfrm>
            <a:off x="4713516" y="1170619"/>
            <a:ext cx="3998867" cy="34162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Economia nos custos</a:t>
            </a:r>
            <a:endParaRPr b="1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Custos sem sinergia:  200M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Custos do time com sinergia:  160M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Economia: 200M - 160M = 40M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Valuation</a:t>
            </a:r>
            <a:endParaRPr b="1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Adicional: 40M + 15,24M = 55,24M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Valor adicional: Adicional / Taxa de desconto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Valor adicional: 552,45M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Valuation anterior: 1,28Bi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Valuation com Sinergias: 1,28 Bi + 552,45M = 1,82Bi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Valuation final com Sinergia: 1,82Bi </a:t>
            </a:r>
            <a:endParaRPr b="0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80" name="Google Shape;780;p96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96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96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97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"/>
              <a:t>Case aplicado</a:t>
            </a:r>
            <a:endParaRPr/>
          </a:p>
        </p:txBody>
      </p:sp>
      <p:pic>
        <p:nvPicPr>
          <p:cNvPr id="788" name="Google Shape;788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300" y="956748"/>
            <a:ext cx="8262999" cy="3470471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97"/>
          <p:cNvSpPr txBox="1"/>
          <p:nvPr/>
        </p:nvSpPr>
        <p:spPr>
          <a:xfrm>
            <a:off x="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Prep4Consulting 2026.2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Finanças para cases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97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97"/>
          <p:cNvSpPr/>
          <p:nvPr/>
        </p:nvSpPr>
        <p:spPr>
          <a:xfrm>
            <a:off x="4218975" y="4825425"/>
            <a:ext cx="39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"/>
          <p:cNvSpPr/>
          <p:nvPr/>
        </p:nvSpPr>
        <p:spPr>
          <a:xfrm>
            <a:off x="-64294" y="-57150"/>
            <a:ext cx="9279732" cy="52506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"/>
          <p:cNvSpPr/>
          <p:nvPr/>
        </p:nvSpPr>
        <p:spPr>
          <a:xfrm>
            <a:off x="4689591" y="3118885"/>
            <a:ext cx="3419100" cy="122158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"/>
          <p:cNvSpPr/>
          <p:nvPr/>
        </p:nvSpPr>
        <p:spPr>
          <a:xfrm>
            <a:off x="4991147" y="1570723"/>
            <a:ext cx="6156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"/>
          <p:cNvSpPr/>
          <p:nvPr/>
        </p:nvSpPr>
        <p:spPr>
          <a:xfrm>
            <a:off x="4991147" y="2320805"/>
            <a:ext cx="6156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"/>
          <p:cNvSpPr txBox="1"/>
          <p:nvPr>
            <p:ph idx="1" type="subTitle"/>
          </p:nvPr>
        </p:nvSpPr>
        <p:spPr>
          <a:xfrm>
            <a:off x="5091888" y="1014630"/>
            <a:ext cx="3655200" cy="3612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Ficou com alguma dúvida?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801" name="Google Shape;801;p4"/>
          <p:cNvSpPr/>
          <p:nvPr/>
        </p:nvSpPr>
        <p:spPr>
          <a:xfrm>
            <a:off x="4991147" y="3777785"/>
            <a:ext cx="6156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4"/>
          <p:cNvSpPr/>
          <p:nvPr/>
        </p:nvSpPr>
        <p:spPr>
          <a:xfrm>
            <a:off x="4991147" y="3027793"/>
            <a:ext cx="6156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&#10;&#10;Descrição gerada automaticamente" id="803" name="Google Shape;8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3810" y="1685381"/>
            <a:ext cx="350273" cy="376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Descrição gerada automaticamente" id="804" name="Google Shape;80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3810" y="2441886"/>
            <a:ext cx="339823" cy="365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Descrição gerada automaticamente" id="805" name="Google Shape;80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1888" y="3112827"/>
            <a:ext cx="403666" cy="433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Descrição gerada automaticamente" id="806" name="Google Shape;80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5577" y="3896848"/>
            <a:ext cx="351424" cy="377473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4"/>
          <p:cNvSpPr txBox="1"/>
          <p:nvPr/>
        </p:nvSpPr>
        <p:spPr>
          <a:xfrm>
            <a:off x="5606746" y="1670929"/>
            <a:ext cx="3655200" cy="3612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</a:pPr>
            <a:r>
              <a:rPr b="0" i="0" lang="en" sz="1400" u="sng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equipeccu@gmail.com</a:t>
            </a:r>
            <a:endParaRPr b="0" i="0" sz="14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08" name="Google Shape;808;p4"/>
          <p:cNvSpPr txBox="1"/>
          <p:nvPr/>
        </p:nvSpPr>
        <p:spPr>
          <a:xfrm>
            <a:off x="5606745" y="2400419"/>
            <a:ext cx="3655200" cy="3612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@ccuclubedeconsultoria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09" name="Google Shape;809;p4"/>
          <p:cNvSpPr txBox="1"/>
          <p:nvPr/>
        </p:nvSpPr>
        <p:spPr>
          <a:xfrm>
            <a:off x="5606745" y="3124041"/>
            <a:ext cx="3655200" cy="3612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consultoriaunicamp.com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10" name="Google Shape;810;p4"/>
          <p:cNvSpPr txBox="1"/>
          <p:nvPr/>
        </p:nvSpPr>
        <p:spPr>
          <a:xfrm>
            <a:off x="5606745" y="3887331"/>
            <a:ext cx="3655200" cy="3612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Clube de Consultoria Universitário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811" name="Google Shape;81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5981" y="4550167"/>
            <a:ext cx="2387225" cy="29892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4"/>
          <p:cNvSpPr txBox="1"/>
          <p:nvPr>
            <p:ph type="ctrTitle"/>
          </p:nvPr>
        </p:nvSpPr>
        <p:spPr>
          <a:xfrm>
            <a:off x="307141" y="2447943"/>
            <a:ext cx="4784747" cy="139205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600">
                <a:solidFill>
                  <a:srgbClr val="C1272D"/>
                </a:solidFill>
              </a:rPr>
              <a:t>AGRADECEMOS SUA PARTICIPAÇÃO!</a:t>
            </a:r>
            <a:br>
              <a:rPr lang="en" sz="4000"/>
            </a:br>
            <a:r>
              <a:rPr b="0" lang="en" sz="2000">
                <a:solidFill>
                  <a:schemeClr val="lt2"/>
                </a:solidFill>
              </a:rPr>
              <a:t>Até o próximo módulo!</a:t>
            </a:r>
            <a:endParaRPr b="0" sz="2000">
              <a:solidFill>
                <a:schemeClr val="lt2"/>
              </a:solidFill>
            </a:endParaRPr>
          </a:p>
        </p:txBody>
      </p:sp>
      <p:sp>
        <p:nvSpPr>
          <p:cNvPr id="813" name="Google Shape;813;p4"/>
          <p:cNvSpPr txBox="1"/>
          <p:nvPr/>
        </p:nvSpPr>
        <p:spPr>
          <a:xfrm>
            <a:off x="4281900" y="4825425"/>
            <a:ext cx="486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2026 Clube de Consultoria Universitário. All rights reserved.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4" name="Google Shape;814;p4"/>
          <p:cNvPicPr preferRelativeResize="0"/>
          <p:nvPr/>
        </p:nvPicPr>
        <p:blipFill rotWithShape="1">
          <a:blip r:embed="rId9">
            <a:alphaModFix/>
          </a:blip>
          <a:srcRect b="33529" l="0" r="0" t="24866"/>
          <a:stretch/>
        </p:blipFill>
        <p:spPr>
          <a:xfrm>
            <a:off x="-64294" y="-57150"/>
            <a:ext cx="4114800" cy="213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ogistic Transport Company Profile by Slidesgo">
  <a:themeElements>
    <a:clrScheme name="Personalizada 2">
      <a:dk1>
        <a:srgbClr val="C1272D"/>
      </a:dk1>
      <a:lt1>
        <a:srgbClr val="161616"/>
      </a:lt1>
      <a:dk2>
        <a:srgbClr val="F3F3F3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Verena</dc:creator>
</cp:coreProperties>
</file>