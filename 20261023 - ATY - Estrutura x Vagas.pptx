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87" r:id="rId4"/>
  </p:sldMasterIdLst>
  <p:notesMasterIdLst>
    <p:notesMasterId r:id="rId9"/>
  </p:notesMasterIdLst>
  <p:handoutMasterIdLst>
    <p:handoutMasterId r:id="rId10"/>
  </p:handoutMasterIdLst>
  <p:sldIdLst>
    <p:sldId id="2147475257" r:id="rId5"/>
    <p:sldId id="2147475470" r:id="rId6"/>
    <p:sldId id="2147475471" r:id="rId7"/>
    <p:sldId id="2147475469" r:id="rId8"/>
  </p:sldIdLst>
  <p:sldSz cx="12192000" cy="6858000"/>
  <p:notesSz cx="6797675" cy="9928225"/>
  <p:custDataLst>
    <p:tags r:id="rId11"/>
  </p:custDataLst>
  <p:defaultTextStyle>
    <a:defPPr>
      <a:defRPr lang="en-GB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56BDAC4-B98A-4B57-A8DB-23B54F0D1082}">
          <p14:sldIdLst>
            <p14:sldId id="2147475257"/>
            <p14:sldId id="2147475470"/>
            <p14:sldId id="2147475471"/>
          </p14:sldIdLst>
        </p14:section>
        <p14:section name="Metodologia" id="{3D678D25-2541-45D6-B6BB-4B56A803BE73}">
          <p14:sldIdLst/>
        </p14:section>
        <p14:section name="Delivery" id="{8C5AC9BE-490F-4AC9-BA7A-82739033ABD7}">
          <p14:sldIdLst/>
        </p14:section>
        <p14:section name="Desconsolidação" id="{44D6E2CF-3F8E-4B51-8792-9A2049612CC8}">
          <p14:sldIdLst/>
        </p14:section>
        <p14:section name="Desconsolidação | Relevância" id="{F0F01AE5-3637-420D-B6DE-1415257202FA}">
          <p14:sldIdLst/>
        </p14:section>
        <p14:section name="Combinado" id="{E41362AF-1D6A-4543-8884-D1549D6501DA}">
          <p14:sldIdLst/>
        </p14:section>
        <p14:section name="3 charges" id="{E78628E5-7BFA-4604-9148-1E2DDA4D7B83}">
          <p14:sldIdLst/>
        </p14:section>
        <p14:section name="Fim" id="{C1DC953D-9B49-46ED-98E8-011CE27E333B}">
          <p14:sldIdLst>
            <p14:sldId id="2147475469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543BD5E-A30E-945E-9DF7-0707586BBC36}" name="Gabriel Kamimura" initials="GK" userId="S::gkamimura@atyconsulting.com::8625c588-77d7-415d-b427-540cae773a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EBE"/>
    <a:srgbClr val="008887"/>
    <a:srgbClr val="2DC1BF"/>
    <a:srgbClr val="58BABA"/>
    <a:srgbClr val="F5EBF9"/>
    <a:srgbClr val="E8D3F1"/>
    <a:srgbClr val="DADADA"/>
    <a:srgbClr val="009796"/>
    <a:srgbClr val="6B2D6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2EF2EF-A580-BB62-1BAE-F06225036B72}" v="17" dt="2026-10-23T21:35:42.4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Estilo Médio 3 - 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tags" Target="tags/tag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_7FFFE00E_0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_7FFFE00E_0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_7FFFE00F_0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_7FFFE00F_0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Diretos</c:v>
                </c:pt>
              </c:strCache>
            </c:strRef>
          </c:tx>
          <c:spPr>
            <a:solidFill>
              <a:srgbClr val="6B2D6B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Talent</c:v>
                </c:pt>
                <c:pt idx="4">
                  <c:v>CCO</c:v>
                </c:pt>
                <c:pt idx="5">
                  <c:v>Services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2</c:v>
                </c:pt>
                <c:pt idx="2">
                  <c:v>7</c:v>
                </c:pt>
                <c:pt idx="3">
                  <c:v>6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15D-444F-A5E7-9FC24C82F34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Indiretos</c:v>
                </c:pt>
              </c:strCache>
            </c:strRef>
          </c:tx>
          <c:spPr>
            <a:solidFill>
              <a:srgbClr val="66C1C0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COO</c:v>
                </c:pt>
                <c:pt idx="1">
                  <c:v>CITO</c:v>
                </c:pt>
                <c:pt idx="2">
                  <c:v>CFSO</c:v>
                </c:pt>
                <c:pt idx="3">
                  <c:v>Talent</c:v>
                </c:pt>
                <c:pt idx="4">
                  <c:v>CCO</c:v>
                </c:pt>
                <c:pt idx="5">
                  <c:v>Services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191</c:v>
                </c:pt>
                <c:pt idx="1">
                  <c:v>45</c:v>
                </c:pt>
                <c:pt idx="2">
                  <c:v>26</c:v>
                </c:pt>
                <c:pt idx="3">
                  <c:v>17</c:v>
                </c:pt>
                <c:pt idx="4">
                  <c:v>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15D-444F-A5E7-9FC24C82F34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5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Na planilha</c:v>
                </c:pt>
              </c:strCache>
            </c:strRef>
          </c:tx>
          <c:spPr>
            <a:solidFill>
              <a:srgbClr val="6B2D6B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Air Operations</c:v>
                </c:pt>
                <c:pt idx="1">
                  <c:v>Air Product</c:v>
                </c:pt>
                <c:pt idx="2">
                  <c:v>Talent Mgmt</c:v>
                </c:pt>
                <c:pt idx="3">
                  <c:v>Healthcare</c:v>
                </c:pt>
                <c:pt idx="4">
                  <c:v>Financial</c:v>
                </c:pt>
                <c:pt idx="5">
                  <c:v>Ocean Operations</c:v>
                </c:pt>
                <c:pt idx="6">
                  <c:v>Technology</c:v>
                </c:pt>
                <c:pt idx="7">
                  <c:v>Ocean Product</c:v>
                </c:pt>
                <c:pt idx="8">
                  <c:v>High Tech (TL)</c:v>
                </c:pt>
                <c:pt idx="9">
                  <c:v>Outros 3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</c:v>
                </c:pt>
                <c:pt idx="1">
                  <c:v>7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2</c:v>
                </c:pt>
                <c:pt idx="9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4DB0-4A9A-8736-7DA5879002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Só no draft</c:v>
                </c:pt>
              </c:strCache>
            </c:strRef>
          </c:tx>
          <c:spPr>
            <a:solidFill>
              <a:srgbClr val="F4A261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Air Operations</c:v>
                </c:pt>
                <c:pt idx="1">
                  <c:v>Air Product</c:v>
                </c:pt>
                <c:pt idx="2">
                  <c:v>Talent Mgmt</c:v>
                </c:pt>
                <c:pt idx="3">
                  <c:v>Healthcare</c:v>
                </c:pt>
                <c:pt idx="4">
                  <c:v>Financial</c:v>
                </c:pt>
                <c:pt idx="5">
                  <c:v>Ocean Operations</c:v>
                </c:pt>
                <c:pt idx="6">
                  <c:v>Technology</c:v>
                </c:pt>
                <c:pt idx="7">
                  <c:v>Ocean Product</c:v>
                </c:pt>
                <c:pt idx="8">
                  <c:v>High Tech (TL)</c:v>
                </c:pt>
                <c:pt idx="9">
                  <c:v>Outros 3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8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4DB0-4A9A-8736-7DA5879002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850"/>
            </a:pPr>
            <a:endParaRPr lang="en-US"/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85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Diretos</c:v>
                </c:pt>
              </c:strCache>
            </c:strRef>
          </c:tx>
          <c:spPr>
            <a:solidFill>
              <a:srgbClr val="6B2D6B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Carol Mendoza (head)</c:v>
                </c:pt>
                <c:pt idx="1">
                  <c:v>Daniela Bueno (lead coord.)</c:v>
                </c:pt>
                <c:pt idx="2">
                  <c:v>Thais Cosenza (Sr. TL CC)</c:v>
                </c:pt>
                <c:pt idx="3">
                  <c:v>Pamela Ibarra (TL)</c:v>
                </c:pt>
                <c:pt idx="4">
                  <c:v>Gabriella Pereira (TL)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12</c:v>
                </c:pt>
                <c:pt idx="4">
                  <c:v>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7D7-445C-8899-73759AF0F55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Indiretos</c:v>
                </c:pt>
              </c:strCache>
            </c:strRef>
          </c:tx>
          <c:spPr>
            <a:solidFill>
              <a:srgbClr val="66C1C0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Carol Mendoza (head)</c:v>
                </c:pt>
                <c:pt idx="1">
                  <c:v>Daniela Bueno (lead coord.)</c:v>
                </c:pt>
                <c:pt idx="2">
                  <c:v>Thais Cosenza (Sr. TL CC)</c:v>
                </c:pt>
                <c:pt idx="3">
                  <c:v>Pamela Ibarra (TL)</c:v>
                </c:pt>
                <c:pt idx="4">
                  <c:v>Gabriella Pereira (TL)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</c:v>
                </c:pt>
                <c:pt idx="1">
                  <c:v>43</c:v>
                </c:pt>
                <c:pt idx="2">
                  <c:v>23</c:v>
                </c:pt>
                <c:pt idx="3">
                  <c:v>9</c:v>
                </c:pt>
                <c:pt idx="4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7D7-445C-8899-73759AF0F55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50"/>
            </a:pPr>
            <a:endParaRPr lang="en-US"/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95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Publicadas no Gupy</c:v>
                </c:pt>
              </c:strCache>
            </c:strRef>
          </c:tx>
          <c:spPr>
            <a:solidFill>
              <a:srgbClr val="00979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EUA</c:v>
                </c:pt>
                <c:pt idx="1">
                  <c:v>Europa</c:v>
                </c:pt>
                <c:pt idx="2">
                  <c:v>Brasil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2">
                  <c:v>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938-4E81-BF19-71A44794307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Ainda a abrir</c:v>
                </c:pt>
              </c:strCache>
            </c:strRef>
          </c:tx>
          <c:spPr>
            <a:solidFill>
              <a:srgbClr val="6B2D6B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EUA</c:v>
                </c:pt>
                <c:pt idx="1">
                  <c:v>Europa</c:v>
                </c:pt>
                <c:pt idx="2">
                  <c:v>Brasil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938-4E81-BF19-71A44794307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5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2626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 descr="25%"/>
          <p:cNvSpPr>
            <a:spLocks noGrp="1" noChangeArrowheads="1"/>
          </p:cNvSpPr>
          <p:nvPr>
            <p:ph type="hdr" sz="quarter"/>
          </p:nvPr>
        </p:nvSpPr>
        <p:spPr bwMode="gray">
          <a:xfrm>
            <a:off x="2" y="0"/>
            <a:ext cx="131056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t" anchorCtr="0" compatLnSpc="1">
            <a:prstTxWarp prst="textNoShape">
              <a:avLst/>
            </a:prstTxWarp>
            <a:spAutoFit/>
          </a:bodyPr>
          <a:lstStyle>
            <a:lvl1pPr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6019" name="Rectangle 3" descr="25%"/>
          <p:cNvSpPr>
            <a:spLocks noGrp="1" noChangeArrowheads="1"/>
          </p:cNvSpPr>
          <p:nvPr>
            <p:ph type="dt" sz="quarter" idx="1"/>
          </p:nvPr>
        </p:nvSpPr>
        <p:spPr bwMode="gray">
          <a:xfrm>
            <a:off x="5900091" y="0"/>
            <a:ext cx="897585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t" anchorCtr="0" compatLnSpc="1">
            <a:prstTxWarp prst="textNoShape">
              <a:avLst/>
            </a:prstTxWarp>
            <a:spAutoFit/>
          </a:bodyPr>
          <a:lstStyle>
            <a:lvl1pPr algn="r"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fld id="{EB9C613B-C2AC-4B93-9209-758731061898}" type="datetime1">
              <a:rPr lang="en-GB"/>
              <a:pPr>
                <a:defRPr/>
              </a:pPr>
              <a:t>26/10/2026</a:t>
            </a:fld>
            <a:endParaRPr lang="en-GB"/>
          </a:p>
        </p:txBody>
      </p:sp>
      <p:sp>
        <p:nvSpPr>
          <p:cNvPr id="86020" name="Rectangle 4" descr="25%"/>
          <p:cNvSpPr>
            <a:spLocks noGrp="1" noChangeArrowheads="1"/>
          </p:cNvSpPr>
          <p:nvPr>
            <p:ph type="ftr" sz="quarter" idx="2"/>
          </p:nvPr>
        </p:nvSpPr>
        <p:spPr bwMode="gray">
          <a:xfrm>
            <a:off x="2" y="9611922"/>
            <a:ext cx="131056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b" anchorCtr="0" compatLnSpc="1">
            <a:prstTxWarp prst="textNoShape">
              <a:avLst/>
            </a:prstTxWarp>
            <a:spAutoFit/>
          </a:bodyPr>
          <a:lstStyle>
            <a:lvl1pPr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6021" name="Rectangle 5" descr="25%"/>
          <p:cNvSpPr>
            <a:spLocks noGrp="1" noChangeArrowheads="1"/>
          </p:cNvSpPr>
          <p:nvPr>
            <p:ph type="sldNum" sz="quarter" idx="3"/>
          </p:nvPr>
        </p:nvSpPr>
        <p:spPr bwMode="gray">
          <a:xfrm>
            <a:off x="6367232" y="9611922"/>
            <a:ext cx="430444" cy="31630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vert="horz" wrap="none" lIns="64929" tIns="64929" rIns="64929" bIns="64929" numCol="1" anchor="b" anchorCtr="0" compatLnSpc="1">
            <a:prstTxWarp prst="textNoShape">
              <a:avLst/>
            </a:prstTxWarp>
            <a:spAutoFit/>
          </a:bodyPr>
          <a:lstStyle>
            <a:lvl1pPr algn="r" defTabSz="917934" eaLnBrk="0" hangingPunct="0">
              <a:spcBef>
                <a:spcPct val="0"/>
              </a:spcBef>
              <a:defRPr sz="1200">
                <a:latin typeface="Arial" charset="0"/>
              </a:defRPr>
            </a:lvl1pPr>
          </a:lstStyle>
          <a:p>
            <a:pPr>
              <a:defRPr/>
            </a:pPr>
            <a:fld id="{CC44CF48-7BC2-449C-AB04-0420DAB04CA8}" type="slidenum">
              <a:rPr lang="en-GB"/>
              <a:pPr>
                <a:defRPr/>
              </a:pPr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5031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46275" cy="49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>
            <a:lvl1pPr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400" y="1"/>
            <a:ext cx="2946275" cy="49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>
            <a:lvl1pPr algn="r"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26/10/2026</a:t>
            </a:fld>
            <a:endParaRPr lang="pt-BR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8" y="744538"/>
            <a:ext cx="6615112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127" y="4714994"/>
            <a:ext cx="4987424" cy="44681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Click to edit Master text styles</a:t>
            </a:r>
          </a:p>
          <a:p>
            <a:pPr lvl="1"/>
            <a:r>
              <a:rPr lang="pt-BR" noProof="0"/>
              <a:t>Second level</a:t>
            </a:r>
          </a:p>
          <a:p>
            <a:pPr lvl="2"/>
            <a:r>
              <a:rPr lang="pt-BR" noProof="0"/>
              <a:t>Third level</a:t>
            </a:r>
          </a:p>
          <a:p>
            <a:pPr lvl="3"/>
            <a:r>
              <a:rPr lang="pt-BR" noProof="0"/>
              <a:t>Fourth level</a:t>
            </a:r>
          </a:p>
          <a:p>
            <a:pPr lvl="4"/>
            <a:r>
              <a:rPr lang="pt-BR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32273"/>
            <a:ext cx="2946275" cy="49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b" anchorCtr="0" compatLnSpc="1">
            <a:prstTxWarp prst="textNoShape">
              <a:avLst/>
            </a:prstTxWarp>
          </a:bodyPr>
          <a:lstStyle>
            <a:lvl1pPr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400" y="9432273"/>
            <a:ext cx="2946275" cy="4959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20" tIns="45809" rIns="91620" bIns="45809" numCol="1" anchor="b" anchorCtr="0" compatLnSpc="1">
            <a:prstTxWarp prst="textNoShape">
              <a:avLst/>
            </a:prstTxWarp>
          </a:bodyPr>
          <a:lstStyle>
            <a:lvl1pPr algn="r" defTabSz="917934" rtl="0" eaLnBrk="0" hangingPunct="0">
              <a:spcBef>
                <a:spcPct val="0"/>
              </a:spcBef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86457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26/10/2026</a:t>
            </a:fld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18705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EAA92-E479-E154-8AC9-07FBE4149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B1B637-A73C-1828-488E-54A0361CC0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94C36-26A0-219E-A1C9-2C31C11A17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90C1-5311-D3BD-83EE-E2831A7E37E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6E814E2-8041-4BCD-9784-6C581B3F7FF4}" type="datetime1">
              <a:rPr lang="pt-BR" smtClean="0"/>
              <a:pPr>
                <a:defRPr/>
              </a:pPr>
              <a:t>26/10/2026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1D4632-F963-ADA1-EF15-F5DCB36F17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F8E852-EE93-444B-A572-6051D872401A}" type="slidenum">
              <a:rPr lang="pt-BR" smtClean="0"/>
              <a:pPr>
                <a:defRPr/>
              </a:pPr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52067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Relationship Id="rId5" Type="http://schemas.openxmlformats.org/officeDocument/2006/relationships/image" Target="../media/image3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Relationship Id="rId5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l_Analy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C72729-FD87-43C9-82B8-31DE1029236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3349587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C72729-FD87-43C9-82B8-31DE102923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6ABA536-E507-40AA-B558-18C31ECA5B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22" y="587229"/>
            <a:ext cx="11519999" cy="543487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pt-BR" noProof="0"/>
              <a:t>Clique para editar o título Mestre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403BD98-54B5-45B0-579D-DB6719DB8A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1321" y="333130"/>
            <a:ext cx="11519999" cy="184666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>
                <a:solidFill>
                  <a:srgbClr val="63277F"/>
                </a:solidFill>
              </a:defRPr>
            </a:lvl1pPr>
          </a:lstStyle>
          <a:p>
            <a:pPr lvl="0"/>
            <a:r>
              <a:rPr lang="pt-BR" noProof="0">
                <a:solidFill>
                  <a:srgbClr val="63277F"/>
                </a:solidFill>
              </a:rPr>
              <a:t>Clique para editar os estilos de texto Mestres</a:t>
            </a:r>
          </a:p>
        </p:txBody>
      </p:sp>
      <p:sp>
        <p:nvSpPr>
          <p:cNvPr id="22" name="Espaço Reservado para Texto 21">
            <a:extLst>
              <a:ext uri="{FF2B5EF4-FFF2-40B4-BE49-F238E27FC236}">
                <a16:creationId xmlns:a16="http://schemas.microsoft.com/office/drawing/2014/main" id="{E99BB7AD-16A0-9F36-2260-DEE43D4C92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1323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23" name="Espaço Reservado para Texto 21">
            <a:extLst>
              <a:ext uri="{FF2B5EF4-FFF2-40B4-BE49-F238E27FC236}">
                <a16:creationId xmlns:a16="http://schemas.microsoft.com/office/drawing/2014/main" id="{A221802B-CB4D-84DD-14E6-1007D78849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8081" y="1200150"/>
            <a:ext cx="5683240" cy="184665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l" defTabSz="914446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9796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pt-BR" noProof="0">
                <a:solidFill>
                  <a:srgbClr val="808080"/>
                </a:solidFill>
              </a:rPr>
              <a:t>Clique para editar os estilos de texto Mestres</a:t>
            </a:r>
          </a:p>
        </p:txBody>
      </p:sp>
      <p:sp>
        <p:nvSpPr>
          <p:cNvPr id="34" name="Espaço Reservado para Texto 30">
            <a:extLst>
              <a:ext uri="{FF2B5EF4-FFF2-40B4-BE49-F238E27FC236}">
                <a16:creationId xmlns:a16="http://schemas.microsoft.com/office/drawing/2014/main" id="{ED1E9F58-F504-11A1-E312-FD07F2CDEB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999" y="6425182"/>
            <a:ext cx="5688564" cy="92334"/>
          </a:xfrm>
          <a:prstGeom prst="rect">
            <a:avLst/>
          </a:prstGeom>
        </p:spPr>
        <p:txBody>
          <a:bodyPr lIns="0" tIns="0" rIns="0" bIns="0"/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35" name="Espaço Reservado para Conteúdo 32">
            <a:extLst>
              <a:ext uri="{FF2B5EF4-FFF2-40B4-BE49-F238E27FC236}">
                <a16:creationId xmlns:a16="http://schemas.microsoft.com/office/drawing/2014/main" id="{DFC69DB4-86B3-D581-B273-C261981F904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5999" y="6294584"/>
            <a:ext cx="5688564" cy="92333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marL="0" indent="0" rtl="0">
              <a:buNone/>
              <a:defRPr sz="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pt-BR" noProof="0"/>
              <a:t>Clique para editar os estilos de texto Mestres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994DECD7-0FD8-ADD8-0259-DE86DFAD242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388805" y="6411964"/>
            <a:ext cx="774251" cy="9233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rtl="0" eaLnBrk="0" hangingPunct="0">
              <a:spcBef>
                <a:spcPct val="50000"/>
              </a:spcBef>
              <a:defRPr sz="600">
                <a:latin typeface="+mn-lt"/>
              </a:defRPr>
            </a:lvl1pPr>
          </a:lstStyle>
          <a:p>
            <a:pPr>
              <a:defRPr/>
            </a:pPr>
            <a:r>
              <a:rPr lang="pt-BR"/>
              <a:t>Template_Widescreen</a:t>
            </a:r>
          </a:p>
        </p:txBody>
      </p:sp>
      <p:pic>
        <p:nvPicPr>
          <p:cNvPr id="5" name="Imagem 4" descr="DMS Logistics | LinkedIn">
            <a:extLst>
              <a:ext uri="{FF2B5EF4-FFF2-40B4-BE49-F238E27FC236}">
                <a16:creationId xmlns:a16="http://schemas.microsoft.com/office/drawing/2014/main" id="{A59467C9-35D5-753B-69C9-D9268523A05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1615" t="27132" r="11403" b="24868"/>
          <a:stretch>
            <a:fillRect/>
          </a:stretch>
        </p:blipFill>
        <p:spPr>
          <a:xfrm>
            <a:off x="310121" y="6565935"/>
            <a:ext cx="422694" cy="2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635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DE53C"/>
          </p15:clr>
        </p15:guide>
        <p15:guide id="2" pos="3795">
          <p15:clr>
            <a:srgbClr val="A4A3A4"/>
          </p15:clr>
        </p15:guide>
        <p15:guide id="3" pos="3885">
          <p15:clr>
            <a:srgbClr val="A4A3A4"/>
          </p15:clr>
        </p15:guide>
        <p15:guide id="4" pos="211">
          <p15:clr>
            <a:srgbClr val="A4A3A4"/>
          </p15:clr>
        </p15:guide>
        <p15:guide id="5" pos="166">
          <p15:clr>
            <a:srgbClr val="FDE53C"/>
          </p15:clr>
        </p15:guide>
        <p15:guide id="6" pos="7469" userDrawn="1">
          <p15:clr>
            <a:srgbClr val="A4A3A4"/>
          </p15:clr>
        </p15:guide>
        <p15:guide id="7" pos="7514">
          <p15:clr>
            <a:srgbClr val="FDE53C"/>
          </p15:clr>
        </p15:guide>
        <p15:guide id="8" orient="horz" pos="1026">
          <p15:clr>
            <a:srgbClr val="FDE53C"/>
          </p15:clr>
        </p15:guide>
        <p15:guide id="9" orient="horz" pos="1071">
          <p15:clr>
            <a:srgbClr val="A4A3A4"/>
          </p15:clr>
        </p15:guide>
        <p15:guide id="10" orient="horz" pos="3906">
          <p15:clr>
            <a:srgbClr val="FDE53C"/>
          </p15:clr>
        </p15:guide>
        <p15:guide id="11" orient="horz" pos="3861">
          <p15:clr>
            <a:srgbClr val="A4A3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6FA5C-3B60-E820-0097-32643AE0CB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E8847BD-ED7F-14E4-F133-53E74BB833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5D48BC6-834B-353E-A2AE-4764BA127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99A45-0693-4E08-8AE4-0362204955FE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7B710CE-25D3-42E2-477B-A3293F5C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DF0DCF-A51F-DD3B-8315-216028D6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306FA-AAEB-4883-ABC4-766D94449B7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487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4E2AFA85-CD3B-4A60-90C6-683E330E63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76845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8" progId="TCLayout.ActiveDocument.1">
                  <p:embed/>
                </p:oleObj>
              </mc:Choice>
              <mc:Fallback>
                <p:oleObj name="think-cell Slide" r:id="rId3" imgW="409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2AFA85-CD3B-4A60-90C6-683E330E63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Imagem 3" descr="Forma&#10;&#10;Descrição gerada automaticamente com confiança baixa">
            <a:extLst>
              <a:ext uri="{FF2B5EF4-FFF2-40B4-BE49-F238E27FC236}">
                <a16:creationId xmlns:a16="http://schemas.microsoft.com/office/drawing/2014/main" id="{386D1CD6-AAC4-42BD-A7FC-DEA23142713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90D9455-E3D5-1C00-860A-D30ACA99A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C739437-95D8-4953-D574-E4C307DF5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CaixaDeTexto 12">
            <a:extLst>
              <a:ext uri="{FF2B5EF4-FFF2-40B4-BE49-F238E27FC236}">
                <a16:creationId xmlns:a16="http://schemas.microsoft.com/office/drawing/2014/main" id="{ACCBF48C-2F61-D370-1C40-4A1A301325ED}"/>
              </a:ext>
            </a:extLst>
          </p:cNvPr>
          <p:cNvSpPr txBox="1"/>
          <p:nvPr userDrawn="1"/>
        </p:nvSpPr>
        <p:spPr>
          <a:xfrm>
            <a:off x="344905" y="371979"/>
            <a:ext cx="48527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1">
                <a:solidFill>
                  <a:schemeClr val="accent4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9782093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tags" Target="../tags/tag2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2062413173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le Placeholder 1"/>
          <p:cNvSpPr>
            <a:spLocks noGrp="1"/>
          </p:cNvSpPr>
          <p:nvPr>
            <p:ph type="title"/>
          </p:nvPr>
        </p:nvSpPr>
        <p:spPr>
          <a:xfrm>
            <a:off x="341322" y="587229"/>
            <a:ext cx="11519999" cy="5434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</a:t>
            </a:r>
            <a:r>
              <a:rPr lang="pt-BR" noProof="0" err="1"/>
              <a:t>title</a:t>
            </a:r>
            <a:endParaRPr lang="pt-BR" noProof="0"/>
          </a:p>
        </p:txBody>
      </p:sp>
      <p:sp>
        <p:nvSpPr>
          <p:cNvPr id="17" name="Rectangle 4"/>
          <p:cNvSpPr>
            <a:spLocks noChangeArrowheads="1"/>
          </p:cNvSpPr>
          <p:nvPr userDrawn="1"/>
        </p:nvSpPr>
        <p:spPr bwMode="gray">
          <a:xfrm>
            <a:off x="11708490" y="6583842"/>
            <a:ext cx="142668" cy="1077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pPr lvl="0" algn="r" rtl="0"/>
            <a:fld id="{BD9E6411-2CB3-495D-B4E9-78602717BE5F}" type="slidenum">
              <a:rPr lang="pt-BR" sz="700" noProof="0" smtClean="0">
                <a:solidFill>
                  <a:srgbClr val="808080"/>
                </a:solidFill>
                <a:latin typeface="Arial"/>
                <a:cs typeface="Arial"/>
              </a:rPr>
              <a:pPr lvl="0" algn="r" rtl="0"/>
              <a:t>‹nº›</a:t>
            </a:fld>
            <a:endParaRPr lang="pt-BR" sz="700" noProof="0">
              <a:solidFill>
                <a:srgbClr val="808080"/>
              </a:solidFill>
              <a:latin typeface="Arial"/>
              <a:cs typeface="Arial"/>
            </a:endParaRPr>
          </a:p>
        </p:txBody>
      </p:sp>
      <p:grpSp>
        <p:nvGrpSpPr>
          <p:cNvPr id="19" name="OCC-Grid" hidden="1"/>
          <p:cNvGrpSpPr>
            <a:grpSpLocks/>
          </p:cNvGrpSpPr>
          <p:nvPr userDrawn="1"/>
        </p:nvGrpSpPr>
        <p:grpSpPr bwMode="auto">
          <a:xfrm>
            <a:off x="443078" y="1231"/>
            <a:ext cx="12319001" cy="6064256"/>
            <a:chOff x="258" y="165"/>
            <a:chExt cx="6305" cy="3820"/>
          </a:xfrm>
        </p:grpSpPr>
        <p:sp>
          <p:nvSpPr>
            <p:cNvPr id="20" name="Rectangle 46" hidden="1"/>
            <p:cNvSpPr>
              <a:spLocks noChangeArrowheads="1"/>
            </p:cNvSpPr>
            <p:nvPr/>
          </p:nvSpPr>
          <p:spPr bwMode="auto">
            <a:xfrm>
              <a:off x="6345" y="165"/>
              <a:ext cx="218" cy="15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2"/>
              </a:solidFill>
              <a:miter lim="800000"/>
              <a:headEnd/>
              <a:tailEnd/>
            </a:ln>
            <a:effectLst/>
          </p:spPr>
          <p:txBody>
            <a:bodyPr wrap="none" lIns="36000" tIns="36000" rIns="36000" bIns="36000" anchor="ctr"/>
            <a:lstStyle/>
            <a:p>
              <a:pPr rtl="0" eaLnBrk="1">
                <a:defRPr/>
              </a:pPr>
              <a:endParaRPr lang="pt-BR" sz="1000"/>
            </a:p>
          </p:txBody>
        </p:sp>
        <p:sp>
          <p:nvSpPr>
            <p:cNvPr id="21" name="Rectangle 47" hidden="1"/>
            <p:cNvSpPr>
              <a:spLocks noChangeArrowheads="1"/>
            </p:cNvSpPr>
            <p:nvPr/>
          </p:nvSpPr>
          <p:spPr bwMode="auto">
            <a:xfrm>
              <a:off x="258" y="1094"/>
              <a:ext cx="5896" cy="2891"/>
            </a:xfrm>
            <a:prstGeom prst="rect">
              <a:avLst/>
            </a:prstGeom>
            <a:noFill/>
            <a:ln w="9525">
              <a:solidFill>
                <a:schemeClr val="tx2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rtl="0" eaLnBrk="1">
                <a:defRPr/>
              </a:pPr>
              <a:endParaRPr lang="pt-BR" sz="1000"/>
            </a:p>
          </p:txBody>
        </p:sp>
      </p:grpSp>
      <p:cxnSp>
        <p:nvCxnSpPr>
          <p:cNvPr id="6" name="Gerader Verbinder 5"/>
          <p:cNvCxnSpPr>
            <a:cxnSpLocks/>
          </p:cNvCxnSpPr>
          <p:nvPr userDrawn="1"/>
        </p:nvCxnSpPr>
        <p:spPr>
          <a:xfrm>
            <a:off x="341322" y="218114"/>
            <a:ext cx="11509356" cy="0"/>
          </a:xfrm>
          <a:prstGeom prst="line">
            <a:avLst/>
          </a:prstGeom>
          <a:ln w="9525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/>
          <p:cNvCxnSpPr>
            <a:cxnSpLocks/>
          </p:cNvCxnSpPr>
          <p:nvPr userDrawn="1"/>
        </p:nvCxnSpPr>
        <p:spPr>
          <a:xfrm>
            <a:off x="336000" y="6535024"/>
            <a:ext cx="11520000" cy="0"/>
          </a:xfrm>
          <a:prstGeom prst="line">
            <a:avLst/>
          </a:prstGeom>
          <a:ln w="9525">
            <a:solidFill>
              <a:schemeClr val="accent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ource"/>
          <p:cNvSpPr/>
          <p:nvPr userDrawn="1"/>
        </p:nvSpPr>
        <p:spPr>
          <a:xfrm>
            <a:off x="11633695" y="6420934"/>
            <a:ext cx="227626" cy="92333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gradFill flip="none" rotWithShape="1">
                  <a:gsLst>
                    <a:gs pos="0">
                      <a:srgbClr val="000000"/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  <a:tileRect/>
                </a:gra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rtl="0"/>
            <a:endParaRPr/>
          </a:p>
        </p:txBody>
      </p:sp>
    </p:spTree>
    <p:extLst>
      <p:ext uri="{BB962C8B-B14F-4D97-AF65-F5344CB8AC3E}">
        <p14:creationId xmlns:p14="http://schemas.microsoft.com/office/powerpoint/2010/main" val="711977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8" r:id="rId1"/>
    <p:sldLayoutId id="2147483819" r:id="rId2"/>
    <p:sldLayoutId id="2147483820" r:id="rId3"/>
  </p:sldLayoutIdLst>
  <p:hf sldNum="0" hdr="0" dt="0"/>
  <p:txStyles>
    <p:titleStyle>
      <a:lvl1pPr algn="l" defTabSz="457224" rtl="0" eaLnBrk="1" latinLnBrk="0" hangingPunct="1">
        <a:lnSpc>
          <a:spcPct val="90000"/>
        </a:lnSpc>
        <a:spcBef>
          <a:spcPct val="0"/>
        </a:spcBef>
        <a:buNone/>
        <a:defRPr sz="2000" b="1" i="0" kern="1200" baseline="0">
          <a:solidFill>
            <a:schemeClr val="tx1"/>
          </a:solidFill>
          <a:latin typeface="Arial"/>
          <a:ea typeface="+mj-ea"/>
          <a:cs typeface="Arial"/>
        </a:defRPr>
      </a:lvl1pPr>
    </p:titleStyle>
    <p:bodyStyle>
      <a:lvl1pPr marL="0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anose="05020102010507070707" pitchFamily="18" charset="2"/>
        <a:buChar char=""/>
        <a:tabLst/>
        <a:defRPr lang="nl-NL" sz="14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177808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Arial" charset="0"/>
        <a:buChar char="–"/>
        <a:tabLst/>
        <a:defRPr lang="nl-NL" sz="14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63556" marR="0" indent="177808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>
          <a:srgbClr val="009796"/>
        </a:buClr>
        <a:buSzTx/>
        <a:buFont typeface="Wingdings 2" pitchFamily="18" charset="2"/>
        <a:buChar char=""/>
        <a:tabLst/>
        <a:defRPr lang="nl-NL" sz="1400" kern="1200" dirty="0" smtClean="0">
          <a:solidFill>
            <a:schemeClr val="tx1"/>
          </a:solidFill>
          <a:latin typeface="+mn-lt"/>
          <a:ea typeface="+mn-ea"/>
          <a:cs typeface="Arial"/>
        </a:defRPr>
      </a:lvl3pPr>
      <a:lvl4pPr marL="0" marR="0" indent="-171459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Wingdings" pitchFamily="2" charset="2"/>
        <a:buChar char="w"/>
        <a:tabLst/>
        <a:defRPr lang="nl-NL" sz="1400" kern="1200" dirty="0">
          <a:solidFill>
            <a:schemeClr val="tx1"/>
          </a:solidFill>
          <a:latin typeface="+mn-lt"/>
          <a:ea typeface="+mn-ea"/>
          <a:cs typeface="Arial"/>
        </a:defRPr>
      </a:lvl4pPr>
      <a:lvl5pPr marL="0" marR="0" indent="-185746" algn="l" defTabSz="914446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Arial" charset="0"/>
        <a:buChar char="○"/>
        <a:tabLst/>
        <a:defRPr lang="nl-NL" sz="1400" kern="1200" dirty="0">
          <a:solidFill>
            <a:schemeClr val="tx1"/>
          </a:solidFill>
          <a:latin typeface="+mn-lt"/>
          <a:ea typeface="+mn-ea"/>
          <a:cs typeface="Arial"/>
        </a:defRPr>
      </a:lvl5pPr>
      <a:lvl6pPr marL="2514726" marR="0" indent="-228612" algn="l" defTabSz="457224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Tx/>
        <a:buFont typeface="Arial"/>
        <a:buChar char="•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2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2" algn="l" defTabSz="45722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4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8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2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2" algn="l" defTabSz="45722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.xml"/><Relationship Id="rId12" Type="http://schemas.openxmlformats.org/officeDocument/2006/relationships/oleObject" Target="../embeddings/oleObject4.bin"/><Relationship Id="rId13" Type="http://schemas.openxmlformats.org/officeDocument/2006/relationships/image" Target="../media/image6.emf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tags" Target="../tags/tag18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Relationship Id="rId10" Type="http://schemas.openxmlformats.org/officeDocument/2006/relationships/image" Target="../media/image7.png"/><Relationship Id="rId11" Type="http://schemas.openxmlformats.org/officeDocument/2006/relationships/image" Target="../media/image8.png"/><Relationship Id="rId1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143A159C-63E7-30DD-64D6-0CED822CD31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21" imgH="423" progId="TCLayout.ActiveDocument.1">
                  <p:embed/>
                </p:oleObj>
              </mc:Choice>
              <mc:Fallback>
                <p:oleObj name="think-cell Slide" r:id="rId12" imgW="421" imgH="423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143A159C-63E7-30DD-64D6-0CED822CD3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Imagem 13" descr="Padrão do plano de fundo&#10;&#10;Descrição gerada automaticamente">
            <a:extLst>
              <a:ext uri="{FF2B5EF4-FFF2-40B4-BE49-F238E27FC236}">
                <a16:creationId xmlns:a16="http://schemas.microsoft.com/office/drawing/2014/main" id="{89F41087-4073-577E-F290-6A788287E16C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aixaDeTexto 11">
            <a:extLst>
              <a:ext uri="{FF2B5EF4-FFF2-40B4-BE49-F238E27FC236}">
                <a16:creationId xmlns:a16="http://schemas.microsoft.com/office/drawing/2014/main" id="{E029C937-7021-5B1F-825C-CDAB217DBB8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428263" y="3699455"/>
            <a:ext cx="1634422" cy="276999"/>
          </a:xfrm>
          <a:prstGeom prst="rect">
            <a:avLst/>
          </a:prstGeom>
          <a:noFill/>
        </p:spPr>
        <p:txBody>
          <a:bodyPr wrap="none" lIns="0" tIns="45720" rIns="91440" bIns="45720" rtlCol="0" anchor="t">
            <a:spAutoFit/>
          </a:bodyPr>
          <a:lstStyle/>
          <a:p>
            <a:pPr algn="l"/>
            <a:r>
              <a:rPr lang="pt-BR" sz="1200">
                <a:solidFill>
                  <a:srgbClr val="FFFFFF"/>
                </a:solidFill>
                <a:latin typeface="Arial"/>
                <a:cs typeface="Arial"/>
              </a:rPr>
              <a:t>23 de outubro de 2026</a:t>
            </a:r>
          </a:p>
        </p:txBody>
      </p:sp>
      <p:sp>
        <p:nvSpPr>
          <p:cNvPr id="9" name="Título 3">
            <a:extLst>
              <a:ext uri="{FF2B5EF4-FFF2-40B4-BE49-F238E27FC236}">
                <a16:creationId xmlns:a16="http://schemas.microsoft.com/office/drawing/2014/main" id="{53819B30-2220-92E2-A29C-D0F965AF447B}"/>
              </a:ext>
            </a:extLst>
          </p:cNvPr>
          <p:cNvSpPr>
            <a:spLocks noGrp="1"/>
          </p:cNvSpPr>
          <p:nvPr>
            <p:ph type="ctrTitle"/>
            <p:custDataLst>
              <p:tags r:id="rId4"/>
            </p:custDataLst>
          </p:nvPr>
        </p:nvSpPr>
        <p:spPr>
          <a:xfrm>
            <a:off x="428263" y="2150392"/>
            <a:ext cx="5899385" cy="891608"/>
          </a:xfrm>
        </p:spPr>
        <p:txBody>
          <a:bodyPr vert="horz" lIns="0" anchor="ctr"/>
          <a:lstStyle/>
          <a:p>
            <a:pPr algn="l" fontAlgn="auto">
              <a:spcAft>
                <a:spcPts val="600"/>
              </a:spcAft>
            </a:pPr>
            <a:r>
              <a:rPr lang="pt-BR" sz="3600">
                <a:solidFill>
                  <a:srgbClr val="FFFFFF"/>
                </a:solidFill>
              </a:rPr>
              <a:t>Estrutura × Vagas</a:t>
            </a:r>
            <a:endParaRPr lang="pt-BR" sz="2000" b="0" i="1">
              <a:solidFill>
                <a:schemeClr val="bg1"/>
              </a:solidFill>
            </a:endParaRPr>
          </a:p>
        </p:txBody>
      </p:sp>
      <p:sp>
        <p:nvSpPr>
          <p:cNvPr id="12" name="Freeform 9">
            <a:extLst>
              <a:ext uri="{FF2B5EF4-FFF2-40B4-BE49-F238E27FC236}">
                <a16:creationId xmlns:a16="http://schemas.microsoft.com/office/drawing/2014/main" id="{D851D84D-F111-9039-1F62-2CA0312EA599}"/>
              </a:ext>
            </a:extLst>
          </p:cNvPr>
          <p:cNvSpPr>
            <a:spLocks/>
          </p:cNvSpPr>
          <p:nvPr>
            <p:custDataLst>
              <p:tags r:id="rId5"/>
            </p:custDataLst>
          </p:nvPr>
        </p:nvSpPr>
        <p:spPr bwMode="auto">
          <a:xfrm flipH="1">
            <a:off x="311250" y="3816000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3" name="Freeform 9">
            <a:extLst>
              <a:ext uri="{FF2B5EF4-FFF2-40B4-BE49-F238E27FC236}">
                <a16:creationId xmlns:a16="http://schemas.microsoft.com/office/drawing/2014/main" id="{17FFB358-4290-7427-2BBD-7D3DA4AAA4D9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 bwMode="auto">
          <a:xfrm flipH="1" flipV="1">
            <a:off x="311250" y="1802729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5" name="Freeform 9">
            <a:extLst>
              <a:ext uri="{FF2B5EF4-FFF2-40B4-BE49-F238E27FC236}">
                <a16:creationId xmlns:a16="http://schemas.microsoft.com/office/drawing/2014/main" id="{E2E678F2-BE98-9C30-AD99-FE7D3939E7FC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6067328" y="3816000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2EC26EB5-2B19-D064-94F9-FAFD488FFDAD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auto">
          <a:xfrm flipV="1">
            <a:off x="6067328" y="1802729"/>
            <a:ext cx="368300" cy="347663"/>
          </a:xfrm>
          <a:custGeom>
            <a:avLst/>
            <a:gdLst>
              <a:gd name="T0" fmla="*/ 191 w 232"/>
              <a:gd name="T1" fmla="*/ 0 h 219"/>
              <a:gd name="T2" fmla="*/ 191 w 232"/>
              <a:gd name="T3" fmla="*/ 180 h 219"/>
              <a:gd name="T4" fmla="*/ 0 w 232"/>
              <a:gd name="T5" fmla="*/ 180 h 219"/>
              <a:gd name="T6" fmla="*/ 0 w 232"/>
              <a:gd name="T7" fmla="*/ 219 h 219"/>
              <a:gd name="T8" fmla="*/ 232 w 232"/>
              <a:gd name="T9" fmla="*/ 219 h 219"/>
              <a:gd name="T10" fmla="*/ 232 w 232"/>
              <a:gd name="T11" fmla="*/ 0 h 219"/>
              <a:gd name="T12" fmla="*/ 191 w 232"/>
              <a:gd name="T13" fmla="*/ 0 h 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32" h="219">
                <a:moveTo>
                  <a:pt x="191" y="0"/>
                </a:moveTo>
                <a:lnTo>
                  <a:pt x="191" y="180"/>
                </a:lnTo>
                <a:lnTo>
                  <a:pt x="0" y="180"/>
                </a:lnTo>
                <a:lnTo>
                  <a:pt x="0" y="219"/>
                </a:lnTo>
                <a:lnTo>
                  <a:pt x="232" y="219"/>
                </a:lnTo>
                <a:lnTo>
                  <a:pt x="232" y="0"/>
                </a:lnTo>
                <a:lnTo>
                  <a:pt x="191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/>
            <a:endParaRPr lang="pt-BR"/>
          </a:p>
        </p:txBody>
      </p:sp>
      <p:pic>
        <p:nvPicPr>
          <p:cNvPr id="42" name="Imagem 15" descr="Pessoa com faca na mão&#10;&#10;Descrição gerada automaticamente com confiança média">
            <a:extLst>
              <a:ext uri="{FF2B5EF4-FFF2-40B4-BE49-F238E27FC236}">
                <a16:creationId xmlns:a16="http://schemas.microsoft.com/office/drawing/2014/main" id="{D52487C3-05F1-8B51-D5B7-AD357A19DFEB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5"/>
          <a:srcRect b="428"/>
          <a:stretch>
            <a:fillRect/>
          </a:stretch>
        </p:blipFill>
        <p:spPr>
          <a:xfrm>
            <a:off x="5810249" y="4055693"/>
            <a:ext cx="6381751" cy="2802307"/>
          </a:xfrm>
          <a:prstGeom prst="rect">
            <a:avLst/>
          </a:prstGeom>
        </p:spPr>
      </p:pic>
      <p:pic>
        <p:nvPicPr>
          <p:cNvPr id="43" name="Logo ATY" descr="aty_logo_whit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5258" y="6088286"/>
            <a:ext cx="938784" cy="44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915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Co-CEO tem 330 liderados em 6 diretorias e 49 vagas em aberto, mas 41 delas nunca foram abertas — e duas posições de chefia existem só no organograma, sem vaga na planilha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Estrutura × Vagas | Visão geral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338328" y="1197864"/>
            <a:ext cx="11521440" cy="182880"/>
          </a:xfrm>
        </p:spPr>
        <p:txBody>
          <a:bodyPr/>
          <a:lstStyle/>
          <a:p>
            <a:r>
              <a:t>331 pessoas · 66 gestores · 49 vagas, 8 publicadas no Gupy · 2 posições de chefia sem vaga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Fonte: ATY | Colaboradores Factorial (organograma out/26, sem as 5 admissões de novembro) · planilha de vagas (21/10/26) · Gupy · Draft 23 Out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425" y="1447800"/>
            <a:ext cx="11496675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Arial"/>
              </a:rPr>
              <a:t>Organograma por cargo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425" y="1590675"/>
            <a:ext cx="114966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Arial"/>
              </a:rPr>
              <a:t>cada caixa é um cargo, com o quadro atual e as vagas em aberto; em laranja, o que falta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57750" y="1866900"/>
            <a:ext cx="2476500" cy="381000"/>
          </a:xfrm>
          <a:prstGeom prst="roundRect">
            <a:avLst>
              <a:gd name="adj" fmla="val 8000"/>
            </a:avLst>
          </a:prstGeom>
          <a:solidFill>
            <a:srgbClr val="1D3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Co-CEO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Arial"/>
              </a:rPr>
              <a:t>330 liderados · 49 vagas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2479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09675" y="2362200"/>
            <a:ext cx="9572625" cy="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09675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52425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COO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200 pessoas · 34 vagas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24200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266950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CITO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48 pessoas · 2 vagas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38725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81475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CFSO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34 pessoas · 3 vagas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53250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096000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Head of Talent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24 pessoas · 4 vagas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7775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010525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CCO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18 pessoas · 5 vagas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782300" y="236220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925050" y="2476500"/>
            <a:ext cx="1714500" cy="4953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Head of Services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6 pessoas · 1 vaga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09675" y="2971800"/>
            <a:ext cx="0" cy="114300"/>
          </a:xfrm>
          <a:prstGeom prst="bentConnector3">
            <a:avLst/>
          </a:prstGeom>
          <a:ln w="12700">
            <a:solidFill>
              <a:srgbClr val="FF8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52425" y="3086100"/>
            <a:ext cx="1714500" cy="43815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9050">
            <a:solidFill>
              <a:srgbClr val="FF8E2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850" b="1">
                <a:solidFill>
                  <a:srgbClr val="262626"/>
                </a:solidFill>
                <a:latin typeface="Arial"/>
              </a:rPr>
              <a:t>VAGA · Head de Europa</a:t>
            </a:r>
          </a:p>
          <a:p>
            <a:pPr algn="ctr"/>
            <a:r>
              <a:rPr sz="750" b="0">
                <a:solidFill>
                  <a:srgbClr val="262626"/>
                </a:solidFill>
                <a:latin typeface="Arial"/>
              </a:rPr>
              <a:t>publicada no Gupy · AMS, FRA, LIS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67775" y="2971800"/>
            <a:ext cx="0" cy="114300"/>
          </a:xfrm>
          <a:prstGeom prst="bentConnector3">
            <a:avLst/>
          </a:prstGeom>
          <a:ln w="12700">
            <a:solidFill>
              <a:srgbClr val="FF8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010525" y="3086100"/>
            <a:ext cx="1714500" cy="43815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9050">
            <a:solidFill>
              <a:srgbClr val="FF8E2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850" b="1">
                <a:solidFill>
                  <a:srgbClr val="262626"/>
                </a:solidFill>
                <a:latin typeface="Arial"/>
              </a:rPr>
              <a:t>VAGA · TL de High-Tech</a:t>
            </a:r>
          </a:p>
          <a:p>
            <a:pPr algn="ctr"/>
            <a:r>
              <a:rPr sz="750" b="0">
                <a:solidFill>
                  <a:srgbClr val="262626"/>
                </a:solidFill>
                <a:latin typeface="Arial"/>
              </a:rPr>
              <a:t>está no draft, não está na planilha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" y="3771900"/>
            <a:ext cx="5676900" cy="228600"/>
          </a:xfrm>
          <a:prstGeom prst="roundRect">
            <a:avLst>
              <a:gd name="adj" fmla="val 8000"/>
            </a:avLst>
          </a:prstGeom>
          <a:solidFill>
            <a:srgbClr val="FF8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Onde falta gente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" y="4029075"/>
            <a:ext cx="5676900" cy="2181225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2700">
            <a:solidFill>
              <a:srgbClr val="FF8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5250" rIns="95250" tIns="19050" bIns="19050"/>
          <a:lstStyle/>
          <a:p>
            <a:pPr algn="l">
              <a:spcAft>
                <a:spcPts val="375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/>
            </a:r>
            <a:r>
              <a:rPr b="1" sz="900">
                <a:solidFill>
                  <a:srgbClr val="262626"/>
                </a:solidFill>
                <a:latin typeface="Arial"/>
              </a:rPr>
              <a:t>Europa: </a:t>
            </a:r>
            <a:r>
              <a:rPr sz="900">
                <a:solidFill>
                  <a:srgbClr val="262626"/>
                </a:solidFill>
                <a:latin typeface="Arial"/>
              </a:rPr>
              <a:t>5 pessoas e 7 vagas — mais vaga que gente. Nenhum head: a vaga de Head de Europa está publicada e as outras 6 ainda não foram abertas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EUA: </a:t>
            </a:r>
            <a:r>
              <a:rPr sz="900">
                <a:solidFill>
                  <a:srgbClr val="262626"/>
                </a:solidFill>
                <a:latin typeface="Arial"/>
              </a:rPr>
              <a:t>10 pessoas e 9 vagas, 6 delas ainda a abrir. O Head of Overland comanda de São Paulo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High-Tech: </a:t>
            </a:r>
            <a:r>
              <a:rPr sz="900">
                <a:solidFill>
                  <a:srgbClr val="262626"/>
                </a:solidFill>
                <a:latin typeface="Arial"/>
              </a:rPr>
              <a:t>o draft desenha uma vaga de TL que não existe na planilha; são 2 team leaders para 3 frentes (Vertical, Auto e High-Tech)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Brasil: </a:t>
            </a:r>
            <a:r>
              <a:rPr sz="900">
                <a:solidFill>
                  <a:srgbClr val="262626"/>
                </a:solidFill>
                <a:latin typeface="Arial"/>
              </a:rPr>
              <a:t>321 das 331 pessoas e 33 vagas, 29 sem processo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71900"/>
            <a:ext cx="5676900" cy="22860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Onde dá para preencher lacuna sem contratar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029075"/>
            <a:ext cx="5676900" cy="2181225"/>
          </a:xfrm>
          <a:prstGeom prst="roundRect">
            <a:avLst>
              <a:gd name="adj" fmla="val 8000"/>
            </a:avLst>
          </a:prstGeom>
          <a:solidFill>
            <a:srgbClr val="E8F4F4"/>
          </a:solidFill>
          <a:ln w="12700">
            <a:solidFill>
              <a:srgbClr val="009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5250" rIns="95250" tIns="19050" bIns="19050"/>
          <a:lstStyle/>
          <a:p>
            <a:pPr algn="l">
              <a:spcAft>
                <a:spcPts val="375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/>
            </a:r>
            <a:r>
              <a:rPr b="1" sz="900">
                <a:solidFill>
                  <a:srgbClr val="262626"/>
                </a:solidFill>
                <a:latin typeface="Arial"/>
              </a:rPr>
              <a:t>6 cargos de chefia sem equipe: </a:t>
            </a:r>
            <a:r>
              <a:rPr sz="900">
                <a:solidFill>
                  <a:srgbClr val="262626"/>
                </a:solidFill>
                <a:latin typeface="Arial"/>
              </a:rPr>
              <a:t>Head Of Revenue Management, BD Manager, BI &amp; Data Science TL, Airport Operations Manager, Warehouse TL e Air Freight CC TL — nenhum deles lidera ninguém hoje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18 gestores lideram até 2 pessoas: </a:t>
            </a:r>
            <a:r>
              <a:rPr sz="900">
                <a:solidFill>
                  <a:srgbClr val="262626"/>
                </a:solidFill>
                <a:latin typeface="Arial"/>
              </a:rPr>
              <a:t>7 deles no CCO, que tem 8 gestores para 19 pessoas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4 camadas de team leader em Air Operations: </a:t>
            </a:r>
            <a:r>
              <a:rPr sz="900">
                <a:solidFill>
                  <a:srgbClr val="262626"/>
                </a:solidFill>
                <a:latin typeface="Arial"/>
              </a:rPr>
              <a:t>team leaders respondendo a team leaders com o mesmo título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Especialistas já na praça: </a:t>
            </a:r>
            <a:r>
              <a:rPr sz="900">
                <a:solidFill>
                  <a:srgbClr val="262626"/>
                </a:solidFill>
                <a:latin typeface="Arial"/>
              </a:rPr>
              <a:t>a Europa tem 1 team leader sediada em Portugal liderando 13 pessoas, das quais 11 estão no Brasil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EUA e Europa originam 1.951 dos 3.413 embarques por mês com 15 pessoas e 16 vagas em aberto; 12 dessas vagas nunca foram abertas e a Europa não tem head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Estrutura × Vagas | Operações por praça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338328" y="1197864"/>
            <a:ext cx="11521440" cy="182880"/>
          </a:xfrm>
        </p:spPr>
        <p:txBody>
          <a:bodyPr/>
          <a:lstStyle/>
          <a:p>
            <a:r>
              <a:t>Embarques originados por mês (média abr–set/26, CIS) · 161 agentes terceiros originam 1.173 · praça = entidade no organograma e escritório de origem no CIS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Fonte: ATY | CIS ORDERS (13/10/26, campo off, média mensal abr–set/26) · Colaboradores Factorial (organograma out/26) · planilha de vagas (21/10/26) · Gupy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425" y="1447800"/>
            <a:ext cx="11496675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Arial"/>
              </a:rPr>
              <a:t>A cadeia de Operações, por praça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425" y="1590675"/>
            <a:ext cx="11496675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Arial"/>
              </a:rPr>
              <a:t>cargo, quadro atual, vagas em aberto e embarques originados por mês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43500" y="1847850"/>
            <a:ext cx="1905000" cy="342900"/>
          </a:xfrm>
          <a:prstGeom prst="roundRect">
            <a:avLst>
              <a:gd name="adj" fmla="val 8000"/>
            </a:avLst>
          </a:prstGeom>
          <a:solidFill>
            <a:srgbClr val="1D3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COO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Arial"/>
              </a:rPr>
              <a:t>200 pessoas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190750"/>
            <a:ext cx="0" cy="11430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771650" y="2305050"/>
            <a:ext cx="8648700" cy="0"/>
          </a:xfrm>
          <a:prstGeom prst="bentConnector3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38300" y="2305050"/>
            <a:ext cx="0" cy="114300"/>
          </a:xfrm>
          <a:prstGeom prst="bentConnector3">
            <a:avLst/>
          </a:prstGeom>
          <a:ln w="12700">
            <a:solidFill>
              <a:srgbClr val="0097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2900" y="2419350"/>
            <a:ext cx="2590800" cy="59055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Head of Air Operations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Customer Care e Exportação · Brasil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316 pessoas · 33 vagas · 29 a abrir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" y="3048000"/>
            <a:ext cx="2590800" cy="247650"/>
          </a:xfrm>
          <a:prstGeom prst="roundRect">
            <a:avLst>
              <a:gd name="adj" fmla="val 8000"/>
            </a:avLst>
          </a:prstGeom>
          <a:solidFill>
            <a:srgbClr val="E8F4F4"/>
          </a:solidFill>
          <a:ln w="12700">
            <a:solidFill>
              <a:srgbClr val="009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00" b="1">
                <a:solidFill>
                  <a:srgbClr val="262626"/>
                </a:solidFill>
                <a:latin typeface="Arial"/>
              </a:rPr>
              <a:t>289 embarques/mês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00550" y="2305050"/>
            <a:ext cx="0" cy="114300"/>
          </a:xfrm>
          <a:prstGeom prst="bentConnector3">
            <a:avLst/>
          </a:prstGeom>
          <a:ln w="12700">
            <a:solidFill>
              <a:srgbClr val="0097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105150" y="2419350"/>
            <a:ext cx="2590800" cy="590550"/>
          </a:xfrm>
          <a:prstGeom prst="roundRect">
            <a:avLst>
              <a:gd name="adj" fmla="val 8000"/>
            </a:avLst>
          </a:prstGeom>
          <a:solidFill>
            <a:srgbClr val="009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Air Freight Lead Coordinator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Agentes OFF · 161 terceiros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51 pessoas · sem vaga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5150" y="3048000"/>
            <a:ext cx="2590800" cy="247650"/>
          </a:xfrm>
          <a:prstGeom prst="roundRect">
            <a:avLst>
              <a:gd name="adj" fmla="val 8000"/>
            </a:avLst>
          </a:prstGeom>
          <a:solidFill>
            <a:srgbClr val="E8F4F4"/>
          </a:solidFill>
          <a:ln w="12700">
            <a:solidFill>
              <a:srgbClr val="009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00" b="1">
                <a:solidFill>
                  <a:srgbClr val="262626"/>
                </a:solidFill>
                <a:latin typeface="Arial"/>
              </a:rPr>
              <a:t>1.173 embarques/mês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62800" y="2305050"/>
            <a:ext cx="0" cy="114300"/>
          </a:xfrm>
          <a:prstGeom prst="bentConnector3">
            <a:avLst/>
          </a:prstGeom>
          <a:ln w="12700">
            <a:solidFill>
              <a:srgbClr val="FF8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867400" y="2419350"/>
            <a:ext cx="2590800" cy="590550"/>
          </a:xfrm>
          <a:prstGeom prst="roundRect">
            <a:avLst>
              <a:gd name="adj" fmla="val 8000"/>
            </a:avLst>
          </a:prstGeom>
          <a:solidFill>
            <a:srgbClr val="FF8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Head of Overland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EUA · MIA, IAH, NY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pessoas · 9 vagas · 6 a abrir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67400" y="3048000"/>
            <a:ext cx="2590800" cy="247650"/>
          </a:xfrm>
          <a:prstGeom prst="roundRect">
            <a:avLst>
              <a:gd name="adj" fmla="val 8000"/>
            </a:avLst>
          </a:prstGeom>
          <a:solidFill>
            <a:srgbClr val="E8F4F4"/>
          </a:solidFill>
          <a:ln w="12700">
            <a:solidFill>
              <a:srgbClr val="FF8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00" b="1">
                <a:solidFill>
                  <a:srgbClr val="262626"/>
                </a:solidFill>
                <a:latin typeface="Arial"/>
              </a:rPr>
              <a:t>1.417 embarques/mês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925050" y="2305050"/>
            <a:ext cx="0" cy="114300"/>
          </a:xfrm>
          <a:prstGeom prst="bentConnector3">
            <a:avLst/>
          </a:prstGeom>
          <a:ln w="12700">
            <a:solidFill>
              <a:srgbClr val="FF8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629650" y="2419350"/>
            <a:ext cx="2590800" cy="590550"/>
          </a:xfrm>
          <a:prstGeom prst="roundRect">
            <a:avLst>
              <a:gd name="adj" fmla="val 8000"/>
            </a:avLst>
          </a:prstGeom>
          <a:solidFill>
            <a:srgbClr val="FF8E2E"/>
          </a:solidFill>
          <a:ln w="19050">
            <a:solidFill>
              <a:srgbClr val="FF8E2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VAGA · Head de Europa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Europa · AMS, FRA, LIS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5 pessoas · vaga publicada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29650" y="3048000"/>
            <a:ext cx="2590800" cy="247650"/>
          </a:xfrm>
          <a:prstGeom prst="roundRect">
            <a:avLst>
              <a:gd name="adj" fmla="val 8000"/>
            </a:avLst>
          </a:prstGeom>
          <a:solidFill>
            <a:srgbClr val="E8F4F4"/>
          </a:solidFill>
          <a:ln w="12700">
            <a:solidFill>
              <a:srgbClr val="FF8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900" b="1">
                <a:solidFill>
                  <a:srgbClr val="262626"/>
                </a:solidFill>
                <a:latin typeface="Arial"/>
              </a:rPr>
              <a:t>534 embarques/mês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" y="3543300"/>
            <a:ext cx="5676900" cy="228600"/>
          </a:xfrm>
          <a:prstGeom prst="roundRect">
            <a:avLst>
              <a:gd name="adj" fmla="val 8000"/>
            </a:avLst>
          </a:prstGeom>
          <a:solidFill>
            <a:srgbClr val="1D36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 conta por praça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" y="3800475"/>
            <a:ext cx="5676900" cy="2409825"/>
          </a:xfrm>
          <a:prstGeom prst="roundRect">
            <a:avLst>
              <a:gd name="adj" fmla="val 8000"/>
            </a:avLst>
          </a:prstGeom>
          <a:solidFill>
            <a:srgbClr val="E8F4F4"/>
          </a:solidFill>
          <a:ln w="12700">
            <a:solidFill>
              <a:srgbClr val="1D3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5250" rIns="95250" tIns="19050" bIns="19050"/>
          <a:lstStyle/>
          <a:p>
            <a:pPr algn="l">
              <a:spcAft>
                <a:spcPts val="375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/>
            </a:r>
            <a:r>
              <a:rPr b="1" sz="900">
                <a:solidFill>
                  <a:srgbClr val="262626"/>
                </a:solidFill>
                <a:latin typeface="Arial"/>
              </a:rPr>
              <a:t>EUA · 10 pessoas, 9 vagas: </a:t>
            </a:r>
            <a:r>
              <a:rPr sz="900">
                <a:solidFill>
                  <a:srgbClr val="262626"/>
                </a:solidFill>
                <a:latin typeface="Arial"/>
              </a:rPr>
              <a:t>1.417 embarques/mês originados, 142 por pessoa. 1 gestor local, e são 2 Warehouse Team Leaders — um deles sem nenhum liderado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Europa · 5 pessoas, 7 vagas: </a:t>
            </a:r>
            <a:r>
              <a:rPr sz="900">
                <a:solidFill>
                  <a:srgbClr val="262626"/>
                </a:solidFill>
                <a:latin typeface="Arial"/>
              </a:rPr>
              <a:t>534 embarques/mês, 107 por pessoa. Sem head; a única TL está em Portugal e reporta ao Brasil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Agentes OFF · </a:t>
            </a:r>
            <a:r>
              <a:rPr sz="900">
                <a:solidFill>
                  <a:srgbClr val="262626"/>
                </a:solidFill>
                <a:latin typeface="Arial"/>
              </a:rPr>
              <a:t>161 agentes terceiros originam 1.173 embarques/mês, 34% do total, coordenados por 51 pessoas no Brasil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Brasil · </a:t>
            </a:r>
            <a:r>
              <a:rPr sz="900">
                <a:solidFill>
                  <a:srgbClr val="262626"/>
                </a:solidFill>
                <a:latin typeface="Arial"/>
              </a:rPr>
              <a:t>289 embarques/mês originados, mas a equipe processa o lado destino de todos os embarques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543300"/>
            <a:ext cx="5676900" cy="228600"/>
          </a:xfrm>
          <a:prstGeom prst="roundRect">
            <a:avLst>
              <a:gd name="adj" fmla="val 8000"/>
            </a:avLst>
          </a:prstGeom>
          <a:solidFill>
            <a:srgbClr val="FF8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7150" rIns="57150" tIns="19050" bIns="1905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As ineficiências da cadeia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800475"/>
            <a:ext cx="5676900" cy="2409825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2700">
            <a:solidFill>
              <a:srgbClr val="FF8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5250" rIns="95250" tIns="19050" bIns="19050"/>
          <a:lstStyle/>
          <a:p>
            <a:pPr algn="l">
              <a:spcAft>
                <a:spcPts val="375"/>
              </a:spcAft>
            </a:pPr>
            <a:r>
              <a:rPr sz="1000" b="1">
                <a:solidFill>
                  <a:srgbClr val="262626"/>
                </a:solidFill>
                <a:latin typeface="Arial"/>
              </a:rPr>
              <a:t/>
            </a:r>
            <a:r>
              <a:rPr b="1" sz="900">
                <a:solidFill>
                  <a:srgbClr val="262626"/>
                </a:solidFill>
                <a:latin typeface="Arial"/>
              </a:rPr>
              <a:t>Europa sem dono: </a:t>
            </a:r>
            <a:r>
              <a:rPr sz="900">
                <a:solidFill>
                  <a:srgbClr val="262626"/>
                </a:solidFill>
                <a:latin typeface="Arial"/>
              </a:rPr>
              <a:t>58% do quadro europeu está em aberto e a praça que origina 534 embarques/mês não tem head nem team leader local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Fila travada fora do Brasil: </a:t>
            </a:r>
            <a:r>
              <a:rPr sz="900">
                <a:solidFill>
                  <a:srgbClr val="262626"/>
                </a:solidFill>
                <a:latin typeface="Arial"/>
              </a:rPr>
              <a:t>as 12 vagas que nunca foram abertas estão todas em EUA (6) e Europa (6) — o gargalo é a abertura interna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Gestão à distância: </a:t>
            </a:r>
            <a:r>
              <a:rPr sz="900">
                <a:solidFill>
                  <a:srgbClr val="262626"/>
                </a:solidFill>
                <a:latin typeface="Arial"/>
              </a:rPr>
              <a:t>13 das 15 pessoas de EUA e Europa têm gestor no Brasil; o Head of Overland responde por MIA, IAH e NY de São Paulo</a:t>
            </a:r>
          </a:p>
          <a:p>
            <a:pPr algn="l">
              <a:spcAft>
                <a:spcPts val="375"/>
              </a:spcAft>
            </a:pPr>
            <a:r>
              <a:rPr b="1" sz="900">
                <a:solidFill>
                  <a:srgbClr val="262626"/>
                </a:solidFill>
                <a:latin typeface="Arial"/>
              </a:rPr>
              <a:t>Camada que se repete: </a:t>
            </a:r>
            <a:r>
              <a:rPr sz="900">
                <a:solidFill>
                  <a:srgbClr val="262626"/>
                </a:solidFill>
                <a:latin typeface="Arial"/>
              </a:rPr>
              <a:t>Air Operations tem 4 níveis de team leader; o draft risca 3 caixas dessa cadeia sem indicar destino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E2586-CF33-2B03-2A8E-0977E5C02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D70F649E-EFA0-3DD0-E67E-CD706CF361C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21" imgH="423" progId="TCLayout.ActiveDocument.1">
                  <p:embed/>
                </p:oleObj>
              </mc:Choice>
              <mc:Fallback>
                <p:oleObj name="think-cell Slide" r:id="rId8" imgW="421" imgH="423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D70F649E-EFA0-3DD0-E67E-CD706CF361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Imagem 13" descr="Padrão do plano de fundo&#10;&#10;Descrição gerada automaticamente">
            <a:extLst>
              <a:ext uri="{FF2B5EF4-FFF2-40B4-BE49-F238E27FC236}">
                <a16:creationId xmlns:a16="http://schemas.microsoft.com/office/drawing/2014/main" id="{25F0B456-9322-E844-3154-A51F6FB259E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ítulo 3">
            <a:extLst>
              <a:ext uri="{FF2B5EF4-FFF2-40B4-BE49-F238E27FC236}">
                <a16:creationId xmlns:a16="http://schemas.microsoft.com/office/drawing/2014/main" id="{482AF1D5-08C1-D100-115C-35CA3D3072C8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428263" y="1919052"/>
            <a:ext cx="5899385" cy="1122948"/>
          </a:xfrm>
        </p:spPr>
        <p:txBody>
          <a:bodyPr vert="horz" anchor="ctr"/>
          <a:lstStyle/>
          <a:p>
            <a:pPr algn="l" fontAlgn="auto">
              <a:spcAft>
                <a:spcPts val="600"/>
              </a:spcAft>
            </a:pPr>
            <a:r>
              <a:rPr lang="pt-BR" sz="3600">
                <a:solidFill>
                  <a:schemeClr val="bg1"/>
                </a:solidFill>
              </a:rPr>
              <a:t>Obrigado!</a:t>
            </a:r>
            <a:endParaRPr lang="pt-BR" sz="2000">
              <a:solidFill>
                <a:schemeClr val="bg1"/>
              </a:solidFill>
            </a:endParaRPr>
          </a:p>
        </p:txBody>
      </p:sp>
      <p:sp>
        <p:nvSpPr>
          <p:cNvPr id="10" name="Espaço Reservado para Texto 5">
            <a:extLst>
              <a:ext uri="{FF2B5EF4-FFF2-40B4-BE49-F238E27FC236}">
                <a16:creationId xmlns:a16="http://schemas.microsoft.com/office/drawing/2014/main" id="{BCE95F19-7716-1B09-229E-035C8FD40C86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428263" y="3218068"/>
            <a:ext cx="4642767" cy="276999"/>
          </a:xfrm>
        </p:spPr>
        <p:txBody>
          <a:bodyPr/>
          <a:lstStyle>
            <a:defPPr>
              <a:defRPr lang="pt-B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pt-BR" sz="1200">
              <a:solidFill>
                <a:schemeClr val="bg1"/>
              </a:solidFill>
            </a:endParaRPr>
          </a:p>
        </p:txBody>
      </p:sp>
      <p:pic>
        <p:nvPicPr>
          <p:cNvPr id="42" name="Imagem 15" descr="Pessoa com faca na mão&#10;&#10;Descrição gerada automaticamente com confiança média">
            <a:extLst>
              <a:ext uri="{FF2B5EF4-FFF2-40B4-BE49-F238E27FC236}">
                <a16:creationId xmlns:a16="http://schemas.microsoft.com/office/drawing/2014/main" id="{B3D8FB7D-044E-E577-DBA0-2F8FF2E3EC9F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1"/>
          <a:srcRect b="428"/>
          <a:stretch>
            <a:fillRect/>
          </a:stretch>
        </p:blipFill>
        <p:spPr>
          <a:xfrm>
            <a:off x="5810249" y="4055693"/>
            <a:ext cx="6381751" cy="2802307"/>
          </a:xfrm>
          <a:prstGeom prst="rect">
            <a:avLst/>
          </a:prstGeom>
        </p:spPr>
      </p:pic>
      <p:pic>
        <p:nvPicPr>
          <p:cNvPr id="43" name="Logo ATY" descr="aty_logo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5258" y="6088286"/>
            <a:ext cx="938784" cy="448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093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PLORISREVISION" val="0"/>
  <p:tag name="THINKCELLUNDODONOTDELETE" val="0"/>
  <p:tag name="THINKCELLPRESENTATIONDONOTDELETE" val="&lt;?xml version=&quot;1.0&quot; encoding=&quot;UTF-16&quot; standalone=&quot;yes&quot;?&gt;&lt;root reqver=&quot;28224&quot;&gt;&lt;version val=&quot;3560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%m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13&quot;&gt;&lt;elem m_fUsage=&quot;3.07928112869461489964E+00&quot;&gt;&lt;m_msothmcolidx val=&quot;0&quot;/&gt;&lt;m_rgb r=&quot;E7&quot; g=&quot;EF&quot; b=&quot;EF&quot;/&gt;&lt;/elem&gt;&lt;elem m_fUsage=&quot;2.14582643648100024336E+00&quot;&gt;&lt;m_msothmcolidx val=&quot;0&quot;/&gt;&lt;m_rgb r=&quot;58&quot; g=&quot;BA&quot; b=&quot;BA&quot;/&gt;&lt;/elem&gt;&lt;elem m_fUsage=&quot;1.26753992910000023997E+00&quot;&gt;&lt;m_msothmcolidx val=&quot;0&quot;/&gt;&lt;m_rgb r=&quot;DD&quot; g=&quot;F0&quot; b=&quot;F0&quot;/&gt;&lt;/elem&gt;&lt;elem m_fUsage=&quot;1.12381059609000022448E+00&quot;&gt;&lt;m_msothmcolidx val=&quot;0&quot;/&gt;&lt;m_rgb r=&quot;D6&quot; g=&quot;EE&quot; b=&quot;EE&quot;/&gt;&lt;/elem&gt;&lt;elem m_fUsage=&quot;9.00000000000000022204E-01&quot;&gt;&lt;m_msothmcolidx val=&quot;0&quot;/&gt;&lt;m_rgb r=&quot;42&quot; g=&quot;C7&quot; b=&quot;C7&quot;/&gt;&lt;/elem&gt;&lt;elem m_fUsage=&quot;4.82081938222827299789E-01&quot;&gt;&lt;m_msothmcolidx val=&quot;0&quot;/&gt;&lt;m_rgb r=&quot;A6&quot; g=&quot;A6&quot; b=&quot;A6&quot;/&gt;&lt;/elem&gt;&lt;elem m_fUsage=&quot;4.06756461654867840227E-01&quot;&gt;&lt;m_msothmcolidx val=&quot;0&quot;/&gt;&lt;m_rgb r=&quot;D9&quot; g=&quot;D9&quot; b=&quot;D9&quot;/&gt;&lt;/elem&gt;&lt;elem m_fUsage=&quot;2.61592661457161257399E-01&quot;&gt;&lt;m_msothmcolidx val=&quot;0&quot;/&gt;&lt;m_rgb r=&quot;CB&quot; g=&quot;DD&quot; b=&quot;DD&quot;/&gt;&lt;/elem&gt;&lt;elem m_fUsage=&quot;1.85302018885184188735E-01&quot;&gt;&lt;m_msothmcolidx val=&quot;0&quot;/&gt;&lt;m_rgb r=&quot;7F&quot; g=&quot;7F&quot; b=&quot;7F&quot;/&gt;&lt;/elem&gt;&lt;elem m_fUsage=&quot;3.49730471277284182818E-02&quot;&gt;&lt;m_msothmcolidx val=&quot;0&quot;/&gt;&lt;m_rgb r=&quot;72&quot; g=&quot;22&quot; b=&quot;82&quot;/&gt;&lt;/elem&gt;&lt;elem m_fUsage=&quot;1.47808829414346077497E-02&quot;&gt;&lt;m_msothmcolidx val=&quot;0&quot;/&gt;&lt;m_rgb r=&quot;F1&quot; g=&quot;F1&quot; b=&quot;F1&quot;/&gt;&lt;/elem&gt;&lt;elem m_fUsage=&quot;1.07752636643058292976E-02&quot;&gt;&lt;m_msothmcolidx val=&quot;0&quot;/&gt;&lt;m_rgb r=&quot;E5&quot; g=&quot;DD&quot; b=&quot;D5&quot;/&gt;&lt;/elem&gt;&lt;elem m_fUsage=&quot;8.72796356808772273717E-03&quot;&gt;&lt;m_msothmcolidx val=&quot;0&quot;/&gt;&lt;m_rgb r=&quot;B9&quot; g=&quot;BD&quot; b=&quot;00&quot;/&gt;&lt;/elem&gt;&lt;/m_vecMRU&gt;&lt;/m_mruColor&gt;&lt;m_eweekdayFirstOfWeek val=&quot;2&quot;/&gt;&lt;m_eweekdayFirstOfWorkweek val=&quot;2&quot;/&gt;&lt;m_eweekdayFirstOfWeekend val=&quot;7&quot;/&gt;&lt;/CPresentation&gt;&lt;/root&gt;"/>
  <p:tag name="GRUNT-HP-GEHF7K" val="dQEAAA=="/>
  <p:tag name="POWER_USER_PPT_AGENDA_PRESENTATION_TABLE_OF_CONTENT_STYLE_TAG" val="1"/>
  <p:tag name="POWER_USER_PPT_AGENDA_PRESENTATION_DIVIDERS_STYLE_TAG" val="POWER_USER_LAYOUT_DIVIDER_CUSTOM"/>
  <p:tag name="POWER_USER_PPT_AGENDA_PRESENTATION_SHOW_SECTION_NUMBERS_CHECKED_TAG" val="1"/>
  <p:tag name="POWER_USER_PPT_AGENDA_PRESENTATION_TABLE_OF_CONTENT_CHECKED_TAG" val="1"/>
  <p:tag name="POWER_USER_PPT_AGENDA_PRESENTATION_SHOULD_CREATE_TABLE_OF_CONTENT_TAG" val="0"/>
  <p:tag name="POWER_USER_PPT_AGENDA_PRESENTATION_DIVIDERS_CHECKED_TAG" val="0"/>
  <p:tag name="POWER_USER_CONTEXTUAL_SHAPES_AGENDA_DESIGNER" val="{&quot;Divider1&quot;:{&quot;Title&quot;:{&quot;AutoShapeType&quot;:1,&quot;Visible&quot;:-1,&quot;LockAspectRatio&quot;:0,&quot;CanUpdateAdjustments&quot;:true,&quot;Adjustment1&quot;:-1.0,&quot;Adjustment2&quot;:-1.0,&quot;CanManagePosition&quot;:true,&quot;Left&quot;:240.0,&quot;Top&quot;:216.0,&quot;Width&quot;:700.0,&quot;Height&quot;:108.0,&quot;Rotation&quot;:-1.0,&quot;TextFrame2AutoSize&quot;:1,&quot;TextFrame2TextRangeFontName&quot;:&quot;&quot;,&quot;TextFrameMarginTop&quot;:0.0,&quot;TextFrameMarginLeft&quot;:0.0,&quot;TextFrameMarginRight&quot;:0.0,&quot;TextFrameMarginBottom&quot;:0.0,&quot;TextFrameWordWrap&quot;:-1,&quot;TextFrameTextRangeFontSize&quot;:30.0,&quot;TextFrameTextRangeFontColorHexa&quot;:&quot;#000000&quot;,&quot;TextFrameTextRangeFontBold&quot;:0,&quot;TextFrameTextRangeFontItalic&quot;:0,&quot;TextFrameTextRangeFontUnderline&quot;:0,&quot;TextFrameVerticalAnchor&quot;:1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Number&quot;:{&quot;AutoShapeType&quot;:1,&quot;Visible&quot;:-1,&quot;LockAspectRatio&quot;:0,&quot;CanUpdateAdjustments&quot;:true,&quot;Adjustment1&quot;:-1.0,&quot;Adjustment2&quot;:-1.0,&quot;CanManagePosition&quot;:true,&quot;Left&quot;:115.2,&quot;Top&quot;:216.0,&quot;Width&quot;:81.0,&quot;Height&quot;:8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30.0,&quot;TextFrameTextRangeFontColorHexa&quot;:&quot;#FFFFFF&quot;,&quot;TextFrameTextRangeFontBold&quot;:0,&quot;TextFrameTextRangeFontItalic&quot;:0,&quot;TextFrameTextRangeFontUnderline&quot;:0,&quot;TextFrameVerticalAnchor&quot;:3,&quot;TextFrameHorizontalAnchor&quot;:2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true},&quot;Line&quot;:{&quot;AutoShapeType&quot;:1,&quot;Visible&quot;:-1,&quot;LockAspectRatio&quot;:0,&quot;CanUpdateAdjustments&quot;:true,&quot;Adjustment1&quot;:-1.0,&quot;Adjustment2&quot;:-1.0,&quot;CanManagePosition&quot;:true,&quot;Left&quot;:240.0,&quot;Top&quot;:331.0,&quot;Width&quot;:700.0,&quot;Height&quot;:0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0.0,&quot;LineDashStyle&quot;:1,&quot;LineEndArrowheadStyle&quot;:1,&quot;LineBeginArrowheadStyle&quot;:1,&quot;ShouldSendToBack&quot;:false,&quot;NeedsApplyToAll&quot;:false}},&quot;TableOfContent1&quot;:{&quot;MarginLeft&quot;:76.8,&quot;MarginRight&quot;:458.514282,&quot;MarginTop&quot;:132.616211,&quot;MarginBottom&quot;:162.681061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FFFFFF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1,&quot;ZOrderPosition&quot;:3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},&quot;Back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0,&quot;ZOrderPosition&quot;:1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true,&quot;NeedsApplyToAll&quot;:false},&quot;Inactive&quot;:{&quot;AutoShapeType&quot;:1,&quot;Visible&quot;:0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null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null,&quot;FillTransparency&quot;:0.0,&quot;LineVisible&quot;:-1,&quot;LineForeColorHexa&quot;:null,&quot;LineWeight&quot;:0.0,&quot;LineDashStyle&quot;:1,&quot;LineEndArrowheadStyle&quot;:1,&quot;LineBeginArrowheadStyle&quot;:1,&quot;ShouldSendToBack&quot;:true,&quot;NeedsApplyToAll&quot;:false},&quot;CoverPage&quot;:{&quot;AutoShapeType&quot;:1,&quot;Visible&quot;:0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null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null,&quot;FillTransparency&quot;:0.0,&quot;LineVisible&quot;:-1,&quot;LineForeColorHexa&quot;:null,&quot;LineWeight&quot;:0.0,&quot;LineDashStyle&quot;:1,&quot;LineEndArrowheadStyle&quot;:1,&quot;LineBeginArrowheadStyle&quot;:1,&quot;ShouldSendToBack&quot;:true,&quot;NeedsApplyToAll&quot;:false}},&quot;Number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Arial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1.0,&quot;TextFrameTextRangeParagraphFormatLineRuleAfter&quot;:0,&quot;TextFrameTextRangeParagraphFormatSpaceAfter&quot;:0.0,&quot;TextFrameTextRangeParagraphFormatLineRuleBefore&quot;:0,&quot;TextFrameTextRangeParagraphFormatSpaceBefore&quot;:0.0,&quot;TextFrameTextRangeParagraphs1ParagraphFormatAlignment&quot;:2,&quot;ZOrderPosition&quot;:2,&quot;FillVisible&quot;:-1,&quot;FillForeColorHexa&quot;:&quot;#00979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D9D9D9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},&quot;TableOfContent3&quot;:{&quot;MarginLeft&quot;:76.8,&quot;MarginRight&quot;:76.8,&quot;MarginTop&quot;:86.4,&quot;MarginBottom&quot;:21.6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Number&quot;:{&quot;Activ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Inactiv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43CFF6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FFFFFF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CoverPage&quot;:{&quot;AutoShapeType&quot;:9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Lin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2.0,&quot;LineDashStyle&quot;:1,&quot;LineEndArrowheadStyle&quot;:1,&quot;LineBeginArrowheadStyle&quot;:1,&quot;ShouldSendToBack&quot;:true,&quot;NeedsApplyToAll&quot;:false}},&quot;TableOfContent4&quot;:{&quot;MarginLeft&quot;:76.8,&quot;MarginRight&quot;:76.8,&quot;MarginTop&quot;:86.4,&quot;MarginBottom&quot;:21.6,&quot;ShouldVerticalCenter&quot;:true,&quot;Title&quot;:{&quot;AutoShapeType&quot;:1,&quot;Visible&quot;:-1,&quot;LockAspectRatio&quot;:0,&quot;CanUpdateAdjustments&quot;:true,&quot;Adjustment1&quot;:-1.0,&quot;Adjustment2&quot;:-1.0,&quot;CanManagePosition&quot;:true,&quot;Left&quot;:76.8,&quot;Top&quot;:54.0,&quot;Width&quot;:768.0,&quot;Height&quot;:30.0,&quot;Rotation&quot;:0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32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true},&quot;SectionTitle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7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1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Number&quot;:{&quot;Activ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Inactiv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43CFF6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FFFFFF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,&quot;CoverPage&quot;:{&quot;AutoShapeType&quot;:9,&quot;Visible&quot;:-1,&quot;LockAspectRatio&quot;:-1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FFFFFF&quot;,&quot;TextFrameTextRangeFontBold&quot;:-1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-1,&quot;FillForeColorHexa&quot;:&quot;#43CFF6&quot;,&quot;FillTransparency&quot;:0.0,&quot;LineVisible&quot;:-1,&quot;LineForeColorHexa&quot;:&quot;#43CFF6&quot;,&quot;LineWeight&quot;:2.0,&quot;LineDashStyle&quot;:1,&quot;LineEndArrowheadStyle&quot;:1,&quot;LineBeginArrowheadStyle&quot;:1,&quot;ShouldSendToBack&quot;:false,&quot;NeedsApplyToAll&quot;:false}},&quot;SlideIndex&quot;:{&quot;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Inactiv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,&quot;CoverPage&quot;:{&quot;AutoShapeType&quot;:1,&quot;Visible&quot;:-1,&quot;LockAspectRatio&quot;:0,&quot;CanUpdateAdjustments&quot;:tru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0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1.0,&quot;LineVisible&quot;:0,&quot;LineForeColorHexa&quot;:null,&quot;LineWeight&quot;:0.0,&quot;LineDashStyle&quot;:1,&quot;LineEndArrowheadStyle&quot;:1,&quot;LineBeginArrowheadStyle&quot;:1,&quot;ShouldSendToBack&quot;:false,&quot;NeedsApplyToAll&quot;:false}},&quot;Arc&quot;:{&quot;AutoShapeType&quot;:25,&quot;Visible&quot;:-1,&quot;LockAspectRatio&quot;:0,&quot;CanUpdateAdjustments&quot;:false,&quot;Adjustment1&quot;:-1.0,&quot;Adjustment2&quot;:-1.0,&quot;CanManagePosition&quot;:false,&quot;Left&quot;:-1.0,&quot;Top&quot;:-1.0,&quot;Width&quot;:-1.0,&quot;Height&quot;:-1.0,&quot;Rotation&quot;:-1.0,&quot;TextFrame2AutoSize&quot;:0,&quot;TextFrame2TextRangeFontName&quot;:&quot;&quot;,&quot;TextFrameMarginTop&quot;:0.0,&quot;TextFrameMarginLeft&quot;:0.0,&quot;TextFrameMarginRight&quot;:0.0,&quot;TextFrameMarginBottom&quot;:0.0,&quot;TextFrameWordWrap&quot;:-1,&quot;TextFrameTextRangeFontSize&quot;:18.0,&quot;TextFrameTextRangeFontColorHexa&quot;:&quot;#000000&quot;,&quot;TextFrameTextRangeFontBold&quot;:0,&quot;TextFrameTextRangeFontItalic&quot;:0,&quot;TextFrameTextRangeFontUnderline&quot;:0,&quot;TextFrameVerticalAnchor&quot;:3,&quot;TextFrameHorizontalAnchor&quot;:1,&quot;TextFrameTextRangeParagraphFormatBulletType&quot;:0,&quot;TextFrameTextRangeParagraphFormatLineRuleWithin&quot;:-1,&quot;TextFrameTextRangeParagraphFormatSpaceWithin&quot;:-3.40282347E+38,&quot;TextFrameTextRangeParagraphFormatLineRuleAfter&quot;:0,&quot;TextFrameTextRangeParagraphFormatSpaceAfter&quot;:-3.40282347E+38,&quot;TextFrameTextRangeParagraphFormatLineRuleBefore&quot;:0,&quot;TextFrameTextRangeParagraphFormatSpaceBefore&quot;:-3.40282347E+38,&quot;TextFrameTextRangeParagraphs1ParagraphFormatAlignment&quot;:0,&quot;ZOrderPosition&quot;:-2147483648,&quot;FillVisible&quot;:0,&quot;FillForeColorHexa&quot;:null,&quot;FillTransparency&quot;:0.0,&quot;LineVisible&quot;:-1,&quot;LineForeColorHexa&quot;:&quot;#43CFF6&quot;,&quot;LineWeight&quot;:2.0,&quot;LineDashStyle&quot;:1,&quot;LineEndArrowheadStyle&quot;:1,&quot;LineBeginArrowheadStyle&quot;:1,&quot;ShouldSendToBack&quot;:true,&quot;NeedsApplyToAll&quot;:false}}}"/>
  <p:tag name="SMART" val="&lt;smart xmlns:xsd=&quot;http://www.w3.org/2001/XMLSchema&quot; xmlns:xsi=&quot;http://www.w3.org/2001/XMLSchema-instance&quot;&gt;&lt;presentationSettings&gt;&lt;agenda createSections=&quot;true&quot; enableNavigation=&quot;false&quot; hideNavigationUnderline=&quot;false&quot; id=&quot;1a51685d-0f5e-459a-b9da-b395655376c0&quot; isSaved=&quot;false&quot; isTouched=&quot;false&quot; mode=&quot;Agenda&quot; showDuration=&quot;false&quot; showHeaders=&quot;false&quot; showOnlyStartTime=&quot;false&quot; showPageNumber=&quot;false&quot; showResponsible=&quot;false&quot; showSubTopics=&quot;false&quot; showTimeSlot=&quot;false&quot; showTopicNumber=&quot;false&quot; slidesForSubTopics=&quot;false&quot; timeFormat=&quot;396611c8-d43d-4486-886a-4656dcc502a6&quot;&gt;&lt;columns&gt;&lt;column displayIndex=&quot;0&quot; header=&quot;#&quot; id=&quot;8fc7e105-5a32-4a72-bc85-7d3ff1e7b9d7&quot; visible=&quot;true&quot; width=&quot;170&quot; /&gt;&lt;column displayIndex=&quot;1&quot; header=&quot;Agenda Topic Number 1&quot; id=&quot;8f81a0ad-7497-4bbb-a001-838bad8c0faa&quot; visible=&quot;true&quot; width=&quot;160&quot; /&gt;&lt;column displayIndex=&quot;2&quot; header=&quot;Responsible&quot; id=&quot;2f9b06db-11e3-45bc-aecb-cf6141b9856b&quot; visible=&quot;true&quot; width=&quot;165&quot; /&gt;&lt;column displayIndex=&quot;3&quot; header=&quot;Min.&quot; id=&quot;99d05e97-02f5-4087-be8e-b10736e0c9ca&quot; visible=&quot;true&quot; width=&quot;150&quot; /&gt;&lt;column displayIndex=&quot;4&quot; header=&quot;Time&quot; id=&quot;fd356bfd-687f-40e8-b861-574837edbc46&quot; visible=&quot;true&quot; width=&quot;180&quot; /&gt;&lt;column displayIndex=&quot;5&quot; header=&quot;Page&quot; id=&quot;db91063f-fada-4f32-86c9-9368cd93fa26&quot; visible=&quot;true&quot; width=&quot;170&quot; /&gt;&lt;/columns&gt;&lt;layout id=&quot;1077&quot; name=&quot;Box Agenda&quot; /&gt;&lt;rows&gt;&lt;row duration=&quot;30&quot; id=&quot;0bddfcf4-0934-4932-ae21-d893299a8140&quot; slideNumber=&quot;0&quot; topic=&quot;Abordagem&quot; topicNumber=&quot;1&quot;&gt;&lt;values /&gt;&lt;StartTime&gt;PT9H&lt;/StartTime&gt;&lt;/row&gt;&lt;row duration=&quot;30&quot; id=&quot;b282d535-c388-4bce-ad41-61562abd6a99&quot; slideNumber=&quot;0&quot; topic=&quot;Equipe&quot; topicNumber=&quot;2&quot;&gt;&lt;values /&gt;&lt;StartTime&gt;PT9H30M&lt;/StartTime&gt;&lt;/row&gt;&lt;row duration=&quot;30&quot; id=&quot;6f085785-0e6a-416a-b8f3-60ef267af50c&quot; slideNumber=&quot;0&quot; topic=&quot;Comercial&quot; topicNumber=&quot;3&quot;&gt;&lt;values /&gt;&lt;StartTime&gt;PT10H&lt;/StartTime&gt;&lt;/row&gt;&lt;row duration=&quot;30&quot; id=&quot;4fc379a2-97da-41bd-b527-c5186f0e6050&quot; slideNumber=&quot;0&quot; topic=&quot;Cases&quot; topicNumber=&quot;4&quot;&gt;&lt;values /&gt;&lt;StartTime&gt;PT10H30M&lt;/StartTime&gt;&lt;/row&gt;&lt;/rows&gt;&lt;/agenda&gt;&lt;/presentationSettings&gt;&lt;/smar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READY-CHECKED" val="TRUE"/>
</p:tagLst>
</file>

<file path=ppt/theme/theme1.xml><?xml version="1.0" encoding="utf-8"?>
<a:theme xmlns:a="http://schemas.openxmlformats.org/drawingml/2006/main" name="Main_Analytics">
  <a:themeElements>
    <a:clrScheme name="OCC2017">
      <a:dk1>
        <a:srgbClr val="000000"/>
      </a:dk1>
      <a:lt1>
        <a:srgbClr val="FFFFFF"/>
      </a:lt1>
      <a:dk2>
        <a:srgbClr val="FF8E2E"/>
      </a:dk2>
      <a:lt2>
        <a:srgbClr val="1D368E"/>
      </a:lt2>
      <a:accent1>
        <a:srgbClr val="43CFF6"/>
      </a:accent1>
      <a:accent2>
        <a:srgbClr val="99D5D5"/>
      </a:accent2>
      <a:accent3>
        <a:srgbClr val="B29C86"/>
      </a:accent3>
      <a:accent4>
        <a:srgbClr val="009796"/>
      </a:accent4>
      <a:accent5>
        <a:srgbClr val="FF5A43"/>
      </a:accent5>
      <a:accent6>
        <a:srgbClr val="E6DCD7"/>
      </a:accent6>
      <a:hlink>
        <a:srgbClr val="B29C86"/>
      </a:hlink>
      <a:folHlink>
        <a:srgbClr val="0097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accent4"/>
          </a:solidFill>
        </a:ln>
        <a:effectLst/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4"/>
          </a:solidFill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a14:hiddenEffects>
          </a:ext>
        </a:extLst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Fake Orange">
      <a:srgbClr val="FF9C8E"/>
    </a:custClr>
    <a:custClr name="Lime Green">
      <a:srgbClr val="C6D02C"/>
    </a:custClr>
    <a:custClr name="OC&amp;C Purple">
      <a:srgbClr val="63277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Light Gray">
      <a:srgbClr val="C0C0C0"/>
    </a:custClr>
    <a:custClr name="Medium Gray">
      <a:srgbClr val="969696"/>
    </a:custClr>
    <a:custClr name="Dark Gray">
      <a:srgbClr val="80808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eal 1">
      <a:srgbClr val="99D5D5"/>
    </a:custClr>
    <a:custClr name="Teal 2">
      <a:srgbClr val="6CC0C0"/>
    </a:custClr>
    <a:custClr name="Teal 3">
      <a:srgbClr val="48A6A6"/>
    </a:custClr>
    <a:custClr name="Teal 4">
      <a:srgbClr val="3F8E8C"/>
    </a:custClr>
    <a:custClr name="Teal 5">
      <a:srgbClr val="33726D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aupe 1">
      <a:srgbClr val="E6DCD7"/>
    </a:custClr>
    <a:custClr name="Taupe 2">
      <a:srgbClr val="D7C8BE"/>
    </a:custClr>
    <a:custClr name="Taupe 3">
      <a:srgbClr val="BEAA96"/>
    </a:custClr>
    <a:custClr name="Taupe 4">
      <a:srgbClr val="968C78"/>
    </a:custClr>
    <a:custClr name="Taupe 5">
      <a:srgbClr val="827864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Traffic Light Green">
      <a:srgbClr val="92D050"/>
    </a:custClr>
    <a:custClr name="Traffic Light Yellow">
      <a:srgbClr val="FFC000"/>
    </a:custClr>
    <a:custClr name="Traffic Light Red">
      <a:srgbClr val="C00000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e595a2655564a8939bbbd867e2414004 [Read-Only]" id="{AAEB0047-284A-43E4-A725-840A069D86DC}" vid="{8778A659-AD6D-4509-BAE5-229D2A2066C4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B3ACDC7-2111-4E8A-B670-966094204125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c17a125-8e65-42f0-a911-45d016aeba9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efc0232-82fe-4533-96a1-02510e00692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7CCA89B0758541BF11A4EAA1F2ACAB" ma:contentTypeVersion="12" ma:contentTypeDescription="Create a new document." ma:contentTypeScope="" ma:versionID="74fdf47dae72a1d9d977c2df6cb144fc">
  <xsd:schema xmlns:xsd="http://www.w3.org/2001/XMLSchema" xmlns:xs="http://www.w3.org/2001/XMLSchema" xmlns:p="http://schemas.microsoft.com/office/2006/metadata/properties" xmlns:ns3="0efc0232-82fe-4533-96a1-02510e00692b" targetNamespace="http://schemas.microsoft.com/office/2006/metadata/properties" ma:root="true" ma:fieldsID="48afc7e2c1b0ec344d0cc8d0ef08b3c4" ns3:_="">
    <xsd:import namespace="0efc0232-82fe-4533-96a1-02510e00692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fc0232-82fe-4533-96a1-02510e00692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20DB7E4-6410-4C32-99FA-1E1DB469B3CD}">
  <ds:schemaRefs>
    <ds:schemaRef ds:uri="0efc0232-82fe-4533-96a1-02510e00692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3764D14-9DFA-4960-9EC4-E83D0D9FBD76}">
  <ds:schemaRefs>
    <ds:schemaRef ds:uri="0efc0232-82fe-4533-96a1-02510e00692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9D90352-7D0A-4C9E-B1C6-06644330B13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Application>Microsoft Office PowerPoint</Application>
  <PresentationFormat>Widescreen</PresentationFormat>
  <Slides>4</Slides>
  <Notes>2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5" baseType="lpstr">
      <vt:lpstr>Main_Analytics</vt:lpstr>
      <vt:lpstr>Estrutura × Vagas</vt:lpstr>
      <vt:lpstr>O COO lidera 199 das 330 pessoas e concentra 34 das 49 vagas; só 8 diretos respondem por uma estrutura 25 vezes maior</vt:lpstr>
      <vt:lpstr>No COO, Air Operations lidera 82 pessoas por 4 níveis de gestão e é o maior gargalo: 19 das 34 vagas, 14 ainda sem processo</vt:lpstr>
      <vt:lpstr>Obrigado!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Lucro da DMS</dc:title>
  <dc:subject>Deck-história  |  da metodologia aos agentes</dc:subject>
  <dc:creator>ATY</dc:creator>
  <cp:keywords/>
  <cp:revision>2</cp:revision>
  <dcterms:created xsi:type="dcterms:W3CDTF">2026-09-17T20:38:15Z</dcterms:created>
  <dcterms:modified xsi:type="dcterms:W3CDTF">2026-10-26T14:20:30Z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0x010100E17CCA89B0758541BF11A4EAA1F2ACAB</vt:lpwstr>
  </property>
</Properties>
</file>