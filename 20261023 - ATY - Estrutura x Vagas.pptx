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4"/>
  </p:sldMasterIdLst>
  <p:notesMasterIdLst>
    <p:notesMasterId r:id="rId9"/>
  </p:notesMasterIdLst>
  <p:handoutMasterIdLst>
    <p:handoutMasterId r:id="rId10"/>
  </p:handoutMasterIdLst>
  <p:sldIdLst>
    <p:sldId id="2147475257" r:id="rId5"/>
    <p:sldId id="2147475470" r:id="rId6"/>
    <p:sldId id="2147475471" r:id="rId7"/>
    <p:sldId id="2147475469" r:id="rId8"/>
  </p:sldIdLst>
  <p:sldSz cx="12192000" cy="6858000"/>
  <p:notesSz cx="6797675" cy="9928225"/>
  <p:custDataLst>
    <p:tags r:id="rId11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56BDAC4-B98A-4B57-A8DB-23B54F0D1082}">
          <p14:sldIdLst>
            <p14:sldId id="2147475257"/>
            <p14:sldId id="2147475470"/>
            <p14:sldId id="2147475471"/>
          </p14:sldIdLst>
        </p14:section>
        <p14:section name="Metodologia" id="{3D678D25-2541-45D6-B6BB-4B56A803BE73}">
          <p14:sldIdLst/>
        </p14:section>
        <p14:section name="Delivery" id="{8C5AC9BE-490F-4AC9-BA7A-82739033ABD7}">
          <p14:sldIdLst/>
        </p14:section>
        <p14:section name="Desconsolidação" id="{44D6E2CF-3F8E-4B51-8792-9A2049612CC8}">
          <p14:sldIdLst/>
        </p14:section>
        <p14:section name="Desconsolidação | Relevância" id="{F0F01AE5-3637-420D-B6DE-1415257202FA}">
          <p14:sldIdLst/>
        </p14:section>
        <p14:section name="Combinado" id="{E41362AF-1D6A-4543-8884-D1549D6501DA}">
          <p14:sldIdLst/>
        </p14:section>
        <p14:section name="3 charges" id="{E78628E5-7BFA-4604-9148-1E2DDA4D7B83}">
          <p14:sldIdLst/>
        </p14:section>
        <p14:section name="Fim" id="{C1DC953D-9B49-46ED-98E8-011CE27E333B}">
          <p14:sldIdLst>
            <p14:sldId id="2147475469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43BD5E-A30E-945E-9DF7-0707586BBC36}" name="Gabriel Kamimura" initials="GK" userId="S::gkamimura@atyconsulting.com::8625c588-77d7-415d-b427-540cae773a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EBE"/>
    <a:srgbClr val="008887"/>
    <a:srgbClr val="2DC1BF"/>
    <a:srgbClr val="58BABA"/>
    <a:srgbClr val="F5EBF9"/>
    <a:srgbClr val="E8D3F1"/>
    <a:srgbClr val="DADADA"/>
    <a:srgbClr val="009796"/>
    <a:srgbClr val="6B2D6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2EF2EF-A580-BB62-1BAE-F06225036B72}" v="17" dt="2026-10-23T21:35:42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_7FFFE00E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_7FFFE00E_0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_7FFFE00F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_7FFFE00F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Diretos</c:v>
                </c:pt>
              </c:strCache>
            </c:strRef>
          </c:tx>
          <c:spPr>
            <a:solidFill>
              <a:srgbClr val="6B2D6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COO</c:v>
                </c:pt>
                <c:pt idx="1">
                  <c:v>CITO</c:v>
                </c:pt>
                <c:pt idx="2">
                  <c:v>CFSO</c:v>
                </c:pt>
                <c:pt idx="3">
                  <c:v>Talent</c:v>
                </c:pt>
                <c:pt idx="4">
                  <c:v>CCO</c:v>
                </c:pt>
                <c:pt idx="5">
                  <c:v>Services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2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5D-444F-A5E7-9FC24C82F3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Indiretos</c:v>
                </c:pt>
              </c:strCache>
            </c:strRef>
          </c:tx>
          <c:spPr>
            <a:solidFill>
              <a:srgbClr val="66C1C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COO</c:v>
                </c:pt>
                <c:pt idx="1">
                  <c:v>CITO</c:v>
                </c:pt>
                <c:pt idx="2">
                  <c:v>CFSO</c:v>
                </c:pt>
                <c:pt idx="3">
                  <c:v>Talent</c:v>
                </c:pt>
                <c:pt idx="4">
                  <c:v>CCO</c:v>
                </c:pt>
                <c:pt idx="5">
                  <c:v>Services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191</c:v>
                </c:pt>
                <c:pt idx="1">
                  <c:v>45</c:v>
                </c:pt>
                <c:pt idx="2">
                  <c:v>26</c:v>
                </c:pt>
                <c:pt idx="3">
                  <c:v>17</c:v>
                </c:pt>
                <c:pt idx="4">
                  <c:v>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5D-444F-A5E7-9FC24C82F3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 planilha</c:v>
                </c:pt>
              </c:strCache>
            </c:strRef>
          </c:tx>
          <c:spPr>
            <a:solidFill>
              <a:srgbClr val="6B2D6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Air Operations</c:v>
                </c:pt>
                <c:pt idx="1">
                  <c:v>Air Product</c:v>
                </c:pt>
                <c:pt idx="2">
                  <c:v>Talent Mgmt</c:v>
                </c:pt>
                <c:pt idx="3">
                  <c:v>Healthcare</c:v>
                </c:pt>
                <c:pt idx="4">
                  <c:v>Financial</c:v>
                </c:pt>
                <c:pt idx="5">
                  <c:v>Ocean Operations</c:v>
                </c:pt>
                <c:pt idx="6">
                  <c:v>Technology</c:v>
                </c:pt>
                <c:pt idx="7">
                  <c:v>Ocean Product</c:v>
                </c:pt>
                <c:pt idx="8">
                  <c:v>High Tech (TL)</c:v>
                </c:pt>
                <c:pt idx="9">
                  <c:v>Outros 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9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DB0-4A9A-8736-7DA5879002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Só no draft</c:v>
                </c:pt>
              </c:strCache>
            </c:strRef>
          </c:tx>
          <c:spPr>
            <a:solidFill>
              <a:srgbClr val="F4A26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Air Operations</c:v>
                </c:pt>
                <c:pt idx="1">
                  <c:v>Air Product</c:v>
                </c:pt>
                <c:pt idx="2">
                  <c:v>Talent Mgmt</c:v>
                </c:pt>
                <c:pt idx="3">
                  <c:v>Healthcare</c:v>
                </c:pt>
                <c:pt idx="4">
                  <c:v>Financial</c:v>
                </c:pt>
                <c:pt idx="5">
                  <c:v>Ocean Operations</c:v>
                </c:pt>
                <c:pt idx="6">
                  <c:v>Technology</c:v>
                </c:pt>
                <c:pt idx="7">
                  <c:v>Ocean Product</c:v>
                </c:pt>
                <c:pt idx="8">
                  <c:v>High Tech (TL)</c:v>
                </c:pt>
                <c:pt idx="9">
                  <c:v>Outros 3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8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DB0-4A9A-8736-7DA5879002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85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Diretos</c:v>
                </c:pt>
              </c:strCache>
            </c:strRef>
          </c:tx>
          <c:spPr>
            <a:solidFill>
              <a:srgbClr val="6B2D6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Carol Mendoza (head)</c:v>
                </c:pt>
                <c:pt idx="1">
                  <c:v>Daniela Bueno (lead coord.)</c:v>
                </c:pt>
                <c:pt idx="2">
                  <c:v>Thais Cosenza (Sr. TL CC)</c:v>
                </c:pt>
                <c:pt idx="3">
                  <c:v>Pamela Ibarra (TL)</c:v>
                </c:pt>
                <c:pt idx="4">
                  <c:v>Gabriella Pereira (TL)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12</c:v>
                </c:pt>
                <c:pt idx="4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7D7-445C-8899-73759AF0F5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Indiretos</c:v>
                </c:pt>
              </c:strCache>
            </c:strRef>
          </c:tx>
          <c:spPr>
            <a:solidFill>
              <a:srgbClr val="66C1C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Carol Mendoza (head)</c:v>
                </c:pt>
                <c:pt idx="1">
                  <c:v>Daniela Bueno (lead coord.)</c:v>
                </c:pt>
                <c:pt idx="2">
                  <c:v>Thais Cosenza (Sr. TL CC)</c:v>
                </c:pt>
                <c:pt idx="3">
                  <c:v>Pamela Ibarra (TL)</c:v>
                </c:pt>
                <c:pt idx="4">
                  <c:v>Gabriella Pereira (TL)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</c:v>
                </c:pt>
                <c:pt idx="1">
                  <c:v>43</c:v>
                </c:pt>
                <c:pt idx="2">
                  <c:v>23</c:v>
                </c:pt>
                <c:pt idx="3">
                  <c:v>9</c:v>
                </c:pt>
                <c:pt idx="4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7D7-445C-8899-73759AF0F5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50"/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95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Publicadas no Gupy</c:v>
                </c:pt>
              </c:strCache>
            </c:strRef>
          </c:tx>
          <c:spPr>
            <a:solidFill>
              <a:srgbClr val="00979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2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938-4E81-BF19-71A4479430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Ainda a abrir</c:v>
                </c:pt>
              </c:strCache>
            </c:strRef>
          </c:tx>
          <c:spPr>
            <a:solidFill>
              <a:srgbClr val="6B2D6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938-4E81-BF19-71A4479430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26/10/2026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26/10/2026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26/10/2026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AA92-E479-E154-8AC9-07FBE414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1B637-A73C-1828-488E-54A0361CC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94C36-26A0-219E-A1C9-2C31C11A1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90C1-5311-D3BD-83EE-E2831A7E37E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26/10/2026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D4632-F963-ADA1-EF15-F5DCB36F1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20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  <p:pic>
        <p:nvPicPr>
          <p:cNvPr id="5" name="Imagem 4" descr="DMS Logistics | LinkedIn">
            <a:extLst>
              <a:ext uri="{FF2B5EF4-FFF2-40B4-BE49-F238E27FC236}">
                <a16:creationId xmlns:a16="http://schemas.microsoft.com/office/drawing/2014/main" id="{A59467C9-35D5-753B-69C9-D9268523A0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615" t="27132" r="11403" b="24868"/>
          <a:stretch>
            <a:fillRect/>
          </a:stretch>
        </p:blipFill>
        <p:spPr>
          <a:xfrm>
            <a:off x="310121" y="6565935"/>
            <a:ext cx="422694" cy="2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78209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819" r:id="rId2"/>
    <p:sldLayoutId id="2147483820" r:id="rId3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image" Target="../media/image6.emf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oleObject" Target="../embeddings/oleObject4.bin"/><Relationship Id="rId2" Type="http://schemas.openxmlformats.org/officeDocument/2006/relationships/tags" Target="../tags/tag6.xml"/><Relationship Id="rId16" Type="http://schemas.openxmlformats.org/officeDocument/2006/relationships/image" Target="../media/image9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9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16.xml"/><Relationship Id="rId7" Type="http://schemas.openxmlformats.org/officeDocument/2006/relationships/notesSlide" Target="../notesSlides/notesSlide2.xml"/><Relationship Id="rId12" Type="http://schemas.openxmlformats.org/officeDocument/2006/relationships/image" Target="../media/image9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5" Type="http://schemas.openxmlformats.org/officeDocument/2006/relationships/tags" Target="../tags/tag18.xml"/><Relationship Id="rId10" Type="http://schemas.openxmlformats.org/officeDocument/2006/relationships/image" Target="../media/image7.png"/><Relationship Id="rId4" Type="http://schemas.openxmlformats.org/officeDocument/2006/relationships/tags" Target="../tags/tag17.xml"/><Relationship Id="rId9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143A159C-63E7-30DD-64D6-0CED822CD3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21" imgH="423" progId="TCLayout.ActiveDocument.1">
                  <p:embed/>
                </p:oleObj>
              </mc:Choice>
              <mc:Fallback>
                <p:oleObj name="think-cell Slide" r:id="rId12" imgW="421" imgH="42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143A159C-63E7-30DD-64D6-0CED822CD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agem 13" descr="Padrão do plano de fundo&#10;&#10;Descrição gerada automaticamente">
            <a:extLst>
              <a:ext uri="{FF2B5EF4-FFF2-40B4-BE49-F238E27FC236}">
                <a16:creationId xmlns:a16="http://schemas.microsoft.com/office/drawing/2014/main" id="{89F41087-4073-577E-F290-6A788287E16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aixaDeTexto 11">
            <a:extLst>
              <a:ext uri="{FF2B5EF4-FFF2-40B4-BE49-F238E27FC236}">
                <a16:creationId xmlns:a16="http://schemas.microsoft.com/office/drawing/2014/main" id="{E029C937-7021-5B1F-825C-CDAB217DB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28263" y="3699455"/>
            <a:ext cx="1634422" cy="276999"/>
          </a:xfrm>
          <a:prstGeom prst="rect">
            <a:avLst/>
          </a:prstGeom>
          <a:noFill/>
        </p:spPr>
        <p:txBody>
          <a:bodyPr wrap="none" lIns="0" tIns="45720" rIns="91440" bIns="45720" rtlCol="0" anchor="t">
            <a:spAutoFit/>
          </a:bodyPr>
          <a:lstStyle/>
          <a:p>
            <a:pPr algn="l"/>
            <a:r>
              <a:rPr lang="pt-BR" sz="1200">
                <a:solidFill>
                  <a:srgbClr val="FFFFFF"/>
                </a:solidFill>
                <a:latin typeface="Arial"/>
                <a:cs typeface="Arial"/>
              </a:rPr>
              <a:t>23 de outubro de 2026</a:t>
            </a:r>
          </a:p>
        </p:txBody>
      </p:sp>
      <p:sp>
        <p:nvSpPr>
          <p:cNvPr id="9" name="Título 3">
            <a:extLst>
              <a:ext uri="{FF2B5EF4-FFF2-40B4-BE49-F238E27FC236}">
                <a16:creationId xmlns:a16="http://schemas.microsoft.com/office/drawing/2014/main" id="{53819B30-2220-92E2-A29C-D0F965AF447B}"/>
              </a:ext>
            </a:extLst>
          </p:cNvPr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428263" y="2150392"/>
            <a:ext cx="5899385" cy="891608"/>
          </a:xfrm>
        </p:spPr>
        <p:txBody>
          <a:bodyPr vert="horz" lIns="0" anchor="ctr"/>
          <a:lstStyle/>
          <a:p>
            <a:pPr algn="l" fontAlgn="auto">
              <a:spcAft>
                <a:spcPts val="600"/>
              </a:spcAft>
            </a:pPr>
            <a:r>
              <a:rPr lang="pt-BR" sz="3600">
                <a:solidFill>
                  <a:srgbClr val="FFFFFF"/>
                </a:solidFill>
              </a:rPr>
              <a:t>Estrutura × Vagas</a:t>
            </a:r>
            <a:endParaRPr lang="pt-BR" sz="2000" b="0" i="1">
              <a:solidFill>
                <a:schemeClr val="bg1"/>
              </a:solidFill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D851D84D-F111-9039-1F62-2CA0312EA59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 flipH="1">
            <a:off x="311250" y="3816000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7FFB358-4290-7427-2BBD-7D3DA4AAA4D9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 flipH="1" flipV="1">
            <a:off x="311250" y="1802729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2E678F2-BE98-9C30-AD99-FE7D3939E7F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067328" y="3816000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2EC26EB5-2B19-D064-94F9-FAFD488FFDA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 flipV="1">
            <a:off x="6067328" y="1802729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/>
          </a:p>
        </p:txBody>
      </p:sp>
      <p:pic>
        <p:nvPicPr>
          <p:cNvPr id="42" name="Imagem 15" descr="Pessoa com faca na mão&#10;&#10;Descrição gerada automaticamente com confiança média">
            <a:extLst>
              <a:ext uri="{FF2B5EF4-FFF2-40B4-BE49-F238E27FC236}">
                <a16:creationId xmlns:a16="http://schemas.microsoft.com/office/drawing/2014/main" id="{D52487C3-05F1-8B51-D5B7-AD357A19DFE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/>
          <a:srcRect b="428"/>
          <a:stretch>
            <a:fillRect/>
          </a:stretch>
        </p:blipFill>
        <p:spPr>
          <a:xfrm>
            <a:off x="5810249" y="4055693"/>
            <a:ext cx="6381751" cy="2802307"/>
          </a:xfrm>
          <a:prstGeom prst="rect">
            <a:avLst/>
          </a:prstGeom>
        </p:spPr>
      </p:pic>
      <p:pic>
        <p:nvPicPr>
          <p:cNvPr id="43" name="Logo ATY" descr="aty_logo_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5258" y="6088286"/>
            <a:ext cx="938784" cy="44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1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COO lidera 199 das 330 pessoas e concentra 34 das 49 vagas; só 8 diretos respondem por uma estrutura 25 vezes maior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Estrutura × Vagas | Visão da casa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38328" y="1197864"/>
            <a:ext cx="11521440" cy="182880"/>
          </a:xfrm>
        </p:spPr>
        <p:txBody>
          <a:bodyPr/>
          <a:lstStyle/>
          <a:p>
            <a:r>
              <a:t>Co-CEO: 330 liderados · 6 diretorias · 49 vagas, 8 publicadas no Gupy · draft propõe levar Air Product e Ocean Product do COO para o CEO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Fonte: ATY | Draft 23 Out 26 (Factorial) · planilha de vagas (21/10/26) · Gupy · indiretos = liderados − diretos · % aberto = vagas ÷ (liderados + 1 + vagas)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472184"/>
            <a:ext cx="5669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Diretos e indiretos por diretoria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262626"/>
                </a:solidFill>
                <a:latin typeface="Arial"/>
              </a:rPr>
              <a:t>nº de liderados de cada reporte do Co-CEO no draft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10896" y="1828800"/>
          <a:ext cx="57150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320040" y="3995928"/>
            <a:ext cx="5715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" y="4069080"/>
            <a:ext cx="5669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Onde estão as vagas ainda sem processo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262626"/>
                </a:solidFill>
                <a:latin typeface="Arial"/>
              </a:rPr>
              <a:t>41 vagas da planilha por área + 1 vaga de TL que só aparece no draft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10896" y="4434840"/>
          <a:ext cx="571500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6099048" y="1472184"/>
            <a:ext cx="0" cy="474573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27064" y="1472184"/>
            <a:ext cx="56235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Estrutura × vagas por diretoria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262626"/>
                </a:solidFill>
                <a:latin typeface="Arial"/>
              </a:rPr>
              <a:t>liderados por direto = tamanho da estrutura que cada direto sustenta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27064" y="1874519"/>
          <a:ext cx="5623560" cy="2438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Diretoria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Diretos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Indiretos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Liderados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Liderados por direto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 abrir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% aberto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Arial"/>
                        </a:rPr>
                        <a:t>COO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6B2D6B"/>
                          </a:solidFill>
                          <a:latin typeface="Arial"/>
                        </a:rPr>
                        <a:t>24,9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6B2D6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6B2D6B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Arial"/>
                        </a:rPr>
                        <a:t>CITO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6B2D6B"/>
                          </a:solidFill>
                          <a:latin typeface="Arial"/>
                        </a:rPr>
                        <a:t>23,5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Arial"/>
                        </a:rPr>
                        <a:t>CFSO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Arial"/>
                        </a:rPr>
                        <a:t>Talent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6B2D6B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Arial"/>
                        </a:rPr>
                        <a:t>Services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9796"/>
                          </a:solidFill>
                          <a:latin typeface="Arial"/>
                        </a:rPr>
                        <a:t>Total (Co-CEO)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979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9796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9796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9796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979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979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9796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227064" y="4526280"/>
            <a:ext cx="5623560" cy="1645920"/>
          </a:xfrm>
          <a:prstGeom prst="roundRect">
            <a:avLst>
              <a:gd name="adj" fmla="val 12000"/>
            </a:avLst>
          </a:prstGeom>
          <a:solidFill>
            <a:srgbClr val="E8F4F4"/>
          </a:solidFill>
          <a:ln w="12700">
            <a:solidFill>
              <a:srgbClr val="009796"/>
            </a:solidFill>
          </a:ln>
          <a:effectLst/>
        </p:spPr>
        <p:txBody>
          <a:bodyPr wrap="square" lIns="137160" tIns="73152" rIns="137160" bIns="73152" rtlCol="0" anchor="ctr"/>
          <a:lstStyle/>
          <a:p>
            <a:pPr marL="171450" indent="-171450" algn="l">
              <a:spcAft>
                <a:spcPts val="400"/>
              </a:spcAft>
              <a:buClr>
                <a:srgbClr val="009796"/>
              </a:buClr>
              <a:buFont typeface="Wingdings"/>
              <a:buChar char="§"/>
            </a:pPr>
            <a:r>
              <a:rPr sz="900" b="1">
                <a:solidFill>
                  <a:srgbClr val="262626"/>
                </a:solidFill>
                <a:latin typeface="Arial"/>
              </a:rPr>
              <a:t>COO: </a:t>
            </a:r>
            <a:r>
              <a:rPr sz="900" b="0">
                <a:solidFill>
                  <a:srgbClr val="262626"/>
                </a:solidFill>
                <a:latin typeface="Arial"/>
              </a:rPr>
              <a:t>8 diretos para 199 liderados e 34 vagas; sem Air Product e Ocean Product, como propõe o draft, cai para 6 diretos, 151 liderados e 25 vagas</a:t>
            </a:r>
          </a:p>
          <a:p>
            <a:pPr marL="171450" indent="-171450" algn="l">
              <a:spcAft>
                <a:spcPts val="400"/>
              </a:spcAft>
              <a:buClr>
                <a:srgbClr val="009796"/>
              </a:buClr>
              <a:buFont typeface="Wingdings"/>
              <a:buChar char="§"/>
            </a:pPr>
            <a:r>
              <a:rPr sz="900" b="1">
                <a:solidFill>
                  <a:srgbClr val="262626"/>
                </a:solidFill>
                <a:latin typeface="Arial"/>
              </a:rPr>
              <a:t>CITO: </a:t>
            </a:r>
            <a:r>
              <a:rPr sz="900" b="0">
                <a:solidFill>
                  <a:srgbClr val="262626"/>
                </a:solidFill>
                <a:latin typeface="Arial"/>
              </a:rPr>
              <a:t>2 diretos sustentam 47 pessoas; o Head of Operation tem 27 diretos, o maior time da casa</a:t>
            </a:r>
          </a:p>
          <a:p>
            <a:pPr marL="171450" indent="-171450" algn="l">
              <a:spcAft>
                <a:spcPts val="400"/>
              </a:spcAft>
              <a:buClr>
                <a:srgbClr val="009796"/>
              </a:buClr>
              <a:buFont typeface="Wingdings"/>
              <a:buChar char="§"/>
            </a:pPr>
            <a:r>
              <a:rPr sz="900" b="1">
                <a:solidFill>
                  <a:srgbClr val="262626"/>
                </a:solidFill>
                <a:latin typeface="Arial"/>
              </a:rPr>
              <a:t>CCO: </a:t>
            </a:r>
            <a:r>
              <a:rPr sz="900" b="0">
                <a:solidFill>
                  <a:srgbClr val="262626"/>
                </a:solidFill>
                <a:latin typeface="Arial"/>
              </a:rPr>
              <a:t>22% do quadro em aberto e heads de indústria com 2 liderados ou menos</a:t>
            </a:r>
          </a:p>
          <a:p>
            <a:pPr marL="171450" indent="-171450" algn="l">
              <a:spcAft>
                <a:spcPts val="400"/>
              </a:spcAft>
              <a:buClr>
                <a:srgbClr val="009796"/>
              </a:buClr>
              <a:buFont typeface="Wingdings"/>
              <a:buChar char="§"/>
            </a:pPr>
            <a:r>
              <a:rPr sz="900" b="1">
                <a:solidFill>
                  <a:srgbClr val="262626"/>
                </a:solidFill>
                <a:latin typeface="Arial"/>
              </a:rPr>
              <a:t>Vaga de TL de High Tech </a:t>
            </a:r>
            <a:r>
              <a:rPr sz="900" b="0">
                <a:solidFill>
                  <a:srgbClr val="262626"/>
                </a:solidFill>
                <a:latin typeface="Arial"/>
              </a:rPr>
              <a:t>(CCO) aparece no draft, mas não na planilha de vagas: as vagas de chefia passam de 7 para 8</a:t>
            </a:r>
          </a:p>
        </p:txBody>
      </p:sp>
      <p:pic>
        <p:nvPicPr>
          <p:cNvPr id="16" name="Logo ATY rodape" descr="aty_footer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6408" y="6420612"/>
            <a:ext cx="198120" cy="94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COO, Air Operations lidera 82 pessoas por 4 níveis de gestão e é o maior gargalo: 19 das 34 vagas, 14 ainda sem processo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Estrutura × Vagas | Operações (COO)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38328" y="1197864"/>
            <a:ext cx="11521440" cy="182880"/>
          </a:xfrm>
        </p:spPr>
        <p:txBody>
          <a:bodyPr/>
          <a:lstStyle/>
          <a:p>
            <a:r>
              <a:t>COO: 199 liderados · 8 heads diretos · 34 vagas, 6 publicadas · nos blocos de Operações, 12 das 17 vagas ainda a abrir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Fonte: ATY | Draft 23 Out 26 (organograma Factorial) · Base Setembro/26 (RH) para os blocos de Operações · planilha de vagas (21/10/26) · Gupy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472184"/>
            <a:ext cx="5669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Cadeia de gestão da Air Operations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262626"/>
                </a:solidFill>
                <a:latin typeface="Arial"/>
              </a:rPr>
              <a:t>diretos e indiretos de cada gestor, da head ao team leader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10896" y="1828800"/>
          <a:ext cx="57150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320040" y="3995928"/>
            <a:ext cx="5715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" y="4069080"/>
            <a:ext cx="5669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Vagas dos blocos de Operações por local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262626"/>
                </a:solidFill>
                <a:latin typeface="Arial"/>
              </a:rPr>
              <a:t>publicadas no Gupy × ainda a abrir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10896" y="4434840"/>
          <a:ext cx="57150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6099048" y="1472184"/>
            <a:ext cx="0" cy="474573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27064" y="1472184"/>
            <a:ext cx="56235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Heads do COO: estrutura × vagas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262626"/>
                </a:solidFill>
                <a:latin typeface="Arial"/>
              </a:rPr>
              <a:t>diretos e liderados de cada head no draft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27064" y="1874519"/>
          <a:ext cx="5623560" cy="2779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Área (head)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Diretos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Indiretos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Liderados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 abrir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 aberto</a:t>
                      </a:r>
                    </a:p>
                  </a:txBody>
                  <a:tcPr marL="54864" marR="54864" marT="18288" marB="18288" anchor="ctr">
                    <a:solidFill>
                      <a:srgbClr val="0097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Air Operations (Carol)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2D6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2D6B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Ocean Operations (Natalia)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Air Product (Sampaio)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2D6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2D6B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Ocean Product (Filipe C.)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Quality &amp; Op. Intel. (Marco)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Overland (Possidonio)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Op. Excellence (Jonathas)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Cold Chain (Lucy)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Special Operations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9796"/>
                          </a:solidFill>
                          <a:latin typeface="Arial"/>
                        </a:rPr>
                        <a:t>Total COO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79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796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796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79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79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796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E8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27064" y="4681728"/>
            <a:ext cx="5623560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7F7F7F"/>
                </a:solidFill>
                <a:latin typeface="Arial"/>
              </a:rPr>
              <a:t>Air Product e Ocean Product saem do COO na proposta do draft; Special Operations não tem head.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5010912"/>
            <a:ext cx="5623560" cy="1207008"/>
          </a:xfrm>
          <a:prstGeom prst="roundRect">
            <a:avLst>
              <a:gd name="adj" fmla="val 12000"/>
            </a:avLst>
          </a:prstGeom>
          <a:solidFill>
            <a:srgbClr val="E8F4F4"/>
          </a:solidFill>
          <a:ln w="12700">
            <a:solidFill>
              <a:srgbClr val="009796"/>
            </a:solidFill>
          </a:ln>
          <a:effectLst/>
        </p:spPr>
        <p:txBody>
          <a:bodyPr wrap="square" lIns="137160" tIns="73152" rIns="137160" bIns="73152" rtlCol="0" anchor="ctr"/>
          <a:lstStyle/>
          <a:p>
            <a:pPr marL="171450" indent="-171450">
              <a:spcAft>
                <a:spcPts val="400"/>
              </a:spcAft>
              <a:buClr>
                <a:srgbClr val="009796"/>
              </a:buClr>
              <a:buFont typeface="Arial"/>
              <a:buChar char="•"/>
            </a:pPr>
            <a:r>
              <a:rPr lang="en-US" sz="900" b="1">
                <a:solidFill>
                  <a:srgbClr val="262626"/>
                </a:solidFill>
                <a:latin typeface="Arial"/>
              </a:rPr>
              <a:t>Concentração: </a:t>
            </a:r>
            <a:r>
              <a:rPr lang="en-US" sz="900">
                <a:solidFill>
                  <a:srgbClr val="262626"/>
                </a:solidFill>
                <a:latin typeface="Arial"/>
              </a:rPr>
              <a:t>Daniela responde por 47 das 82 pessoas da Air Operations, mais que a metade da área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171450" indent="-171450">
              <a:spcAft>
                <a:spcPts val="400"/>
              </a:spcAft>
              <a:buClr>
                <a:srgbClr val="009796"/>
              </a:buClr>
              <a:buFont typeface="Arial"/>
              <a:buChar char="•"/>
            </a:pPr>
            <a:r>
              <a:rPr lang="en-US" sz="900" b="1">
                <a:solidFill>
                  <a:srgbClr val="262626"/>
                </a:solidFill>
                <a:latin typeface="Arial"/>
              </a:rPr>
              <a:t>Liderança a contratar: </a:t>
            </a:r>
            <a:r>
              <a:rPr lang="en-US" sz="900">
                <a:solidFill>
                  <a:srgbClr val="262626"/>
                </a:solidFill>
                <a:latin typeface="Arial"/>
              </a:rPr>
              <a:t>as 3 vagas de TL de Operações America estão sem processo</a:t>
            </a:r>
            <a:endParaRPr lang="en-US"/>
          </a:p>
          <a:p>
            <a:pPr marL="171450" indent="-171450">
              <a:spcAft>
                <a:spcPts val="400"/>
              </a:spcAft>
              <a:buClr>
                <a:srgbClr val="009796"/>
              </a:buClr>
              <a:buFont typeface="Arial"/>
              <a:buChar char="•"/>
            </a:pPr>
            <a:r>
              <a:rPr lang="en-US" sz="900" b="1">
                <a:solidFill>
                  <a:srgbClr val="262626"/>
                </a:solidFill>
                <a:latin typeface="Arial"/>
              </a:rPr>
              <a:t>Europa: </a:t>
            </a:r>
            <a:r>
              <a:rPr lang="en-US" sz="900">
                <a:solidFill>
                  <a:srgbClr val="262626"/>
                </a:solidFill>
                <a:latin typeface="Arial"/>
              </a:rPr>
              <a:t>Pamela lidera 21 pessoas a partir de Portugal, </a:t>
            </a:r>
            <a:r>
              <a:rPr lang="en-US" sz="900" b="0">
                <a:solidFill>
                  <a:srgbClr val="262626"/>
                </a:solidFill>
                <a:latin typeface="Arial"/>
              </a:rPr>
              <a:t>e </a:t>
            </a:r>
            <a:r>
              <a:rPr lang="en-US" sz="900">
                <a:solidFill>
                  <a:srgbClr val="262626"/>
                </a:solidFill>
                <a:latin typeface="Arial"/>
              </a:rPr>
              <a:t>Inland Freight Europa segue sem TL, com 4 vagas a abrir</a:t>
            </a:r>
            <a:endParaRPr lang="en-US"/>
          </a:p>
          <a:p>
            <a:pPr marL="171450" indent="-171450">
              <a:spcAft>
                <a:spcPts val="400"/>
              </a:spcAft>
              <a:buClr>
                <a:srgbClr val="009796"/>
              </a:buClr>
              <a:buFont typeface="Arial"/>
              <a:buChar char="•"/>
            </a:pPr>
            <a:r>
              <a:rPr lang="en-US" sz="900" b="1">
                <a:solidFill>
                  <a:srgbClr val="262626"/>
                </a:solidFill>
                <a:latin typeface="Arial"/>
              </a:rPr>
              <a:t>Air Product: </a:t>
            </a:r>
            <a:r>
              <a:rPr lang="en-US" sz="900">
                <a:solidFill>
                  <a:srgbClr val="262626"/>
                </a:solidFill>
                <a:latin typeface="Arial"/>
              </a:rPr>
              <a:t>2 diretos sustentam 28 pessoas e </a:t>
            </a:r>
            <a:r>
              <a:rPr lang="en-US" sz="900" b="0">
                <a:solidFill>
                  <a:srgbClr val="262626"/>
                </a:solidFill>
                <a:latin typeface="Arial"/>
              </a:rPr>
              <a:t>as </a:t>
            </a:r>
            <a:r>
              <a:rPr lang="en-US" sz="900">
                <a:solidFill>
                  <a:srgbClr val="262626"/>
                </a:solidFill>
                <a:latin typeface="Arial"/>
              </a:rPr>
              <a:t>7 </a:t>
            </a:r>
            <a:r>
              <a:rPr lang="en-US" sz="900" b="0">
                <a:solidFill>
                  <a:srgbClr val="262626"/>
                </a:solidFill>
                <a:latin typeface="Arial"/>
              </a:rPr>
              <a:t>vagas estão </a:t>
            </a:r>
            <a:r>
              <a:rPr lang="en-US" sz="900">
                <a:solidFill>
                  <a:srgbClr val="262626"/>
                </a:solidFill>
                <a:latin typeface="Arial"/>
              </a:rPr>
              <a:t>sem processo</a:t>
            </a:r>
            <a:endParaRPr lang="en-US"/>
          </a:p>
        </p:txBody>
      </p:sp>
      <p:pic>
        <p:nvPicPr>
          <p:cNvPr id="17" name="Logo ATY rodape" descr="aty_footer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6408" y="6420612"/>
            <a:ext cx="198120" cy="94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2586-CF33-2B03-2A8E-0977E5C0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D70F649E-EFA0-3DD0-E67E-CD706CF361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1" imgH="423" progId="TCLayout.ActiveDocument.1">
                  <p:embed/>
                </p:oleObj>
              </mc:Choice>
              <mc:Fallback>
                <p:oleObj name="think-cell Slide" r:id="rId8" imgW="421" imgH="42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D70F649E-EFA0-3DD0-E67E-CD706CF36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agem 13" descr="Padrão do plano de fundo&#10;&#10;Descrição gerada automaticamente">
            <a:extLst>
              <a:ext uri="{FF2B5EF4-FFF2-40B4-BE49-F238E27FC236}">
                <a16:creationId xmlns:a16="http://schemas.microsoft.com/office/drawing/2014/main" id="{25F0B456-9322-E844-3154-A51F6FB259E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3">
            <a:extLst>
              <a:ext uri="{FF2B5EF4-FFF2-40B4-BE49-F238E27FC236}">
                <a16:creationId xmlns:a16="http://schemas.microsoft.com/office/drawing/2014/main" id="{482AF1D5-08C1-D100-115C-35CA3D3072C8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428263" y="1919052"/>
            <a:ext cx="5899385" cy="1122948"/>
          </a:xfrm>
        </p:spPr>
        <p:txBody>
          <a:bodyPr vert="horz" anchor="ctr"/>
          <a:lstStyle/>
          <a:p>
            <a:pPr algn="l" fontAlgn="auto">
              <a:spcAft>
                <a:spcPts val="600"/>
              </a:spcAft>
            </a:pPr>
            <a:r>
              <a:rPr lang="pt-BR" sz="3600">
                <a:solidFill>
                  <a:schemeClr val="bg1"/>
                </a:solidFill>
              </a:rPr>
              <a:t>Obrigado!</a:t>
            </a:r>
            <a:endParaRPr lang="pt-BR" sz="2000">
              <a:solidFill>
                <a:schemeClr val="bg1"/>
              </a:solidFill>
            </a:endParaRP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BCE95F19-7716-1B09-229E-035C8FD40C8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28263" y="3218068"/>
            <a:ext cx="4642767" cy="276999"/>
          </a:xfrm>
        </p:spPr>
        <p:txBody>
          <a:bodyPr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pt-BR" sz="1200">
              <a:solidFill>
                <a:schemeClr val="bg1"/>
              </a:solidFill>
            </a:endParaRPr>
          </a:p>
        </p:txBody>
      </p:sp>
      <p:pic>
        <p:nvPicPr>
          <p:cNvPr id="42" name="Imagem 15" descr="Pessoa com faca na mão&#10;&#10;Descrição gerada automaticamente com confiança média">
            <a:extLst>
              <a:ext uri="{FF2B5EF4-FFF2-40B4-BE49-F238E27FC236}">
                <a16:creationId xmlns:a16="http://schemas.microsoft.com/office/drawing/2014/main" id="{B3D8FB7D-044E-E577-DBA0-2F8FF2E3EC9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/>
          <a:srcRect b="428"/>
          <a:stretch>
            <a:fillRect/>
          </a:stretch>
        </p:blipFill>
        <p:spPr>
          <a:xfrm>
            <a:off x="5810249" y="4055693"/>
            <a:ext cx="6381751" cy="2802307"/>
          </a:xfrm>
          <a:prstGeom prst="rect">
            <a:avLst/>
          </a:prstGeom>
        </p:spPr>
      </p:pic>
      <p:pic>
        <p:nvPicPr>
          <p:cNvPr id="43" name="Logo ATY" descr="aty_logo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258" y="6088286"/>
            <a:ext cx="938784" cy="44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093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dQEAAA=="/>
  <p:tag name="POWER_USER_PPT_AGENDA_PRESENTATION_TABLE_OF_CONTENT_STYLE_TAG" val="1"/>
  <p:tag name="POWER_USER_PPT_AGENDA_PRESENTATION_DIVIDERS_STYLE_TAG" val="POWER_USER_LAYOUT_DIVIDER_CUSTOM"/>
  <p:tag name="POWER_USER_PPT_AGENDA_PRESENTATION_SHOW_SECTION_NUMBERS_CHECKED_TAG" val="1"/>
  <p:tag name="POWER_USER_PPT_AGENDA_PRESENTATION_TABLE_OF_CONTENT_CHECKED_TAG" val="1"/>
  <p:tag name="POWER_USER_PPT_AGENDA_PRESENTATION_SHOULD_CREATE_TABLE_OF_CONTENT_TAG" val="0"/>
  <p:tag name="POWER_USER_PPT_AGENDA_PRESENTATION_DIVIDERS_CHECKED_TAG" val="0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8.514282,&quot;MarginTop&quot;:132.616211,&quot;MarginBottom&quot;:162.681061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3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  <p:tag name="SMART" val="&lt;smart xmlns:xsd=&quot;http://www.w3.org/2001/XMLSchema&quot; xmlns:xsi=&quot;http://www.w3.org/2001/XMLSchema-instance&quot;&gt;&lt;presentationSettings&gt;&lt;agenda createSections=&quot;true&quot; enableNavigation=&quot;false&quot; hideNavigationUnderline=&quot;false&quot; id=&quot;1a51685d-0f5e-459a-b9da-b395655376c0&quot; isSaved=&quot;false&quot; isTouched=&quot;false&quot; mode=&quot;Agenda&quot; showDuration=&quot;false&quot; showHeaders=&quot;false&quot; showOnlyStartTime=&quot;false&quot; showPageNumber=&quot;false&quot; showResponsible=&quot;false&quot; showSubTopics=&quot;false&quot; showTimeSlot=&quot;false&quot; showTopicNumber=&quot;false&quot; slidesForSubTopics=&quot;false&quot; timeFormat=&quot;396611c8-d43d-4486-886a-4656dcc502a6&quot;&gt;&lt;columns&gt;&lt;column displayIndex=&quot;0&quot; header=&quot;#&quot; id=&quot;8fc7e105-5a32-4a72-bc85-7d3ff1e7b9d7&quot; visible=&quot;true&quot; width=&quot;170&quot; /&gt;&lt;column displayIndex=&quot;1&quot; header=&quot;Agenda Topic Number 1&quot; id=&quot;8f81a0ad-7497-4bbb-a001-838bad8c0faa&quot; visible=&quot;true&quot; width=&quot;160&quot; /&gt;&lt;column displayIndex=&quot;2&quot; header=&quot;Responsible&quot; id=&quot;2f9b06db-11e3-45bc-aecb-cf6141b9856b&quot; visible=&quot;true&quot; width=&quot;165&quot; /&gt;&lt;column displayIndex=&quot;3&quot; header=&quot;Min.&quot; id=&quot;99d05e97-02f5-4087-be8e-b10736e0c9ca&quot; visible=&quot;true&quot; width=&quot;150&quot; /&gt;&lt;column displayIndex=&quot;4&quot; header=&quot;Time&quot; id=&quot;fd356bfd-687f-40e8-b861-574837edbc46&quot; visible=&quot;true&quot; width=&quot;180&quot; /&gt;&lt;column displayIndex=&quot;5&quot; header=&quot;Page&quot; id=&quot;db91063f-fada-4f32-86c9-9368cd93fa26&quot; visible=&quot;true&quot; width=&quot;170&quot; /&gt;&lt;/columns&gt;&lt;layout id=&quot;1077&quot; name=&quot;Box Agenda&quot; /&gt;&lt;rows&gt;&lt;row duration=&quot;30&quot; id=&quot;0bddfcf4-0934-4932-ae21-d893299a8140&quot; slideNumber=&quot;0&quot; topic=&quot;Abordagem&quot; topicNumber=&quot;1&quot;&gt;&lt;values /&gt;&lt;StartTime&gt;PT9H&lt;/StartTime&gt;&lt;/row&gt;&lt;row duration=&quot;30&quot; id=&quot;b282d535-c388-4bce-ad41-61562abd6a99&quot; slideNumber=&quot;0&quot; topic=&quot;Equipe&quot; topicNumber=&quot;2&quot;&gt;&lt;values /&gt;&lt;StartTime&gt;PT9H30M&lt;/StartTime&gt;&lt;/row&gt;&lt;row duration=&quot;30&quot; id=&quot;6f085785-0e6a-416a-b8f3-60ef267af50c&quot; slideNumber=&quot;0&quot; topic=&quot;Comercial&quot; topicNumber=&quot;3&quot;&gt;&lt;values /&gt;&lt;StartTime&gt;PT10H&lt;/StartTime&gt;&lt;/row&gt;&lt;row duration=&quot;30&quot; id=&quot;4fc379a2-97da-41bd-b527-c5186f0e6050&quot; slideNumber=&quot;0&quot; topic=&quot;Cases&quot; topicNumber=&quot;4&quot;&gt;&lt;values /&gt;&lt;StartTime&gt;PT10H30M&lt;/StartTime&gt;&lt;/row&gt;&lt;/rows&gt;&lt;/agenda&gt;&lt;/presentationSettings&gt;&lt;/smar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3ACDC7-2111-4E8A-B670-96609420412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c17a125-8e65-42f0-a911-45d016aeba9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fc0232-82fe-4533-96a1-02510e0069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7CCA89B0758541BF11A4EAA1F2ACAB" ma:contentTypeVersion="12" ma:contentTypeDescription="Create a new document." ma:contentTypeScope="" ma:versionID="74fdf47dae72a1d9d977c2df6cb144fc">
  <xsd:schema xmlns:xsd="http://www.w3.org/2001/XMLSchema" xmlns:xs="http://www.w3.org/2001/XMLSchema" xmlns:p="http://schemas.microsoft.com/office/2006/metadata/properties" xmlns:ns3="0efc0232-82fe-4533-96a1-02510e00692b" targetNamespace="http://schemas.microsoft.com/office/2006/metadata/properties" ma:root="true" ma:fieldsID="48afc7e2c1b0ec344d0cc8d0ef08b3c4" ns3:_="">
    <xsd:import namespace="0efc0232-82fe-4533-96a1-02510e00692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c0232-82fe-4533-96a1-02510e00692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0DB7E4-6410-4C32-99FA-1E1DB469B3CD}">
  <ds:schemaRefs>
    <ds:schemaRef ds:uri="0efc0232-82fe-4533-96a1-02510e00692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3764D14-9DFA-4960-9EC4-E83D0D9FBD76}">
  <ds:schemaRefs>
    <ds:schemaRef ds:uri="0efc0232-82fe-4533-96a1-02510e0069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9D90352-7D0A-4C9E-B1C6-06644330B1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Widescreen</PresentationFormat>
  <Slides>4</Slides>
  <Notes>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Main_Analytics</vt:lpstr>
      <vt:lpstr>Estrutura × Vagas</vt:lpstr>
      <vt:lpstr>O COO lidera 199 das 330 pessoas e concentra 34 das 49 vagas; só 8 diretos respondem por uma estrutura 25 vezes maior</vt:lpstr>
      <vt:lpstr>No COO, Air Operations lidera 82 pessoas por 4 níveis de gestão e é o maior gargalo: 19 das 34 vagas, 14 ainda sem processo</vt:lpstr>
      <vt:lpstr>Obrigado!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Lucro da DMS</dc:title>
  <dc:subject>Deck-história  |  da metodologia aos agentes</dc:subject>
  <dc:creator>ATY</dc:creator>
  <cp:keywords/>
  <cp:revision>2</cp:revision>
  <dcterms:created xsi:type="dcterms:W3CDTF">2026-09-17T20:38:15Z</dcterms:created>
  <dcterms:modified xsi:type="dcterms:W3CDTF">2026-10-26T14:20:30Z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0x010100E17CCA89B0758541BF11A4EAA1F2ACAB</vt:lpwstr>
  </property>
</Properties>
</file>