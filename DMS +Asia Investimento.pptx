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0" d="100"/>
          <a:sy n="150" d="100"/>
        </p:scale>
        <p:origin x="4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0563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B5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" name="Shape 1"/>
          <p:cNvSpPr/>
          <p:nvPr/>
        </p:nvSpPr>
        <p:spPr>
          <a:xfrm>
            <a:off x="27432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" name="Shape 2"/>
          <p:cNvSpPr/>
          <p:nvPr/>
        </p:nvSpPr>
        <p:spPr>
          <a:xfrm>
            <a:off x="27432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" name="Shape 6"/>
          <p:cNvSpPr/>
          <p:nvPr/>
        </p:nvSpPr>
        <p:spPr>
          <a:xfrm>
            <a:off x="27432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" name="Shape 7"/>
          <p:cNvSpPr/>
          <p:nvPr/>
        </p:nvSpPr>
        <p:spPr>
          <a:xfrm>
            <a:off x="27432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" name="Shape 13"/>
          <p:cNvSpPr/>
          <p:nvPr/>
        </p:nvSpPr>
        <p:spPr>
          <a:xfrm>
            <a:off x="77724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8" name="Shape 16"/>
          <p:cNvSpPr/>
          <p:nvPr/>
        </p:nvSpPr>
        <p:spPr>
          <a:xfrm>
            <a:off x="77724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9" name="Shape 17"/>
          <p:cNvSpPr/>
          <p:nvPr/>
        </p:nvSpPr>
        <p:spPr>
          <a:xfrm>
            <a:off x="77724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2" name="Shape 20"/>
          <p:cNvSpPr/>
          <p:nvPr/>
        </p:nvSpPr>
        <p:spPr>
          <a:xfrm>
            <a:off x="128016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3" name="Shape 21"/>
          <p:cNvSpPr/>
          <p:nvPr/>
        </p:nvSpPr>
        <p:spPr>
          <a:xfrm>
            <a:off x="128016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4" name="Shape 22"/>
          <p:cNvSpPr/>
          <p:nvPr/>
        </p:nvSpPr>
        <p:spPr>
          <a:xfrm>
            <a:off x="128016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5" name="Shape 23"/>
          <p:cNvSpPr/>
          <p:nvPr/>
        </p:nvSpPr>
        <p:spPr>
          <a:xfrm>
            <a:off x="128016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6" name="Shape 24"/>
          <p:cNvSpPr/>
          <p:nvPr/>
        </p:nvSpPr>
        <p:spPr>
          <a:xfrm>
            <a:off x="128016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7" name="Shape 25"/>
          <p:cNvSpPr/>
          <p:nvPr/>
        </p:nvSpPr>
        <p:spPr>
          <a:xfrm>
            <a:off x="128016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8" name="Shape 26"/>
          <p:cNvSpPr/>
          <p:nvPr/>
        </p:nvSpPr>
        <p:spPr>
          <a:xfrm>
            <a:off x="128016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29" name="Shape 27"/>
          <p:cNvSpPr/>
          <p:nvPr/>
        </p:nvSpPr>
        <p:spPr>
          <a:xfrm>
            <a:off x="128016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0" name="Shape 28"/>
          <p:cNvSpPr/>
          <p:nvPr/>
        </p:nvSpPr>
        <p:spPr>
          <a:xfrm>
            <a:off x="128016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1" name="Shape 29"/>
          <p:cNvSpPr/>
          <p:nvPr/>
        </p:nvSpPr>
        <p:spPr>
          <a:xfrm>
            <a:off x="128016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2" name="Shape 30"/>
          <p:cNvSpPr/>
          <p:nvPr/>
        </p:nvSpPr>
        <p:spPr>
          <a:xfrm>
            <a:off x="178308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3" name="Shape 31"/>
          <p:cNvSpPr/>
          <p:nvPr/>
        </p:nvSpPr>
        <p:spPr>
          <a:xfrm>
            <a:off x="178308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4" name="Shape 32"/>
          <p:cNvSpPr/>
          <p:nvPr/>
        </p:nvSpPr>
        <p:spPr>
          <a:xfrm>
            <a:off x="178308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5" name="Shape 33"/>
          <p:cNvSpPr/>
          <p:nvPr/>
        </p:nvSpPr>
        <p:spPr>
          <a:xfrm>
            <a:off x="178308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6" name="Shape 34"/>
          <p:cNvSpPr/>
          <p:nvPr/>
        </p:nvSpPr>
        <p:spPr>
          <a:xfrm>
            <a:off x="178308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7" name="Shape 35"/>
          <p:cNvSpPr/>
          <p:nvPr/>
        </p:nvSpPr>
        <p:spPr>
          <a:xfrm>
            <a:off x="178308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8" name="Shape 36"/>
          <p:cNvSpPr/>
          <p:nvPr/>
        </p:nvSpPr>
        <p:spPr>
          <a:xfrm>
            <a:off x="178308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39" name="Shape 37"/>
          <p:cNvSpPr/>
          <p:nvPr/>
        </p:nvSpPr>
        <p:spPr>
          <a:xfrm>
            <a:off x="178308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0" name="Shape 38"/>
          <p:cNvSpPr/>
          <p:nvPr/>
        </p:nvSpPr>
        <p:spPr>
          <a:xfrm>
            <a:off x="178308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1" name="Shape 39"/>
          <p:cNvSpPr/>
          <p:nvPr/>
        </p:nvSpPr>
        <p:spPr>
          <a:xfrm>
            <a:off x="178308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2" name="Shape 40"/>
          <p:cNvSpPr/>
          <p:nvPr/>
        </p:nvSpPr>
        <p:spPr>
          <a:xfrm>
            <a:off x="228600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3" name="Shape 41"/>
          <p:cNvSpPr/>
          <p:nvPr/>
        </p:nvSpPr>
        <p:spPr>
          <a:xfrm>
            <a:off x="228600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4" name="Shape 42"/>
          <p:cNvSpPr/>
          <p:nvPr/>
        </p:nvSpPr>
        <p:spPr>
          <a:xfrm>
            <a:off x="228600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5" name="Shape 43"/>
          <p:cNvSpPr/>
          <p:nvPr/>
        </p:nvSpPr>
        <p:spPr>
          <a:xfrm>
            <a:off x="228600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6" name="Shape 44"/>
          <p:cNvSpPr/>
          <p:nvPr/>
        </p:nvSpPr>
        <p:spPr>
          <a:xfrm>
            <a:off x="228600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7" name="Shape 45"/>
          <p:cNvSpPr/>
          <p:nvPr/>
        </p:nvSpPr>
        <p:spPr>
          <a:xfrm>
            <a:off x="228600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8" name="Shape 46"/>
          <p:cNvSpPr/>
          <p:nvPr/>
        </p:nvSpPr>
        <p:spPr>
          <a:xfrm>
            <a:off x="228600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49" name="Shape 47"/>
          <p:cNvSpPr/>
          <p:nvPr/>
        </p:nvSpPr>
        <p:spPr>
          <a:xfrm>
            <a:off x="228600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0" name="Shape 48"/>
          <p:cNvSpPr/>
          <p:nvPr/>
        </p:nvSpPr>
        <p:spPr>
          <a:xfrm>
            <a:off x="228600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1" name="Shape 49"/>
          <p:cNvSpPr/>
          <p:nvPr/>
        </p:nvSpPr>
        <p:spPr>
          <a:xfrm>
            <a:off x="228600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2" name="Shape 50"/>
          <p:cNvSpPr/>
          <p:nvPr/>
        </p:nvSpPr>
        <p:spPr>
          <a:xfrm>
            <a:off x="278892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3" name="Shape 51"/>
          <p:cNvSpPr/>
          <p:nvPr/>
        </p:nvSpPr>
        <p:spPr>
          <a:xfrm>
            <a:off x="278892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4" name="Shape 52"/>
          <p:cNvSpPr/>
          <p:nvPr/>
        </p:nvSpPr>
        <p:spPr>
          <a:xfrm>
            <a:off x="278892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5" name="Shape 53"/>
          <p:cNvSpPr/>
          <p:nvPr/>
        </p:nvSpPr>
        <p:spPr>
          <a:xfrm>
            <a:off x="278892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6" name="Shape 54"/>
          <p:cNvSpPr/>
          <p:nvPr/>
        </p:nvSpPr>
        <p:spPr>
          <a:xfrm>
            <a:off x="278892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7" name="Shape 55"/>
          <p:cNvSpPr/>
          <p:nvPr/>
        </p:nvSpPr>
        <p:spPr>
          <a:xfrm>
            <a:off x="278892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8" name="Shape 56"/>
          <p:cNvSpPr/>
          <p:nvPr/>
        </p:nvSpPr>
        <p:spPr>
          <a:xfrm>
            <a:off x="278892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59" name="Shape 57"/>
          <p:cNvSpPr/>
          <p:nvPr/>
        </p:nvSpPr>
        <p:spPr>
          <a:xfrm>
            <a:off x="278892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0" name="Shape 58"/>
          <p:cNvSpPr/>
          <p:nvPr/>
        </p:nvSpPr>
        <p:spPr>
          <a:xfrm>
            <a:off x="278892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1" name="Shape 59"/>
          <p:cNvSpPr/>
          <p:nvPr/>
        </p:nvSpPr>
        <p:spPr>
          <a:xfrm>
            <a:off x="278892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2" name="Shape 60"/>
          <p:cNvSpPr/>
          <p:nvPr/>
        </p:nvSpPr>
        <p:spPr>
          <a:xfrm>
            <a:off x="329184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3" name="Shape 61"/>
          <p:cNvSpPr/>
          <p:nvPr/>
        </p:nvSpPr>
        <p:spPr>
          <a:xfrm>
            <a:off x="329184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4" name="Shape 62"/>
          <p:cNvSpPr/>
          <p:nvPr/>
        </p:nvSpPr>
        <p:spPr>
          <a:xfrm>
            <a:off x="329184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5" name="Shape 63"/>
          <p:cNvSpPr/>
          <p:nvPr/>
        </p:nvSpPr>
        <p:spPr>
          <a:xfrm>
            <a:off x="329184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6" name="Shape 64"/>
          <p:cNvSpPr/>
          <p:nvPr/>
        </p:nvSpPr>
        <p:spPr>
          <a:xfrm>
            <a:off x="329184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7" name="Shape 65"/>
          <p:cNvSpPr/>
          <p:nvPr/>
        </p:nvSpPr>
        <p:spPr>
          <a:xfrm>
            <a:off x="329184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8" name="Shape 66"/>
          <p:cNvSpPr/>
          <p:nvPr/>
        </p:nvSpPr>
        <p:spPr>
          <a:xfrm>
            <a:off x="329184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69" name="Shape 67"/>
          <p:cNvSpPr/>
          <p:nvPr/>
        </p:nvSpPr>
        <p:spPr>
          <a:xfrm>
            <a:off x="329184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0" name="Shape 68"/>
          <p:cNvSpPr/>
          <p:nvPr/>
        </p:nvSpPr>
        <p:spPr>
          <a:xfrm>
            <a:off x="329184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1" name="Shape 69"/>
          <p:cNvSpPr/>
          <p:nvPr/>
        </p:nvSpPr>
        <p:spPr>
          <a:xfrm>
            <a:off x="329184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2" name="Shape 70"/>
          <p:cNvSpPr/>
          <p:nvPr/>
        </p:nvSpPr>
        <p:spPr>
          <a:xfrm>
            <a:off x="379476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3" name="Shape 71"/>
          <p:cNvSpPr/>
          <p:nvPr/>
        </p:nvSpPr>
        <p:spPr>
          <a:xfrm>
            <a:off x="379476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4" name="Shape 72"/>
          <p:cNvSpPr/>
          <p:nvPr/>
        </p:nvSpPr>
        <p:spPr>
          <a:xfrm>
            <a:off x="379476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5" name="Shape 73"/>
          <p:cNvSpPr/>
          <p:nvPr/>
        </p:nvSpPr>
        <p:spPr>
          <a:xfrm>
            <a:off x="379476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6" name="Shape 74"/>
          <p:cNvSpPr/>
          <p:nvPr/>
        </p:nvSpPr>
        <p:spPr>
          <a:xfrm>
            <a:off x="379476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7" name="Shape 75"/>
          <p:cNvSpPr/>
          <p:nvPr/>
        </p:nvSpPr>
        <p:spPr>
          <a:xfrm>
            <a:off x="379476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8" name="Shape 76"/>
          <p:cNvSpPr/>
          <p:nvPr/>
        </p:nvSpPr>
        <p:spPr>
          <a:xfrm>
            <a:off x="379476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79" name="Shape 77"/>
          <p:cNvSpPr/>
          <p:nvPr/>
        </p:nvSpPr>
        <p:spPr>
          <a:xfrm>
            <a:off x="379476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0" name="Shape 78"/>
          <p:cNvSpPr/>
          <p:nvPr/>
        </p:nvSpPr>
        <p:spPr>
          <a:xfrm>
            <a:off x="379476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1" name="Shape 79"/>
          <p:cNvSpPr/>
          <p:nvPr/>
        </p:nvSpPr>
        <p:spPr>
          <a:xfrm>
            <a:off x="379476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2" name="Shape 80"/>
          <p:cNvSpPr/>
          <p:nvPr/>
        </p:nvSpPr>
        <p:spPr>
          <a:xfrm>
            <a:off x="429768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3" name="Shape 81"/>
          <p:cNvSpPr/>
          <p:nvPr/>
        </p:nvSpPr>
        <p:spPr>
          <a:xfrm>
            <a:off x="429768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4" name="Shape 82"/>
          <p:cNvSpPr/>
          <p:nvPr/>
        </p:nvSpPr>
        <p:spPr>
          <a:xfrm>
            <a:off x="429768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5" name="Shape 83"/>
          <p:cNvSpPr/>
          <p:nvPr/>
        </p:nvSpPr>
        <p:spPr>
          <a:xfrm>
            <a:off x="429768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6" name="Shape 84"/>
          <p:cNvSpPr/>
          <p:nvPr/>
        </p:nvSpPr>
        <p:spPr>
          <a:xfrm>
            <a:off x="429768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7" name="Shape 85"/>
          <p:cNvSpPr/>
          <p:nvPr/>
        </p:nvSpPr>
        <p:spPr>
          <a:xfrm>
            <a:off x="429768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8" name="Shape 86"/>
          <p:cNvSpPr/>
          <p:nvPr/>
        </p:nvSpPr>
        <p:spPr>
          <a:xfrm>
            <a:off x="429768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89" name="Shape 87"/>
          <p:cNvSpPr/>
          <p:nvPr/>
        </p:nvSpPr>
        <p:spPr>
          <a:xfrm>
            <a:off x="429768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0" name="Shape 88"/>
          <p:cNvSpPr/>
          <p:nvPr/>
        </p:nvSpPr>
        <p:spPr>
          <a:xfrm>
            <a:off x="429768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1" name="Shape 89"/>
          <p:cNvSpPr/>
          <p:nvPr/>
        </p:nvSpPr>
        <p:spPr>
          <a:xfrm>
            <a:off x="429768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2" name="Shape 90"/>
          <p:cNvSpPr/>
          <p:nvPr/>
        </p:nvSpPr>
        <p:spPr>
          <a:xfrm>
            <a:off x="480060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3" name="Shape 91"/>
          <p:cNvSpPr/>
          <p:nvPr/>
        </p:nvSpPr>
        <p:spPr>
          <a:xfrm>
            <a:off x="480060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4" name="Shape 92"/>
          <p:cNvSpPr/>
          <p:nvPr/>
        </p:nvSpPr>
        <p:spPr>
          <a:xfrm>
            <a:off x="480060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5" name="Shape 93"/>
          <p:cNvSpPr/>
          <p:nvPr/>
        </p:nvSpPr>
        <p:spPr>
          <a:xfrm>
            <a:off x="480060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6" name="Shape 94"/>
          <p:cNvSpPr/>
          <p:nvPr/>
        </p:nvSpPr>
        <p:spPr>
          <a:xfrm>
            <a:off x="480060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7" name="Shape 95"/>
          <p:cNvSpPr/>
          <p:nvPr/>
        </p:nvSpPr>
        <p:spPr>
          <a:xfrm>
            <a:off x="480060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8" name="Shape 96"/>
          <p:cNvSpPr/>
          <p:nvPr/>
        </p:nvSpPr>
        <p:spPr>
          <a:xfrm>
            <a:off x="480060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99" name="Shape 97"/>
          <p:cNvSpPr/>
          <p:nvPr/>
        </p:nvSpPr>
        <p:spPr>
          <a:xfrm>
            <a:off x="480060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0" name="Shape 98"/>
          <p:cNvSpPr/>
          <p:nvPr/>
        </p:nvSpPr>
        <p:spPr>
          <a:xfrm>
            <a:off x="480060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1" name="Shape 99"/>
          <p:cNvSpPr/>
          <p:nvPr/>
        </p:nvSpPr>
        <p:spPr>
          <a:xfrm>
            <a:off x="480060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2" name="Shape 100"/>
          <p:cNvSpPr/>
          <p:nvPr/>
        </p:nvSpPr>
        <p:spPr>
          <a:xfrm>
            <a:off x="530352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3" name="Shape 101"/>
          <p:cNvSpPr/>
          <p:nvPr/>
        </p:nvSpPr>
        <p:spPr>
          <a:xfrm>
            <a:off x="530352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4" name="Shape 102"/>
          <p:cNvSpPr/>
          <p:nvPr/>
        </p:nvSpPr>
        <p:spPr>
          <a:xfrm>
            <a:off x="530352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5" name="Shape 103"/>
          <p:cNvSpPr/>
          <p:nvPr/>
        </p:nvSpPr>
        <p:spPr>
          <a:xfrm>
            <a:off x="530352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6" name="Shape 104"/>
          <p:cNvSpPr/>
          <p:nvPr/>
        </p:nvSpPr>
        <p:spPr>
          <a:xfrm>
            <a:off x="530352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7" name="Shape 105"/>
          <p:cNvSpPr/>
          <p:nvPr/>
        </p:nvSpPr>
        <p:spPr>
          <a:xfrm>
            <a:off x="530352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8" name="Shape 106"/>
          <p:cNvSpPr/>
          <p:nvPr/>
        </p:nvSpPr>
        <p:spPr>
          <a:xfrm>
            <a:off x="530352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09" name="Shape 107"/>
          <p:cNvSpPr/>
          <p:nvPr/>
        </p:nvSpPr>
        <p:spPr>
          <a:xfrm>
            <a:off x="530352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0" name="Shape 108"/>
          <p:cNvSpPr/>
          <p:nvPr/>
        </p:nvSpPr>
        <p:spPr>
          <a:xfrm>
            <a:off x="530352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1" name="Shape 109"/>
          <p:cNvSpPr/>
          <p:nvPr/>
        </p:nvSpPr>
        <p:spPr>
          <a:xfrm>
            <a:off x="530352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2" name="Shape 110"/>
          <p:cNvSpPr/>
          <p:nvPr/>
        </p:nvSpPr>
        <p:spPr>
          <a:xfrm>
            <a:off x="580644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3" name="Shape 111"/>
          <p:cNvSpPr/>
          <p:nvPr/>
        </p:nvSpPr>
        <p:spPr>
          <a:xfrm>
            <a:off x="580644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4" name="Shape 112"/>
          <p:cNvSpPr/>
          <p:nvPr/>
        </p:nvSpPr>
        <p:spPr>
          <a:xfrm>
            <a:off x="580644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5" name="Shape 113"/>
          <p:cNvSpPr/>
          <p:nvPr/>
        </p:nvSpPr>
        <p:spPr>
          <a:xfrm>
            <a:off x="580644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6" name="Shape 114"/>
          <p:cNvSpPr/>
          <p:nvPr/>
        </p:nvSpPr>
        <p:spPr>
          <a:xfrm>
            <a:off x="580644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7" name="Shape 115"/>
          <p:cNvSpPr/>
          <p:nvPr/>
        </p:nvSpPr>
        <p:spPr>
          <a:xfrm>
            <a:off x="580644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8" name="Shape 116"/>
          <p:cNvSpPr/>
          <p:nvPr/>
        </p:nvSpPr>
        <p:spPr>
          <a:xfrm>
            <a:off x="580644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19" name="Shape 117"/>
          <p:cNvSpPr/>
          <p:nvPr/>
        </p:nvSpPr>
        <p:spPr>
          <a:xfrm>
            <a:off x="580644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0" name="Shape 118"/>
          <p:cNvSpPr/>
          <p:nvPr/>
        </p:nvSpPr>
        <p:spPr>
          <a:xfrm>
            <a:off x="580644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1" name="Shape 119"/>
          <p:cNvSpPr/>
          <p:nvPr/>
        </p:nvSpPr>
        <p:spPr>
          <a:xfrm>
            <a:off x="580644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2" name="Shape 120"/>
          <p:cNvSpPr/>
          <p:nvPr/>
        </p:nvSpPr>
        <p:spPr>
          <a:xfrm>
            <a:off x="630936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3" name="Shape 121"/>
          <p:cNvSpPr/>
          <p:nvPr/>
        </p:nvSpPr>
        <p:spPr>
          <a:xfrm>
            <a:off x="630936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4" name="Shape 122"/>
          <p:cNvSpPr/>
          <p:nvPr/>
        </p:nvSpPr>
        <p:spPr>
          <a:xfrm>
            <a:off x="630936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5" name="Shape 123"/>
          <p:cNvSpPr/>
          <p:nvPr/>
        </p:nvSpPr>
        <p:spPr>
          <a:xfrm>
            <a:off x="630936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6" name="Shape 124"/>
          <p:cNvSpPr/>
          <p:nvPr/>
        </p:nvSpPr>
        <p:spPr>
          <a:xfrm>
            <a:off x="630936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7" name="Shape 125"/>
          <p:cNvSpPr/>
          <p:nvPr/>
        </p:nvSpPr>
        <p:spPr>
          <a:xfrm>
            <a:off x="630936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8" name="Shape 126"/>
          <p:cNvSpPr/>
          <p:nvPr/>
        </p:nvSpPr>
        <p:spPr>
          <a:xfrm>
            <a:off x="630936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29" name="Shape 127"/>
          <p:cNvSpPr/>
          <p:nvPr/>
        </p:nvSpPr>
        <p:spPr>
          <a:xfrm>
            <a:off x="630936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0" name="Shape 128"/>
          <p:cNvSpPr/>
          <p:nvPr/>
        </p:nvSpPr>
        <p:spPr>
          <a:xfrm>
            <a:off x="630936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1" name="Shape 129"/>
          <p:cNvSpPr/>
          <p:nvPr/>
        </p:nvSpPr>
        <p:spPr>
          <a:xfrm>
            <a:off x="630936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2" name="Shape 130"/>
          <p:cNvSpPr/>
          <p:nvPr/>
        </p:nvSpPr>
        <p:spPr>
          <a:xfrm>
            <a:off x="681228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3" name="Shape 131"/>
          <p:cNvSpPr/>
          <p:nvPr/>
        </p:nvSpPr>
        <p:spPr>
          <a:xfrm>
            <a:off x="681228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4" name="Shape 132"/>
          <p:cNvSpPr/>
          <p:nvPr/>
        </p:nvSpPr>
        <p:spPr>
          <a:xfrm>
            <a:off x="681228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5" name="Shape 133"/>
          <p:cNvSpPr/>
          <p:nvPr/>
        </p:nvSpPr>
        <p:spPr>
          <a:xfrm>
            <a:off x="681228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6" name="Shape 134"/>
          <p:cNvSpPr/>
          <p:nvPr/>
        </p:nvSpPr>
        <p:spPr>
          <a:xfrm>
            <a:off x="681228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7" name="Shape 135"/>
          <p:cNvSpPr/>
          <p:nvPr/>
        </p:nvSpPr>
        <p:spPr>
          <a:xfrm>
            <a:off x="681228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8" name="Shape 136"/>
          <p:cNvSpPr/>
          <p:nvPr/>
        </p:nvSpPr>
        <p:spPr>
          <a:xfrm>
            <a:off x="681228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39" name="Shape 137"/>
          <p:cNvSpPr/>
          <p:nvPr/>
        </p:nvSpPr>
        <p:spPr>
          <a:xfrm>
            <a:off x="681228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0" name="Shape 138"/>
          <p:cNvSpPr/>
          <p:nvPr/>
        </p:nvSpPr>
        <p:spPr>
          <a:xfrm>
            <a:off x="681228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1" name="Shape 139"/>
          <p:cNvSpPr/>
          <p:nvPr/>
        </p:nvSpPr>
        <p:spPr>
          <a:xfrm>
            <a:off x="681228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2" name="Shape 140"/>
          <p:cNvSpPr/>
          <p:nvPr/>
        </p:nvSpPr>
        <p:spPr>
          <a:xfrm>
            <a:off x="731520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3" name="Shape 141"/>
          <p:cNvSpPr/>
          <p:nvPr/>
        </p:nvSpPr>
        <p:spPr>
          <a:xfrm>
            <a:off x="731520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4" name="Shape 142"/>
          <p:cNvSpPr/>
          <p:nvPr/>
        </p:nvSpPr>
        <p:spPr>
          <a:xfrm>
            <a:off x="731520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5" name="Shape 143"/>
          <p:cNvSpPr/>
          <p:nvPr/>
        </p:nvSpPr>
        <p:spPr>
          <a:xfrm>
            <a:off x="731520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6" name="Shape 144"/>
          <p:cNvSpPr/>
          <p:nvPr/>
        </p:nvSpPr>
        <p:spPr>
          <a:xfrm>
            <a:off x="731520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7" name="Shape 145"/>
          <p:cNvSpPr/>
          <p:nvPr/>
        </p:nvSpPr>
        <p:spPr>
          <a:xfrm>
            <a:off x="731520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8" name="Shape 146"/>
          <p:cNvSpPr/>
          <p:nvPr/>
        </p:nvSpPr>
        <p:spPr>
          <a:xfrm>
            <a:off x="731520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49" name="Shape 147"/>
          <p:cNvSpPr/>
          <p:nvPr/>
        </p:nvSpPr>
        <p:spPr>
          <a:xfrm>
            <a:off x="731520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0" name="Shape 148"/>
          <p:cNvSpPr/>
          <p:nvPr/>
        </p:nvSpPr>
        <p:spPr>
          <a:xfrm>
            <a:off x="731520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1" name="Shape 149"/>
          <p:cNvSpPr/>
          <p:nvPr/>
        </p:nvSpPr>
        <p:spPr>
          <a:xfrm>
            <a:off x="731520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2" name="Shape 150"/>
          <p:cNvSpPr/>
          <p:nvPr/>
        </p:nvSpPr>
        <p:spPr>
          <a:xfrm>
            <a:off x="781812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3" name="Shape 151"/>
          <p:cNvSpPr/>
          <p:nvPr/>
        </p:nvSpPr>
        <p:spPr>
          <a:xfrm>
            <a:off x="781812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4" name="Shape 152"/>
          <p:cNvSpPr/>
          <p:nvPr/>
        </p:nvSpPr>
        <p:spPr>
          <a:xfrm>
            <a:off x="781812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5" name="Shape 153"/>
          <p:cNvSpPr/>
          <p:nvPr/>
        </p:nvSpPr>
        <p:spPr>
          <a:xfrm>
            <a:off x="781812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6" name="Shape 154"/>
          <p:cNvSpPr/>
          <p:nvPr/>
        </p:nvSpPr>
        <p:spPr>
          <a:xfrm>
            <a:off x="781812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7" name="Shape 155"/>
          <p:cNvSpPr/>
          <p:nvPr/>
        </p:nvSpPr>
        <p:spPr>
          <a:xfrm>
            <a:off x="781812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8" name="Shape 156"/>
          <p:cNvSpPr/>
          <p:nvPr/>
        </p:nvSpPr>
        <p:spPr>
          <a:xfrm>
            <a:off x="781812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59" name="Shape 157"/>
          <p:cNvSpPr/>
          <p:nvPr/>
        </p:nvSpPr>
        <p:spPr>
          <a:xfrm>
            <a:off x="781812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0" name="Shape 158"/>
          <p:cNvSpPr/>
          <p:nvPr/>
        </p:nvSpPr>
        <p:spPr>
          <a:xfrm>
            <a:off x="781812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1" name="Shape 159"/>
          <p:cNvSpPr/>
          <p:nvPr/>
        </p:nvSpPr>
        <p:spPr>
          <a:xfrm>
            <a:off x="781812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2" name="Shape 160"/>
          <p:cNvSpPr/>
          <p:nvPr/>
        </p:nvSpPr>
        <p:spPr>
          <a:xfrm>
            <a:off x="832104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3" name="Shape 161"/>
          <p:cNvSpPr/>
          <p:nvPr/>
        </p:nvSpPr>
        <p:spPr>
          <a:xfrm>
            <a:off x="832104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4" name="Shape 162"/>
          <p:cNvSpPr/>
          <p:nvPr/>
        </p:nvSpPr>
        <p:spPr>
          <a:xfrm>
            <a:off x="832104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5" name="Shape 163"/>
          <p:cNvSpPr/>
          <p:nvPr/>
        </p:nvSpPr>
        <p:spPr>
          <a:xfrm>
            <a:off x="832104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6" name="Shape 164"/>
          <p:cNvSpPr/>
          <p:nvPr/>
        </p:nvSpPr>
        <p:spPr>
          <a:xfrm>
            <a:off x="832104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7" name="Shape 165"/>
          <p:cNvSpPr/>
          <p:nvPr/>
        </p:nvSpPr>
        <p:spPr>
          <a:xfrm>
            <a:off x="832104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8" name="Shape 166"/>
          <p:cNvSpPr/>
          <p:nvPr/>
        </p:nvSpPr>
        <p:spPr>
          <a:xfrm>
            <a:off x="832104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69" name="Shape 167"/>
          <p:cNvSpPr/>
          <p:nvPr/>
        </p:nvSpPr>
        <p:spPr>
          <a:xfrm>
            <a:off x="832104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0" name="Shape 168"/>
          <p:cNvSpPr/>
          <p:nvPr/>
        </p:nvSpPr>
        <p:spPr>
          <a:xfrm>
            <a:off x="832104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1" name="Shape 169"/>
          <p:cNvSpPr/>
          <p:nvPr/>
        </p:nvSpPr>
        <p:spPr>
          <a:xfrm>
            <a:off x="832104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2" name="Shape 170"/>
          <p:cNvSpPr/>
          <p:nvPr/>
        </p:nvSpPr>
        <p:spPr>
          <a:xfrm>
            <a:off x="8823960" y="2743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3" name="Shape 171"/>
          <p:cNvSpPr/>
          <p:nvPr/>
        </p:nvSpPr>
        <p:spPr>
          <a:xfrm>
            <a:off x="8823960" y="7772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4" name="Shape 172"/>
          <p:cNvSpPr/>
          <p:nvPr/>
        </p:nvSpPr>
        <p:spPr>
          <a:xfrm>
            <a:off x="8823960" y="12801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5" name="Shape 173"/>
          <p:cNvSpPr/>
          <p:nvPr/>
        </p:nvSpPr>
        <p:spPr>
          <a:xfrm>
            <a:off x="8823960" y="17830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6" name="Shape 174"/>
          <p:cNvSpPr/>
          <p:nvPr/>
        </p:nvSpPr>
        <p:spPr>
          <a:xfrm>
            <a:off x="8823960" y="22860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7" name="Shape 175"/>
          <p:cNvSpPr/>
          <p:nvPr/>
        </p:nvSpPr>
        <p:spPr>
          <a:xfrm>
            <a:off x="8823960" y="278892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8" name="Shape 176"/>
          <p:cNvSpPr/>
          <p:nvPr/>
        </p:nvSpPr>
        <p:spPr>
          <a:xfrm>
            <a:off x="8823960" y="329184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79" name="Shape 177"/>
          <p:cNvSpPr/>
          <p:nvPr/>
        </p:nvSpPr>
        <p:spPr>
          <a:xfrm>
            <a:off x="8823960" y="379476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80" name="Shape 178"/>
          <p:cNvSpPr/>
          <p:nvPr/>
        </p:nvSpPr>
        <p:spPr>
          <a:xfrm>
            <a:off x="8823960" y="429768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sp>
        <p:nvSpPr>
          <p:cNvPr id="181" name="Shape 179"/>
          <p:cNvSpPr/>
          <p:nvPr/>
        </p:nvSpPr>
        <p:spPr>
          <a:xfrm>
            <a:off x="8823960" y="4800600"/>
            <a:ext cx="32004" cy="32004"/>
          </a:xfrm>
          <a:prstGeom prst="ellipse">
            <a:avLst/>
          </a:prstGeom>
          <a:solidFill>
            <a:srgbClr val="1B3E73"/>
          </a:solidFill>
          <a:ln/>
        </p:spPr>
      </p:sp>
      <p:pic>
        <p:nvPicPr>
          <p:cNvPr id="182" name="Image 0" descr="images/logo_da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2084" y="292608"/>
            <a:ext cx="706156" cy="395447"/>
          </a:xfrm>
          <a:prstGeom prst="rect">
            <a:avLst/>
          </a:prstGeom>
        </p:spPr>
      </p:pic>
      <p:sp>
        <p:nvSpPr>
          <p:cNvPr id="183" name="Text 180"/>
          <p:cNvSpPr/>
          <p:nvPr/>
        </p:nvSpPr>
        <p:spPr>
          <a:xfrm>
            <a:off x="502920" y="960120"/>
            <a:ext cx="7498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200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ÁSIA</a:t>
            </a:r>
            <a:endParaRPr lang="en-US" sz="1500" dirty="0"/>
          </a:p>
        </p:txBody>
      </p:sp>
      <p:sp>
        <p:nvSpPr>
          <p:cNvPr id="184" name="Text 181"/>
          <p:cNvSpPr/>
          <p:nvPr/>
        </p:nvSpPr>
        <p:spPr>
          <a:xfrm>
            <a:off x="502920" y="132588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de Headcount na China</a:t>
            </a:r>
            <a:endParaRPr lang="en-US" sz="2800" dirty="0"/>
          </a:p>
        </p:txBody>
      </p:sp>
      <p:sp>
        <p:nvSpPr>
          <p:cNvPr id="185" name="Text 182"/>
          <p:cNvSpPr/>
          <p:nvPr/>
        </p:nvSpPr>
        <p:spPr>
          <a:xfrm>
            <a:off x="502920" y="205740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operacional com a RS Logistics · Documento de apoio ao Board · Julho 2026</a:t>
            </a:r>
            <a:endParaRPr lang="en-US" sz="1250" dirty="0"/>
          </a:p>
        </p:txBody>
      </p:sp>
      <p:sp>
        <p:nvSpPr>
          <p:cNvPr id="186" name="Shape 183"/>
          <p:cNvSpPr/>
          <p:nvPr/>
        </p:nvSpPr>
        <p:spPr>
          <a:xfrm>
            <a:off x="502920" y="2487168"/>
            <a:ext cx="6675120" cy="38404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87" name="Text 184"/>
          <p:cNvSpPr/>
          <p:nvPr/>
        </p:nvSpPr>
        <p:spPr>
          <a:xfrm>
            <a:off x="658368" y="2487168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i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aprova é o investimento em presença local — a migração de volume é consequência gradual, não uma decisão tomada de antemão.</a:t>
            </a:r>
            <a:endParaRPr lang="en-US" sz="950" dirty="0"/>
          </a:p>
        </p:txBody>
      </p:sp>
      <p:sp>
        <p:nvSpPr>
          <p:cNvPr id="188" name="Text 185"/>
          <p:cNvSpPr/>
          <p:nvPr/>
        </p:nvSpPr>
        <p:spPr>
          <a:xfrm>
            <a:off x="502920" y="32461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posição</a:t>
            </a:r>
            <a:endParaRPr lang="en-US" sz="2000" dirty="0"/>
          </a:p>
        </p:txBody>
      </p:sp>
      <p:sp>
        <p:nvSpPr>
          <p:cNvPr id="189" name="Text 186"/>
          <p:cNvSpPr/>
          <p:nvPr/>
        </p:nvSpPr>
        <p:spPr>
          <a:xfrm>
            <a:off x="502920" y="36667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proposto</a:t>
            </a:r>
            <a:endParaRPr lang="en-US" sz="900" dirty="0"/>
          </a:p>
        </p:txBody>
      </p:sp>
      <p:sp>
        <p:nvSpPr>
          <p:cNvPr id="190" name="Text 187"/>
          <p:cNvSpPr/>
          <p:nvPr/>
        </p:nvSpPr>
        <p:spPr>
          <a:xfrm>
            <a:off x="502920" y="394106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custeia · RS Logistics dá a estrutura local</a:t>
            </a:r>
            <a:endParaRPr lang="en-US" sz="780" dirty="0"/>
          </a:p>
        </p:txBody>
      </p:sp>
      <p:sp>
        <p:nvSpPr>
          <p:cNvPr id="191" name="Text 188"/>
          <p:cNvSpPr/>
          <p:nvPr/>
        </p:nvSpPr>
        <p:spPr>
          <a:xfrm>
            <a:off x="2468880" y="32461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30,7%</a:t>
            </a:r>
            <a:endParaRPr lang="en-US" sz="2000" dirty="0"/>
          </a:p>
        </p:txBody>
      </p:sp>
      <p:sp>
        <p:nvSpPr>
          <p:cNvPr id="192" name="Text 189"/>
          <p:cNvSpPr/>
          <p:nvPr/>
        </p:nvSpPr>
        <p:spPr>
          <a:xfrm>
            <a:off x="2468880" y="36667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no armador-âncora</a:t>
            </a:r>
            <a:endParaRPr lang="en-US" sz="900" dirty="0"/>
          </a:p>
        </p:txBody>
      </p:sp>
      <p:sp>
        <p:nvSpPr>
          <p:cNvPr id="193" name="Text 190"/>
          <p:cNvSpPr/>
          <p:nvPr/>
        </p:nvSpPr>
        <p:spPr>
          <a:xfrm>
            <a:off x="2468880" y="394106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a negociação local mais importa</a:t>
            </a:r>
            <a:endParaRPr lang="en-US" sz="780" dirty="0"/>
          </a:p>
        </p:txBody>
      </p:sp>
      <p:sp>
        <p:nvSpPr>
          <p:cNvPr id="194" name="Shape 191"/>
          <p:cNvSpPr/>
          <p:nvPr/>
        </p:nvSpPr>
        <p:spPr>
          <a:xfrm>
            <a:off x="2409444" y="3291840"/>
            <a:ext cx="0" cy="822960"/>
          </a:xfrm>
          <a:prstGeom prst="line">
            <a:avLst/>
          </a:prstGeom>
          <a:noFill/>
          <a:ln w="12700">
            <a:solidFill>
              <a:srgbClr val="2A4E86"/>
            </a:solidFill>
            <a:prstDash val="solid"/>
          </a:ln>
        </p:spPr>
      </p:sp>
      <p:sp>
        <p:nvSpPr>
          <p:cNvPr id="195" name="Text 192"/>
          <p:cNvSpPr/>
          <p:nvPr/>
        </p:nvSpPr>
        <p:spPr>
          <a:xfrm>
            <a:off x="4434840" y="32461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16,3%</a:t>
            </a:r>
            <a:endParaRPr lang="en-US" sz="2000" dirty="0"/>
          </a:p>
        </p:txBody>
      </p:sp>
      <p:sp>
        <p:nvSpPr>
          <p:cNvPr id="196" name="Text 193"/>
          <p:cNvSpPr/>
          <p:nvPr/>
        </p:nvSpPr>
        <p:spPr>
          <a:xfrm>
            <a:off x="4434840" y="36667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secundário já comprovado</a:t>
            </a:r>
            <a:endParaRPr lang="en-US" sz="900" dirty="0"/>
          </a:p>
        </p:txBody>
      </p:sp>
      <p:sp>
        <p:nvSpPr>
          <p:cNvPr id="197" name="Text 194"/>
          <p:cNvSpPr/>
          <p:nvPr/>
        </p:nvSpPr>
        <p:spPr>
          <a:xfrm>
            <a:off x="4434840" y="394106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mandato do profissional</a:t>
            </a:r>
            <a:endParaRPr lang="en-US" sz="780" dirty="0"/>
          </a:p>
        </p:txBody>
      </p:sp>
      <p:sp>
        <p:nvSpPr>
          <p:cNvPr id="198" name="Shape 195"/>
          <p:cNvSpPr/>
          <p:nvPr/>
        </p:nvSpPr>
        <p:spPr>
          <a:xfrm>
            <a:off x="4375404" y="3291840"/>
            <a:ext cx="0" cy="822960"/>
          </a:xfrm>
          <a:prstGeom prst="line">
            <a:avLst/>
          </a:prstGeom>
          <a:noFill/>
          <a:ln w="12700">
            <a:solidFill>
              <a:srgbClr val="2A4E86"/>
            </a:solidFill>
            <a:prstDash val="solid"/>
          </a:ln>
        </p:spPr>
      </p:sp>
      <p:sp>
        <p:nvSpPr>
          <p:cNvPr id="199" name="Text 196"/>
          <p:cNvSpPr/>
          <p:nvPr/>
        </p:nvSpPr>
        <p:spPr>
          <a:xfrm>
            <a:off x="6400800" y="3246120"/>
            <a:ext cx="1847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CBM / 5 emb.</a:t>
            </a:r>
            <a:endParaRPr lang="en-US" sz="1550" dirty="0"/>
          </a:p>
        </p:txBody>
      </p:sp>
      <p:sp>
        <p:nvSpPr>
          <p:cNvPr id="200" name="Text 197"/>
          <p:cNvSpPr/>
          <p:nvPr/>
        </p:nvSpPr>
        <p:spPr>
          <a:xfrm>
            <a:off x="6400800" y="3666744"/>
            <a:ext cx="18470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semanal de consolidação LCL</a:t>
            </a:r>
            <a:endParaRPr lang="en-US" sz="900" dirty="0"/>
          </a:p>
        </p:txBody>
      </p:sp>
      <p:sp>
        <p:nvSpPr>
          <p:cNvPr id="201" name="Text 198"/>
          <p:cNvSpPr/>
          <p:nvPr/>
        </p:nvSpPr>
        <p:spPr>
          <a:xfrm>
            <a:off x="6400800" y="3941064"/>
            <a:ext cx="18470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8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uma das condições viabiliza</a:t>
            </a:r>
            <a:endParaRPr lang="en-US" sz="780" dirty="0"/>
          </a:p>
        </p:txBody>
      </p:sp>
      <p:sp>
        <p:nvSpPr>
          <p:cNvPr id="202" name="Shape 199"/>
          <p:cNvSpPr/>
          <p:nvPr/>
        </p:nvSpPr>
        <p:spPr>
          <a:xfrm>
            <a:off x="6341364" y="3291840"/>
            <a:ext cx="0" cy="822960"/>
          </a:xfrm>
          <a:prstGeom prst="line">
            <a:avLst/>
          </a:prstGeom>
          <a:noFill/>
          <a:ln w="12700">
            <a:solidFill>
              <a:srgbClr val="2A4E86"/>
            </a:solidFill>
            <a:prstDash val="solid"/>
          </a:ln>
        </p:spPr>
      </p:sp>
      <p:sp>
        <p:nvSpPr>
          <p:cNvPr id="203" name="Shape 200"/>
          <p:cNvSpPr/>
          <p:nvPr/>
        </p:nvSpPr>
        <p:spPr>
          <a:xfrm>
            <a:off x="0" y="4736592"/>
            <a:ext cx="9144000" cy="406908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04" name="Text 201"/>
          <p:cNvSpPr/>
          <p:nvPr/>
        </p:nvSpPr>
        <p:spPr>
          <a:xfrm>
            <a:off x="502920" y="4736592"/>
            <a:ext cx="5486400" cy="4069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Route Development Global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DA ESTRATÉGIA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aprova é o investimento — não a migração operacional</a:t>
            </a:r>
            <a:endParaRPr lang="en-US" sz="1550" dirty="0"/>
          </a:p>
        </p:txBody>
      </p:sp>
      <p:pic>
        <p:nvPicPr>
          <p:cNvPr id="7" name="Image 0" descr="images/logo_ligh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 aprovado é o headcount — a migração de volume é consequência gradual do trabalho desse profissional, não uma decisão tomada de antemão. Cada etapa seguinte tem um critério de saída objetivo (gate); sem ele, não há passagem para a próxima.</a:t>
            </a:r>
            <a:endParaRPr lang="en-US" sz="980" dirty="0"/>
          </a:p>
        </p:txBody>
      </p:sp>
      <p:sp>
        <p:nvSpPr>
          <p:cNvPr id="9" name="Shape 6"/>
          <p:cNvSpPr/>
          <p:nvPr/>
        </p:nvSpPr>
        <p:spPr>
          <a:xfrm>
            <a:off x="365760" y="1572768"/>
            <a:ext cx="148132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65760" y="1572768"/>
            <a:ext cx="1481328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1" name="Text 8"/>
          <p:cNvSpPr/>
          <p:nvPr/>
        </p:nvSpPr>
        <p:spPr>
          <a:xfrm>
            <a:off x="365760" y="1572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457200" y="18836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</a:t>
            </a:r>
            <a:endParaRPr lang="en-US" sz="930" dirty="0"/>
          </a:p>
        </p:txBody>
      </p:sp>
      <p:sp>
        <p:nvSpPr>
          <p:cNvPr id="13" name="Text 10"/>
          <p:cNvSpPr/>
          <p:nvPr/>
        </p:nvSpPr>
        <p:spPr>
          <a:xfrm>
            <a:off x="457200" y="22494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profissional DMS na China, em parceria operacional com a RS Logistics.</a:t>
            </a:r>
            <a:endParaRPr lang="en-US" sz="760" dirty="0"/>
          </a:p>
        </p:txBody>
      </p:sp>
      <p:sp>
        <p:nvSpPr>
          <p:cNvPr id="14" name="Shape 11"/>
          <p:cNvSpPr/>
          <p:nvPr/>
        </p:nvSpPr>
        <p:spPr>
          <a:xfrm>
            <a:off x="457200" y="2852928"/>
            <a:ext cx="1298448" cy="18288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5" name="Text 12"/>
          <p:cNvSpPr/>
          <p:nvPr/>
        </p:nvSpPr>
        <p:spPr>
          <a:xfrm>
            <a:off x="457200" y="28529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AGORA</a:t>
            </a:r>
            <a:endParaRPr lang="en-US" sz="720" dirty="0"/>
          </a:p>
        </p:txBody>
      </p:sp>
      <p:sp>
        <p:nvSpPr>
          <p:cNvPr id="16" name="Text 13"/>
          <p:cNvSpPr/>
          <p:nvPr/>
        </p:nvSpPr>
        <p:spPr>
          <a:xfrm>
            <a:off x="1856232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139696" y="1572768"/>
            <a:ext cx="148132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2139696" y="1572768"/>
            <a:ext cx="1481328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9" name="Text 16"/>
          <p:cNvSpPr/>
          <p:nvPr/>
        </p:nvSpPr>
        <p:spPr>
          <a:xfrm>
            <a:off x="2139696" y="1572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20" name="Text 17"/>
          <p:cNvSpPr/>
          <p:nvPr/>
        </p:nvSpPr>
        <p:spPr>
          <a:xfrm>
            <a:off x="2231136" y="18836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comprovada</a:t>
            </a:r>
            <a:endParaRPr lang="en-US" sz="930" dirty="0"/>
          </a:p>
        </p:txBody>
      </p:sp>
      <p:sp>
        <p:nvSpPr>
          <p:cNvPr id="21" name="Text 18"/>
          <p:cNvSpPr/>
          <p:nvPr/>
        </p:nvSpPr>
        <p:spPr>
          <a:xfrm>
            <a:off x="2231136" y="22494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atua primeiro onde já há execução testada (bloco secundário).</a:t>
            </a:r>
            <a:endParaRPr lang="en-US" sz="760" dirty="0"/>
          </a:p>
        </p:txBody>
      </p:sp>
      <p:sp>
        <p:nvSpPr>
          <p:cNvPr id="22" name="Shape 19"/>
          <p:cNvSpPr/>
          <p:nvPr/>
        </p:nvSpPr>
        <p:spPr>
          <a:xfrm>
            <a:off x="2231136" y="2852928"/>
            <a:ext cx="1298448" cy="182880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23" name="Text 20"/>
          <p:cNvSpPr/>
          <p:nvPr/>
        </p:nvSpPr>
        <p:spPr>
          <a:xfrm>
            <a:off x="2231136" y="28529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BAIXO RISCO</a:t>
            </a:r>
            <a:endParaRPr lang="en-US" sz="720" dirty="0"/>
          </a:p>
        </p:txBody>
      </p:sp>
      <p:sp>
        <p:nvSpPr>
          <p:cNvPr id="24" name="Text 21"/>
          <p:cNvSpPr/>
          <p:nvPr/>
        </p:nvSpPr>
        <p:spPr>
          <a:xfrm>
            <a:off x="3630168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3913632" y="1572768"/>
            <a:ext cx="148132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3913632" y="1572768"/>
            <a:ext cx="1481328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7" name="Text 24"/>
          <p:cNvSpPr/>
          <p:nvPr/>
        </p:nvSpPr>
        <p:spPr>
          <a:xfrm>
            <a:off x="3913632" y="1572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28" name="Text 25"/>
          <p:cNvSpPr/>
          <p:nvPr/>
        </p:nvSpPr>
        <p:spPr>
          <a:xfrm>
            <a:off x="4005072" y="18836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no âncora</a:t>
            </a:r>
            <a:endParaRPr lang="en-US" sz="930" dirty="0"/>
          </a:p>
        </p:txBody>
      </p:sp>
      <p:sp>
        <p:nvSpPr>
          <p:cNvPr id="29" name="Text 26"/>
          <p:cNvSpPr/>
          <p:nvPr/>
        </p:nvSpPr>
        <p:spPr>
          <a:xfrm>
            <a:off x="4005072" y="22494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conduz negociação real e limitada com o armador-âncora.</a:t>
            </a:r>
            <a:endParaRPr lang="en-US" sz="760" dirty="0"/>
          </a:p>
        </p:txBody>
      </p:sp>
      <p:sp>
        <p:nvSpPr>
          <p:cNvPr id="30" name="Shape 27"/>
          <p:cNvSpPr/>
          <p:nvPr/>
        </p:nvSpPr>
        <p:spPr>
          <a:xfrm>
            <a:off x="4005072" y="2852928"/>
            <a:ext cx="1298448" cy="1828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31" name="Text 28"/>
          <p:cNvSpPr/>
          <p:nvPr/>
        </p:nvSpPr>
        <p:spPr>
          <a:xfrm>
            <a:off x="4005072" y="28529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CRÍTICO</a:t>
            </a:r>
            <a:endParaRPr lang="en-US" sz="720" dirty="0"/>
          </a:p>
        </p:txBody>
      </p:sp>
      <p:sp>
        <p:nvSpPr>
          <p:cNvPr id="32" name="Text 29"/>
          <p:cNvSpPr/>
          <p:nvPr/>
        </p:nvSpPr>
        <p:spPr>
          <a:xfrm>
            <a:off x="5404104" y="2194560"/>
            <a:ext cx="274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687568" y="1572768"/>
            <a:ext cx="1481328" cy="153619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5687568" y="1572768"/>
            <a:ext cx="1481328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35" name="Text 32"/>
          <p:cNvSpPr/>
          <p:nvPr/>
        </p:nvSpPr>
        <p:spPr>
          <a:xfrm>
            <a:off x="5687568" y="1572768"/>
            <a:ext cx="14813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5779008" y="1883664"/>
            <a:ext cx="1298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parcial</a:t>
            </a:r>
            <a:endParaRPr lang="en-US" sz="930" dirty="0"/>
          </a:p>
        </p:txBody>
      </p:sp>
      <p:sp>
        <p:nvSpPr>
          <p:cNvPr id="37" name="Text 34"/>
          <p:cNvSpPr/>
          <p:nvPr/>
        </p:nvSpPr>
        <p:spPr>
          <a:xfrm>
            <a:off x="5779008" y="2249424"/>
            <a:ext cx="12984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volume gradual — nunca 100% — condicionado à aprovação de M2.</a:t>
            </a:r>
            <a:endParaRPr lang="en-US" sz="760" dirty="0"/>
          </a:p>
        </p:txBody>
      </p:sp>
      <p:sp>
        <p:nvSpPr>
          <p:cNvPr id="38" name="Shape 35"/>
          <p:cNvSpPr/>
          <p:nvPr/>
        </p:nvSpPr>
        <p:spPr>
          <a:xfrm>
            <a:off x="5779008" y="2852928"/>
            <a:ext cx="1298448" cy="18288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39" name="Text 36"/>
          <p:cNvSpPr/>
          <p:nvPr/>
        </p:nvSpPr>
        <p:spPr>
          <a:xfrm>
            <a:off x="5779008" y="285292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CONDICIONADO</a:t>
            </a:r>
            <a:endParaRPr lang="en-US" sz="720" dirty="0"/>
          </a:p>
        </p:txBody>
      </p:sp>
      <p:sp>
        <p:nvSpPr>
          <p:cNvPr id="40" name="Shape 37"/>
          <p:cNvSpPr/>
          <p:nvPr/>
        </p:nvSpPr>
        <p:spPr>
          <a:xfrm>
            <a:off x="365760" y="3328416"/>
            <a:ext cx="233172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1" name="Shape 38"/>
          <p:cNvSpPr/>
          <p:nvPr/>
        </p:nvSpPr>
        <p:spPr>
          <a:xfrm>
            <a:off x="365760" y="3328416"/>
            <a:ext cx="2331720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42" name="Text 39"/>
          <p:cNvSpPr/>
          <p:nvPr/>
        </p:nvSpPr>
        <p:spPr>
          <a:xfrm>
            <a:off x="365760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43" name="Text 40"/>
          <p:cNvSpPr/>
          <p:nvPr/>
        </p:nvSpPr>
        <p:spPr>
          <a:xfrm>
            <a:off x="457200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LCL próprio (paralelo)</a:t>
            </a:r>
            <a:endParaRPr lang="en-US" sz="930" dirty="0"/>
          </a:p>
        </p:txBody>
      </p:sp>
      <p:sp>
        <p:nvSpPr>
          <p:cNvPr id="44" name="Text 41"/>
          <p:cNvSpPr/>
          <p:nvPr/>
        </p:nvSpPr>
        <p:spPr>
          <a:xfrm>
            <a:off x="457200" y="40050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Ativado a partir de 20 CBM ou 5 embarques por semana — qualquer uma das condições. Roda em paralelo aos demais módulos.</a:t>
            </a:r>
            <a:endParaRPr lang="en-US" sz="760" dirty="0"/>
          </a:p>
        </p:txBody>
      </p:sp>
      <p:sp>
        <p:nvSpPr>
          <p:cNvPr id="45" name="Shape 42"/>
          <p:cNvSpPr/>
          <p:nvPr/>
        </p:nvSpPr>
        <p:spPr>
          <a:xfrm>
            <a:off x="457200" y="4425696"/>
            <a:ext cx="2148840" cy="18288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46" name="Text 43"/>
          <p:cNvSpPr/>
          <p:nvPr/>
        </p:nvSpPr>
        <p:spPr>
          <a:xfrm>
            <a:off x="457200" y="44256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CONTÍNUO</a:t>
            </a:r>
            <a:endParaRPr lang="en-US" sz="720" dirty="0"/>
          </a:p>
        </p:txBody>
      </p:sp>
      <p:sp>
        <p:nvSpPr>
          <p:cNvPr id="47" name="Shape 44"/>
          <p:cNvSpPr/>
          <p:nvPr/>
        </p:nvSpPr>
        <p:spPr>
          <a:xfrm>
            <a:off x="2971800" y="3328416"/>
            <a:ext cx="2331720" cy="1353312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2971800" y="3328416"/>
            <a:ext cx="2331720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49" name="Text 46"/>
          <p:cNvSpPr/>
          <p:nvPr/>
        </p:nvSpPr>
        <p:spPr>
          <a:xfrm>
            <a:off x="2971800" y="3328416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50" name="Text 47"/>
          <p:cNvSpPr/>
          <p:nvPr/>
        </p:nvSpPr>
        <p:spPr>
          <a:xfrm>
            <a:off x="3063240" y="3639312"/>
            <a:ext cx="2148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3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Multi-região (condicionado)</a:t>
            </a:r>
            <a:endParaRPr lang="en-US" sz="930" dirty="0"/>
          </a:p>
        </p:txBody>
      </p:sp>
      <p:sp>
        <p:nvSpPr>
          <p:cNvPr id="51" name="Text 48"/>
          <p:cNvSpPr/>
          <p:nvPr/>
        </p:nvSpPr>
        <p:spPr>
          <a:xfrm>
            <a:off x="3063240" y="4005072"/>
            <a:ext cx="2148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7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entra em pauta com ganho comprovado e atribuído especificamente ao corredor Brasil.</a:t>
            </a:r>
            <a:endParaRPr lang="en-US" sz="760" dirty="0"/>
          </a:p>
        </p:txBody>
      </p:sp>
      <p:sp>
        <p:nvSpPr>
          <p:cNvPr id="52" name="Shape 49"/>
          <p:cNvSpPr/>
          <p:nvPr/>
        </p:nvSpPr>
        <p:spPr>
          <a:xfrm>
            <a:off x="3063240" y="4425696"/>
            <a:ext cx="2148840" cy="18288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53" name="Text 50"/>
          <p:cNvSpPr/>
          <p:nvPr/>
        </p:nvSpPr>
        <p:spPr>
          <a:xfrm>
            <a:off x="3063240" y="4425696"/>
            <a:ext cx="2148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M3</a:t>
            </a:r>
            <a:endParaRPr lang="en-US" sz="720" dirty="0"/>
          </a:p>
        </p:txBody>
      </p:sp>
      <p:sp>
        <p:nvSpPr>
          <p:cNvPr id="54" name="Text 51"/>
          <p:cNvSpPr/>
          <p:nvPr/>
        </p:nvSpPr>
        <p:spPr>
          <a:xfrm>
            <a:off x="5532120" y="3648456"/>
            <a:ext cx="3246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headcount é o investimento; M1-M3 são o trabalho desse profissional.</a:t>
            </a:r>
            <a:endParaRPr lang="en-US" sz="870" dirty="0"/>
          </a:p>
          <a:p>
            <a:pPr marL="0" indent="0">
              <a:buNone/>
            </a:pPr>
            <a:r>
              <a:rPr lang="en-US" sz="8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roda em paralelo · M5 só após aprovação de M3.</a:t>
            </a:r>
            <a:endParaRPr lang="en-US" sz="870" dirty="0"/>
          </a:p>
        </p:txBody>
      </p:sp>
      <p:sp>
        <p:nvSpPr>
          <p:cNvPr id="55" name="Shape 52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56" name="Text 53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57" name="Text 54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7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0">
            <a:extLst>
              <a:ext uri="{FF2B5EF4-FFF2-40B4-BE49-F238E27FC236}">
                <a16:creationId xmlns:a16="http://schemas.microsoft.com/office/drawing/2014/main" id="{BE6CCB85-B5E1-182A-1BA1-A0FA18278B85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ESTÁ A ALAVANCAGEM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blocos de negociação — não uma lista de fornecedores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23444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234440"/>
            <a:ext cx="2697480" cy="54864"/>
          </a:xfrm>
          <a:prstGeom prst="rect">
            <a:avLst/>
          </a:prstGeom>
          <a:solidFill>
            <a:srgbClr val="8DC63F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1353312"/>
            <a:ext cx="247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30,7%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475488" y="204825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8DC6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Armador-âncora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475488" y="2267712"/>
            <a:ext cx="2478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 quase 1/3 do volume · única concentração capaz de mudar o jogo se comprovada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3191256" y="123444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191256" y="1234440"/>
            <a:ext cx="2697480" cy="5486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5" name="Text 12"/>
          <p:cNvSpPr/>
          <p:nvPr/>
        </p:nvSpPr>
        <p:spPr>
          <a:xfrm>
            <a:off x="3300984" y="1353312"/>
            <a:ext cx="247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16,3%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3300984" y="204825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Bloco secundário comprovado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3300984" y="2267712"/>
            <a:ext cx="2478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já testada com volume real · ponto de partida de baixo risco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6016752" y="1234440"/>
            <a:ext cx="2697480" cy="1737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016752" y="1234440"/>
            <a:ext cx="2697480" cy="54864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20" name="Text 17"/>
          <p:cNvSpPr/>
          <p:nvPr/>
        </p:nvSpPr>
        <p:spPr>
          <a:xfrm>
            <a:off x="6126480" y="1353312"/>
            <a:ext cx="247802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53,0%</a:t>
            </a:r>
            <a:endParaRPr lang="en-US" sz="2600" dirty="0"/>
          </a:p>
        </p:txBody>
      </p:sp>
      <p:sp>
        <p:nvSpPr>
          <p:cNvPr id="21" name="Text 18"/>
          <p:cNvSpPr/>
          <p:nvPr/>
        </p:nvSpPr>
        <p:spPr>
          <a:xfrm>
            <a:off x="6126480" y="2048256"/>
            <a:ext cx="24780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Demais armadores dispersos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6126480" y="2267712"/>
            <a:ext cx="2478024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cauda longa · negociação individual não move a agulha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365760" y="3200400"/>
            <a:ext cx="8412480" cy="150876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2920" y="3337560"/>
            <a:ext cx="8138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Leitura estratégica: </a:t>
            </a: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concentrar esforço de negociação em qualquer bloco que não seja o âncora tem retorno marginal — mesmo somando 100% do bloco disperso, nenhum concorre em peso com o âncora sozinho. Toda a tese de poder de compra da estratégia depende de provar resultado especificamente ali, não de reduzir número de fornecedores em geral.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7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de cliente na carteira total: top-5 clientes = 51,8% do volume China — a sustentação da alavancagem em qualquer bloco depende também da permanência dessas contas.</a:t>
            </a:r>
            <a:endParaRPr lang="en-US" sz="870" dirty="0"/>
          </a:p>
        </p:txBody>
      </p:sp>
      <p:sp>
        <p:nvSpPr>
          <p:cNvPr id="26" name="Shape 23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27" name="Text 24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28" name="Text 25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870" dirty="0"/>
          </a:p>
        </p:txBody>
      </p:sp>
      <p:pic>
        <p:nvPicPr>
          <p:cNvPr id="29" name="Image 0" descr="images/logo_light.png">
            <a:extLst>
              <a:ext uri="{FF2B5EF4-FFF2-40B4-BE49-F238E27FC236}">
                <a16:creationId xmlns:a16="http://schemas.microsoft.com/office/drawing/2014/main" id="{786D5FF7-7A47-90C4-3F71-CD7D201C02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DD74265C-575C-BD63-5715-264100F4C97C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 · APROVAR NESTA RODADA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Headcount local em parceria com a RS Logistics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33856"/>
            <a:ext cx="8412480" cy="566928"/>
          </a:xfrm>
          <a:prstGeom prst="rect">
            <a:avLst/>
          </a:prstGeom>
          <a:solidFill>
            <a:srgbClr val="EFF8E0"/>
          </a:solidFill>
          <a:ln w="6350">
            <a:solidFill>
              <a:srgbClr val="D8E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133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0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posicionar um profissional da DMS na China, operando com o suporte estrutural da RS Logistics, para iniciar negociação direta com armadores localmente — sem exigir abertura de entidade própria nesta fase.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1993392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posição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se aprova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headcount — a DMS contrata/custeia, a RS fornece estrutura local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487168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874520"/>
            <a:ext cx="1993392" cy="5486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7" name="Text 14"/>
          <p:cNvSpPr/>
          <p:nvPr/>
        </p:nvSpPr>
        <p:spPr>
          <a:xfrm>
            <a:off x="2596896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 Logistics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596896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do parceiro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96896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Estrutura, backoffice e relacionamento local já estabelecidos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08576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08576" y="1874520"/>
            <a:ext cx="1993392" cy="54864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CAPEX de entidade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18304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A9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societária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18304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abrir WFOE ou registro NVOCC próprio nesta fase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729984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9984" y="1874520"/>
            <a:ext cx="19933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7" name="Text 24"/>
          <p:cNvSpPr/>
          <p:nvPr/>
        </p:nvSpPr>
        <p:spPr>
          <a:xfrm>
            <a:off x="6839712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39712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Migração de volume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Consequência do trabalho local (M1→M3) — não pré-condição do investimento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70" dirty="0"/>
          </a:p>
        </p:txBody>
      </p:sp>
      <p:pic>
        <p:nvPicPr>
          <p:cNvPr id="33" name="Image 0" descr="images/logo_light.png">
            <a:extLst>
              <a:ext uri="{FF2B5EF4-FFF2-40B4-BE49-F238E27FC236}">
                <a16:creationId xmlns:a16="http://schemas.microsoft.com/office/drawing/2014/main" id="{68E3F072-6B3B-A73D-483B-770083665B1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0">
            <a:extLst>
              <a:ext uri="{FF2B5EF4-FFF2-40B4-BE49-F238E27FC236}">
                <a16:creationId xmlns:a16="http://schemas.microsoft.com/office/drawing/2014/main" id="{08932DD8-ECCB-93E3-9DD9-01B715444969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POTENCIAL DE RESULTADO FINANCEIRO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hoje vai para agentes parceiros na Ásia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70432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365760" y="1170432"/>
            <a:ext cx="1993392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0" name="Text 7"/>
          <p:cNvSpPr/>
          <p:nvPr/>
        </p:nvSpPr>
        <p:spPr>
          <a:xfrm>
            <a:off x="475488" y="1289304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9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R$ 2,04 mi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420624" y="1965960"/>
            <a:ext cx="190195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OFF pago a agentes </a:t>
            </a:r>
            <a:r>
              <a:rPr lang="en-US" sz="8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(12 meses)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475488" y="2185416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Brasil · competência abr/25-mar/26 · universo teórico total, não capturável de uma vez</a:t>
            </a:r>
            <a:endParaRPr lang="en-US" sz="830" dirty="0"/>
          </a:p>
        </p:txBody>
      </p:sp>
      <p:sp>
        <p:nvSpPr>
          <p:cNvPr id="13" name="Shape 10"/>
          <p:cNvSpPr/>
          <p:nvPr/>
        </p:nvSpPr>
        <p:spPr>
          <a:xfrm>
            <a:off x="2487168" y="1170432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2487168" y="1170432"/>
            <a:ext cx="19933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5" name="Text 12"/>
          <p:cNvSpPr/>
          <p:nvPr/>
        </p:nvSpPr>
        <p:spPr>
          <a:xfrm>
            <a:off x="2596896" y="1289304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69%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2596896" y="196596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Concentrado em 2 agentes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2596896" y="2185416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dois maiores agentes do pool somam mais de 2/3 do valor — concentração, não pulverização</a:t>
            </a:r>
            <a:endParaRPr lang="en-US" sz="830" dirty="0"/>
          </a:p>
        </p:txBody>
      </p:sp>
      <p:sp>
        <p:nvSpPr>
          <p:cNvPr id="18" name="Shape 15"/>
          <p:cNvSpPr/>
          <p:nvPr/>
        </p:nvSpPr>
        <p:spPr>
          <a:xfrm>
            <a:off x="4608576" y="1170432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4608576" y="1170432"/>
            <a:ext cx="1993392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0" name="Text 17"/>
          <p:cNvSpPr/>
          <p:nvPr/>
        </p:nvSpPr>
        <p:spPr>
          <a:xfrm>
            <a:off x="4718304" y="1289304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R$ 550-650 mil/ano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4718304" y="196596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estimado do headcount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718304" y="2185416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salário + encargos, perfil sênior em Shanghai — fonte: ERI SalaryExpert / Morgan McKinley 2025-26</a:t>
            </a:r>
            <a:endParaRPr lang="en-US" sz="830" dirty="0"/>
          </a:p>
        </p:txBody>
      </p:sp>
      <p:sp>
        <p:nvSpPr>
          <p:cNvPr id="23" name="Shape 20"/>
          <p:cNvSpPr/>
          <p:nvPr/>
        </p:nvSpPr>
        <p:spPr>
          <a:xfrm>
            <a:off x="6729984" y="1170432"/>
            <a:ext cx="1993392" cy="169164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6729984" y="1170432"/>
            <a:ext cx="1993392" cy="5486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25" name="Text 22"/>
          <p:cNvSpPr/>
          <p:nvPr/>
        </p:nvSpPr>
        <p:spPr>
          <a:xfrm>
            <a:off x="6839712" y="1289304"/>
            <a:ext cx="1773936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2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~30%</a:t>
            </a:r>
            <a:endParaRPr lang="en-US" sz="2200" dirty="0"/>
          </a:p>
        </p:txBody>
      </p:sp>
      <p:sp>
        <p:nvSpPr>
          <p:cNvPr id="26" name="Text 23"/>
          <p:cNvSpPr/>
          <p:nvPr/>
        </p:nvSpPr>
        <p:spPr>
          <a:xfrm>
            <a:off x="6839712" y="196596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para cobrir o custo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6839712" y="2185416"/>
            <a:ext cx="17739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fatia do pool atual que pagaria o headcount — antes de taxa de estrutura da RS</a:t>
            </a:r>
            <a:endParaRPr lang="en-US" sz="830" dirty="0"/>
          </a:p>
        </p:txBody>
      </p:sp>
      <p:sp>
        <p:nvSpPr>
          <p:cNvPr id="28" name="Shape 25"/>
          <p:cNvSpPr/>
          <p:nvPr/>
        </p:nvSpPr>
        <p:spPr>
          <a:xfrm>
            <a:off x="365760" y="2999232"/>
            <a:ext cx="8412480" cy="1691640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02920" y="3108960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fluxos de valor distintos: este ganho vem da margem de agente hoje paga a terceiros para execução local — diferente do ganho de rate com armadores (M2/M3), que segue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comprovado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pois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houve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carga (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testagem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).</a:t>
            </a:r>
            <a:endParaRPr lang="en-US" sz="860" dirty="0"/>
          </a:p>
        </p:txBody>
      </p:sp>
      <p:sp>
        <p:nvSpPr>
          <p:cNvPr id="30" name="Text 27"/>
          <p:cNvSpPr/>
          <p:nvPr/>
        </p:nvSpPr>
        <p:spPr>
          <a:xfrm>
            <a:off x="502920" y="3515868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em 2 agentes (69% do pool) é tanto a maior oportunidade quanto o maior risco de transição — migrar rápido demais pode comprometer o serviço que sustenta o volume atual.</a:t>
            </a:r>
            <a:endParaRPr lang="en-US" sz="860" dirty="0"/>
          </a:p>
        </p:txBody>
      </p:sp>
      <p:sp>
        <p:nvSpPr>
          <p:cNvPr id="31" name="Text 28"/>
          <p:cNvSpPr/>
          <p:nvPr/>
        </p:nvSpPr>
        <p:spPr>
          <a:xfrm>
            <a:off x="502920" y="3922776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o pool é substituível por 1 headcount: parte do valor está ligada a volume transacional de alta operação (documentação, desembaraço), não apenas negociação — capacidade de uma pessoa é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limitada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portanto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analise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 valor TOTAL de profit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agente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parcela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86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intelectual</a:t>
            </a: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”.</a:t>
            </a:r>
            <a:endParaRPr lang="en-US" sz="860" dirty="0"/>
          </a:p>
        </p:txBody>
      </p:sp>
      <p:sp>
        <p:nvSpPr>
          <p:cNvPr id="32" name="Text 29"/>
          <p:cNvSpPr/>
          <p:nvPr/>
        </p:nvSpPr>
        <p:spPr>
          <a:xfrm>
            <a:off x="502920" y="4329684"/>
            <a:ext cx="8138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86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Taxa de estrutura cobrada pela RS Logistics para hospedar o headcount ainda não está neste cálculo — o break-even real de ~30% sobe conforme essa taxa for definida.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4" name="Text 31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5" name="Text 32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70" dirty="0"/>
          </a:p>
        </p:txBody>
      </p:sp>
      <p:pic>
        <p:nvPicPr>
          <p:cNvPr id="36" name="Image 0" descr="images/logo_light.png">
            <a:extLst>
              <a:ext uri="{FF2B5EF4-FFF2-40B4-BE49-F238E27FC236}">
                <a16:creationId xmlns:a16="http://schemas.microsoft.com/office/drawing/2014/main" id="{F3B5D57A-62E7-71CA-6AA0-159638D615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1 · PRIMEIRO MANDATO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Expansão no bloco já comprovado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33856"/>
            <a:ext cx="8412480" cy="566928"/>
          </a:xfrm>
          <a:prstGeom prst="rect">
            <a:avLst/>
          </a:prstGeom>
          <a:solidFill>
            <a:srgbClr val="EFF8E0"/>
          </a:solidFill>
          <a:ln w="6350">
            <a:solidFill>
              <a:srgbClr val="D8E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133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0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posicionado localmente começa atuando onde já existe execução real comprovada (bloco secundário) — ganha terreno e relacionamento antes de qualquer piloto no armador-âncora.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1993392" cy="54864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8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 dias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A9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da janela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observação da expansão conduzida localmente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487168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874520"/>
            <a:ext cx="1993392" cy="5486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7" name="Text 14"/>
          <p:cNvSpPr/>
          <p:nvPr/>
        </p:nvSpPr>
        <p:spPr>
          <a:xfrm>
            <a:off x="2596896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Execução real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96896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entrada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96896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se amplia onde já há volume executado, não cotação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08576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08576" y="1874520"/>
            <a:ext cx="19933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Serviço mantido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718304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 de saída (gate)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18304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e nível de serviço dentro da faixa aceitável por 60 dias seguidos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729984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9984" y="1874520"/>
            <a:ext cx="1993392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7" name="Text 24"/>
          <p:cNvSpPr/>
          <p:nvPr/>
        </p:nvSpPr>
        <p:spPr>
          <a:xfrm>
            <a:off x="6839712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Relacionamento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39712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Entregável do período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confiança local para sustentar o piloto do armador-âncora (M2)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70" dirty="0"/>
          </a:p>
        </p:txBody>
      </p:sp>
      <p:pic>
        <p:nvPicPr>
          <p:cNvPr id="33" name="Image 0" descr="images/logo_light.png">
            <a:extLst>
              <a:ext uri="{FF2B5EF4-FFF2-40B4-BE49-F238E27FC236}">
                <a16:creationId xmlns:a16="http://schemas.microsoft.com/office/drawing/2014/main" id="{FDF33CC5-66F4-3123-998A-CD4BE009E61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  <p:sp>
        <p:nvSpPr>
          <p:cNvPr id="34" name="Shape 0">
            <a:extLst>
              <a:ext uri="{FF2B5EF4-FFF2-40B4-BE49-F238E27FC236}">
                <a16:creationId xmlns:a16="http://schemas.microsoft.com/office/drawing/2014/main" id="{97349C54-2E4C-640D-AFB3-FA0B6AA4D7F2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14085AB7-FD81-2195-9EA1-AD14F4BED499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 · GATE CRÍTICO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Piloto controlado no armador-âncora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33856"/>
            <a:ext cx="8412480" cy="566928"/>
          </a:xfrm>
          <a:prstGeom prst="rect">
            <a:avLst/>
          </a:prstGeom>
          <a:solidFill>
            <a:srgbClr val="EFF8E0"/>
          </a:solidFill>
          <a:ln w="6350">
            <a:solidFill>
              <a:srgbClr val="D8E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133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0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profissional conduz, localmente, uma negociação real e limitada com o armador que concentra a maior fatia do book — testando se o mesmo ganho do bloco secundário se repete onde mais importa.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199339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sem.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Duração do piloto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curta, volume real e limitado — não cotação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487168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874520"/>
            <a:ext cx="199339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7" name="Text 14"/>
          <p:cNvSpPr/>
          <p:nvPr/>
        </p:nvSpPr>
        <p:spPr>
          <a:xfrm>
            <a:off x="2596896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15–20 emb.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2596896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do piloto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96896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Amostra suficiente para comparar execução, não intenção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08576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08576" y="1874520"/>
            <a:ext cx="19933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métricas</a:t>
            </a:r>
            <a:endParaRPr lang="en-US" sz="1600" dirty="0"/>
          </a:p>
        </p:txBody>
      </p:sp>
      <p:sp>
        <p:nvSpPr>
          <p:cNvPr id="23" name="Text 20"/>
          <p:cNvSpPr/>
          <p:nvPr/>
        </p:nvSpPr>
        <p:spPr>
          <a:xfrm>
            <a:off x="4718304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gate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18304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real vs. hoje · aderência de prazo · qualidade documental · alocação sob estresse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729984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9984" y="1874520"/>
            <a:ext cx="1993392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7" name="Text 24"/>
          <p:cNvSpPr/>
          <p:nvPr/>
        </p:nvSpPr>
        <p:spPr>
          <a:xfrm>
            <a:off x="6839712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/ No-go</a:t>
            </a:r>
            <a:endParaRPr lang="en-US" sz="1400" dirty="0"/>
          </a:p>
        </p:txBody>
      </p:sp>
      <p:sp>
        <p:nvSpPr>
          <p:cNvPr id="28" name="Text 25"/>
          <p:cNvSpPr/>
          <p:nvPr/>
        </p:nvSpPr>
        <p:spPr>
          <a:xfrm>
            <a:off x="6839712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ao final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aprovação nos 4 critérios, não há avanço para M3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70" dirty="0"/>
          </a:p>
        </p:txBody>
      </p:sp>
      <p:pic>
        <p:nvPicPr>
          <p:cNvPr id="33" name="Image 0" descr="images/logo_light.png">
            <a:extLst>
              <a:ext uri="{FF2B5EF4-FFF2-40B4-BE49-F238E27FC236}">
                <a16:creationId xmlns:a16="http://schemas.microsoft.com/office/drawing/2014/main" id="{28AD34F0-7FB3-BEA2-F0E1-7C779BCE27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EB822858-1759-30A4-66A6-1CCE6149539C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 · CONDICIONADO A M2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Concentração parcial no armador-âncora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33856"/>
            <a:ext cx="8412480" cy="566928"/>
          </a:xfrm>
          <a:prstGeom prst="rect">
            <a:avLst/>
          </a:prstGeom>
          <a:solidFill>
            <a:srgbClr val="EFF8E0"/>
          </a:solidFill>
          <a:ln w="6350">
            <a:solidFill>
              <a:srgbClr val="D8E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133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0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migrar uma fatia definida do volume do armador-âncora para o modelo de negociação local — nunca a totalidade — mantendo os fornecedores atuais como retaguarda ativa.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1993392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definido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Escopo da migração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100% do armador-âncora · fatia a definir com base no resultado de M2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487168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874520"/>
            <a:ext cx="1993392" cy="54864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17" name="Text 14"/>
          <p:cNvSpPr/>
          <p:nvPr/>
        </p:nvSpPr>
        <p:spPr>
          <a:xfrm>
            <a:off x="2596896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Retaguarda ativa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96896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A9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Fornecedores atuais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96896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Seguem operando o restante — não são substituídos, são redimensionados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08576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08576" y="1874520"/>
            <a:ext cx="19933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ciclo de GRI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18304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sustentação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18304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precisa se manter além do próximo reajuste geral de tarifa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729984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9984" y="1874520"/>
            <a:ext cx="1993392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7" name="Text 24"/>
          <p:cNvSpPr/>
          <p:nvPr/>
        </p:nvSpPr>
        <p:spPr>
          <a:xfrm>
            <a:off x="6839712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6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6839712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 necessária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Exclusividade, SLA e reversibilidade contratual antes de formalizar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70" dirty="0"/>
          </a:p>
        </p:txBody>
      </p:sp>
      <p:pic>
        <p:nvPicPr>
          <p:cNvPr id="33" name="Image 0" descr="images/logo_light.png">
            <a:extLst>
              <a:ext uri="{FF2B5EF4-FFF2-40B4-BE49-F238E27FC236}">
                <a16:creationId xmlns:a16="http://schemas.microsoft.com/office/drawing/2014/main" id="{11A229B8-2567-9385-B92B-EC0BCB1ADB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BFB86409-2528-CDF8-C93F-604B0C4ADE92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4 · PARALELO E CONTÍNUO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de consolidação própria (LCL)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33856"/>
            <a:ext cx="8412480" cy="566928"/>
          </a:xfrm>
          <a:prstGeom prst="rect">
            <a:avLst/>
          </a:prstGeom>
          <a:solidFill>
            <a:srgbClr val="EFF8E0"/>
          </a:solidFill>
          <a:ln w="6350">
            <a:solidFill>
              <a:srgbClr val="D8E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133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0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consolidação própria só é ativada quando o volume semanal atingir o corte definido — até lá, o excedente segue integralmente com os coloaders locais atuais, sem interrupção de serviço.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1993392" cy="5486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CBM/sem.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volume — CBM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uma das duas condições (CBM ou embarques) já viabiliza a consolidação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487168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874520"/>
            <a:ext cx="1993392" cy="54864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7" name="Text 14"/>
          <p:cNvSpPr/>
          <p:nvPr/>
        </p:nvSpPr>
        <p:spPr>
          <a:xfrm>
            <a:off x="2596896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2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emb./sem.</a:t>
            </a:r>
            <a:endParaRPr lang="en-US" sz="2000" dirty="0"/>
          </a:p>
        </p:txBody>
      </p:sp>
      <p:sp>
        <p:nvSpPr>
          <p:cNvPr id="18" name="Text 15"/>
          <p:cNvSpPr/>
          <p:nvPr/>
        </p:nvSpPr>
        <p:spPr>
          <a:xfrm>
            <a:off x="2596896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0AE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de volume — embarques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96896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Condição alternativa ao corte de CBM, o que ocorrer primeiro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08576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08576" y="1874520"/>
            <a:ext cx="1993392" cy="54864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Retaguarda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18304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5A92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Abaixo do corte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18304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Segue 100% com os coloaders locais atuais, sem exceção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729984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9984" y="1874520"/>
            <a:ext cx="199339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6839712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5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fixo</a:t>
            </a:r>
            <a:endParaRPr lang="en-US" sz="1500" dirty="0"/>
          </a:p>
        </p:txBody>
      </p:sp>
      <p:sp>
        <p:nvSpPr>
          <p:cNvPr id="28" name="Text 25"/>
          <p:cNvSpPr/>
          <p:nvPr/>
        </p:nvSpPr>
        <p:spPr>
          <a:xfrm>
            <a:off x="6839712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atenção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Infraestrutura própria tem custo fixo independente da frequência de uso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70" dirty="0"/>
          </a:p>
        </p:txBody>
      </p:sp>
      <p:pic>
        <p:nvPicPr>
          <p:cNvPr id="33" name="Image 0" descr="images/logo_light.png">
            <a:extLst>
              <a:ext uri="{FF2B5EF4-FFF2-40B4-BE49-F238E27FC236}">
                <a16:creationId xmlns:a16="http://schemas.microsoft.com/office/drawing/2014/main" id="{CF727216-E3B5-0527-6301-C72BF55E03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Shape 0">
            <a:extLst>
              <a:ext uri="{FF2B5EF4-FFF2-40B4-BE49-F238E27FC236}">
                <a16:creationId xmlns:a16="http://schemas.microsoft.com/office/drawing/2014/main" id="{4D6FC4E6-BEC5-A07B-3178-4F9A6EF12C09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5 · CONDICIONADO A M3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multi-região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33856"/>
            <a:ext cx="8412480" cy="566928"/>
          </a:xfrm>
          <a:prstGeom prst="rect">
            <a:avLst/>
          </a:prstGeom>
          <a:solidFill>
            <a:srgbClr val="EFF8E0"/>
          </a:solidFill>
          <a:ln w="6350">
            <a:solidFill>
              <a:srgbClr val="D8EAB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02920" y="1133856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Objetivo: </a:t>
            </a:r>
            <a:r>
              <a:rPr lang="en-US" sz="100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só entra em pauta depois de ganho comprovado e atribuído especificamente ao corredor Brasil — nunca com base em resultado agregado de outras regiões.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65760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65760" y="1874520"/>
            <a:ext cx="1993392" cy="54864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12" name="Text 9"/>
          <p:cNvSpPr/>
          <p:nvPr/>
        </p:nvSpPr>
        <p:spPr>
          <a:xfrm>
            <a:off x="475488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Após M3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475488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Pré-requisito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75488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se discute multi-região antes da concentração parcial estar provada</a:t>
            </a:r>
            <a:endParaRPr lang="en-US" sz="830" dirty="0"/>
          </a:p>
        </p:txBody>
      </p:sp>
      <p:sp>
        <p:nvSpPr>
          <p:cNvPr id="15" name="Shape 12"/>
          <p:cNvSpPr/>
          <p:nvPr/>
        </p:nvSpPr>
        <p:spPr>
          <a:xfrm>
            <a:off x="2487168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87168" y="1874520"/>
            <a:ext cx="1993392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7" name="Text 14"/>
          <p:cNvSpPr/>
          <p:nvPr/>
        </p:nvSpPr>
        <p:spPr>
          <a:xfrm>
            <a:off x="2596896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Corte Brasil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2596896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Atribuição exigida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2596896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Ganho precisa ser isolado por região, não herdado do resultado do grupo</a:t>
            </a:r>
            <a:endParaRPr lang="en-US" sz="830" dirty="0"/>
          </a:p>
        </p:txBody>
      </p:sp>
      <p:sp>
        <p:nvSpPr>
          <p:cNvPr id="20" name="Shape 17"/>
          <p:cNvSpPr/>
          <p:nvPr/>
        </p:nvSpPr>
        <p:spPr>
          <a:xfrm>
            <a:off x="4608576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08576" y="1874520"/>
            <a:ext cx="1993392" cy="54864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22" name="Text 19"/>
          <p:cNvSpPr/>
          <p:nvPr/>
        </p:nvSpPr>
        <p:spPr>
          <a:xfrm>
            <a:off x="4718304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Alinhamento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4718304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4718304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Exige concordância formal das demais unidades antes de avançar</a:t>
            </a:r>
            <a:endParaRPr lang="en-US" sz="830" dirty="0"/>
          </a:p>
        </p:txBody>
      </p:sp>
      <p:sp>
        <p:nvSpPr>
          <p:cNvPr id="25" name="Shape 22"/>
          <p:cNvSpPr/>
          <p:nvPr/>
        </p:nvSpPr>
        <p:spPr>
          <a:xfrm>
            <a:off x="6729984" y="1874520"/>
            <a:ext cx="1993392" cy="21031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50800" dist="12700" dir="54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729984" y="1874520"/>
            <a:ext cx="1993392" cy="54864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7" name="Text 24"/>
          <p:cNvSpPr/>
          <p:nvPr/>
        </p:nvSpPr>
        <p:spPr>
          <a:xfrm>
            <a:off x="6839712" y="1993392"/>
            <a:ext cx="17739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30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Exposição ampliada</a:t>
            </a:r>
            <a:endParaRPr lang="en-US" sz="1300" dirty="0"/>
          </a:p>
        </p:txBody>
      </p:sp>
      <p:sp>
        <p:nvSpPr>
          <p:cNvPr id="28" name="Text 25"/>
          <p:cNvSpPr/>
          <p:nvPr/>
        </p:nvSpPr>
        <p:spPr>
          <a:xfrm>
            <a:off x="6839712" y="2834640"/>
            <a:ext cx="177393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Risco a considerar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839712" y="3054096"/>
            <a:ext cx="177393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 a exposição de informação e o ponto único de falha</a:t>
            </a:r>
            <a:endParaRPr lang="en-US" sz="830" dirty="0"/>
          </a:p>
        </p:txBody>
      </p:sp>
      <p:sp>
        <p:nvSpPr>
          <p:cNvPr id="30" name="Shape 2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1" name="Text 2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2" name="Text 2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70" dirty="0"/>
          </a:p>
        </p:txBody>
      </p:sp>
      <p:pic>
        <p:nvPicPr>
          <p:cNvPr id="33" name="Image 0" descr="images/logo_light.png">
            <a:extLst>
              <a:ext uri="{FF2B5EF4-FFF2-40B4-BE49-F238E27FC236}">
                <a16:creationId xmlns:a16="http://schemas.microsoft.com/office/drawing/2014/main" id="{40B90B33-AFEF-505B-76FB-B5717F66252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 0">
            <a:extLst>
              <a:ext uri="{FF2B5EF4-FFF2-40B4-BE49-F238E27FC236}">
                <a16:creationId xmlns:a16="http://schemas.microsoft.com/office/drawing/2014/main" id="{088765CE-1ABE-08EF-954E-6E9C275EB1BA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CONSOLIDADO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Sequenciamento dos módulos e pontos de decisão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365760" y="123444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Investimento — Headcount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2743200" y="1289304"/>
            <a:ext cx="266790" cy="27432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709928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— Expansão comprovada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009990" y="1764792"/>
            <a:ext cx="1333948" cy="274320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12" name="Text 9"/>
          <p:cNvSpPr/>
          <p:nvPr/>
        </p:nvSpPr>
        <p:spPr>
          <a:xfrm>
            <a:off x="365760" y="2185416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— Piloto no âncora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4343938" y="2240280"/>
            <a:ext cx="1333948" cy="27432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365760" y="2660904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— Concentração parcial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677886" y="2715768"/>
            <a:ext cx="1734133" cy="27432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365760" y="3136392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 — Gatilho LCL (paralelo)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3009990" y="3191256"/>
            <a:ext cx="4402029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18" name="Text 15"/>
          <p:cNvSpPr/>
          <p:nvPr/>
        </p:nvSpPr>
        <p:spPr>
          <a:xfrm>
            <a:off x="365760" y="3611880"/>
            <a:ext cx="22860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2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— Multi-região (condicionado)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7412019" y="3666744"/>
            <a:ext cx="1000461" cy="274320"/>
          </a:xfrm>
          <a:prstGeom prst="rect">
            <a:avLst/>
          </a:prstGeom>
          <a:solidFill>
            <a:srgbClr val="6B3FA0"/>
          </a:solidFill>
          <a:ln/>
        </p:spPr>
      </p:sp>
      <p:sp>
        <p:nvSpPr>
          <p:cNvPr id="20" name="Shape 17"/>
          <p:cNvSpPr/>
          <p:nvPr/>
        </p:nvSpPr>
        <p:spPr>
          <a:xfrm>
            <a:off x="2743200" y="4133088"/>
            <a:ext cx="56692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2606040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750" dirty="0"/>
          </a:p>
        </p:txBody>
      </p:sp>
      <p:sp>
        <p:nvSpPr>
          <p:cNvPr id="22" name="Text 19"/>
          <p:cNvSpPr/>
          <p:nvPr/>
        </p:nvSpPr>
        <p:spPr>
          <a:xfrm>
            <a:off x="3273014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50" dirty="0"/>
          </a:p>
        </p:txBody>
      </p:sp>
      <p:sp>
        <p:nvSpPr>
          <p:cNvPr id="23" name="Text 20"/>
          <p:cNvSpPr/>
          <p:nvPr/>
        </p:nvSpPr>
        <p:spPr>
          <a:xfrm>
            <a:off x="3939988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4606962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50" dirty="0"/>
          </a:p>
        </p:txBody>
      </p:sp>
      <p:sp>
        <p:nvSpPr>
          <p:cNvPr id="25" name="Text 22"/>
          <p:cNvSpPr/>
          <p:nvPr/>
        </p:nvSpPr>
        <p:spPr>
          <a:xfrm>
            <a:off x="5273936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50" dirty="0"/>
          </a:p>
        </p:txBody>
      </p:sp>
      <p:sp>
        <p:nvSpPr>
          <p:cNvPr id="26" name="Text 23"/>
          <p:cNvSpPr/>
          <p:nvPr/>
        </p:nvSpPr>
        <p:spPr>
          <a:xfrm>
            <a:off x="5940911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50" dirty="0"/>
          </a:p>
        </p:txBody>
      </p:sp>
      <p:sp>
        <p:nvSpPr>
          <p:cNvPr id="27" name="Text 24"/>
          <p:cNvSpPr/>
          <p:nvPr/>
        </p:nvSpPr>
        <p:spPr>
          <a:xfrm>
            <a:off x="6607885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50" dirty="0"/>
          </a:p>
        </p:txBody>
      </p:sp>
      <p:sp>
        <p:nvSpPr>
          <p:cNvPr id="28" name="Text 25"/>
          <p:cNvSpPr/>
          <p:nvPr/>
        </p:nvSpPr>
        <p:spPr>
          <a:xfrm>
            <a:off x="7274859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7941833" y="4160520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750" dirty="0"/>
          </a:p>
        </p:txBody>
      </p:sp>
      <p:sp>
        <p:nvSpPr>
          <p:cNvPr id="30" name="Text 27"/>
          <p:cNvSpPr/>
          <p:nvPr/>
        </p:nvSpPr>
        <p:spPr>
          <a:xfrm>
            <a:off x="2743200" y="4389120"/>
            <a:ext cx="5669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Meses corridos a partir da aprovação do board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32" name="Text 29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33" name="Text 30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870" dirty="0"/>
          </a:p>
        </p:txBody>
      </p:sp>
      <p:pic>
        <p:nvPicPr>
          <p:cNvPr id="34" name="Image 0" descr="images/logo_light.png">
            <a:extLst>
              <a:ext uri="{FF2B5EF4-FFF2-40B4-BE49-F238E27FC236}">
                <a16:creationId xmlns:a16="http://schemas.microsoft.com/office/drawing/2014/main" id="{38695BA1-CAC6-8D80-1C03-419C52CCCE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0">
            <a:extLst>
              <a:ext uri="{FF2B5EF4-FFF2-40B4-BE49-F238E27FC236}">
                <a16:creationId xmlns:a16="http://schemas.microsoft.com/office/drawing/2014/main" id="{10BE2782-17E9-7ACC-1439-CB7E75D1733C}"/>
              </a:ext>
            </a:extLst>
          </p:cNvPr>
          <p:cNvSpPr/>
          <p:nvPr/>
        </p:nvSpPr>
        <p:spPr>
          <a:xfrm>
            <a:off x="0" y="0"/>
            <a:ext cx="6400800" cy="875030"/>
          </a:xfrm>
          <a:custGeom>
            <a:avLst/>
            <a:gdLst>
              <a:gd name="connsiteX0" fmla="*/ 0 w 6400800"/>
              <a:gd name="connsiteY0" fmla="*/ 0 h 868680"/>
              <a:gd name="connsiteX1" fmla="*/ 6400800 w 6400800"/>
              <a:gd name="connsiteY1" fmla="*/ 0 h 868680"/>
              <a:gd name="connsiteX2" fmla="*/ 6400800 w 6400800"/>
              <a:gd name="connsiteY2" fmla="*/ 868680 h 868680"/>
              <a:gd name="connsiteX3" fmla="*/ 0 w 6400800"/>
              <a:gd name="connsiteY3" fmla="*/ 868680 h 868680"/>
              <a:gd name="connsiteX4" fmla="*/ 0 w 6400800"/>
              <a:gd name="connsiteY4" fmla="*/ 0 h 868680"/>
              <a:gd name="connsiteX0" fmla="*/ 0 w 6400800"/>
              <a:gd name="connsiteY0" fmla="*/ 0 h 875030"/>
              <a:gd name="connsiteX1" fmla="*/ 6400800 w 6400800"/>
              <a:gd name="connsiteY1" fmla="*/ 0 h 875030"/>
              <a:gd name="connsiteX2" fmla="*/ 5924550 w 6400800"/>
              <a:gd name="connsiteY2" fmla="*/ 875030 h 875030"/>
              <a:gd name="connsiteX3" fmla="*/ 0 w 6400800"/>
              <a:gd name="connsiteY3" fmla="*/ 868680 h 875030"/>
              <a:gd name="connsiteX4" fmla="*/ 0 w 6400800"/>
              <a:gd name="connsiteY4" fmla="*/ 0 h 8750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400800" h="875030">
                <a:moveTo>
                  <a:pt x="0" y="0"/>
                </a:moveTo>
                <a:lnTo>
                  <a:pt x="6400800" y="0"/>
                </a:lnTo>
                <a:lnTo>
                  <a:pt x="5924550" y="875030"/>
                </a:lnTo>
                <a:lnTo>
                  <a:pt x="0" y="868680"/>
                </a:lnTo>
                <a:lnTo>
                  <a:pt x="0" y="0"/>
                </a:lnTo>
                <a:close/>
              </a:path>
            </a:pathLst>
          </a:custGeom>
          <a:solidFill>
            <a:srgbClr val="8DC63F"/>
          </a:solidFill>
          <a:ln/>
        </p:spPr>
      </p:sp>
      <p:sp>
        <p:nvSpPr>
          <p:cNvPr id="4" name="Shape 2"/>
          <p:cNvSpPr/>
          <p:nvPr/>
        </p:nvSpPr>
        <p:spPr>
          <a:xfrm>
            <a:off x="8887968" y="0"/>
            <a:ext cx="256032" cy="5143500"/>
          </a:xfrm>
          <a:prstGeom prst="rect">
            <a:avLst/>
          </a:prstGeom>
          <a:solidFill>
            <a:srgbClr val="0D2B5E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" y="100584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DECISÃO REQUERIDA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20040" y="320040"/>
            <a:ext cx="5074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 aprova-se agora — a migração de volume, por gate</a:t>
            </a:r>
            <a:endParaRPr lang="en-US" sz="1550" dirty="0"/>
          </a:p>
        </p:txBody>
      </p:sp>
      <p:sp>
        <p:nvSpPr>
          <p:cNvPr id="8" name="Shape 5"/>
          <p:cNvSpPr/>
          <p:nvPr/>
        </p:nvSpPr>
        <p:spPr>
          <a:xfrm>
            <a:off x="365760" y="1170432"/>
            <a:ext cx="3977640" cy="3520440"/>
          </a:xfrm>
          <a:prstGeom prst="rect">
            <a:avLst/>
          </a:prstGeom>
          <a:solidFill>
            <a:srgbClr val="EFF8E0"/>
          </a:solidFill>
          <a:ln w="9525">
            <a:solidFill>
              <a:srgbClr val="D8EAB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65760" y="1170432"/>
            <a:ext cx="3977640" cy="329184"/>
          </a:xfrm>
          <a:prstGeom prst="rect">
            <a:avLst/>
          </a:prstGeom>
          <a:solidFill>
            <a:srgbClr val="5A9214"/>
          </a:solidFill>
          <a:ln/>
        </p:spPr>
      </p:sp>
      <p:sp>
        <p:nvSpPr>
          <p:cNvPr id="10" name="Text 7"/>
          <p:cNvSpPr/>
          <p:nvPr/>
        </p:nvSpPr>
        <p:spPr>
          <a:xfrm>
            <a:off x="36576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NESTA RODADA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502920" y="16276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investimento: 1 profissional DMS posicionado na China, em parceria operacional com a RS Logistics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502920" y="25420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mandato inicial do profissional — atuar no bloco já comprovado (M1) e depois conduzir o piloto no armador-âncora (M2)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502920" y="34564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✓"/>
            </a:pPr>
            <a:r>
              <a:rPr lang="en-US" sz="950" dirty="0">
                <a:solidFill>
                  <a:srgbClr val="3F5C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 de M4 em paralelo — gatilho de consolidação própria de LCL a 20 CBM ou 5 embarques por semana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26280" y="1170432"/>
            <a:ext cx="3977640" cy="3520440"/>
          </a:xfrm>
          <a:prstGeom prst="rect">
            <a:avLst/>
          </a:prstGeom>
          <a:solidFill>
            <a:srgbClr val="FFF7ED"/>
          </a:solidFill>
          <a:ln w="9525">
            <a:solidFill>
              <a:srgbClr val="FDE7CE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26280" y="1170432"/>
            <a:ext cx="3977640" cy="32918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6" name="Text 13"/>
          <p:cNvSpPr/>
          <p:nvPr/>
        </p:nvSpPr>
        <p:spPr>
          <a:xfrm>
            <a:off x="4526280" y="1170432"/>
            <a:ext cx="3977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CONDICIONADO A GATE FUTURO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663440" y="16276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9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 (concentração parcial no âncora) — só volta ao board com resultado de M2 em mãos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4663440" y="25420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9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exclusividade, SLA ou cláusula de reversibilidade — desenhada apenas se M2 for aprovado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4663440" y="3456432"/>
            <a:ext cx="3703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○"/>
            </a:pPr>
            <a:r>
              <a:rPr lang="en-US" sz="950" dirty="0">
                <a:solidFill>
                  <a:srgbClr val="9A5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 (multi-região) — não entra em pauta antes de M3 provado e atribuído especificamente ao Brasil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65760" y="4736592"/>
            <a:ext cx="8138160" cy="274320"/>
          </a:xfrm>
          <a:prstGeom prst="rect">
            <a:avLst/>
          </a:prstGeom>
          <a:solidFill>
            <a:srgbClr val="00AEEF"/>
          </a:solidFill>
          <a:ln/>
        </p:spPr>
      </p:sp>
      <p:sp>
        <p:nvSpPr>
          <p:cNvPr id="21" name="Text 18"/>
          <p:cNvSpPr/>
          <p:nvPr/>
        </p:nvSpPr>
        <p:spPr>
          <a:xfrm>
            <a:off x="502920" y="4736592"/>
            <a:ext cx="7589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DMS Cargo &amp; Logistics · Ásia — Documento de apoio à deliberação do Board</a:t>
            </a:r>
            <a:endParaRPr lang="en-US" sz="870" dirty="0"/>
          </a:p>
        </p:txBody>
      </p:sp>
      <p:sp>
        <p:nvSpPr>
          <p:cNvPr id="22" name="Text 19"/>
          <p:cNvSpPr/>
          <p:nvPr/>
        </p:nvSpPr>
        <p:spPr>
          <a:xfrm>
            <a:off x="8503920" y="473659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7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70" dirty="0"/>
          </a:p>
        </p:txBody>
      </p:sp>
      <p:pic>
        <p:nvPicPr>
          <p:cNvPr id="23" name="Image 0" descr="images/logo_light.png">
            <a:extLst>
              <a:ext uri="{FF2B5EF4-FFF2-40B4-BE49-F238E27FC236}">
                <a16:creationId xmlns:a16="http://schemas.microsoft.com/office/drawing/2014/main" id="{25A59C5E-A6C1-9C2C-E94E-701D7BFB7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5450" y="173736"/>
            <a:ext cx="641350" cy="2907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1785</Words>
  <Application>Microsoft Office PowerPoint</Application>
  <PresentationFormat>On-screen Show (16:9)</PresentationFormat>
  <Paragraphs>232</Paragraphs>
  <Slides>12</Slides>
  <Notes>12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Ásia — Migração Faseada por Módulos de Testagem</dc:title>
  <dc:subject>PptxGenJS Presentation</dc:subject>
  <dc:creator>DMS Cargo &amp; Logistics</dc:creator>
  <cp:lastModifiedBy>Pc Dmslog</cp:lastModifiedBy>
  <cp:revision>3</cp:revision>
  <dcterms:created xsi:type="dcterms:W3CDTF">2026-07-16T13:17:46Z</dcterms:created>
  <dcterms:modified xsi:type="dcterms:W3CDTF">2026-10-27T16:17:03Z</dcterms:modified>
</cp:coreProperties>
</file>