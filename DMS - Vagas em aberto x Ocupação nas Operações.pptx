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87" r:id="rId1"/>
    <p:sldMasterId id="2147483821" r:id="rId2"/>
  </p:sldMasterIdLst>
  <p:notesMasterIdLst>
    <p:notesMasterId r:id="rId8"/>
  </p:notesMasterIdLst>
  <p:handoutMasterIdLst>
    <p:handoutMasterId r:id="rId9"/>
  </p:handoutMasterIdLst>
  <p:sldIdLst>
    <p:sldId id="2147474652" r:id="rId3"/>
    <p:sldId id="2147474655" r:id="rId4"/>
    <p:sldId id="2147474653" r:id="rId5"/>
    <p:sldId id="2147474649" r:id="rId7"/>
    <p:sldId id="2147474651" r:id="rId6"/>
  </p:sldIdLst>
  <p:sldSz cx="12192000" cy="6858000"/>
  <p:notesSz cx="6797675" cy="9928225"/>
  <p:custDataLst>
    <p:tags r:id="rId10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C3FDA-5671-42A4-A468-888C653E86DD}">
          <p14:sldIdLst>
            <p14:sldId id="2147474652"/>
            <p14:sldId id="2147474655"/>
            <p14:sldId id="2147474653"/>
            <p14:sldId id="2147474651"/>
          </p14:sldIdLst>
        </p14:section>
        <p14:section name="Equipe e Investimentos" id="{702C7D10-46CA-4A1C-BCF8-1EEFBEEF3622}">
          <p14:sldIdLst>
            <p14:sldId id="21474746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9F2"/>
    <a:srgbClr val="FFFFFF"/>
    <a:srgbClr val="9D6699"/>
    <a:srgbClr val="124376"/>
    <a:srgbClr val="E36800"/>
    <a:srgbClr val="FF5A43"/>
    <a:srgbClr val="7B7D7B"/>
    <a:srgbClr val="1D368E"/>
    <a:srgbClr val="009796"/>
    <a:srgbClr val="3D7C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4" dt="2026-10-20T21:32:41.862"/>
    <p1510:client id="{CD91F97B-61E8-490A-A668-8ADE57E8F57D}" v="12" dt="2026-10-21T13:45:29.789"/>
    <p1510:client id="{CEDDFF9A-7B1C-4363-95D8-B551194F9A07}" v="695" dt="2026-10-20T22:12:11.2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5404"/>
    <p:restoredTop sz="94748"/>
  </p:normalViewPr>
  <p:slideViewPr>
    <p:cSldViewPr snapToGrid="0">
      <p:cViewPr>
        <p:scale>
          <a:sx n="66" d="100"/>
          <a:sy n="66" d="100"/>
        </p:scale>
        <p:origin x="1752" y="42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 descr="25%"/>
          <p:cNvSpPr>
            <a:spLocks noGrp="1" noChangeArrowheads="1"/>
          </p:cNvSpPr>
          <p:nvPr>
            <p:ph type="hdr" sz="quarter"/>
          </p:nvPr>
        </p:nvSpPr>
        <p:spPr bwMode="gray">
          <a:xfrm>
            <a:off x="2" y="0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19" name="Rectangle 3" descr="25%"/>
          <p:cNvSpPr>
            <a:spLocks noGrp="1" noChangeArrowheads="1"/>
          </p:cNvSpPr>
          <p:nvPr>
            <p:ph type="dt" sz="quarter" idx="1"/>
          </p:nvPr>
        </p:nvSpPr>
        <p:spPr bwMode="gray">
          <a:xfrm>
            <a:off x="5900091" y="0"/>
            <a:ext cx="897585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EB9C613B-C2AC-4B93-9209-758731061898}" type="datetime1">
              <a:rPr lang="en-GB"/>
              <a:pPr>
                <a:defRPr/>
              </a:pPr>
              <a:t>22/10/2026</a:t>
            </a:fld>
            <a:endParaRPr lang="en-GB"/>
          </a:p>
        </p:txBody>
      </p:sp>
      <p:sp>
        <p:nvSpPr>
          <p:cNvPr id="86020" name="Rectangle 4" descr="25%"/>
          <p:cNvSpPr>
            <a:spLocks noGrp="1" noChangeArrowheads="1"/>
          </p:cNvSpPr>
          <p:nvPr>
            <p:ph type="ftr" sz="quarter" idx="2"/>
          </p:nvPr>
        </p:nvSpPr>
        <p:spPr bwMode="gray">
          <a:xfrm>
            <a:off x="2" y="9611922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21" name="Rectangle 5" descr="25%"/>
          <p:cNvSpPr>
            <a:spLocks noGrp="1" noChangeArrowheads="1"/>
          </p:cNvSpPr>
          <p:nvPr>
            <p:ph type="sldNum" sz="quarter" idx="3"/>
          </p:nvPr>
        </p:nvSpPr>
        <p:spPr bwMode="gray">
          <a:xfrm>
            <a:off x="6367232" y="9611922"/>
            <a:ext cx="430444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CC44CF48-7BC2-449C-AB04-0420DAB04CA8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03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400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127" y="4714994"/>
            <a:ext cx="4987424" cy="4468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Click to 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400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64574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870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789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22/10/2026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3170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5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5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4.emf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4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5.emf"/><Relationship Id="rId5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5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Relationship Id="rId5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4.emf"/><Relationship Id="rId5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4.emf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7684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79480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777789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41D98FFC-276B-DC45-4A69-D0A394BD9E90}"/>
              </a:ext>
            </a:extLst>
          </p:cNvPr>
          <p:cNvSpPr/>
          <p:nvPr userDrawn="1"/>
        </p:nvSpPr>
        <p:spPr>
          <a:xfrm>
            <a:off x="0" y="3427201"/>
            <a:ext cx="12192000" cy="3430799"/>
          </a:xfrm>
          <a:prstGeom prst="rect">
            <a:avLst/>
          </a:prstGeom>
          <a:solidFill>
            <a:srgbClr val="632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el 5">
            <a:extLst>
              <a:ext uri="{FF2B5EF4-FFF2-40B4-BE49-F238E27FC236}">
                <a16:creationId xmlns:a16="http://schemas.microsoft.com/office/drawing/2014/main" id="{D3C7A5FA-E151-75CE-ECDF-6343E386E8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633" y="2156514"/>
            <a:ext cx="4642768" cy="1122948"/>
          </a:xfrm>
        </p:spPr>
        <p:txBody>
          <a:bodyPr vert="horz" lIns="0" tIns="0" rIns="0" bIns="0"/>
          <a:lstStyle>
            <a:lvl1pPr rtl="0">
              <a:defRPr sz="2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E6BCCC3E-2FA0-4737-DBF8-CB0B0F5B3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5632" y="3533876"/>
            <a:ext cx="4642767" cy="2769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13938B3-F822-3B6D-C11D-A155E19CB5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632" y="4324234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DA1E3E98-0932-E0D1-ED6B-F5E915442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5632" y="4637218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827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DE53C"/>
          </p15:clr>
        </p15:guide>
        <p15:guide id="2" pos="438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349587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9999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1" y="333130"/>
            <a:ext cx="11519999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3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A221802B-CB4D-84DD-14E6-1007D78849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081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34" name="Espaço Reservado para Texto 30">
            <a:extLst>
              <a:ext uri="{FF2B5EF4-FFF2-40B4-BE49-F238E27FC236}">
                <a16:creationId xmlns:a16="http://schemas.microsoft.com/office/drawing/2014/main" id="{ED1E9F58-F504-11A1-E312-FD07F2CDEB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35" name="Espaço Reservado para Conteúdo 32">
            <a:extLst>
              <a:ext uri="{FF2B5EF4-FFF2-40B4-BE49-F238E27FC236}">
                <a16:creationId xmlns:a16="http://schemas.microsoft.com/office/drawing/2014/main" id="{DFC69DB4-86B3-D581-B273-C261981F90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94DECD7-0FD8-ADD8-0259-DE86DFAD24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79363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 userDrawn="1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6759934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47B375-DF03-14ED-9411-4D6161054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6646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449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White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5386046F-E65D-43F2-B183-1DEA970D1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0248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5386046F-E65D-43F2-B183-1DEA970D1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9292448E-F500-76A8-72BE-50A5D19ACE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6834" y="5591462"/>
            <a:ext cx="2731786" cy="6816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7F67F0-14F9-FB6A-B10A-89E832C05F99}"/>
              </a:ext>
            </a:extLst>
          </p:cNvPr>
          <p:cNvSpPr/>
          <p:nvPr userDrawn="1"/>
        </p:nvSpPr>
        <p:spPr>
          <a:xfrm>
            <a:off x="9970323" y="6062079"/>
            <a:ext cx="1393129" cy="1688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0"/>
            <a:r>
              <a:rPr lang="pt-BR" b="1">
                <a:solidFill>
                  <a:srgbClr val="63277F"/>
                </a:solidFill>
              </a:rPr>
              <a:t>Uncovering insights</a:t>
            </a:r>
          </a:p>
        </p:txBody>
      </p:sp>
    </p:spTree>
    <p:extLst>
      <p:ext uri="{BB962C8B-B14F-4D97-AF65-F5344CB8AC3E}">
        <p14:creationId xmlns:p14="http://schemas.microsoft.com/office/powerpoint/2010/main" val="355549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952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Color_Analytics">
    <p:bg>
      <p:bgPr>
        <a:solidFill>
          <a:srgbClr val="632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B95AFD00-30E2-C40F-B373-0F94E8D565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458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B95AFD00-30E2-C40F-B373-0F94E8D56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187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4B78D9CC-F107-5707-91AD-6EAE4C32CD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2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ngle_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227871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60CE1164-AB42-D6ED-E2A3-21C1B1F24D8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endParaRPr lang="pt-BR" noProof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endParaRPr lang="pt-BR" noProof="0">
              <a:solidFill>
                <a:srgbClr val="63277F"/>
              </a:solidFill>
            </a:endParaRP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endParaRPr lang="pt-BR" noProof="0">
              <a:solidFill>
                <a:srgbClr val="808080"/>
              </a:solidFill>
            </a:endParaRP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 noProof="0"/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1B89CB9-9E6F-E7E5-D4F4-8B1C1AEA01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60247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 noProof="0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5948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FA5C-3B60-E820-0097-32643AE0CB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8847BD-ED7F-14E4-F133-53E74BB83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48BC6-834B-353E-A2AE-4764BA12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9A45-0693-4E08-8AE4-0362204955FE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710CE-25D3-42E2-477B-A3293F5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F0DCF-A51F-DD3B-8315-216028D6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06FA-AAEB-4883-ABC4-766D94449B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8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_Consul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1891306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8833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79480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41D98FFC-276B-DC45-4A69-D0A394BD9E90}"/>
              </a:ext>
            </a:extLst>
          </p:cNvPr>
          <p:cNvSpPr/>
          <p:nvPr userDrawn="1"/>
        </p:nvSpPr>
        <p:spPr>
          <a:xfrm>
            <a:off x="0" y="3427201"/>
            <a:ext cx="12192000" cy="3430799"/>
          </a:xfrm>
          <a:prstGeom prst="rect">
            <a:avLst/>
          </a:prstGeom>
          <a:solidFill>
            <a:srgbClr val="632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pt-BR"/>
            </a:pPr>
            <a:endParaRPr kumimoji="0" lang="pt-BR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el 5">
            <a:extLst>
              <a:ext uri="{FF2B5EF4-FFF2-40B4-BE49-F238E27FC236}">
                <a16:creationId xmlns:a16="http://schemas.microsoft.com/office/drawing/2014/main" id="{D3C7A5FA-E151-75CE-ECDF-6343E386E8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633" y="2156514"/>
            <a:ext cx="4642768" cy="1122948"/>
          </a:xfrm>
        </p:spPr>
        <p:txBody>
          <a:bodyPr vert="horz" lIns="0" tIns="0" rIns="0" bIns="0"/>
          <a:lstStyle>
            <a:lvl1pPr rtl="0">
              <a:defRPr lang="pt-BR" sz="2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E6BCCC3E-2FA0-4737-DBF8-CB0B0F5B3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5632" y="3533876"/>
            <a:ext cx="4642767" cy="2769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13938B3-F822-3B6D-C11D-A155E19CB5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632" y="4324234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DA1E3E98-0932-E0D1-ED6B-F5E915442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5632" y="4637218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827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DE53C"/>
          </p15:clr>
        </p15:guide>
        <p15:guide id="2" pos="438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ual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9999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1" y="333130"/>
            <a:ext cx="11519999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3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A221802B-CB4D-84DD-14E6-1007D78849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081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34" name="Espaço Reservado para Texto 30">
            <a:extLst>
              <a:ext uri="{FF2B5EF4-FFF2-40B4-BE49-F238E27FC236}">
                <a16:creationId xmlns:a16="http://schemas.microsoft.com/office/drawing/2014/main" id="{ED1E9F58-F504-11A1-E312-FD07F2CDEB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5" name="Espaço Reservado para Conteúdo 32">
            <a:extLst>
              <a:ext uri="{FF2B5EF4-FFF2-40B4-BE49-F238E27FC236}">
                <a16:creationId xmlns:a16="http://schemas.microsoft.com/office/drawing/2014/main" id="{DFC69DB4-86B3-D581-B273-C261981F90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94DECD7-0FD8-ADD8-0259-DE86DFAD24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79363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 userDrawn="1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47B375-DF03-14ED-9411-4D6161054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6646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449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White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5386046F-E65D-43F2-B183-1DEA970D1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5386046F-E65D-43F2-B183-1DEA970D1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9292448E-F500-76A8-72BE-50A5D19ACE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6834" y="5591462"/>
            <a:ext cx="2731786" cy="6816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7F67F0-14F9-FB6A-B10A-89E832C05F99}"/>
              </a:ext>
            </a:extLst>
          </p:cNvPr>
          <p:cNvSpPr/>
          <p:nvPr userDrawn="1"/>
        </p:nvSpPr>
        <p:spPr>
          <a:xfrm>
            <a:off x="9970323" y="6062079"/>
            <a:ext cx="1393129" cy="1688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0"/>
            <a:r>
              <a:rPr lang="pt-BR" b="1">
                <a:solidFill>
                  <a:srgbClr val="63277F"/>
                </a:solidFill>
              </a:rPr>
              <a:t>Uncovering insights</a:t>
            </a:r>
          </a:p>
        </p:txBody>
      </p:sp>
    </p:spTree>
    <p:extLst>
      <p:ext uri="{BB962C8B-B14F-4D97-AF65-F5344CB8AC3E}">
        <p14:creationId xmlns:p14="http://schemas.microsoft.com/office/powerpoint/2010/main" val="355549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952" userDrawn="1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Color_Analytics">
    <p:bg>
      <p:bgPr>
        <a:solidFill>
          <a:srgbClr val="632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B95AFD00-30E2-C40F-B373-0F94E8D565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B95AFD00-30E2-C40F-B373-0F94E8D56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187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4B78D9CC-F107-5707-91AD-6EAE4C32CD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29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ngle_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60CE1164-AB42-D6ED-E2A3-21C1B1F24D8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endParaRPr lang="pt-BR">
              <a:solidFill>
                <a:srgbClr val="63277F"/>
              </a:solidFill>
            </a:endParaRP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endParaRPr lang="pt-BR">
              <a:solidFill>
                <a:srgbClr val="808080"/>
              </a:solidFill>
            </a:endParaRP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1B89CB9-9E6F-E7E5-D4F4-8B1C1AEA01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60247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lang="pt-BR" sz="600">
                <a:latin typeface="+mn-lt"/>
              </a:defRPr>
            </a:lvl1pPr>
          </a:lstStyle>
          <a:p>
            <a:pPr>
              <a:defRPr lang="pt-BR"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5948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FA5C-3B60-E820-0097-32643AE0CB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lang="pt-BR"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8847BD-ED7F-14E4-F133-53E74BB83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48BC6-834B-353E-A2AE-4764BA12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9A45-0693-4E08-8AE4-0362204955FE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710CE-25D3-42E2-477B-A3293F5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F0DCF-A51F-DD3B-8315-216028D6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06FA-AAEB-4883-ABC4-766D94449B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872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MS_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0360000" cy="543487"/>
          </a:xfrm>
        </p:spPr>
        <p:txBody>
          <a:bodyPr vert="horz">
            <a:noAutofit/>
          </a:bodyPr>
          <a:lstStyle>
            <a:lvl1pPr rtl="0">
              <a:defRPr lang="pt-BR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0360000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pt-BR"/>
            </a:pPr>
            <a:r>
              <a:rPr lang="pt-BR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lang="pt-BR"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900" name="Logo DMS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43467" y="154236"/>
            <a:ext cx="1189822" cy="683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1B82AB-6ABE-73B1-7FAB-5E0476BAA29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6390" y="6571866"/>
            <a:ext cx="388386" cy="22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5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tags" Target="../tags/tag2.xml"/><Relationship Id="rId14" Type="http://schemas.openxmlformats.org/officeDocument/2006/relationships/oleObject" Target="../embeddings/oleObject1.bin"/><Relationship Id="rId1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tags" Target="../tags/tag13.xml"/><Relationship Id="rId14" Type="http://schemas.openxmlformats.org/officeDocument/2006/relationships/oleObject" Target="../embeddings/oleObject1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62413173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9999" cy="543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</a:t>
            </a:r>
            <a:r>
              <a:rPr lang="pt-BR" noProof="0" err="1"/>
              <a:t>title</a:t>
            </a:r>
            <a:endParaRPr lang="pt-BR" noProof="0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gray">
          <a:xfrm>
            <a:off x="11708490" y="6583842"/>
            <a:ext cx="14266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fld id="{BD9E6411-2CB3-495D-B4E9-78602717BE5F}" type="slidenum">
              <a:rPr lang="pt-BR" sz="700" noProof="0" smtClean="0">
                <a:solidFill>
                  <a:srgbClr val="808080"/>
                </a:solidFill>
                <a:latin typeface="Arial"/>
                <a:cs typeface="Arial"/>
              </a:rPr>
              <a:pPr lvl="0" algn="r" rtl="0"/>
              <a:t>‹nº›</a:t>
            </a:fld>
            <a:endParaRPr lang="pt-BR" sz="700" noProof="0">
              <a:solidFill>
                <a:srgbClr val="808080"/>
              </a:solidFill>
              <a:latin typeface="Arial"/>
              <a:cs typeface="Arial"/>
            </a:endParaRPr>
          </a:p>
        </p:txBody>
      </p:sp>
      <p:grpSp>
        <p:nvGrpSpPr>
          <p:cNvPr id="19" name="OCC-Grid" hidden="1"/>
          <p:cNvGrpSpPr>
            <a:grpSpLocks/>
          </p:cNvGrpSpPr>
          <p:nvPr userDrawn="1"/>
        </p:nvGrpSpPr>
        <p:grpSpPr bwMode="auto">
          <a:xfrm>
            <a:off x="443078" y="1231"/>
            <a:ext cx="12319001" cy="6064256"/>
            <a:chOff x="258" y="165"/>
            <a:chExt cx="6305" cy="3820"/>
          </a:xfrm>
        </p:grpSpPr>
        <p:sp>
          <p:nvSpPr>
            <p:cNvPr id="20" name="Rectangle 46" hidden="1"/>
            <p:cNvSpPr>
              <a:spLocks noChangeArrowheads="1"/>
            </p:cNvSpPr>
            <p:nvPr/>
          </p:nvSpPr>
          <p:spPr bwMode="auto">
            <a:xfrm>
              <a:off x="6345" y="165"/>
              <a:ext cx="218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rtl="0" eaLnBrk="1">
                <a:defRPr/>
              </a:pPr>
              <a:endParaRPr lang="pt-BR" sz="1000"/>
            </a:p>
          </p:txBody>
        </p:sp>
        <p:sp>
          <p:nvSpPr>
            <p:cNvPr id="21" name="Rectangle 47" hidden="1"/>
            <p:cNvSpPr>
              <a:spLocks noChangeArrowheads="1"/>
            </p:cNvSpPr>
            <p:nvPr/>
          </p:nvSpPr>
          <p:spPr bwMode="auto">
            <a:xfrm>
              <a:off x="258" y="1094"/>
              <a:ext cx="5896" cy="289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rtl="0" eaLnBrk="1">
                <a:defRPr/>
              </a:pPr>
              <a:endParaRPr lang="pt-BR" sz="1000"/>
            </a:p>
          </p:txBody>
        </p:sp>
      </p:grpSp>
      <p:cxnSp>
        <p:nvCxnSpPr>
          <p:cNvPr id="6" name="Gerader Verbinder 5"/>
          <p:cNvCxnSpPr>
            <a:cxnSpLocks/>
          </p:cNvCxnSpPr>
          <p:nvPr userDrawn="1"/>
        </p:nvCxnSpPr>
        <p:spPr>
          <a:xfrm>
            <a:off x="341322" y="218114"/>
            <a:ext cx="11509356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/>
          <p:cNvCxnSpPr>
            <a:cxnSpLocks/>
          </p:cNvCxnSpPr>
          <p:nvPr userDrawn="1"/>
        </p:nvCxnSpPr>
        <p:spPr>
          <a:xfrm>
            <a:off x="336000" y="6535024"/>
            <a:ext cx="11520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ource"/>
          <p:cNvSpPr/>
          <p:nvPr userDrawn="1"/>
        </p:nvSpPr>
        <p:spPr>
          <a:xfrm>
            <a:off x="11633695" y="6420934"/>
            <a:ext cx="227626" cy="923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0000"/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  <a:tileRect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rtl="0"/>
            <a:endParaRPr/>
          </a:p>
        </p:txBody>
      </p:sp>
    </p:spTree>
    <p:extLst>
      <p:ext uri="{BB962C8B-B14F-4D97-AF65-F5344CB8AC3E}">
        <p14:creationId xmlns:p14="http://schemas.microsoft.com/office/powerpoint/2010/main" val="71197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0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808" r:id="rId8"/>
    <p:sldLayoutId id="2147483810" r:id="rId9"/>
    <p:sldLayoutId id="2147483819" r:id="rId10"/>
    <p:sldLayoutId id="2147483820" r:id="rId11"/>
  </p:sldLayoutIdLst>
  <p:hf sldNum="0" hdr="0" dt="0"/>
  <p:txStyles>
    <p:titleStyle>
      <a:lvl1pPr algn="l" defTabSz="457224" rtl="0" eaLnBrk="1" latinLnBrk="0" hangingPunct="1">
        <a:lnSpc>
          <a:spcPct val="90000"/>
        </a:lnSpc>
        <a:spcBef>
          <a:spcPct val="0"/>
        </a:spcBef>
        <a:buNone/>
        <a:defRPr sz="2000" b="1" i="0" kern="1200" baseline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anose="05020102010507070707" pitchFamily="18" charset="2"/>
        <a:buChar char=""/>
        <a:tabLst/>
        <a:defRPr lang="nl-NL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7808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Arial" charset="0"/>
        <a:buChar char="–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63556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itchFamily="18" charset="2"/>
        <a:buChar char="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Arial"/>
        </a:defRPr>
      </a:lvl3pPr>
      <a:lvl4pPr marL="0" marR="0" indent="-171459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Wingdings" pitchFamily="2" charset="2"/>
        <a:buChar char="w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4pPr>
      <a:lvl5pPr marL="0" marR="0" indent="-185746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Arial" charset="0"/>
        <a:buChar char="○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2514726" marR="0" indent="-228612" algn="l" defTabSz="457224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9999" cy="543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</a:t>
            </a:r>
            <a:r>
              <a:rPr lang="pt-BR" err="1"/>
              <a:t>title</a:t>
            </a:r>
            <a:endParaRPr lang="pt-BR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gray">
          <a:xfrm>
            <a:off x="11708490" y="6583842"/>
            <a:ext cx="14266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fld id="{BD9E6411-2CB3-495D-B4E9-78602717BE5F}" type="slidenum">
              <a:rPr lang="pt-BR" sz="700" smtClean="0">
                <a:solidFill>
                  <a:srgbClr val="808080"/>
                </a:solidFill>
                <a:latin typeface="Arial"/>
                <a:cs typeface="Arial"/>
              </a:rPr>
              <a:pPr lvl="0" algn="r" rtl="0"/>
              <a:t>‹nº›</a:t>
            </a:fld>
            <a:endParaRPr lang="pt-BR" sz="700">
              <a:solidFill>
                <a:srgbClr val="808080"/>
              </a:solidFill>
              <a:latin typeface="Arial"/>
              <a:cs typeface="Arial"/>
            </a:endParaRPr>
          </a:p>
        </p:txBody>
      </p:sp>
      <p:grpSp>
        <p:nvGrpSpPr>
          <p:cNvPr id="19" name="OCC-Grid" hidden="1"/>
          <p:cNvGrpSpPr>
            <a:grpSpLocks/>
          </p:cNvGrpSpPr>
          <p:nvPr userDrawn="1"/>
        </p:nvGrpSpPr>
        <p:grpSpPr bwMode="auto">
          <a:xfrm>
            <a:off x="443078" y="1231"/>
            <a:ext cx="12319001" cy="6064256"/>
            <a:chOff x="258" y="165"/>
            <a:chExt cx="6305" cy="3820"/>
          </a:xfrm>
        </p:grpSpPr>
        <p:sp>
          <p:nvSpPr>
            <p:cNvPr id="20" name="Rectangle 46" hidden="1"/>
            <p:cNvSpPr>
              <a:spLocks noChangeArrowheads="1"/>
            </p:cNvSpPr>
            <p:nvPr/>
          </p:nvSpPr>
          <p:spPr bwMode="auto">
            <a:xfrm>
              <a:off x="6345" y="165"/>
              <a:ext cx="218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rtl="0" eaLnBrk="1">
                <a:defRPr lang="pt-BR"/>
              </a:pPr>
              <a:endParaRPr lang="pt-BR" sz="1000"/>
            </a:p>
          </p:txBody>
        </p:sp>
        <p:sp>
          <p:nvSpPr>
            <p:cNvPr id="21" name="Rectangle 47" hidden="1"/>
            <p:cNvSpPr>
              <a:spLocks noChangeArrowheads="1"/>
            </p:cNvSpPr>
            <p:nvPr/>
          </p:nvSpPr>
          <p:spPr bwMode="auto">
            <a:xfrm>
              <a:off x="258" y="1094"/>
              <a:ext cx="5896" cy="289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rtl="0" eaLnBrk="1">
                <a:defRPr lang="pt-BR"/>
              </a:pPr>
              <a:endParaRPr lang="pt-BR" sz="1000"/>
            </a:p>
          </p:txBody>
        </p:sp>
      </p:grpSp>
      <p:sp>
        <p:nvSpPr>
          <p:cNvPr id="35" name="Source"/>
          <p:cNvSpPr/>
          <p:nvPr userDrawn="1"/>
        </p:nvSpPr>
        <p:spPr>
          <a:xfrm>
            <a:off x="11633695" y="6420934"/>
            <a:ext cx="227626" cy="923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0000"/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  <a:tileRect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97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dt="0"/>
  <p:txStyles>
    <p:titleStyle>
      <a:lvl1pPr algn="l" defTabSz="457224" rtl="0" eaLnBrk="1" latinLnBrk="0" hangingPunct="1">
        <a:lnSpc>
          <a:spcPct val="90000"/>
        </a:lnSpc>
        <a:spcBef>
          <a:spcPct val="0"/>
        </a:spcBef>
        <a:buNone/>
        <a:defRPr lang="pt-BR" sz="2000" b="1" i="0" kern="1200" baseline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anose="05020102010507070707" pitchFamily="18" charset="2"/>
        <a:buChar char=""/>
        <a:tabLst/>
        <a:defRPr lang="pt-BR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7808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Arial" charset="0"/>
        <a:buChar char="–"/>
        <a:tabLst/>
        <a:defRPr lang="pt-BR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63556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itchFamily="18" charset="2"/>
        <a:buChar char=""/>
        <a:tabLst/>
        <a:defRPr lang="pt-BR" sz="1400" kern="1200" dirty="0" smtClean="0">
          <a:solidFill>
            <a:schemeClr val="tx1"/>
          </a:solidFill>
          <a:latin typeface="+mn-lt"/>
          <a:ea typeface="+mn-ea"/>
          <a:cs typeface="Arial"/>
        </a:defRPr>
      </a:lvl3pPr>
      <a:lvl4pPr marL="0" marR="0" indent="-171459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Wingdings" pitchFamily="2" charset="2"/>
        <a:buChar char="w"/>
        <a:tabLst/>
        <a:defRPr lang="pt-BR" sz="1400" kern="1200" dirty="0">
          <a:solidFill>
            <a:schemeClr val="tx1"/>
          </a:solidFill>
          <a:latin typeface="+mn-lt"/>
          <a:ea typeface="+mn-ea"/>
          <a:cs typeface="Arial"/>
        </a:defRPr>
      </a:lvl4pPr>
      <a:lvl5pPr marL="0" marR="0" indent="-185746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Arial" charset="0"/>
        <a:buChar char="○"/>
        <a:tabLst/>
        <a:defRPr lang="pt-BR" sz="140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2514726" marR="0" indent="-228612" algn="l" defTabSz="457224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457224" rtl="0" eaLnBrk="1" latinLnBrk="0" hangingPunct="1">
        <a:spcBef>
          <a:spcPct val="20000"/>
        </a:spcBef>
        <a:buFont typeface="Arial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457224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jpg"/><Relationship Id="rId7" Type="http://schemas.openxmlformats.org/officeDocument/2006/relationships/image" Target="../media/image1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6.jp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41983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1069" y="0"/>
            <a:ext cx="816093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89947" y="2507742"/>
            <a:ext cx="8602052" cy="1815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5629" y="2767698"/>
            <a:ext cx="2326957" cy="1307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215834" cy="595304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 txBox="1"/>
          <p:nvPr/>
        </p:nvSpPr>
        <p:spPr>
          <a:xfrm>
            <a:off x="4455100" y="2600000"/>
            <a:ext cx="5976000" cy="1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FFFFFF"/>
                </a:solidFill>
                <a:latin typeface="Montserrat SemiBold"/>
              </a:rPr>
              <a:t>Projeto Diligenciamento</a:t>
            </a:r>
          </a:p>
          <a:p>
            <a:r>
              <a:rPr sz="1600">
                <a:solidFill>
                  <a:srgbClr val="FFFFFF"/>
                </a:solidFill>
                <a:latin typeface="Montserrat"/>
              </a:rPr>
              <a:t>Vagas em aberto x ocupação nas Operações</a:t>
            </a:r>
          </a:p>
          <a:p>
            <a:r>
              <a:rPr sz="1100">
                <a:solidFill>
                  <a:srgbClr val="FFFFFF"/>
                </a:solidFill>
                <a:latin typeface="Montserrat"/>
              </a:rPr>
              <a:t>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627399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D6250-9746-C03F-7F8E-8EDEADFC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AA945-07DC-333B-6345-7094EBC81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624300"/>
            <a:ext cx="10360000" cy="543487"/>
          </a:xfrm>
        </p:spPr>
        <p:txBody>
          <a:bodyPr/>
          <a:lstStyle/>
          <a:p>
            <a:r>
              <a:rPr sz="1800"/>
              <a:t>Das 49 vagas realmente em aberto, 35 estão sob o COO, e Air Operations concentra 19 delas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B58F5-F8FE-AC6A-7FFD-05EAF37B7E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Operações, vagas em aberto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5EC4CF-E8C0-7A24-FCF3-167971AA68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0" tIns="0" rIns="0" bIns="0" anchor="t"/>
          <a:lstStyle/>
          <a:p>
            <a:r>
              <a:t>Fonte: Base Setembro/26 (RH); Vagas 21/10; CIS ORDERS.parquet (13/10/2026)</a:t>
            </a:r>
            <a:endParaRPr lang="pt-BR">
              <a:cs typeface="Arial"/>
            </a:endParaRPr>
          </a:p>
        </p:txBody>
      </p:sp>
      <p:sp>
        <p:nvSpPr>
          <p:cNvPr id="51" name="Content Placeholder 50">
            <a:extLst>
              <a:ext uri="{FF2B5EF4-FFF2-40B4-BE49-F238E27FC236}">
                <a16:creationId xmlns:a16="http://schemas.microsoft.com/office/drawing/2014/main" id="{C8C603AC-D859-EFFD-0B9B-B583B1A0EC6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Disclaimer_Box">
            <a:extLst>
              <a:ext uri="{FF2B5EF4-FFF2-40B4-BE49-F238E27FC236}">
                <a16:creationId xmlns:a16="http://schemas.microsoft.com/office/drawing/2014/main" id="{FF1389B4-ADA6-CA71-1714-5AC808A04713}"/>
              </a:ext>
            </a:extLst>
          </p:cNvPr>
          <p:cNvSpPr txBox="1"/>
          <p:nvPr/>
        </p:nvSpPr>
        <p:spPr>
          <a:xfrm>
            <a:off x="8193024" y="11978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1200" b="1" i="0" dirty="0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B567D76-A81A-231F-6634-AEB0F62967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</p:spPr>
        <p:txBody>
          <a:bodyPr/>
          <a:lstStyle/>
          <a:p>
            <a:r>
              <a:t>Distribuição das posições em aberto por C-Level e, dentro do COO, por área e por nível</a:t>
            </a:r>
            <a:endParaRPr dirty="0"/>
          </a:p>
        </p:txBody>
      </p:sp>
      <p:sp>
        <p:nvSpPr>
          <p:cNvPr id="52" name="TextBox 51"/>
          <p:cNvSpPr txBox="1"/>
          <p:nvPr/>
        </p:nvSpPr>
        <p:spPr>
          <a:xfrm>
            <a:off x="347472" y="148132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5E9E"/>
                </a:solidFill>
                <a:latin typeface="Arial"/>
              </a:rPr>
              <a:t>49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" y="19202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333333"/>
                </a:solidFill>
                <a:latin typeface="Arial"/>
              </a:rPr>
              <a:t>posições em aberto
(de 65 registros na planilha)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60320" y="148132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5E9E"/>
                </a:solidFill>
                <a:latin typeface="Arial"/>
              </a:rPr>
              <a:t>71,4%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0320" y="19202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333333"/>
                </a:solidFill>
                <a:latin typeface="Arial"/>
              </a:rPr>
              <a:t>das vagas em aberto
estão sob o COO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73168" y="148132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5E9E"/>
                </a:solidFill>
                <a:latin typeface="Arial"/>
              </a:rPr>
              <a:t>R$ 476.596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73168" y="19202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333333"/>
                </a:solidFill>
                <a:latin typeface="Arial"/>
              </a:rPr>
              <a:t>custo mensal das vagas
do COO (71,2% do total)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86016" y="148132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5E9E"/>
                </a:solidFill>
                <a:latin typeface="Arial"/>
              </a:rPr>
              <a:t>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86016" y="19202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333333"/>
                </a:solidFill>
                <a:latin typeface="Arial"/>
              </a:rPr>
              <a:t>das 35 vagas do COO são
aumento de quadro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98864" y="14813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8E2E"/>
                </a:solidFill>
                <a:latin typeface="Arial"/>
              </a:rPr>
              <a:t>6 de 35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98864" y="192024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333333"/>
                </a:solidFill>
                <a:latin typeface="Arial"/>
              </a:rPr>
              <a:t>vagas do COO estão
publicadas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7472" y="2542032"/>
            <a:ext cx="3749039" cy="256032"/>
          </a:xfrm>
          <a:prstGeom prst="roundRect">
            <a:avLst/>
          </a:prstGeom>
          <a:solidFill>
            <a:srgbClr val="00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Vagas em aberto por C-Level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47472" y="2834639"/>
            <a:ext cx="3749039" cy="1920240"/>
          </a:xfrm>
          <a:prstGeom prst="roundRect">
            <a:avLst/>
          </a:prstGeom>
          <a:solidFill>
            <a:srgbClr val="E5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COO: 35 vagas (71,4%)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CCO: 5 vagas (10,2%)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Co-CEO: 4 vagas (8,2%)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CFSO: 3 vagas (6,1%)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CITO: 2 vagas (4,1%)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Total: 49 vagas, R$ 669.738 por mês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24528" y="2542032"/>
            <a:ext cx="3749039" cy="256032"/>
          </a:xfrm>
          <a:prstGeom prst="roundRect">
            <a:avLst/>
          </a:prstGeom>
          <a:solidFill>
            <a:srgbClr val="00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Vagas do COO por área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24528" y="2834639"/>
            <a:ext cx="3749039" cy="1920240"/>
          </a:xfrm>
          <a:prstGeom prst="roundRect">
            <a:avLst/>
          </a:prstGeom>
          <a:solidFill>
            <a:srgbClr val="E5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Air Operations: 19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Air Product: 7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Ocean Operations: 3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Ocean Product: 2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Quality &amp; Op. Intelligence: 1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Special Operations: 1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Overland (Europa): 1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Services: 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01583" y="2542032"/>
            <a:ext cx="3474720" cy="256032"/>
          </a:xfrm>
          <a:prstGeom prst="roundRect">
            <a:avLst/>
          </a:prstGeom>
          <a:solidFill>
            <a:srgbClr val="00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Vagas do COO por nível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01583" y="2834639"/>
            <a:ext cx="3474720" cy="1920240"/>
          </a:xfrm>
          <a:prstGeom prst="roundRect">
            <a:avLst/>
          </a:prstGeom>
          <a:solidFill>
            <a:srgbClr val="E5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Analyst: 16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Specialist: 10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Team Leader: 4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Intern: 3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Assistant: 1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333333"/>
                </a:solidFill>
                <a:latin typeface="Arial"/>
              </a:rPr>
              <a:t>• Head: 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7472" y="4809744"/>
            <a:ext cx="11228832" cy="256032"/>
          </a:xfrm>
          <a:prstGeom prst="roundRect">
            <a:avLst/>
          </a:prstGeom>
          <a:solidFill>
            <a:srgbClr val="009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47472" y="5102352"/>
            <a:ext cx="11228832" cy="1115568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A planilha tem 65 registros, mas 13 já estão preenchidas e 3 dependem de confirmação. Trabalhar com 65 superestima a necessidade de contratação em um terço.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A fila de contratação é essencialmente operacional: 71,4% das vagas em aberto respondem ao COO e 26 das 35 são de Analyst ou Specialist, ou seja, capacidade de execução.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Apenas 6 das 35 vagas do COO estão publicadas, o que indica que o gargalo está antes do mercado, na abertura e aprovação do processo.</a:t>
            </a:r>
          </a:p>
        </p:txBody>
      </p:sp>
    </p:spTree>
    <p:extLst>
      <p:ext uri="{BB962C8B-B14F-4D97-AF65-F5344CB8AC3E}">
        <p14:creationId xmlns:p14="http://schemas.microsoft.com/office/powerpoint/2010/main" val="53601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Europa opera sem team leader, a liderança de Americas está descoberta e Exportação carrega o maior volume por pessoa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Operações, pontos de atenção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Quadro em aberto, camada de liderança e volume de embarques por ativo, bloco a bloco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 lIns="0" tIns="0" rIns="0" bIns="0" anchor="t"/>
          <a:lstStyle/>
          <a:p>
            <a:r>
              <a:t>Fonte: Base Setembro/26 (RH); Vagas 21/10; CIS ORDERS.parquet (13/10/2026)</a:t>
            </a:r>
            <a:endParaRPr lang="pt-BR" dirty="0">
              <a:cs typeface="Arial"/>
            </a:endParaRP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A5473550-15E5-7027-02C2-776EA20C697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Disclaimer_Box"/>
          <p:cNvSpPr txBox="1"/>
          <p:nvPr/>
        </p:nvSpPr>
        <p:spPr>
          <a:xfrm>
            <a:off x="8193024" y="11978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1200" b="1" i="0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1481328"/>
            <a:ext cx="2761488" cy="256032"/>
          </a:xfrm>
          <a:prstGeom prst="roundRect">
            <a:avLst/>
          </a:prstGeom>
          <a:solidFill>
            <a:srgbClr val="FF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1. Europa sem liderança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" y="1773936"/>
            <a:ext cx="2761488" cy="1993392"/>
          </a:xfrm>
          <a:prstGeom prst="roundRect">
            <a:avLst/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50,0% do quadro em aberto, o maior entre os blocos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4 ativos e 4 vagas em aberto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Nenhum team leader no bloco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29 embarques por ativo ao mês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Risco de a operação europeia ficar sem referência técnica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1481328"/>
            <a:ext cx="2761488" cy="256032"/>
          </a:xfrm>
          <a:prstGeom prst="roundRect">
            <a:avLst/>
          </a:prstGeom>
          <a:solidFill>
            <a:srgbClr val="FF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2. Americas sem team leader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1773936"/>
            <a:ext cx="2761488" cy="1993392"/>
          </a:xfrm>
          <a:prstGeom prst="roundRect">
            <a:avLst/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46,2% do quadro em aberto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7 ativos e 6 vagas em aberto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3 das vagas abertas são de team leader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Apenas 1 posição de liderança hoje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Maior custo de vagas entre os blocos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1481328"/>
            <a:ext cx="2761488" cy="256032"/>
          </a:xfrm>
          <a:prstGeom prst="roundRect">
            <a:avLst/>
          </a:prstGeom>
          <a:solidFill>
            <a:srgbClr val="FF8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3. Exportação sobrecarregada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1773936"/>
            <a:ext cx="2761488" cy="1993392"/>
          </a:xfrm>
          <a:prstGeom prst="roundRect">
            <a:avLst/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100 embarques por ativo ao mês, o maior da operação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Apenas 3 pessoas no bloco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25,0% do quadro em aberto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Customer Care absorve 62 por ativo, porém com 37 pessoas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Dependência crítica de poucas pessoas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0576" y="1481328"/>
            <a:ext cx="2395728" cy="256032"/>
          </a:xfrm>
          <a:prstGeom prst="round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4. Warehouses sem reforço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0576" y="1773936"/>
            <a:ext cx="2395728" cy="199339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5 pessoas para três praças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MIA, Houston e NY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Nenhuma vaga aberta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Houston saiu de 19 para 169 embarques por mês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333333"/>
                </a:solidFill>
                <a:latin typeface="Arial"/>
              </a:rPr>
              <a:t>• Único bloco sem reforço previsto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47472" y="3895344"/>
          <a:ext cx="1122883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143000"/>
                <a:gridCol w="960120"/>
                <a:gridCol w="1143000"/>
                <a:gridCol w="1691640"/>
                <a:gridCol w="2724912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Bloco</a:t>
                      </a:r>
                    </a:p>
                  </a:txBody>
                  <a:tcPr marL="63500" marR="38100" marT="12700" marB="127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Ativos</a:t>
                      </a:r>
                    </a:p>
                  </a:txBody>
                  <a:tcPr marL="63500" marR="38100" marT="12700" marB="127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TL+</a:t>
                      </a:r>
                    </a:p>
                  </a:txBody>
                  <a:tcPr marL="63500" marR="38100" marT="12700" marB="127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Vagas</a:t>
                      </a:r>
                    </a:p>
                  </a:txBody>
                  <a:tcPr marL="63500" marR="38100" marT="12700" marB="127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% em aberto</a:t>
                      </a:r>
                    </a:p>
                  </a:txBody>
                  <a:tcPr marL="63500" marR="38100" marT="12700" marB="12700" anchor="ctr">
                    <a:solidFill>
                      <a:srgbClr val="005E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Embarques por ativo</a:t>
                      </a:r>
                    </a:p>
                  </a:txBody>
                  <a:tcPr marL="63500" marR="38100" marT="12700" marB="12700" anchor="ctr">
                    <a:solidFill>
                      <a:srgbClr val="005E9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Inland Freight Europa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Operações America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Inland Freight America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Exportação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Operações Europa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Customer Care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63500" marR="38100" marT="12700" marB="12700" anchor="ctr">
                    <a:solidFill>
                      <a:srgbClr val="F2F2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Warehouses (MIA, Houston, NY)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33333"/>
                          </a:solidFill>
                          <a:latin typeface="Arial"/>
                        </a:rPr>
                        <a:t>Total Operações</a:t>
                      </a:r>
                    </a:p>
                  </a:txBody>
                  <a:tcPr marL="63500" marR="38100" marT="12700" marB="12700" anchor="ctr"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33333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63500" marR="38100" marT="12700" marB="12700" anchor="ctr"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63500" marR="38100" marT="12700" marB="12700" anchor="ctr"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63500" marR="38100" marT="12700" marB="12700" anchor="ctr"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33333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63500" marR="38100" marT="12700" marB="12700" anchor="ctr">
                    <a:solidFill>
                      <a:srgbClr val="E5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333333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3500" marR="38100" marT="12700" marB="12700" anchor="ctr">
                    <a:solidFill>
                      <a:srgbClr val="E5F0F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47472" y="6108192"/>
            <a:ext cx="11228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A6A6A6"/>
                </a:solidFill>
                <a:latin typeface="Arial"/>
              </a:rPr>
              <a:t>TL+ reúne team leaders, senior team leaders, coordinators e heads. Volume por ativo é ordem de grandeza por bloco: o CIS mostra quem executou cada etapa, não o headcount, e o Customer Care do Brasil atende embarques de Miami.</a:t>
            </a:r>
          </a:p>
        </p:txBody>
      </p:sp>
    </p:spTree>
    <p:extLst>
      <p:ext uri="{BB962C8B-B14F-4D97-AF65-F5344CB8AC3E}">
        <p14:creationId xmlns:p14="http://schemas.microsoft.com/office/powerpoint/2010/main" val="1986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2298" y="4693093"/>
            <a:ext cx="7259701" cy="2164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74757" y="5461584"/>
            <a:ext cx="1736242" cy="975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89350" y="1881165"/>
            <a:ext cx="3148872" cy="132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2324" y="1877402"/>
            <a:ext cx="3107226" cy="128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07271" y="1877402"/>
            <a:ext cx="3677894" cy="128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22886" y="1877402"/>
            <a:ext cx="3677894" cy="12825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7453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Cada frente crítica sai da agenda de 30 minutos com ação, dono e prazo definidos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Operações, plano de 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Prioridade pela combinação de quadro em aberto, camada de liderança e volume por pessoa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 lIns="0" tIns="0" rIns="0" bIns="0" anchor="t"/>
          <a:lstStyle/>
          <a:p>
            <a:r>
              <a:t>Fonte: Base Setembro/26 (RH); Vagas 21/10; CIS ORDERS.parquet (13/10/2026)</a:t>
            </a:r>
            <a:endParaRPr lang="pt-BR">
              <a:cs typeface="Arial"/>
            </a:endParaRPr>
          </a:p>
        </p:txBody>
      </p:sp>
      <p:sp>
        <p:nvSpPr>
          <p:cNvPr id="51" name="Content Placeholder 50">
            <a:extLst>
              <a:ext uri="{FF2B5EF4-FFF2-40B4-BE49-F238E27FC236}">
                <a16:creationId xmlns:a16="http://schemas.microsoft.com/office/drawing/2014/main" id="{69CBD363-8E56-3D63-3D36-A56384BC5A9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Disclaimer_Box"/>
          <p:cNvSpPr txBox="1"/>
          <p:nvPr/>
        </p:nvSpPr>
        <p:spPr>
          <a:xfrm>
            <a:off x="8193024" y="11978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1200" b="1" i="0" dirty="0">
                <a:solidFill>
                  <a:srgbClr val="005E9E"/>
                </a:solidFill>
                <a:latin typeface="Arial"/>
              </a:rPr>
              <a:t>Para discussão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47472" y="1536192"/>
          <a:ext cx="1122883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51560"/>
                <a:gridCol w="4233672"/>
                <a:gridCol w="219456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Frente crítica</a:t>
                      </a:r>
                    </a:p>
                  </a:txBody>
                  <a:tcPr marL="63500" marR="50800" marT="25400" marB="25400" anchor="ctr"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% em aberto</a:t>
                      </a:r>
                    </a:p>
                  </a:txBody>
                  <a:tcPr marL="63500" marR="50800" marT="25400" marB="25400" anchor="ctr"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Ação</a:t>
                      </a:r>
                    </a:p>
                  </a:txBody>
                  <a:tcPr marL="63500" marR="50800" marT="25400" marB="25400" anchor="ctr"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Dono</a:t>
                      </a:r>
                    </a:p>
                  </a:txBody>
                  <a:tcPr marL="63500" marR="50800" marT="25400" marB="25400" anchor="ctr">
                    <a:solidFill>
                      <a:srgbClr val="00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Prazo de efeito</a:t>
                      </a:r>
                    </a:p>
                  </a:txBody>
                  <a:tcPr marL="63500" marR="50800" marT="25400" marB="25400" anchor="ctr">
                    <a:solidFill>
                      <a:srgbClr val="005E9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Europa / Inland Freight Europa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Reaproveitar finalistas de processos recentes e indicação interna com bônus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Carol Mendoza + RH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1 a 3 semanas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EUA / Operações America</a:t>
                      </a:r>
                    </a:p>
                  </a:txBody>
                  <a:tcPr marL="635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635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Vaga pré-aprovada com faixa e budget definidos, processo enxuto e cobertura temporária pelo Brasil no back-office</a:t>
                      </a:r>
                    </a:p>
                  </a:txBody>
                  <a:tcPr marL="635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Carol Mendoza e Filipe Sampaio + RH</a:t>
                      </a:r>
                    </a:p>
                  </a:txBody>
                  <a:tcPr marL="635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Imediato</a:t>
                      </a:r>
                    </a:p>
                  </a:txBody>
                  <a:tcPr marL="63500" marR="50800" marT="25400" marB="25400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EUA / Inland Freight America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Indicação interna com bônus, as três vagas já estão publicadas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Carol Mendoza e Filipe Sampaio + RH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2 a 3 semanas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Brasil / Exportação</a:t>
                      </a:r>
                    </a:p>
                  </a:txBody>
                  <a:tcPr marL="635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635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Processo enxuto e profissionais vindos de contratos encerrados, verificando não aliciamento</a:t>
                      </a:r>
                    </a:p>
                  </a:txBody>
                  <a:tcPr marL="635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Carol Mendoza + RH</a:t>
                      </a:r>
                    </a:p>
                  </a:txBody>
                  <a:tcPr marL="635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Imediato a 4 semanas</a:t>
                      </a:r>
                    </a:p>
                  </a:txBody>
                  <a:tcPr marL="63500" marR="50800" marT="25400" marB="25400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Europa / Operações Europa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Processo enxuto: triagem em 48 horas e proposta em 24 horas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Carol Mendoza e Filipe Sampaio + RH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Imediato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Brasil / Customer Care</a:t>
                      </a:r>
                    </a:p>
                  </a:txBody>
                  <a:tcPr marL="635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635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Processo enxuto e acompanhamento do volume por ativo</a:t>
                      </a:r>
                    </a:p>
                  </a:txBody>
                  <a:tcPr marL="635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Carol Mendoza e Natália Costa + RH</a:t>
                      </a:r>
                    </a:p>
                  </a:txBody>
                  <a:tcPr marL="635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Imediato</a:t>
                      </a:r>
                    </a:p>
                  </a:txBody>
                  <a:tcPr marL="63500" marR="50800" marT="25400" marB="25400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EUA / Warehouses (MIA, Houston, NY)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Validar necessidade de abrir vaga e contratar temporários ou agência para as três praças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Possidônio Dantas + RH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333333"/>
                          </a:solidFill>
                          <a:latin typeface="Arial"/>
                        </a:rPr>
                        <a:t>1 a 2 semanas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Rounded Rectangle 52"/>
          <p:cNvSpPr/>
          <p:nvPr/>
        </p:nvSpPr>
        <p:spPr>
          <a:xfrm>
            <a:off x="347472" y="4828032"/>
            <a:ext cx="5532120" cy="256032"/>
          </a:xfrm>
          <a:prstGeom prst="roundRect">
            <a:avLst/>
          </a:prstGeom>
          <a:solidFill>
            <a:srgbClr val="00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Pendências para fechar na reunião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7472" y="5120640"/>
            <a:ext cx="5532120" cy="1188720"/>
          </a:xfrm>
          <a:prstGeom prst="roundRect">
            <a:avLst/>
          </a:prstGeom>
          <a:solidFill>
            <a:srgbClr val="E5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>
              <a:spcAft>
                <a:spcPts val="4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12 das 17 vagas de Operações estão sem estágio de processo informado: definir quem atualiza e com que frequência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Confirmar o estado das 3 linhas com admissão ocorrida e sem ocupante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Nova York não aparece como escritorio no CIS: confirmar volume proprio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44184" y="4828032"/>
            <a:ext cx="5532120" cy="256032"/>
          </a:xfrm>
          <a:prstGeom prst="roundRect">
            <a:avLst/>
          </a:prstGeom>
          <a:solidFill>
            <a:srgbClr val="0097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O que destrava mais rápido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44184" y="5120640"/>
            <a:ext cx="55321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ctr">
              <a:spcAft>
                <a:spcPts val="4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Pré-aprovação de faixa e budget resolve o gargalo de publicação: hoje só 6 das 35 vagas do COO estão publicadas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As 3 vagas de team leader e head são as de maior impacto, pois destravam a gestão dos times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333333"/>
                </a:solidFill>
                <a:latin typeface="Arial"/>
              </a:rPr>
              <a:t>• Cobertura temporária pelo Brasil alivia EUA e Europa no back-office</a:t>
            </a:r>
          </a:p>
        </p:txBody>
      </p:sp>
    </p:spTree>
    <p:extLst>
      <p:ext uri="{BB962C8B-B14F-4D97-AF65-F5344CB8AC3E}">
        <p14:creationId xmlns:p14="http://schemas.microsoft.com/office/powerpoint/2010/main" val="18691307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LORISREVISION" val="0"/>
  <p:tag name="THINKCELLUNDODONOTDELETE" val="0"/>
  <p:tag name="THINKCELLPRESENTATIONDONOTDELETE" val="&lt;?xml version=&quot;1.0&quot; encoding=&quot;UTF-16&quot; standalone=&quot;yes&quot;?&gt;&lt;root reqver=&quot;28224&quot;&gt;&lt;version val=&quot;3560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%m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3&quot;&gt;&lt;elem m_fUsage=&quot;3.07928112869461489964E+00&quot;&gt;&lt;m_msothmcolidx val=&quot;0&quot;/&gt;&lt;m_rgb r=&quot;E7&quot; g=&quot;EF&quot; b=&quot;EF&quot;/&gt;&lt;/elem&gt;&lt;elem m_fUsage=&quot;2.14582643648100024336E+00&quot;&gt;&lt;m_msothmcolidx val=&quot;0&quot;/&gt;&lt;m_rgb r=&quot;58&quot; g=&quot;BA&quot; b=&quot;BA&quot;/&gt;&lt;/elem&gt;&lt;elem m_fUsage=&quot;1.26753992910000023997E+00&quot;&gt;&lt;m_msothmcolidx val=&quot;0&quot;/&gt;&lt;m_rgb r=&quot;DD&quot; g=&quot;F0&quot; b=&quot;F0&quot;/&gt;&lt;/elem&gt;&lt;elem m_fUsage=&quot;1.12381059609000022448E+00&quot;&gt;&lt;m_msothmcolidx val=&quot;0&quot;/&gt;&lt;m_rgb r=&quot;D6&quot; g=&quot;EE&quot; b=&quot;EE&quot;/&gt;&lt;/elem&gt;&lt;elem m_fUsage=&quot;9.00000000000000022204E-01&quot;&gt;&lt;m_msothmcolidx val=&quot;0&quot;/&gt;&lt;m_rgb r=&quot;42&quot; g=&quot;C7&quot; b=&quot;C7&quot;/&gt;&lt;/elem&gt;&lt;elem m_fUsage=&quot;4.82081938222827299789E-01&quot;&gt;&lt;m_msothmcolidx val=&quot;0&quot;/&gt;&lt;m_rgb r=&quot;A6&quot; g=&quot;A6&quot; b=&quot;A6&quot;/&gt;&lt;/elem&gt;&lt;elem m_fUsage=&quot;4.06756461654867840227E-01&quot;&gt;&lt;m_msothmcolidx val=&quot;0&quot;/&gt;&lt;m_rgb r=&quot;D9&quot; g=&quot;D9&quot; b=&quot;D9&quot;/&gt;&lt;/elem&gt;&lt;elem m_fUsage=&quot;2.61592661457161257399E-01&quot;&gt;&lt;m_msothmcolidx val=&quot;0&quot;/&gt;&lt;m_rgb r=&quot;CB&quot; g=&quot;DD&quot; b=&quot;DD&quot;/&gt;&lt;/elem&gt;&lt;elem m_fUsage=&quot;1.85302018885184188735E-01&quot;&gt;&lt;m_msothmcolidx val=&quot;0&quot;/&gt;&lt;m_rgb r=&quot;7F&quot; g=&quot;7F&quot; b=&quot;7F&quot;/&gt;&lt;/elem&gt;&lt;elem m_fUsage=&quot;3.49730471277284182818E-02&quot;&gt;&lt;m_msothmcolidx val=&quot;0&quot;/&gt;&lt;m_rgb r=&quot;72&quot; g=&quot;22&quot; b=&quot;82&quot;/&gt;&lt;/elem&gt;&lt;elem m_fUsage=&quot;1.47808829414346077497E-02&quot;&gt;&lt;m_msothmcolidx val=&quot;0&quot;/&gt;&lt;m_rgb r=&quot;F1&quot; g=&quot;F1&quot; b=&quot;F1&quot;/&gt;&lt;/elem&gt;&lt;elem m_fUsage=&quot;1.07752636643058292976E-02&quot;&gt;&lt;m_msothmcolidx val=&quot;0&quot;/&gt;&lt;m_rgb r=&quot;E5&quot; g=&quot;DD&quot; b=&quot;D5&quot;/&gt;&lt;/elem&gt;&lt;elem m_fUsage=&quot;8.72796356808772273717E-03&quot;&gt;&lt;m_msothmcolidx val=&quot;0&quot;/&gt;&lt;m_rgb r=&quot;B9&quot; g=&quot;BD&quot; b=&quot;00&quot;/&gt;&lt;/elem&gt;&lt;/m_vecMRU&gt;&lt;/m_mruColor&gt;&lt;m_eweekdayFirstOfWeek val=&quot;2&quot;/&gt;&lt;m_eweekdayFirstOfWorkweek val=&quot;2&quot;/&gt;&lt;m_eweekdayFirstOfWeekend val=&quot;7&quot;/&gt;&lt;/CPresentation&gt;&lt;/root&gt;"/>
  <p:tag name="GRUNT-HP-GEHF7K" val="MgIAAA=="/>
  <p:tag name="POWER_USER_PPT_AGENDA_PRESENTATION_TABLE_OF_CONTENT_STYLE_TAG" val="1"/>
  <p:tag name="POWER_USER_PPT_AGENDA_PRESENTATION_DIVIDERS_STYLE_TAG" val="POWER_USER_LAYOUT_DIVIDER_CUSTOM"/>
  <p:tag name="POWER_USER_PPT_AGENDA_PRESENTATION_SHOULD_CREATE_TABLE_OF_CONTENT_TAG" val="0"/>
  <p:tag name="POWER_USER_PPT_AGENDA_PRESENTATION_SHOW_SECTION_NUMBERS_CHECKED_TAG" val="1"/>
  <p:tag name="POWER_USER_PPT_AGENDA_PRESENTATION_DIVIDERS_CHECKED_TAG" val="0"/>
  <p:tag name="POWER_USER_PPT_AGENDA_PRESENTATION_TITLE_TEXT_TAG" val="POWER_USER_PPT_AGENDA_PRESENTATION_EMPTY_TITLE_TEXT_TAG"/>
  <p:tag name="POWER_USER_PPT_AGENDA_PRESENTATION_TABLE_OF_CONTENT_CHECKED_TAG" val="1"/>
  <p:tag name="POWER_USER_CONTEXTUAL_SHAPES_AGENDA_DESIGNER" val="{&quot;Divider1&quot;:{&quot;Title&quot;:{&quot;AutoShapeType&quot;:1,&quot;Visible&quot;:-1,&quot;LockAspectRatio&quot;:0,&quot;CanUpdateAdjustments&quot;:true,&quot;Adjustment1&quot;:-1.0,&quot;Adjustment2&quot;:-1.0,&quot;CanManagePosition&quot;:true,&quot;Left&quot;:240.0,&quot;Top&quot;:216.0,&quot;Width&quot;:700.0,&quot;Height&quot;:108.0,&quot;Rotation&quot;:-1.0,&quot;TextFrame2AutoSize&quot;:1,&quot;TextFrame2TextRangeFontName&quot;:&quot;&quot;,&quot;TextFrameMarginTop&quot;:0.0,&quot;TextFrameMarginLeft&quot;:0.0,&quot;TextFrameMarginRight&quot;:0.0,&quot;TextFrameMarginBottom&quot;:0.0,&quot;TextFrameWordWrap&quot;:-1,&quot;TextFrameTextRangeFontSize&quot;:30.0,&quot;TextFrameTextRangeFontColorHexa&quot;:&quot;#000000&quot;,&quot;TextFrameTextRangeFontBold&quot;:0,&quot;TextFrameTextRangeFontItalic&quot;:0,&quot;TextFrameTextRangeFontUnderline&quot;:0,&quot;TextFrameVerticalAnchor&quot;:1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Number&quot;:{&quot;AutoShapeType&quot;:1,&quot;Visible&quot;:-1,&quot;LockAspectRatio&quot;:0,&quot;CanUpdateAdjustments&quot;:true,&quot;Adjustment1&quot;:-1.0,&quot;Adjustment2&quot;:-1.0,&quot;CanManagePosition&quot;:true,&quot;Left&quot;:115.2,&quot;Top&quot;:216.0,&quot;Width&quot;:81.0,&quot;Height&quot;:8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30.0,&quot;TextFrameTextRangeFontColorHexa&quot;:&quot;#FFFFFF&quot;,&quot;TextFrameTextRangeFontBold&quot;:0,&quot;TextFrameTextRangeFontItalic&quot;:0,&quot;TextFrameTextRangeFontUnderline&quot;:0,&quot;TextFrameVerticalAnchor&quot;:3,&quot;TextFrameHorizontalAnchor&quot;:2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true},&quot;Line&quot;:{&quot;AutoShapeType&quot;:1,&quot;Visible&quot;:-1,&quot;LockAspectRatio&quot;:0,&quot;CanUpdateAdjustments&quot;:true,&quot;Adjustment1&quot;:-1.0,&quot;Adjustment2&quot;:-1.0,&quot;CanManagePosition&quot;:true,&quot;Left&quot;:240.0,&quot;Top&quot;:331.0,&quot;Width&quot;:700.0,&quot;Height&quot;:0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0.0,&quot;LineDashStyle&quot;:1,&quot;LineEndArrowheadStyle&quot;:1,&quot;LineBeginArrowheadStyle&quot;:1,&quot;ShouldSendToBack&quot;:false,&quot;NeedsApplyToAll&quot;:false}},&quot;TableOfContent1&quot;:{&quot;MarginLeft&quot;:76.8,&quot;MarginRight&quot;:453.942841,&quot;MarginTop&quot;:160.99379,&quot;MarginBottom&quot;:117.391327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2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4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Back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0,&quot;ZOrderPosition&quot;:1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true,&quot;NeedsApplyToAll&quot;:false},&quot;Inactiv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,&quot;CoverPag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},&quot;Number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2,&quot;ZOrderPosition&quot;:20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D9D9D9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},&quot;TableOfContent3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Lin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,&quot;TableOfContent4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Arc&quot;:{&quot;AutoShapeType&quot;:25,&quot;Visible&quot;:-1,&quot;LockAspectRatio&quot;:0,&quot;CanUpdateAdjustments&quot;:fals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ain_Analytics">
  <a:themeElements>
    <a:clrScheme name="OCC2017">
      <a:dk1>
        <a:srgbClr val="000000"/>
      </a:dk1>
      <a:lt1>
        <a:srgbClr val="FFFFFF"/>
      </a:lt1>
      <a:dk2>
        <a:srgbClr val="FF8E2E"/>
      </a:dk2>
      <a:lt2>
        <a:srgbClr val="1D368E"/>
      </a:lt2>
      <a:accent1>
        <a:srgbClr val="43CFF6"/>
      </a:accent1>
      <a:accent2>
        <a:srgbClr val="99D5D5"/>
      </a:accent2>
      <a:accent3>
        <a:srgbClr val="B29C86"/>
      </a:accent3>
      <a:accent4>
        <a:srgbClr val="009796"/>
      </a:accent4>
      <a:accent5>
        <a:srgbClr val="FF5A43"/>
      </a:accent5>
      <a:accent6>
        <a:srgbClr val="E6DCD7"/>
      </a:accent6>
      <a:hlink>
        <a:srgbClr val="B29C86"/>
      </a:hlink>
      <a:folHlink>
        <a:srgbClr val="0097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4"/>
          </a:solidFill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4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ake Orange">
      <a:srgbClr val="FF9C8E"/>
    </a:custClr>
    <a:custClr name="Lime Green">
      <a:srgbClr val="C6D02C"/>
    </a:custClr>
    <a:custClr name="OC&amp;C Purple">
      <a:srgbClr val="63277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Light Gray">
      <a:srgbClr val="C0C0C0"/>
    </a:custClr>
    <a:custClr name="Medium Gray">
      <a:srgbClr val="969696"/>
    </a:custClr>
    <a:custClr name="Dark Gray">
      <a:srgbClr val="80808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eal 1">
      <a:srgbClr val="99D5D5"/>
    </a:custClr>
    <a:custClr name="Teal 2">
      <a:srgbClr val="6CC0C0"/>
    </a:custClr>
    <a:custClr name="Teal 3">
      <a:srgbClr val="48A6A6"/>
    </a:custClr>
    <a:custClr name="Teal 4">
      <a:srgbClr val="3F8E8C"/>
    </a:custClr>
    <a:custClr name="Teal 5">
      <a:srgbClr val="33726D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aupe 1">
      <a:srgbClr val="E6DCD7"/>
    </a:custClr>
    <a:custClr name="Taupe 2">
      <a:srgbClr val="D7C8BE"/>
    </a:custClr>
    <a:custClr name="Taupe 3">
      <a:srgbClr val="BEAA96"/>
    </a:custClr>
    <a:custClr name="Taupe 4">
      <a:srgbClr val="968C78"/>
    </a:custClr>
    <a:custClr name="Taupe 5">
      <a:srgbClr val="82786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Green">
      <a:srgbClr val="92D050"/>
    </a:custClr>
    <a:custClr name="Traffic Light Yellow">
      <a:srgbClr val="FFC000"/>
    </a:custClr>
    <a:custClr name="Traffic Light Red">
      <a:srgbClr val="C0000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e595a2655564a8939bbbd867e2414004 [Read-Only]" id="{AAEB0047-284A-43E4-A725-840A069D86DC}" vid="{8778A659-AD6D-4509-BAE5-229D2A2066C4}"/>
    </a:ext>
  </a:extLst>
</a:theme>
</file>

<file path=ppt/theme/theme2.xml><?xml version="1.0" encoding="utf-8"?>
<a:theme xmlns:a="http://schemas.openxmlformats.org/drawingml/2006/main" name="Main_Analytics [1792534067595]">
  <a:themeElements>
    <a:clrScheme name="DMS Logistics">
      <a:dk1>
        <a:srgbClr val="000000"/>
      </a:dk1>
      <a:lt1>
        <a:srgbClr val="FFFFFF"/>
      </a:lt1>
      <a:dk2>
        <a:srgbClr val="FF8E2E"/>
      </a:dk2>
      <a:lt2>
        <a:srgbClr val="00366C"/>
      </a:lt2>
      <a:accent1>
        <a:srgbClr val="00ACEE"/>
      </a:accent1>
      <a:accent2>
        <a:srgbClr val="7FCBEF"/>
      </a:accent2>
      <a:accent3>
        <a:srgbClr val="B29C86"/>
      </a:accent3>
      <a:accent4>
        <a:srgbClr val="005E9E"/>
      </a:accent4>
      <a:accent5>
        <a:srgbClr val="FF5A43"/>
      </a:accent5>
      <a:accent6>
        <a:srgbClr val="E6DCD7"/>
      </a:accent6>
      <a:hlink>
        <a:srgbClr val="B29C86"/>
      </a:hlink>
      <a:folHlink>
        <a:srgbClr val="005E9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4"/>
          </a:solidFill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4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ake Orange">
      <a:srgbClr val="FF9C8E"/>
    </a:custClr>
    <a:custClr name="Lime Green">
      <a:srgbClr val="C6D02C"/>
    </a:custClr>
    <a:custClr name="OC&amp;C Purple">
      <a:srgbClr val="63277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Light Gray">
      <a:srgbClr val="C0C0C0"/>
    </a:custClr>
    <a:custClr name="Medium Gray">
      <a:srgbClr val="969696"/>
    </a:custClr>
    <a:custClr name="Dark Gray">
      <a:srgbClr val="80808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eal 1">
      <a:srgbClr val="99D5D5"/>
    </a:custClr>
    <a:custClr name="Teal 2">
      <a:srgbClr val="6CC0C0"/>
    </a:custClr>
    <a:custClr name="Teal 3">
      <a:srgbClr val="48A6A6"/>
    </a:custClr>
    <a:custClr name="Teal 4">
      <a:srgbClr val="3F8E8C"/>
    </a:custClr>
    <a:custClr name="Teal 5">
      <a:srgbClr val="33726D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aupe 1">
      <a:srgbClr val="E6DCD7"/>
    </a:custClr>
    <a:custClr name="Taupe 2">
      <a:srgbClr val="D7C8BE"/>
    </a:custClr>
    <a:custClr name="Taupe 3">
      <a:srgbClr val="BEAA96"/>
    </a:custClr>
    <a:custClr name="Taupe 4">
      <a:srgbClr val="968C78"/>
    </a:custClr>
    <a:custClr name="Taupe 5">
      <a:srgbClr val="82786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Green">
      <a:srgbClr val="92D050"/>
    </a:custClr>
    <a:custClr name="Traffic Light Yellow">
      <a:srgbClr val="FFC000"/>
    </a:custClr>
    <a:custClr name="Traffic Light Red">
      <a:srgbClr val="C0000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e595a2655564a8939bbbd867e2414004 [Read-Only]" id="{AAEB0047-284A-43E4-A725-840A069D86DC}" vid="{8778A659-AD6D-4509-BAE5-229D2A2066C4}"/>
    </a:ext>
  </a:ext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111F20-489D-423F-8669-23E3111AA1D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6ae7422-7103-4ba2-b850-d7dcf422d67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6190</TotalTime>
  <Words>1158</Words>
  <Application>Microsoft Office PowerPoint</Application>
  <PresentationFormat>Widescreen</PresentationFormat>
  <Paragraphs>155</Paragraphs>
  <Slides>5</Slides>
  <Notes>3</Notes>
  <HiddenSlides>1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Main_Analytics</vt:lpstr>
      <vt:lpstr>Main_Analytics [1792534067595]</vt:lpstr>
      <vt:lpstr>Apresentação do PowerPoint</vt:lpstr>
      <vt:lpstr>A estrutura desejada contempla 7 analistas um TL, objetivo da estrutura são as tratativas e gestão das atividades relacionados ao agenciamento de carga. </vt:lpstr>
      <vt:lpstr>As vagas da DMS exigem perfis de rotina e controle, que executem os processos definidos no melhor SLA possível e proativamente atuem para mitigar os riscos/danos</vt:lpstr>
      <vt:lpstr>Apresentação do PowerPoint</vt:lpstr>
      <vt:lpstr>A estrutura desejada contempla 7 analistas e somente um TL, entretanto quando olhamos os embarques há espaço para termos 2 TL e os mesmos 4 analistas atuais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Tratamento de Dados do Pro-Frotas</dc:title>
  <dc:creator>Joao Victor Lopes De Paula</dc:creator>
  <cp:keywords/>
  <cp:lastModifiedBy>Gilberto  Volpe</cp:lastModifiedBy>
  <cp:revision>17</cp:revision>
  <dcterms:created xsi:type="dcterms:W3CDTF">2023-01-09T20:59:58Z</dcterms:created>
  <dcterms:modified xsi:type="dcterms:W3CDTF">2026-10-22T14:11:55Z</dcterms:modified>
</cp:coreProperties>
</file>