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</p:sldIdLst>
  <p:sldSz cy="5143500" cx="9144000"/>
  <p:notesSz cx="6858000" cy="9144000"/>
  <p:embeddedFontLst>
    <p:embeddedFont>
      <p:font typeface="Kanit SemiBold"/>
      <p:regular r:id="rId46"/>
      <p:bold r:id="rId47"/>
      <p:italic r:id="rId48"/>
      <p:boldItalic r:id="rId49"/>
    </p:embeddedFont>
    <p:embeddedFont>
      <p:font typeface="Work Sans"/>
      <p:regular r:id="rId50"/>
      <p:bold r:id="rId51"/>
      <p:italic r:id="rId52"/>
      <p:boldItalic r:id="rId53"/>
    </p:embeddedFont>
    <p:embeddedFont>
      <p:font typeface="Kanit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8" roundtripDataSignature="AMtx7mgSsEw8US8TBeXRkgndFAZuf9Be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46" Type="http://schemas.openxmlformats.org/officeDocument/2006/relationships/font" Target="fonts/KanitSemiBold-regular.fntdata"/><Relationship Id="rId47" Type="http://schemas.openxmlformats.org/officeDocument/2006/relationships/font" Target="fonts/KanitSemiBold-bold.fntdata"/><Relationship Id="rId48" Type="http://schemas.openxmlformats.org/officeDocument/2006/relationships/font" Target="fonts/KanitSemiBold-italic.fntdata"/><Relationship Id="rId49" Type="http://schemas.openxmlformats.org/officeDocument/2006/relationships/font" Target="fonts/KanitSemiBold-boldItalic.fntdata"/><Relationship Id="rId50" Type="http://schemas.openxmlformats.org/officeDocument/2006/relationships/font" Target="fonts/WorkSans-regular.fntdata"/><Relationship Id="rId51" Type="http://schemas.openxmlformats.org/officeDocument/2006/relationships/font" Target="fonts/WorkSans-bold.fntdata"/><Relationship Id="rId52" Type="http://schemas.openxmlformats.org/officeDocument/2006/relationships/font" Target="fonts/WorkSans-italic.fntdata"/><Relationship Id="rId53" Type="http://schemas.openxmlformats.org/officeDocument/2006/relationships/font" Target="fonts/WorkSans-boldItalic.fntdata"/><Relationship Id="rId54" Type="http://schemas.openxmlformats.org/officeDocument/2006/relationships/font" Target="fonts/Kanit-regular.fntdata"/><Relationship Id="rId55" Type="http://schemas.openxmlformats.org/officeDocument/2006/relationships/font" Target="fonts/Kanit-bold.fntdata"/><Relationship Id="rId56" Type="http://schemas.openxmlformats.org/officeDocument/2006/relationships/font" Target="fonts/Kanit-italic.fntdata"/><Relationship Id="rId57" Type="http://schemas.openxmlformats.org/officeDocument/2006/relationships/font" Target="fonts/Kanit-boldItalic.fntdata"/><Relationship Id="rId5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1"/>
          <p:cNvSpPr txBox="1"/>
          <p:nvPr>
            <p:ph type="ctrTitle"/>
          </p:nvPr>
        </p:nvSpPr>
        <p:spPr>
          <a:xfrm>
            <a:off x="722375" y="1194750"/>
            <a:ext cx="4161900" cy="227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41"/>
          <p:cNvSpPr txBox="1"/>
          <p:nvPr>
            <p:ph idx="1" type="subTitle"/>
          </p:nvPr>
        </p:nvSpPr>
        <p:spPr>
          <a:xfrm>
            <a:off x="722375" y="3504425"/>
            <a:ext cx="4161900" cy="44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41"/>
          <p:cNvSpPr/>
          <p:nvPr>
            <p:ph idx="2" type="pic"/>
          </p:nvPr>
        </p:nvSpPr>
        <p:spPr>
          <a:xfrm>
            <a:off x="6183100" y="125"/>
            <a:ext cx="2344800" cy="5143500"/>
          </a:xfrm>
          <a:prstGeom prst="parallelogram">
            <a:avLst>
              <a:gd fmla="val 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2"/>
          <p:cNvSpPr txBox="1"/>
          <p:nvPr>
            <p:ph type="title"/>
          </p:nvPr>
        </p:nvSpPr>
        <p:spPr>
          <a:xfrm>
            <a:off x="610450" y="383528"/>
            <a:ext cx="512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" name="Google Shape;14;p42"/>
          <p:cNvSpPr txBox="1"/>
          <p:nvPr>
            <p:ph idx="2" type="title"/>
          </p:nvPr>
        </p:nvSpPr>
        <p:spPr>
          <a:xfrm>
            <a:off x="1353720" y="1300700"/>
            <a:ext cx="804600" cy="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" name="Google Shape;15;p42"/>
          <p:cNvSpPr txBox="1"/>
          <p:nvPr>
            <p:ph idx="3" type="title"/>
          </p:nvPr>
        </p:nvSpPr>
        <p:spPr>
          <a:xfrm>
            <a:off x="4183600" y="1300700"/>
            <a:ext cx="804600" cy="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" name="Google Shape;16;p42"/>
          <p:cNvSpPr txBox="1"/>
          <p:nvPr>
            <p:ph idx="4" type="title"/>
          </p:nvPr>
        </p:nvSpPr>
        <p:spPr>
          <a:xfrm>
            <a:off x="1353720" y="3047028"/>
            <a:ext cx="804600" cy="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" name="Google Shape;17;p42"/>
          <p:cNvSpPr txBox="1"/>
          <p:nvPr>
            <p:ph idx="5" type="title"/>
          </p:nvPr>
        </p:nvSpPr>
        <p:spPr>
          <a:xfrm>
            <a:off x="4183600" y="3047036"/>
            <a:ext cx="804600" cy="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" name="Google Shape;18;p42"/>
          <p:cNvSpPr txBox="1"/>
          <p:nvPr>
            <p:ph idx="1" type="subTitle"/>
          </p:nvPr>
        </p:nvSpPr>
        <p:spPr>
          <a:xfrm>
            <a:off x="957420" y="2147375"/>
            <a:ext cx="15972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19" name="Google Shape;19;p42"/>
          <p:cNvSpPr txBox="1"/>
          <p:nvPr>
            <p:ph idx="6" type="subTitle"/>
          </p:nvPr>
        </p:nvSpPr>
        <p:spPr>
          <a:xfrm>
            <a:off x="3787300" y="2147375"/>
            <a:ext cx="15972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20" name="Google Shape;20;p42"/>
          <p:cNvSpPr txBox="1"/>
          <p:nvPr>
            <p:ph idx="7" type="subTitle"/>
          </p:nvPr>
        </p:nvSpPr>
        <p:spPr>
          <a:xfrm>
            <a:off x="957420" y="3893825"/>
            <a:ext cx="15972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21" name="Google Shape;21;p42"/>
          <p:cNvSpPr txBox="1"/>
          <p:nvPr>
            <p:ph idx="8" type="subTitle"/>
          </p:nvPr>
        </p:nvSpPr>
        <p:spPr>
          <a:xfrm>
            <a:off x="3787300" y="3893826"/>
            <a:ext cx="15972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22" name="Google Shape;22;p42"/>
          <p:cNvSpPr/>
          <p:nvPr>
            <p:ph idx="9" type="pic"/>
          </p:nvPr>
        </p:nvSpPr>
        <p:spPr>
          <a:xfrm>
            <a:off x="6330350" y="125"/>
            <a:ext cx="2344800" cy="5143500"/>
          </a:xfrm>
          <a:prstGeom prst="parallelogram">
            <a:avLst>
              <a:gd fmla="val 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/>
          <p:nvPr>
            <p:ph idx="2" type="pic"/>
          </p:nvPr>
        </p:nvSpPr>
        <p:spPr>
          <a:xfrm>
            <a:off x="610450" y="0"/>
            <a:ext cx="2338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43"/>
          <p:cNvSpPr txBox="1"/>
          <p:nvPr>
            <p:ph type="title"/>
          </p:nvPr>
        </p:nvSpPr>
        <p:spPr>
          <a:xfrm>
            <a:off x="4685400" y="2959400"/>
            <a:ext cx="3582900" cy="1644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43"/>
          <p:cNvSpPr txBox="1"/>
          <p:nvPr>
            <p:ph idx="3" type="title"/>
          </p:nvPr>
        </p:nvSpPr>
        <p:spPr>
          <a:xfrm>
            <a:off x="7008600" y="1601400"/>
            <a:ext cx="1259700" cy="125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0"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3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9" name="Google Shape;29;p5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0" name="Google Shape;30;p53"/>
            <p:cNvSpPr/>
            <p:nvPr/>
          </p:nvSpPr>
          <p:spPr>
            <a:xfrm flipH="1" rot="10800000">
              <a:off x="0" y="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53"/>
            <p:cNvSpPr/>
            <p:nvPr/>
          </p:nvSpPr>
          <p:spPr>
            <a:xfrm flipH="1">
              <a:off x="8746800" y="98280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5"/>
          <p:cNvSpPr txBox="1"/>
          <p:nvPr>
            <p:ph type="title"/>
          </p:nvPr>
        </p:nvSpPr>
        <p:spPr>
          <a:xfrm>
            <a:off x="722375" y="384050"/>
            <a:ext cx="5052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45"/>
          <p:cNvSpPr txBox="1"/>
          <p:nvPr>
            <p:ph idx="1" type="body"/>
          </p:nvPr>
        </p:nvSpPr>
        <p:spPr>
          <a:xfrm>
            <a:off x="965025" y="1638050"/>
            <a:ext cx="3549900" cy="1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" name="Google Shape;35;p45"/>
          <p:cNvSpPr/>
          <p:nvPr>
            <p:ph idx="2" type="pic"/>
          </p:nvPr>
        </p:nvSpPr>
        <p:spPr>
          <a:xfrm>
            <a:off x="6183025" y="125"/>
            <a:ext cx="2344800" cy="5143500"/>
          </a:xfrm>
          <a:prstGeom prst="parallelogram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36" name="Google Shape;36;p45"/>
          <p:cNvSpPr/>
          <p:nvPr/>
        </p:nvSpPr>
        <p:spPr>
          <a:xfrm>
            <a:off x="0" y="98280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6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" type="subTitle"/>
          </p:nvPr>
        </p:nvSpPr>
        <p:spPr>
          <a:xfrm>
            <a:off x="1224723" y="2684175"/>
            <a:ext cx="3004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2" type="subTitle"/>
          </p:nvPr>
        </p:nvSpPr>
        <p:spPr>
          <a:xfrm>
            <a:off x="4915077" y="2684175"/>
            <a:ext cx="3004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" name="Google Shape;41;p46"/>
          <p:cNvSpPr txBox="1"/>
          <p:nvPr>
            <p:ph idx="3" type="subTitle"/>
          </p:nvPr>
        </p:nvSpPr>
        <p:spPr>
          <a:xfrm>
            <a:off x="1224723" y="2293900"/>
            <a:ext cx="3004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42" name="Google Shape;42;p46"/>
          <p:cNvSpPr txBox="1"/>
          <p:nvPr>
            <p:ph idx="4" type="subTitle"/>
          </p:nvPr>
        </p:nvSpPr>
        <p:spPr>
          <a:xfrm>
            <a:off x="4915034" y="2293900"/>
            <a:ext cx="3004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grpSp>
        <p:nvGrpSpPr>
          <p:cNvPr id="43" name="Google Shape;43;p4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4" name="Google Shape;44;p46"/>
            <p:cNvSpPr/>
            <p:nvPr/>
          </p:nvSpPr>
          <p:spPr>
            <a:xfrm flipH="1" rot="10800000">
              <a:off x="0" y="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6"/>
            <p:cNvSpPr/>
            <p:nvPr/>
          </p:nvSpPr>
          <p:spPr>
            <a:xfrm flipH="1">
              <a:off x="8746800" y="98280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8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" name="Google Shape;48;p48"/>
          <p:cNvSpPr txBox="1"/>
          <p:nvPr>
            <p:ph idx="1" type="subTitle"/>
          </p:nvPr>
        </p:nvSpPr>
        <p:spPr>
          <a:xfrm>
            <a:off x="1569075" y="1800825"/>
            <a:ext cx="27825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" name="Google Shape;49;p48"/>
          <p:cNvSpPr txBox="1"/>
          <p:nvPr>
            <p:ph idx="2" type="subTitle"/>
          </p:nvPr>
        </p:nvSpPr>
        <p:spPr>
          <a:xfrm>
            <a:off x="5484225" y="1800825"/>
            <a:ext cx="27825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" name="Google Shape;50;p48"/>
          <p:cNvSpPr txBox="1"/>
          <p:nvPr>
            <p:ph idx="3" type="subTitle"/>
          </p:nvPr>
        </p:nvSpPr>
        <p:spPr>
          <a:xfrm>
            <a:off x="1569074" y="1409025"/>
            <a:ext cx="278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51" name="Google Shape;51;p48"/>
          <p:cNvSpPr txBox="1"/>
          <p:nvPr>
            <p:ph idx="4" type="subTitle"/>
          </p:nvPr>
        </p:nvSpPr>
        <p:spPr>
          <a:xfrm>
            <a:off x="5484125" y="1409025"/>
            <a:ext cx="278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52" name="Google Shape;52;p48"/>
          <p:cNvSpPr txBox="1"/>
          <p:nvPr>
            <p:ph idx="5" type="subTitle"/>
          </p:nvPr>
        </p:nvSpPr>
        <p:spPr>
          <a:xfrm>
            <a:off x="1569075" y="3548575"/>
            <a:ext cx="27825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6" type="subTitle"/>
          </p:nvPr>
        </p:nvSpPr>
        <p:spPr>
          <a:xfrm>
            <a:off x="5484225" y="3548575"/>
            <a:ext cx="27825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p48"/>
          <p:cNvSpPr txBox="1"/>
          <p:nvPr>
            <p:ph idx="7" type="subTitle"/>
          </p:nvPr>
        </p:nvSpPr>
        <p:spPr>
          <a:xfrm>
            <a:off x="1569074" y="3156773"/>
            <a:ext cx="278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55" name="Google Shape;55;p48"/>
          <p:cNvSpPr txBox="1"/>
          <p:nvPr>
            <p:ph idx="8" type="subTitle"/>
          </p:nvPr>
        </p:nvSpPr>
        <p:spPr>
          <a:xfrm>
            <a:off x="5484125" y="3156773"/>
            <a:ext cx="278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grpSp>
        <p:nvGrpSpPr>
          <p:cNvPr id="56" name="Google Shape;56;p4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7" name="Google Shape;57;p48"/>
            <p:cNvSpPr/>
            <p:nvPr/>
          </p:nvSpPr>
          <p:spPr>
            <a:xfrm rot="10800000">
              <a:off x="8746800" y="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48"/>
            <p:cNvSpPr/>
            <p:nvPr/>
          </p:nvSpPr>
          <p:spPr>
            <a:xfrm>
              <a:off x="0" y="98280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9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49"/>
          <p:cNvSpPr txBox="1"/>
          <p:nvPr>
            <p:ph idx="1" type="subTitle"/>
          </p:nvPr>
        </p:nvSpPr>
        <p:spPr>
          <a:xfrm>
            <a:off x="722375" y="1805726"/>
            <a:ext cx="2492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49"/>
          <p:cNvSpPr txBox="1"/>
          <p:nvPr>
            <p:ph idx="2" type="subTitle"/>
          </p:nvPr>
        </p:nvSpPr>
        <p:spPr>
          <a:xfrm>
            <a:off x="3325688" y="1805726"/>
            <a:ext cx="2492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49"/>
          <p:cNvSpPr txBox="1"/>
          <p:nvPr>
            <p:ph idx="3" type="subTitle"/>
          </p:nvPr>
        </p:nvSpPr>
        <p:spPr>
          <a:xfrm>
            <a:off x="5929001" y="1805726"/>
            <a:ext cx="2492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49"/>
          <p:cNvSpPr txBox="1"/>
          <p:nvPr>
            <p:ph idx="4" type="subTitle"/>
          </p:nvPr>
        </p:nvSpPr>
        <p:spPr>
          <a:xfrm>
            <a:off x="722375" y="1511700"/>
            <a:ext cx="24927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65" name="Google Shape;65;p49"/>
          <p:cNvSpPr txBox="1"/>
          <p:nvPr>
            <p:ph idx="5" type="subTitle"/>
          </p:nvPr>
        </p:nvSpPr>
        <p:spPr>
          <a:xfrm>
            <a:off x="3325600" y="1511700"/>
            <a:ext cx="24927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66" name="Google Shape;66;p49"/>
          <p:cNvSpPr txBox="1"/>
          <p:nvPr>
            <p:ph idx="6" type="subTitle"/>
          </p:nvPr>
        </p:nvSpPr>
        <p:spPr>
          <a:xfrm>
            <a:off x="5928875" y="1511700"/>
            <a:ext cx="24927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67" name="Google Shape;67;p49"/>
          <p:cNvSpPr txBox="1"/>
          <p:nvPr>
            <p:ph idx="7" type="subTitle"/>
          </p:nvPr>
        </p:nvSpPr>
        <p:spPr>
          <a:xfrm>
            <a:off x="722375" y="3533900"/>
            <a:ext cx="2492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" name="Google Shape;68;p49"/>
          <p:cNvSpPr txBox="1"/>
          <p:nvPr>
            <p:ph idx="8" type="subTitle"/>
          </p:nvPr>
        </p:nvSpPr>
        <p:spPr>
          <a:xfrm>
            <a:off x="3325688" y="3533900"/>
            <a:ext cx="2492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49"/>
          <p:cNvSpPr txBox="1"/>
          <p:nvPr>
            <p:ph idx="9" type="subTitle"/>
          </p:nvPr>
        </p:nvSpPr>
        <p:spPr>
          <a:xfrm>
            <a:off x="5929001" y="3533900"/>
            <a:ext cx="2492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3" type="subTitle"/>
          </p:nvPr>
        </p:nvSpPr>
        <p:spPr>
          <a:xfrm>
            <a:off x="722375" y="3239900"/>
            <a:ext cx="24927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71" name="Google Shape;71;p49"/>
          <p:cNvSpPr txBox="1"/>
          <p:nvPr>
            <p:ph idx="14" type="subTitle"/>
          </p:nvPr>
        </p:nvSpPr>
        <p:spPr>
          <a:xfrm>
            <a:off x="3325600" y="3239900"/>
            <a:ext cx="24927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sp>
        <p:nvSpPr>
          <p:cNvPr id="72" name="Google Shape;72;p49"/>
          <p:cNvSpPr txBox="1"/>
          <p:nvPr>
            <p:ph idx="15" type="subTitle"/>
          </p:nvPr>
        </p:nvSpPr>
        <p:spPr>
          <a:xfrm>
            <a:off x="5928875" y="3239900"/>
            <a:ext cx="24927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/>
        </p:txBody>
      </p:sp>
      <p:grpSp>
        <p:nvGrpSpPr>
          <p:cNvPr id="73" name="Google Shape;73;p4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74" name="Google Shape;74;p49"/>
            <p:cNvSpPr/>
            <p:nvPr/>
          </p:nvSpPr>
          <p:spPr>
            <a:xfrm flipH="1" rot="10800000">
              <a:off x="0" y="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9"/>
            <p:cNvSpPr/>
            <p:nvPr/>
          </p:nvSpPr>
          <p:spPr>
            <a:xfrm flipH="1">
              <a:off x="8746800" y="98280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4"/>
          <p:cNvSpPr txBox="1"/>
          <p:nvPr>
            <p:ph type="ctrTitle"/>
          </p:nvPr>
        </p:nvSpPr>
        <p:spPr>
          <a:xfrm>
            <a:off x="4011025" y="677125"/>
            <a:ext cx="36552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" name="Google Shape;78;p44"/>
          <p:cNvSpPr txBox="1"/>
          <p:nvPr>
            <p:ph idx="1" type="subTitle"/>
          </p:nvPr>
        </p:nvSpPr>
        <p:spPr>
          <a:xfrm>
            <a:off x="4011025" y="1546325"/>
            <a:ext cx="36552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44"/>
          <p:cNvSpPr/>
          <p:nvPr>
            <p:ph idx="2" type="pic"/>
          </p:nvPr>
        </p:nvSpPr>
        <p:spPr>
          <a:xfrm>
            <a:off x="610450" y="125"/>
            <a:ext cx="2344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44"/>
          <p:cNvSpPr/>
          <p:nvPr/>
        </p:nvSpPr>
        <p:spPr>
          <a:xfrm flipH="1">
            <a:off x="8746800" y="98280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4"/>
          <p:cNvSpPr txBox="1"/>
          <p:nvPr/>
        </p:nvSpPr>
        <p:spPr>
          <a:xfrm>
            <a:off x="4247234" y="3442416"/>
            <a:ext cx="341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CREDITS: This presentation template was created by </a:t>
            </a:r>
            <a:r>
              <a:rPr b="1" i="0" lang="en" sz="1000" u="none" cap="none" strike="noStrike">
                <a:solidFill>
                  <a:schemeClr val="lt1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, including icons by </a:t>
            </a:r>
            <a:r>
              <a:rPr b="1" i="0" lang="en" sz="1000" u="none" cap="none" strike="noStrike">
                <a:solidFill>
                  <a:schemeClr val="lt1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b="0" i="0" lang="en" sz="1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and infographics &amp; images by </a:t>
            </a:r>
            <a:r>
              <a:rPr b="1" i="0" lang="en" sz="1000" u="none" cap="none" strike="noStrike">
                <a:solidFill>
                  <a:schemeClr val="lt1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0"/>
          <p:cNvSpPr/>
          <p:nvPr>
            <p:ph idx="2" type="pic"/>
          </p:nvPr>
        </p:nvSpPr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60"/>
          <p:cNvSpPr txBox="1"/>
          <p:nvPr>
            <p:ph type="title"/>
          </p:nvPr>
        </p:nvSpPr>
        <p:spPr>
          <a:xfrm>
            <a:off x="1955850" y="932400"/>
            <a:ext cx="5232300" cy="327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85" name="Google Shape;85;p6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6" name="Google Shape;86;p60"/>
            <p:cNvSpPr/>
            <p:nvPr/>
          </p:nvSpPr>
          <p:spPr>
            <a:xfrm flipH="1" rot="10800000">
              <a:off x="0" y="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60"/>
            <p:cNvSpPr/>
            <p:nvPr/>
          </p:nvSpPr>
          <p:spPr>
            <a:xfrm flipH="1">
              <a:off x="8746800" y="98280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1"/>
          <p:cNvSpPr txBox="1"/>
          <p:nvPr>
            <p:ph type="title"/>
          </p:nvPr>
        </p:nvSpPr>
        <p:spPr>
          <a:xfrm>
            <a:off x="2549400" y="1584300"/>
            <a:ext cx="40452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61"/>
          <p:cNvSpPr txBox="1"/>
          <p:nvPr>
            <p:ph idx="1" type="subTitle"/>
          </p:nvPr>
        </p:nvSpPr>
        <p:spPr>
          <a:xfrm>
            <a:off x="2549400" y="232410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grpSp>
        <p:nvGrpSpPr>
          <p:cNvPr id="91" name="Google Shape;91;p61"/>
          <p:cNvGrpSpPr/>
          <p:nvPr/>
        </p:nvGrpSpPr>
        <p:grpSpPr>
          <a:xfrm flipH="1">
            <a:off x="0" y="0"/>
            <a:ext cx="9144000" cy="5143500"/>
            <a:chOff x="0" y="0"/>
            <a:chExt cx="9144000" cy="5143500"/>
          </a:xfrm>
        </p:grpSpPr>
        <p:sp>
          <p:nvSpPr>
            <p:cNvPr id="92" name="Google Shape;92;p61"/>
            <p:cNvSpPr/>
            <p:nvPr/>
          </p:nvSpPr>
          <p:spPr>
            <a:xfrm flipH="1" rot="10800000">
              <a:off x="0" y="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61"/>
            <p:cNvSpPr/>
            <p:nvPr/>
          </p:nvSpPr>
          <p:spPr>
            <a:xfrm flipH="1">
              <a:off x="8746800" y="982800"/>
              <a:ext cx="397200" cy="41607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4"/>
          <p:cNvSpPr/>
          <p:nvPr/>
        </p:nvSpPr>
        <p:spPr>
          <a:xfrm flipH="1" rot="10800000">
            <a:off x="0" y="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4"/>
          <p:cNvSpPr/>
          <p:nvPr/>
        </p:nvSpPr>
        <p:spPr>
          <a:xfrm flipH="1">
            <a:off x="8746800" y="98280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7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5"/>
          <p:cNvSpPr/>
          <p:nvPr/>
        </p:nvSpPr>
        <p:spPr>
          <a:xfrm>
            <a:off x="0" y="98280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5"/>
          <p:cNvSpPr/>
          <p:nvPr/>
        </p:nvSpPr>
        <p:spPr>
          <a:xfrm rot="10800000">
            <a:off x="8746800" y="0"/>
            <a:ext cx="397200" cy="41607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>
            <a:alpha val="94902"/>
          </a:scheme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722375" y="384048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b="0" i="0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slideworks.io/resources/how-to-write-action-titles-like-mckinsey" TargetMode="External"/><Relationship Id="rId3" Type="http://schemas.openxmlformats.org/officeDocument/2006/relationships/hyperlink" Target="https://slidescience.co/pyramid-principle/" TargetMode="External"/><Relationship Id="rId4" Type="http://schemas.openxmlformats.org/officeDocument/2006/relationships/hyperlink" Target="https://strategyu.co/ghost-deck/" TargetMode="External"/><Relationship Id="rId5" Type="http://schemas.openxmlformats.org/officeDocument/2006/relationships/hyperlink" Target="https://www.theanalystacademy.com/takeaway-boxes-when-to-use/" TargetMode="External"/><Relationship Id="rId6" Type="http://schemas.openxmlformats.org/officeDocument/2006/relationships/hyperlink" Target="https://umbrex.com/resources/the-busy-consultants-guide-to-quantitative-charts/design-principles-for-mckinsey-quantitative-charts/" TargetMode="External"/><Relationship Id="rId7" Type="http://schemas.openxmlformats.org/officeDocument/2006/relationships/hyperlink" Target="https://managementconsulted.com/consulting-slide-deck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282" y="-57150"/>
            <a:ext cx="9279696" cy="5250576"/>
          </a:xfrm>
          <a:prstGeom prst="rect">
            <a:avLst/>
          </a:prstGeom>
          <a:solidFill>
            <a:srgbClr val="16161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3" name="Picture 2" descr="arte-capa.png"/>
          <p:cNvPicPr>
            <a:picLocks noChangeAspect="1"/>
          </p:cNvPicPr>
          <p:nvPr/>
        </p:nvPicPr>
        <p:blipFill>
          <a:blip r:embed="rId2"/>
          <a:srcRect t="24866" b="33529"/>
          <a:stretch>
            <a:fillRect/>
          </a:stretch>
        </p:blipFill>
        <p:spPr>
          <a:xfrm>
            <a:off x="-64282" y="-57150"/>
            <a:ext cx="4114800" cy="2139970"/>
          </a:xfrm>
          <a:prstGeom prst="rect">
            <a:avLst/>
          </a:prstGeom>
        </p:spPr>
      </p:pic>
      <p:pic>
        <p:nvPicPr>
          <p:cNvPr id="4" name="Picture 3" descr="logo-cc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" y="4550145"/>
            <a:ext cx="2387224" cy="2989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146" y="1938528"/>
            <a:ext cx="5852160" cy="1714317"/>
          </a:xfrm>
          <a:prstGeom prst="rect">
            <a:avLst/>
          </a:prstGeom>
          <a:noFill/>
        </p:spPr>
        <p:txBody>
          <a:bodyPr wrap="square" anchor="b" lIns="91440" rIns="91440" tIns="45720" bIns="4572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 u="none">
                <a:solidFill>
                  <a:srgbClr val="C1272D"/>
                </a:solidFill>
                <a:latin typeface="Kanit SemiBold"/>
              </a:rPr>
              <a:t>APRESENTAÇÕES</a:t>
            </a:r>
            <a:br>
              <a:rPr sz="3400" b="0" i="0" u="none">
                <a:solidFill>
                  <a:srgbClr val="C1272D"/>
                </a:solidFill>
                <a:latin typeface="Kanit SemiBold"/>
              </a:rPr>
            </a:br>
            <a:r>
              <a:rPr sz="3400" b="0" i="0" u="none">
                <a:solidFill>
                  <a:srgbClr val="C1272D"/>
                </a:solidFill>
                <a:latin typeface="Kanit SemiBold"/>
              </a:rPr>
              <a:t>PARA CONSULTORIA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Kanit SemiBold"/>
              </a:rPr>
              <a:t>Como estruturar, escrever e formatar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619" y="3739896"/>
            <a:ext cx="4654113" cy="52312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Work Sans"/>
              </a:rPr>
              <a:t>Equipe de Conhecimento – CCU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Work Sans"/>
              </a:rPr>
              <a:t>Prep4Consulting 2026.2 – Módulo complementar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0362" y="356067"/>
            <a:ext cx="5120640" cy="5759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u="none">
                <a:solidFill>
                  <a:srgbClr val="C1272D"/>
                </a:solidFill>
                <a:latin typeface="Kanit SemiBold"/>
              </a:rPr>
              <a:t>VISÃO GERAL DO MÓDULO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43" y="1300642"/>
            <a:ext cx="482163" cy="41632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F3F3F3"/>
                </a:solidFill>
                <a:latin typeface="Kanit"/>
              </a:rPr>
              <a:t>01</a:t>
            </a:r>
            <a:r>
              <a:rPr sz="2200" b="0" i="0" u="none">
                <a:solidFill>
                  <a:srgbClr val="F3F3F3"/>
                </a:solidFill>
                <a:latin typeface="Kani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7238" y="1300642"/>
            <a:ext cx="6035040" cy="416326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61616"/>
                </a:solidFill>
                <a:latin typeface="Kanit SemiBold"/>
              </a:rPr>
              <a:t>Estrutura antes do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43" y="1960290"/>
            <a:ext cx="482163" cy="41632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F3F3F3"/>
                </a:solidFill>
                <a:latin typeface="Kanit"/>
              </a:rPr>
              <a:t>02</a:t>
            </a:r>
            <a:r>
              <a:rPr sz="2200" b="0" i="0" u="none">
                <a:solidFill>
                  <a:srgbClr val="F3F3F3"/>
                </a:solidFill>
                <a:latin typeface="Kanit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7238" y="1960290"/>
            <a:ext cx="6035040" cy="416326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61616"/>
                </a:solidFill>
                <a:latin typeface="Kanit SemiBold"/>
              </a:rPr>
              <a:t>Anatomia do slide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43" y="2619938"/>
            <a:ext cx="482163" cy="41632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F3F3F3"/>
                </a:solidFill>
                <a:latin typeface="Kanit"/>
              </a:rPr>
              <a:t>03</a:t>
            </a:r>
            <a:r>
              <a:rPr sz="2200" b="0" i="0" u="none">
                <a:solidFill>
                  <a:srgbClr val="F3F3F3"/>
                </a:solidFill>
                <a:latin typeface="Kanit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7238" y="2619938"/>
            <a:ext cx="6035040" cy="416326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61616"/>
                </a:solidFill>
                <a:latin typeface="Kanit SemiBold"/>
              </a:rPr>
              <a:t>Dados e formatação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043" y="3279587"/>
            <a:ext cx="482163" cy="41632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F3F3F3"/>
                </a:solidFill>
                <a:latin typeface="Kanit"/>
              </a:rPr>
              <a:t>04</a:t>
            </a:r>
            <a:r>
              <a:rPr sz="2200" b="0" i="0" u="none">
                <a:solidFill>
                  <a:srgbClr val="F3F3F3"/>
                </a:solidFill>
                <a:latin typeface="Kanit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7238" y="3279587"/>
            <a:ext cx="6035040" cy="416326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61616"/>
                </a:solidFill>
                <a:latin typeface="Kanit SemiBold"/>
              </a:rPr>
              <a:t>Revisão e entrega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6590" y="1601297"/>
            <a:ext cx="1259677" cy="1259677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 u="none">
                <a:solidFill>
                  <a:srgbClr val="F3F3F3"/>
                </a:solidFill>
                <a:latin typeface="Kanit"/>
              </a:rPr>
              <a:t>01</a:t>
            </a:r>
            <a:r>
              <a:rPr sz="5400" b="0" i="0" u="none">
                <a:solidFill>
                  <a:srgbClr val="F3F3F3"/>
                </a:solidFill>
                <a:latin typeface="Kani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7969" y="2958358"/>
            <a:ext cx="5781294" cy="164592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 u="none">
                <a:solidFill>
                  <a:srgbClr val="C1272D"/>
                </a:solidFill>
                <a:latin typeface="Kanit SemiBold"/>
              </a:rPr>
              <a:t>Estrutura antes </a:t>
            </a:r>
            <a:r>
              <a:rPr sz="4000" b="0" i="0" u="none">
                <a:solidFill>
                  <a:srgbClr val="161616"/>
                </a:solidFill>
                <a:latin typeface="Kanit SemiBold"/>
              </a:rPr>
              <a:t/>
            </a:r>
            <a:br>
              <a:rPr sz="4000" b="0" i="0" u="none">
                <a:solidFill>
                  <a:srgbClr val="161616"/>
                </a:solidFill>
                <a:latin typeface="Kanit SemiBold"/>
              </a:rPr>
            </a:br>
            <a:r>
              <a:rPr sz="4000" b="0" i="0" u="none">
                <a:solidFill>
                  <a:srgbClr val="161616"/>
                </a:solidFill>
                <a:latin typeface="Kanit SemiBold"/>
              </a:rPr>
              <a:t>do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096" y="356067"/>
            <a:ext cx="8420618" cy="575980"/>
          </a:xfrm>
        </p:spPr>
        <p:txBody>
          <a:bodyPr wrap="square" lIns="91440" rIns="91440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>
                <a:solidFill>
                  <a:srgbClr val="C1272D"/>
                </a:solidFill>
                <a:latin typeface="Work Sans"/>
              </a:rPr>
              <a:t>Estrutura antes do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096" y="987826"/>
            <a:ext cx="8420618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61616"/>
                </a:solidFill>
                <a:latin typeface="Work Sans"/>
              </a:rPr>
              <a:t>A resposta vem primeiro: a pirâmide organiza recomendação, motivos e evidência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1554480"/>
            <a:ext cx="3749039" cy="53035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Work Sans"/>
              </a:rPr>
              <a:t>RECOMENDAÇÃO — a resposta em uma frase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298448" y="2084831"/>
            <a:ext cx="1600200" cy="292609"/>
          </a:xfrm>
          <a:prstGeom prst="line">
            <a:avLst/>
          </a:prstGeom>
          <a:ln w="12700">
            <a:solidFill>
              <a:srgbClr val="C1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66928" y="2377440"/>
            <a:ext cx="146304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C1272D"/>
                </a:solidFill>
                <a:latin typeface="Work Sans"/>
              </a:rPr>
              <a:t>Motivo 1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818388" y="2871216"/>
            <a:ext cx="480060" cy="29260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17220" y="3163824"/>
            <a:ext cx="402336" cy="34747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cxnSp>
        <p:nvCxnSpPr>
          <p:cNvPr id="12" name="Connector 11"/>
          <p:cNvCxnSpPr/>
          <p:nvPr/>
        </p:nvCxnSpPr>
        <p:spPr>
          <a:xfrm flipH="1">
            <a:off x="1289304" y="2871216"/>
            <a:ext cx="9144" cy="29260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88136" y="3163824"/>
            <a:ext cx="402336" cy="34747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cxnSp>
        <p:nvCxnSpPr>
          <p:cNvPr id="14" name="Connector 13"/>
          <p:cNvCxnSpPr/>
          <p:nvPr/>
        </p:nvCxnSpPr>
        <p:spPr>
          <a:xfrm>
            <a:off x="1298448" y="2871216"/>
            <a:ext cx="461772" cy="29260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559052" y="3163824"/>
            <a:ext cx="402336" cy="34747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cxnSp>
        <p:nvCxnSpPr>
          <p:cNvPr id="16" name="Connector 15"/>
          <p:cNvCxnSpPr/>
          <p:nvPr/>
        </p:nvCxnSpPr>
        <p:spPr>
          <a:xfrm>
            <a:off x="2898648" y="2084831"/>
            <a:ext cx="0" cy="292609"/>
          </a:xfrm>
          <a:prstGeom prst="line">
            <a:avLst/>
          </a:prstGeom>
          <a:ln w="12700">
            <a:solidFill>
              <a:srgbClr val="C1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167128" y="2377440"/>
            <a:ext cx="146304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C1272D"/>
                </a:solidFill>
                <a:latin typeface="Work Sans"/>
              </a:rPr>
              <a:t>Motivo 2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418588" y="2871216"/>
            <a:ext cx="480060" cy="29260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217420" y="3163824"/>
            <a:ext cx="402336" cy="34747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cxnSp>
        <p:nvCxnSpPr>
          <p:cNvPr id="20" name="Connector 19"/>
          <p:cNvCxnSpPr/>
          <p:nvPr/>
        </p:nvCxnSpPr>
        <p:spPr>
          <a:xfrm flipH="1">
            <a:off x="2889504" y="2871216"/>
            <a:ext cx="9144" cy="29260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688336" y="3163824"/>
            <a:ext cx="402336" cy="34747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cxnSp>
        <p:nvCxnSpPr>
          <p:cNvPr id="22" name="Connector 21"/>
          <p:cNvCxnSpPr/>
          <p:nvPr/>
        </p:nvCxnSpPr>
        <p:spPr>
          <a:xfrm>
            <a:off x="2898648" y="2871216"/>
            <a:ext cx="461772" cy="29260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159252" y="3163824"/>
            <a:ext cx="402336" cy="34747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cxnSp>
        <p:nvCxnSpPr>
          <p:cNvPr id="24" name="Connector 23"/>
          <p:cNvCxnSpPr/>
          <p:nvPr/>
        </p:nvCxnSpPr>
        <p:spPr>
          <a:xfrm>
            <a:off x="2898648" y="2084831"/>
            <a:ext cx="1600200" cy="292609"/>
          </a:xfrm>
          <a:prstGeom prst="line">
            <a:avLst/>
          </a:prstGeom>
          <a:ln w="12700">
            <a:solidFill>
              <a:srgbClr val="C1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767328" y="2377440"/>
            <a:ext cx="146304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C1272D"/>
                </a:solidFill>
                <a:latin typeface="Work Sans"/>
              </a:rPr>
              <a:t>Motivo 3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018787" y="2871216"/>
            <a:ext cx="480061" cy="29260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817620" y="3163824"/>
            <a:ext cx="402336" cy="34747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cxnSp>
        <p:nvCxnSpPr>
          <p:cNvPr id="28" name="Connector 27"/>
          <p:cNvCxnSpPr/>
          <p:nvPr/>
        </p:nvCxnSpPr>
        <p:spPr>
          <a:xfrm flipH="1">
            <a:off x="4489703" y="2871216"/>
            <a:ext cx="9145" cy="29260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288536" y="3163824"/>
            <a:ext cx="402336" cy="34747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cxnSp>
        <p:nvCxnSpPr>
          <p:cNvPr id="30" name="Connector 29"/>
          <p:cNvCxnSpPr/>
          <p:nvPr/>
        </p:nvCxnSpPr>
        <p:spPr>
          <a:xfrm>
            <a:off x="4498848" y="2871216"/>
            <a:ext cx="461772" cy="29260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759452" y="3163824"/>
            <a:ext cx="402336" cy="34747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2" name="TextBox 31"/>
          <p:cNvSpPr txBox="1"/>
          <p:nvPr/>
        </p:nvSpPr>
        <p:spPr>
          <a:xfrm>
            <a:off x="566928" y="3584448"/>
            <a:ext cx="4663440" cy="256032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 u="none">
                <a:solidFill>
                  <a:srgbClr val="888888"/>
                </a:solidFill>
                <a:latin typeface="Work Sans"/>
              </a:rPr>
              <a:t>dados, análises e fatos que sustentam cada motivo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41264" y="1636776"/>
            <a:ext cx="274320" cy="2743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Kanit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25312" y="1581912"/>
            <a:ext cx="2743200" cy="74980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161616"/>
                </a:solidFill>
                <a:latin typeface="Work Sans"/>
              </a:rPr>
              <a:t>Toda ideia resume o que está abaixo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</a:pPr>
            <a:r>
              <a:rPr sz="950" b="0" i="0" u="none">
                <a:solidFill>
                  <a:srgbClr val="888888"/>
                </a:solidFill>
                <a:latin typeface="Work Sans"/>
              </a:rPr>
              <a:t>o nível de cima é síntese, não índice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41264" y="2386584"/>
            <a:ext cx="274320" cy="2743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Kanit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5312" y="2331720"/>
            <a:ext cx="2743200" cy="74980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161616"/>
                </a:solidFill>
                <a:latin typeface="Work Sans"/>
              </a:rPr>
              <a:t>Ideias do mesmo nível são do mesmo grupo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</a:pPr>
            <a:r>
              <a:rPr sz="950" b="0" i="0" u="none">
                <a:solidFill>
                  <a:srgbClr val="888888"/>
                </a:solidFill>
                <a:latin typeface="Work Sans"/>
              </a:rPr>
              <a:t>mesma natureza e nível de abstração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41264" y="3136391"/>
            <a:ext cx="274320" cy="2743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Kanit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5312" y="3081528"/>
            <a:ext cx="2743200" cy="74980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161616"/>
                </a:solidFill>
                <a:latin typeface="Work Sans"/>
              </a:rPr>
              <a:t>Dentro do grupo existe uma ordem lógica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</a:pPr>
            <a:r>
              <a:rPr sz="950" b="0" i="0" u="none">
                <a:solidFill>
                  <a:srgbClr val="888888"/>
                </a:solidFill>
                <a:latin typeface="Work Sans"/>
              </a:rPr>
              <a:t>por tempo, estrutura ou importância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" y="3931920"/>
            <a:ext cx="8193024" cy="42976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40" name="Rectangle 39"/>
          <p:cNvSpPr/>
          <p:nvPr/>
        </p:nvSpPr>
        <p:spPr>
          <a:xfrm>
            <a:off x="475488" y="3931920"/>
            <a:ext cx="50292" cy="429768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41" name="TextBox 40"/>
          <p:cNvSpPr txBox="1"/>
          <p:nvPr/>
        </p:nvSpPr>
        <p:spPr>
          <a:xfrm>
            <a:off x="640080" y="3931920"/>
            <a:ext cx="7900416" cy="429768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161616"/>
                </a:solidFill>
                <a:latin typeface="Work Sans"/>
              </a:rPr>
              <a:t>Se o cliente parar na primeira linha, ele já sabe o que você recomenda — e por quais três motivos.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4507992"/>
            <a:ext cx="8193024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 u="none">
                <a:solidFill>
                  <a:srgbClr val="888888"/>
                </a:solidFill>
                <a:latin typeface="Work Sans"/>
              </a:rPr>
              <a:t>Fonte: Barbara Minto, The Pyramid Principle; slideworks.io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096" y="356067"/>
            <a:ext cx="8420618" cy="575980"/>
          </a:xfrm>
        </p:spPr>
        <p:txBody>
          <a:bodyPr wrap="square" lIns="91440" rIns="91440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>
                <a:solidFill>
                  <a:srgbClr val="C1272D"/>
                </a:solidFill>
                <a:latin typeface="Work Sans"/>
              </a:rPr>
              <a:t>Estrutura antes do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096" y="987826"/>
            <a:ext cx="8420618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61616"/>
                </a:solidFill>
                <a:latin typeface="Work Sans"/>
              </a:rPr>
              <a:t>SCQA dá o contexto em quatro movimentos e entrega a resposta antes da análise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72768"/>
            <a:ext cx="1938528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1938528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9" name="Picture 8" descr="explore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810512"/>
            <a:ext cx="548640" cy="548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2450592"/>
            <a:ext cx="1828800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1272D"/>
                </a:solidFill>
                <a:latin typeface="Work Sans"/>
              </a:rPr>
              <a:t>S · Situação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907792"/>
            <a:ext cx="1810512" cy="786383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O fato estável que o cliente aceita sem discussão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572768"/>
            <a:ext cx="1938528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3" name="Rectangle 12"/>
          <p:cNvSpPr/>
          <p:nvPr/>
        </p:nvSpPr>
        <p:spPr>
          <a:xfrm>
            <a:off x="2560320" y="1572768"/>
            <a:ext cx="1938528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4" name="Picture 13" descr="warning-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1810512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15184" y="2450592"/>
            <a:ext cx="1828800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1272D"/>
                </a:solidFill>
                <a:latin typeface="Work Sans"/>
              </a:rPr>
              <a:t>C · Complicação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4328" y="2907792"/>
            <a:ext cx="1810512" cy="786383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O que mudou e criou tensão sobre essa situação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5152" y="1572768"/>
            <a:ext cx="1938528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8" name="Rectangle 17"/>
          <p:cNvSpPr/>
          <p:nvPr/>
        </p:nvSpPr>
        <p:spPr>
          <a:xfrm>
            <a:off x="4645152" y="1572768"/>
            <a:ext cx="1938528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9" name="Picture 18" descr="help-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1810512"/>
            <a:ext cx="548640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00016" y="2450592"/>
            <a:ext cx="1828800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1272D"/>
                </a:solidFill>
                <a:latin typeface="Work Sans"/>
              </a:rPr>
              <a:t>Q · Pergunta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907792"/>
            <a:ext cx="1810512" cy="786383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A dúvida que a complicação provoca no cliente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9984" y="1572768"/>
            <a:ext cx="1938528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3" name="Rectangle 22"/>
          <p:cNvSpPr/>
          <p:nvPr/>
        </p:nvSpPr>
        <p:spPr>
          <a:xfrm>
            <a:off x="6729984" y="1572768"/>
            <a:ext cx="1938528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24" name="Picture 23" descr="task_alt-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1810512"/>
            <a:ext cx="548640" cy="5486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84848" y="2450592"/>
            <a:ext cx="1828800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1272D"/>
                </a:solidFill>
                <a:latin typeface="Work Sans"/>
              </a:rPr>
              <a:t>A · Resposta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2907792"/>
            <a:ext cx="1810512" cy="786383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Sua recomendação, dita antes de qualquer evidência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2436876" y="2121408"/>
            <a:ext cx="100584" cy="155448"/>
          </a:xfrm>
          <a:prstGeom prst="triangl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8" name="Isosceles Triangle 27"/>
          <p:cNvSpPr/>
          <p:nvPr/>
        </p:nvSpPr>
        <p:spPr>
          <a:xfrm rot="5400000">
            <a:off x="4521708" y="2121408"/>
            <a:ext cx="100584" cy="155448"/>
          </a:xfrm>
          <a:prstGeom prst="triangl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9" name="Isosceles Triangle 28"/>
          <p:cNvSpPr/>
          <p:nvPr/>
        </p:nvSpPr>
        <p:spPr>
          <a:xfrm rot="5400000">
            <a:off x="6606540" y="2121408"/>
            <a:ext cx="100584" cy="155448"/>
          </a:xfrm>
          <a:prstGeom prst="triangl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0" name="Rectangle 29"/>
          <p:cNvSpPr/>
          <p:nvPr/>
        </p:nvSpPr>
        <p:spPr>
          <a:xfrm>
            <a:off x="475488" y="3931920"/>
            <a:ext cx="8193024" cy="42976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1" name="Rectangle 30"/>
          <p:cNvSpPr/>
          <p:nvPr/>
        </p:nvSpPr>
        <p:spPr>
          <a:xfrm>
            <a:off x="475488" y="3931920"/>
            <a:ext cx="50292" cy="429768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2" name="TextBox 31"/>
          <p:cNvSpPr txBox="1"/>
          <p:nvPr/>
        </p:nvSpPr>
        <p:spPr>
          <a:xfrm>
            <a:off x="640080" y="3931920"/>
            <a:ext cx="7900416" cy="429768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161616"/>
                </a:solidFill>
                <a:latin typeface="Work Sans"/>
              </a:rPr>
              <a:t>Regra prática: Situação e Complicação cabem em dois parágrafos; a Resposta precisa caber em uma linha.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4507992"/>
            <a:ext cx="8193024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 u="none">
                <a:solidFill>
                  <a:srgbClr val="888888"/>
                </a:solidFill>
                <a:latin typeface="Work Sans"/>
              </a:rPr>
              <a:t>Fonte: Minto, The Pyramid Principle; framework SCR/SCQA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096" y="356067"/>
            <a:ext cx="8420618" cy="575980"/>
          </a:xfrm>
        </p:spPr>
        <p:txBody>
          <a:bodyPr wrap="square" lIns="91440" rIns="91440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>
                <a:solidFill>
                  <a:srgbClr val="C1272D"/>
                </a:solidFill>
                <a:latin typeface="Work Sans"/>
              </a:rPr>
              <a:t>Estrutura antes do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096" y="987826"/>
            <a:ext cx="8420618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61616"/>
                </a:solidFill>
                <a:latin typeface="Work Sans"/>
              </a:rPr>
              <a:t>Antes de abrir o PowerPoint: quebre o problema em MECE e rascunhe o ghost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72768"/>
            <a:ext cx="2572512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2572512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9" name="Picture 8" descr="account_tree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73936"/>
            <a:ext cx="493776" cy="4937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2359152"/>
            <a:ext cx="2261616" cy="29260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1272D"/>
                </a:solidFill>
                <a:latin typeface="Work Sans"/>
              </a:rPr>
              <a:t>1 · Quebrar o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88336"/>
            <a:ext cx="2243328" cy="96012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Árvore MECE: mutuamente exclusiva e coletivamente exaustiva — sem sobreposição entre ramos e sem lacuna no conjunto.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3116580" y="2578608"/>
            <a:ext cx="100584" cy="155448"/>
          </a:xfrm>
          <a:prstGeom prst="triangl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3" name="Rectangle 12"/>
          <p:cNvSpPr/>
          <p:nvPr/>
        </p:nvSpPr>
        <p:spPr>
          <a:xfrm>
            <a:off x="3285744" y="1572768"/>
            <a:ext cx="2572512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4" name="Rectangle 13"/>
          <p:cNvSpPr/>
          <p:nvPr/>
        </p:nvSpPr>
        <p:spPr>
          <a:xfrm>
            <a:off x="3285744" y="1572768"/>
            <a:ext cx="2572512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5" name="Picture 14" descr="draw-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912" y="1773936"/>
            <a:ext cx="493776" cy="4937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68624" y="2359152"/>
            <a:ext cx="2261616" cy="29260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1272D"/>
                </a:solidFill>
                <a:latin typeface="Work Sans"/>
              </a:rPr>
              <a:t>2 · Escrever o storyline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8624" y="2688336"/>
            <a:ext cx="2243328" cy="96012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Dot-dash: uma linha por slide, com o título-mensagem e os dois ou três pontos que vão sustentá-lo.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5926836" y="2578608"/>
            <a:ext cx="100584" cy="155448"/>
          </a:xfrm>
          <a:prstGeom prst="triangl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9" name="Rectangle 18"/>
          <p:cNvSpPr/>
          <p:nvPr/>
        </p:nvSpPr>
        <p:spPr>
          <a:xfrm>
            <a:off x="6096000" y="1572768"/>
            <a:ext cx="2572512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0" name="Rectangle 19"/>
          <p:cNvSpPr/>
          <p:nvPr/>
        </p:nvSpPr>
        <p:spPr>
          <a:xfrm>
            <a:off x="6096000" y="1572768"/>
            <a:ext cx="2572512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21" name="Picture 20" descr="splitscreen-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168" y="1773936"/>
            <a:ext cx="493776" cy="4937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78880" y="2359152"/>
            <a:ext cx="2261616" cy="29260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1272D"/>
                </a:solidFill>
                <a:latin typeface="Work Sans"/>
              </a:rPr>
              <a:t>3 · Montar o ghost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880" y="2688336"/>
            <a:ext cx="2243328" cy="96012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Rascunho de cada slide com título, rótulo do dado e esboço do gráfico; a análise entra no lugar já reservado.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3931920"/>
            <a:ext cx="8193024" cy="42976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5" name="Rectangle 24"/>
          <p:cNvSpPr/>
          <p:nvPr/>
        </p:nvSpPr>
        <p:spPr>
          <a:xfrm>
            <a:off x="475488" y="3931920"/>
            <a:ext cx="50292" cy="429768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6" name="TextBox 25"/>
          <p:cNvSpPr txBox="1"/>
          <p:nvPr/>
        </p:nvSpPr>
        <p:spPr>
          <a:xfrm>
            <a:off x="640080" y="3931920"/>
            <a:ext cx="7900416" cy="429768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161616"/>
                </a:solidFill>
                <a:latin typeface="Work Sans"/>
              </a:rPr>
              <a:t>O erro mais caro de um deck não é o gráfico errado: é abrir o PowerPoint antes de ter o storyline escrito.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507992"/>
            <a:ext cx="8193024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 u="none">
                <a:solidFill>
                  <a:srgbClr val="888888"/>
                </a:solidFill>
                <a:latin typeface="Work Sans"/>
              </a:rPr>
              <a:t>Fonte: strategyu.co (ghost deck); boardinfinity.com (storylining)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6590" y="1601297"/>
            <a:ext cx="1259677" cy="1259677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 u="none">
                <a:solidFill>
                  <a:srgbClr val="F3F3F3"/>
                </a:solidFill>
                <a:latin typeface="Kanit"/>
              </a:rPr>
              <a:t>02</a:t>
            </a:r>
            <a:r>
              <a:rPr sz="5400" b="0" i="0" u="none">
                <a:solidFill>
                  <a:srgbClr val="F3F3F3"/>
                </a:solidFill>
                <a:latin typeface="Kani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7969" y="2958358"/>
            <a:ext cx="5781294" cy="164592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 u="none">
                <a:solidFill>
                  <a:srgbClr val="C1272D"/>
                </a:solidFill>
                <a:latin typeface="Kanit SemiBold"/>
              </a:rPr>
              <a:t>Anatomia </a:t>
            </a:r>
            <a:r>
              <a:rPr sz="4000" b="0" i="0" u="none">
                <a:solidFill>
                  <a:srgbClr val="161616"/>
                </a:solidFill>
                <a:latin typeface="Kanit SemiBold"/>
              </a:rPr>
              <a:t/>
            </a:r>
            <a:br>
              <a:rPr sz="4000" b="0" i="0" u="none">
                <a:solidFill>
                  <a:srgbClr val="161616"/>
                </a:solidFill>
                <a:latin typeface="Kanit SemiBold"/>
              </a:rPr>
            </a:br>
            <a:r>
              <a:rPr sz="4000" b="0" i="0" u="none">
                <a:solidFill>
                  <a:srgbClr val="161616"/>
                </a:solidFill>
                <a:latin typeface="Kanit SemiBold"/>
              </a:rPr>
              <a:t>do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096" y="356067"/>
            <a:ext cx="8420618" cy="575980"/>
          </a:xfrm>
        </p:spPr>
        <p:txBody>
          <a:bodyPr wrap="square" lIns="91440" rIns="91440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>
                <a:solidFill>
                  <a:srgbClr val="C1272D"/>
                </a:solidFill>
                <a:latin typeface="Work Sans"/>
              </a:rPr>
              <a:t>Anatomia do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096" y="987826"/>
            <a:ext cx="8420618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61616"/>
                </a:solidFill>
                <a:latin typeface="Work Sans"/>
              </a:rPr>
              <a:t>Todo slide de consultoria tem seis elementos fixos — e nenhum deles é decoração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36192"/>
            <a:ext cx="4517136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1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8" name="Rectangle 7"/>
          <p:cNvSpPr/>
          <p:nvPr/>
        </p:nvSpPr>
        <p:spPr>
          <a:xfrm>
            <a:off x="621792" y="1700784"/>
            <a:ext cx="3694176" cy="2743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Work Sans"/>
              </a:rPr>
              <a:t>título-mensagem em uma frase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048256"/>
            <a:ext cx="2505456" cy="1371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0" name="Rectangle 9"/>
          <p:cNvSpPr/>
          <p:nvPr/>
        </p:nvSpPr>
        <p:spPr>
          <a:xfrm>
            <a:off x="621792" y="2304288"/>
            <a:ext cx="2450592" cy="1316736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1" name="Rectangle 10"/>
          <p:cNvSpPr/>
          <p:nvPr/>
        </p:nvSpPr>
        <p:spPr>
          <a:xfrm>
            <a:off x="841248" y="3163824"/>
            <a:ext cx="274320" cy="384048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2" name="Rectangle 11"/>
          <p:cNvSpPr/>
          <p:nvPr/>
        </p:nvSpPr>
        <p:spPr>
          <a:xfrm>
            <a:off x="1316736" y="2926079"/>
            <a:ext cx="274320" cy="621792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3" name="Rectangle 12"/>
          <p:cNvSpPr/>
          <p:nvPr/>
        </p:nvSpPr>
        <p:spPr>
          <a:xfrm>
            <a:off x="1792224" y="3044952"/>
            <a:ext cx="274320" cy="50292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4" name="Rectangle 13"/>
          <p:cNvSpPr/>
          <p:nvPr/>
        </p:nvSpPr>
        <p:spPr>
          <a:xfrm>
            <a:off x="2267712" y="2706624"/>
            <a:ext cx="274320" cy="841248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5" name="Rectangle 14"/>
          <p:cNvSpPr/>
          <p:nvPr/>
        </p:nvSpPr>
        <p:spPr>
          <a:xfrm>
            <a:off x="2743200" y="2505456"/>
            <a:ext cx="274320" cy="1042415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cxnSp>
        <p:nvCxnSpPr>
          <p:cNvPr id="16" name="Connector 15"/>
          <p:cNvCxnSpPr/>
          <p:nvPr/>
        </p:nvCxnSpPr>
        <p:spPr>
          <a:xfrm>
            <a:off x="2706624" y="2615184"/>
            <a:ext cx="274320" cy="0"/>
          </a:xfrm>
          <a:prstGeom prst="line">
            <a:avLst/>
          </a:prstGeom>
          <a:ln w="12700">
            <a:solidFill>
              <a:srgbClr val="C127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80944" y="2423160"/>
            <a:ext cx="8412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C1272D"/>
                </a:solidFill>
                <a:latin typeface="Work Sans"/>
              </a:rPr>
              <a:t>+14 p.p.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3712463"/>
            <a:ext cx="3694176" cy="23774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9" name="Rectangle 18"/>
          <p:cNvSpPr/>
          <p:nvPr/>
        </p:nvSpPr>
        <p:spPr>
          <a:xfrm>
            <a:off x="621792" y="3712463"/>
            <a:ext cx="36576" cy="23774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0" name="Rectangle 19"/>
          <p:cNvSpPr/>
          <p:nvPr/>
        </p:nvSpPr>
        <p:spPr>
          <a:xfrm>
            <a:off x="621792" y="4041648"/>
            <a:ext cx="1737360" cy="8229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cxnSp>
        <p:nvCxnSpPr>
          <p:cNvPr id="21" name="Connector 20"/>
          <p:cNvCxnSpPr/>
          <p:nvPr/>
        </p:nvCxnSpPr>
        <p:spPr>
          <a:xfrm>
            <a:off x="475488" y="4142231"/>
            <a:ext cx="4517136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462272" y="1728216"/>
            <a:ext cx="210312" cy="210312"/>
          </a:xfrm>
          <a:prstGeom prst="ellipse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Kanit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4462272" y="2020824"/>
            <a:ext cx="210312" cy="210312"/>
          </a:xfrm>
          <a:prstGeom prst="ellipse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Kanit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4462272" y="2743200"/>
            <a:ext cx="210312" cy="210312"/>
          </a:xfrm>
          <a:prstGeom prst="ellipse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Kanit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3895344" y="2514600"/>
            <a:ext cx="210312" cy="210312"/>
          </a:xfrm>
          <a:prstGeom prst="ellipse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Kanit"/>
              </a:rPr>
              <a:t>4</a:t>
            </a:r>
          </a:p>
        </p:txBody>
      </p:sp>
      <p:sp>
        <p:nvSpPr>
          <p:cNvPr id="26" name="Oval 25"/>
          <p:cNvSpPr/>
          <p:nvPr/>
        </p:nvSpPr>
        <p:spPr>
          <a:xfrm>
            <a:off x="4462272" y="3703320"/>
            <a:ext cx="210312" cy="210312"/>
          </a:xfrm>
          <a:prstGeom prst="ellipse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Kanit"/>
              </a:rPr>
              <a:t>5</a:t>
            </a:r>
          </a:p>
        </p:txBody>
      </p:sp>
      <p:sp>
        <p:nvSpPr>
          <p:cNvPr id="27" name="Oval 26"/>
          <p:cNvSpPr/>
          <p:nvPr/>
        </p:nvSpPr>
        <p:spPr>
          <a:xfrm>
            <a:off x="4462272" y="4005072"/>
            <a:ext cx="210312" cy="210312"/>
          </a:xfrm>
          <a:prstGeom prst="ellipse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Kanit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38928" y="1600200"/>
            <a:ext cx="228600" cy="2286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Kanit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77256" y="1545336"/>
            <a:ext cx="3191256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61616"/>
                </a:solidFill>
                <a:latin typeface="Work Sans"/>
              </a:rPr>
              <a:t>Action title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</a:pPr>
            <a:r>
              <a:rPr sz="900" b="0" i="0" u="none">
                <a:solidFill>
                  <a:srgbClr val="888888"/>
                </a:solidFill>
                <a:latin typeface="Work Sans"/>
              </a:rPr>
              <a:t>a mensagem do slide, em frase completa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38928" y="2057399"/>
            <a:ext cx="228600" cy="2286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Kanit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7256" y="2002536"/>
            <a:ext cx="3191256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61616"/>
                </a:solidFill>
                <a:latin typeface="Work Sans"/>
              </a:rPr>
              <a:t>Kicker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</a:pPr>
            <a:r>
              <a:rPr sz="900" b="0" i="0" u="none">
                <a:solidFill>
                  <a:srgbClr val="888888"/>
                </a:solidFill>
                <a:latin typeface="Work Sans"/>
              </a:rPr>
              <a:t>o recorte do dado: o que, onde e quando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8928" y="2514599"/>
            <a:ext cx="228600" cy="2286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Kanit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77256" y="2459736"/>
            <a:ext cx="3191256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61616"/>
                </a:solidFill>
                <a:latin typeface="Work Sans"/>
              </a:rPr>
              <a:t>Exhibit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</a:pPr>
            <a:r>
              <a:rPr sz="900" b="0" i="0" u="none">
                <a:solidFill>
                  <a:srgbClr val="888888"/>
                </a:solidFill>
                <a:latin typeface="Work Sans"/>
              </a:rPr>
              <a:t>um gráfico ou diagrama por slide, nunca dois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38928" y="2971799"/>
            <a:ext cx="228600" cy="2286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Kanit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77256" y="2916936"/>
            <a:ext cx="3191256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61616"/>
                </a:solidFill>
                <a:latin typeface="Work Sans"/>
              </a:rPr>
              <a:t>Call-out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</a:pPr>
            <a:r>
              <a:rPr sz="900" b="0" i="0" u="none">
                <a:solidFill>
                  <a:srgbClr val="888888"/>
                </a:solidFill>
                <a:latin typeface="Work Sans"/>
              </a:rPr>
              <a:t>a seta que aponta o número que importa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38928" y="3428999"/>
            <a:ext cx="228600" cy="2286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Kanit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77256" y="3374136"/>
            <a:ext cx="3191256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61616"/>
                </a:solidFill>
                <a:latin typeface="Work Sans"/>
              </a:rPr>
              <a:t>Takeaway box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</a:pPr>
            <a:r>
              <a:rPr sz="900" b="0" i="0" u="none">
                <a:solidFill>
                  <a:srgbClr val="888888"/>
                </a:solidFill>
                <a:latin typeface="Work Sans"/>
              </a:rPr>
              <a:t>o “e daí?” que fecha o raciocínio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38928" y="3886200"/>
            <a:ext cx="228600" cy="2286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Kanit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77256" y="3831335"/>
            <a:ext cx="3191256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61616"/>
                </a:solidFill>
                <a:latin typeface="Work Sans"/>
              </a:rPr>
              <a:t>Fonte e rodapé</a:t>
            </a:r>
          </a:p>
          <a:p>
            <a:pPr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</a:pPr>
            <a:r>
              <a:rPr sz="900" b="0" i="0" u="none">
                <a:solidFill>
                  <a:srgbClr val="888888"/>
                </a:solidFill>
                <a:latin typeface="Work Sans"/>
              </a:rPr>
              <a:t>origem do dado, numeração e copyright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4507992"/>
            <a:ext cx="8193024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 u="none">
                <a:solidFill>
                  <a:srgbClr val="888888"/>
                </a:solidFill>
                <a:latin typeface="Work Sans"/>
              </a:rPr>
              <a:t>Fonte: theanalystacademy.com (takeaway box); slidescience.co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096" y="356067"/>
            <a:ext cx="8420618" cy="575980"/>
          </a:xfrm>
        </p:spPr>
        <p:txBody>
          <a:bodyPr wrap="square" lIns="91440" rIns="91440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>
                <a:solidFill>
                  <a:srgbClr val="C1272D"/>
                </a:solidFill>
                <a:latin typeface="Work Sans"/>
              </a:rPr>
              <a:t>Anatomia do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096" y="987826"/>
            <a:ext cx="8420618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61616"/>
                </a:solidFill>
                <a:latin typeface="Work Sans"/>
              </a:rPr>
              <a:t>Troque o título-rótulo pelo título-mensagem: ele precisa responder “e daí?” sozinho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72768"/>
            <a:ext cx="3959352" cy="2139696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3959352" cy="27432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Work Sans"/>
              </a:rPr>
              <a:t>ANTES · título-rótulo</a:t>
            </a:r>
          </a:p>
        </p:txBody>
      </p:sp>
      <p:pic>
        <p:nvPicPr>
          <p:cNvPr id="9" name="Picture 8" descr="cancel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93392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9264" y="1947672"/>
            <a:ext cx="3319272" cy="6949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61616"/>
                </a:solidFill>
                <a:latin typeface="Work Sans"/>
              </a:rPr>
              <a:t>Análise de receita do 3º trimestre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706624"/>
            <a:ext cx="3666744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888888"/>
                </a:solidFill>
                <a:latin typeface="Work Sans"/>
              </a:rPr>
              <a:t>Diz do que o slide trata.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980944"/>
            <a:ext cx="3666744" cy="6400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888888"/>
                </a:solidFill>
                <a:latin typeface="Work Sans"/>
              </a:rPr>
              <a:t>O cliente precisa ler o slide inteiro para saber se a notícia é boa.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572768"/>
            <a:ext cx="3959352" cy="2139696"/>
          </a:xfrm>
          <a:prstGeom prst="rect">
            <a:avLst/>
          </a:prstGeom>
          <a:solidFill>
            <a:srgbClr val="FFFFFF"/>
          </a:solidFill>
          <a:ln w="15875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4" name="Rectangle 13"/>
          <p:cNvSpPr/>
          <p:nvPr/>
        </p:nvSpPr>
        <p:spPr>
          <a:xfrm>
            <a:off x="4709160" y="1572768"/>
            <a:ext cx="3959352" cy="2743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Work Sans"/>
              </a:rPr>
              <a:t>DEPOIS · título-mensagem</a:t>
            </a:r>
          </a:p>
        </p:txBody>
      </p:sp>
      <p:pic>
        <p:nvPicPr>
          <p:cNvPr id="15" name="Picture 14" descr="check_circle-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1993392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02936" y="1947672"/>
            <a:ext cx="3319272" cy="6949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61616"/>
                </a:solidFill>
                <a:latin typeface="Work Sans"/>
              </a:rPr>
              <a:t>A receita do 3º tri cresceu 14%, puxada por dois contratos corporativos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2706624"/>
            <a:ext cx="3666744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1272D"/>
                </a:solidFill>
                <a:latin typeface="Work Sans"/>
              </a:rPr>
              <a:t>Diz o que o slide significa.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2980944"/>
            <a:ext cx="3666744" cy="6400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888888"/>
                </a:solidFill>
                <a:latin typeface="Work Sans"/>
              </a:rPr>
              <a:t>O cliente decide pelo título; o gráfico apenas comprova.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3840480"/>
            <a:ext cx="1965960" cy="493776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0" name="Rectangle 19"/>
          <p:cNvSpPr/>
          <p:nvPr/>
        </p:nvSpPr>
        <p:spPr>
          <a:xfrm>
            <a:off x="475488" y="3840480"/>
            <a:ext cx="41148" cy="49377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1" name="TextBox 20"/>
          <p:cNvSpPr txBox="1"/>
          <p:nvPr/>
        </p:nvSpPr>
        <p:spPr>
          <a:xfrm>
            <a:off x="603504" y="3840480"/>
            <a:ext cx="1746504" cy="493776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161616"/>
                </a:solidFill>
                <a:latin typeface="Work Sans"/>
              </a:rPr>
              <a:t>Frase completa, com verbo e número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51176" y="3840480"/>
            <a:ext cx="1965960" cy="493776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3" name="Rectangle 22"/>
          <p:cNvSpPr/>
          <p:nvPr/>
        </p:nvSpPr>
        <p:spPr>
          <a:xfrm>
            <a:off x="2551176" y="3840480"/>
            <a:ext cx="41148" cy="49377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4" name="TextBox 23"/>
          <p:cNvSpPr txBox="1"/>
          <p:nvPr/>
        </p:nvSpPr>
        <p:spPr>
          <a:xfrm>
            <a:off x="2679192" y="3840480"/>
            <a:ext cx="1746504" cy="493776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161616"/>
                </a:solidFill>
                <a:latin typeface="Work Sans"/>
              </a:rPr>
              <a:t>Uma única ideia por slide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26864" y="3840480"/>
            <a:ext cx="1965960" cy="493776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6" name="Rectangle 25"/>
          <p:cNvSpPr/>
          <p:nvPr/>
        </p:nvSpPr>
        <p:spPr>
          <a:xfrm>
            <a:off x="4626864" y="3840480"/>
            <a:ext cx="41148" cy="49377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7" name="TextBox 26"/>
          <p:cNvSpPr txBox="1"/>
          <p:nvPr/>
        </p:nvSpPr>
        <p:spPr>
          <a:xfrm>
            <a:off x="4754880" y="3840480"/>
            <a:ext cx="1746504" cy="493776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161616"/>
                </a:solidFill>
                <a:latin typeface="Work Sans"/>
              </a:rPr>
              <a:t>No máximo duas linhas de título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02552" y="3840480"/>
            <a:ext cx="1965960" cy="493776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9" name="Rectangle 28"/>
          <p:cNvSpPr/>
          <p:nvPr/>
        </p:nvSpPr>
        <p:spPr>
          <a:xfrm>
            <a:off x="6702552" y="3840480"/>
            <a:ext cx="41148" cy="49377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0" name="TextBox 29"/>
          <p:cNvSpPr txBox="1"/>
          <p:nvPr/>
        </p:nvSpPr>
        <p:spPr>
          <a:xfrm>
            <a:off x="6830568" y="3840480"/>
            <a:ext cx="1746504" cy="493776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161616"/>
                </a:solidFill>
                <a:latin typeface="Work Sans"/>
              </a:rPr>
              <a:t>Em sequência, os títulos contam a história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4507992"/>
            <a:ext cx="8193024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 u="none">
                <a:solidFill>
                  <a:srgbClr val="888888"/>
                </a:solidFill>
                <a:latin typeface="Work Sans"/>
              </a:rPr>
              <a:t>Fonte: slideworks.io; slidescience.co; highbridgeacademy.com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6590" y="1601297"/>
            <a:ext cx="1259677" cy="1259677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 u="none">
                <a:solidFill>
                  <a:srgbClr val="F3F3F3"/>
                </a:solidFill>
                <a:latin typeface="Kanit"/>
              </a:rPr>
              <a:t>03</a:t>
            </a:r>
            <a:r>
              <a:rPr sz="5400" b="0" i="0" u="none">
                <a:solidFill>
                  <a:srgbClr val="F3F3F3"/>
                </a:solidFill>
                <a:latin typeface="Kani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7969" y="2958358"/>
            <a:ext cx="5781294" cy="164592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 u="none">
                <a:solidFill>
                  <a:srgbClr val="C1272D"/>
                </a:solidFill>
                <a:latin typeface="Kanit SemiBold"/>
              </a:rPr>
              <a:t>Dados e </a:t>
            </a:r>
            <a:r>
              <a:rPr sz="4000" b="0" i="0" u="none">
                <a:solidFill>
                  <a:srgbClr val="161616"/>
                </a:solidFill>
                <a:latin typeface="Kanit SemiBold"/>
              </a:rPr>
              <a:t/>
            </a:r>
            <a:br>
              <a:rPr sz="4000" b="0" i="0" u="none">
                <a:solidFill>
                  <a:srgbClr val="161616"/>
                </a:solidFill>
                <a:latin typeface="Kanit SemiBold"/>
              </a:rPr>
            </a:br>
            <a:r>
              <a:rPr sz="4000" b="0" i="0" u="none">
                <a:solidFill>
                  <a:srgbClr val="161616"/>
                </a:solidFill>
                <a:latin typeface="Kanit SemiBold"/>
              </a:rPr>
              <a:t>formatação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096" y="356067"/>
            <a:ext cx="8420618" cy="575980"/>
          </a:xfrm>
        </p:spPr>
        <p:txBody>
          <a:bodyPr wrap="square" lIns="91440" rIns="91440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>
                <a:solidFill>
                  <a:srgbClr val="C1272D"/>
                </a:solidFill>
                <a:latin typeface="Work Sans"/>
              </a:rPr>
              <a:t>Dados e formatação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096" y="987826"/>
            <a:ext cx="8420618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61616"/>
                </a:solidFill>
                <a:latin typeface="Work Sans"/>
              </a:rPr>
              <a:t>Nomeie a comparação antes de escolher o gráfico — são apenas cinco tipos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72768"/>
            <a:ext cx="1521561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1521561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9" name="Picture 8" descr="donut_small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1810512"/>
            <a:ext cx="493776" cy="4937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2395728"/>
            <a:ext cx="1411833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C1272D"/>
                </a:solidFill>
                <a:latin typeface="Work Sans"/>
              </a:rPr>
              <a:t>Componente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852928"/>
            <a:ext cx="1393545" cy="841247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61616"/>
                </a:solidFill>
                <a:latin typeface="Work Sans"/>
              </a:rPr>
              <a:t>Parte sobre o total</a:t>
            </a:r>
            <a:br>
              <a:rPr sz="1000" b="0" i="0" u="none">
                <a:solidFill>
                  <a:srgbClr val="161616"/>
                </a:solidFill>
                <a:latin typeface="Work Sans"/>
              </a:rPr>
            </a:br>
            <a:r>
              <a:rPr sz="1000" b="0" i="0" u="none">
                <a:solidFill>
                  <a:srgbClr val="161616"/>
                </a:solidFill>
                <a:latin typeface="Work Sans"/>
              </a:rPr>
              <a:t>→ pizza ou barra 100%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3353" y="1572768"/>
            <a:ext cx="1521561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3" name="Rectangle 12"/>
          <p:cNvSpPr/>
          <p:nvPr/>
        </p:nvSpPr>
        <p:spPr>
          <a:xfrm>
            <a:off x="2143353" y="1572768"/>
            <a:ext cx="1521561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4" name="Picture 13" descr="bar_chart-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246" y="1810512"/>
            <a:ext cx="493776" cy="4937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98217" y="2395728"/>
            <a:ext cx="1411833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C1272D"/>
                </a:solidFill>
                <a:latin typeface="Work Sans"/>
              </a:rPr>
              <a:t>Item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7361" y="2852928"/>
            <a:ext cx="1393545" cy="841247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61616"/>
                </a:solidFill>
                <a:latin typeface="Work Sans"/>
              </a:rPr>
              <a:t>Ranking entre itens</a:t>
            </a:r>
            <a:br>
              <a:rPr sz="1000" b="0" i="0" u="none">
                <a:solidFill>
                  <a:srgbClr val="161616"/>
                </a:solidFill>
                <a:latin typeface="Work Sans"/>
              </a:rPr>
            </a:br>
            <a:r>
              <a:rPr sz="1000" b="0" i="0" u="none">
                <a:solidFill>
                  <a:srgbClr val="161616"/>
                </a:solidFill>
                <a:latin typeface="Work Sans"/>
              </a:rPr>
              <a:t>→ barra horizontal ordenada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1219" y="1572768"/>
            <a:ext cx="1521561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8" name="Rectangle 17"/>
          <p:cNvSpPr/>
          <p:nvPr/>
        </p:nvSpPr>
        <p:spPr>
          <a:xfrm>
            <a:off x="3811219" y="1572768"/>
            <a:ext cx="1521561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9" name="Picture 18" descr="trending_up-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1810512"/>
            <a:ext cx="493776" cy="4937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66083" y="2395728"/>
            <a:ext cx="1411833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C1272D"/>
                </a:solidFill>
                <a:latin typeface="Work Sans"/>
              </a:rPr>
              <a:t>Série temporal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5227" y="2852928"/>
            <a:ext cx="1393545" cy="841247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61616"/>
                </a:solidFill>
                <a:latin typeface="Work Sans"/>
              </a:rPr>
              <a:t>Evolução no tempo</a:t>
            </a:r>
            <a:br>
              <a:rPr sz="1000" b="0" i="0" u="none">
                <a:solidFill>
                  <a:srgbClr val="161616"/>
                </a:solidFill>
                <a:latin typeface="Work Sans"/>
              </a:rPr>
            </a:br>
            <a:r>
              <a:rPr sz="1000" b="0" i="0" u="none">
                <a:solidFill>
                  <a:srgbClr val="161616"/>
                </a:solidFill>
                <a:latin typeface="Work Sans"/>
              </a:rPr>
              <a:t>→ coluna ou linha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79084" y="1572768"/>
            <a:ext cx="1521561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3" name="Rectangle 22"/>
          <p:cNvSpPr/>
          <p:nvPr/>
        </p:nvSpPr>
        <p:spPr>
          <a:xfrm>
            <a:off x="5479084" y="1572768"/>
            <a:ext cx="1521561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24" name="Picture 23" descr="stacked_bar_chart-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2977" y="1810512"/>
            <a:ext cx="493776" cy="4937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33948" y="2395728"/>
            <a:ext cx="1411833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C1272D"/>
                </a:solidFill>
                <a:latin typeface="Work Sans"/>
              </a:rPr>
              <a:t>Distribuição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3092" y="2852928"/>
            <a:ext cx="1393545" cy="841247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61616"/>
                </a:solidFill>
                <a:latin typeface="Work Sans"/>
              </a:rPr>
              <a:t>Frequência por faixa</a:t>
            </a:r>
            <a:br>
              <a:rPr sz="1000" b="0" i="0" u="none">
                <a:solidFill>
                  <a:srgbClr val="161616"/>
                </a:solidFill>
                <a:latin typeface="Work Sans"/>
              </a:rPr>
            </a:br>
            <a:r>
              <a:rPr sz="1000" b="0" i="0" u="none">
                <a:solidFill>
                  <a:srgbClr val="161616"/>
                </a:solidFill>
                <a:latin typeface="Work Sans"/>
              </a:rPr>
              <a:t>→ histograma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46950" y="1572768"/>
            <a:ext cx="1521561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8" name="Rectangle 27"/>
          <p:cNvSpPr/>
          <p:nvPr/>
        </p:nvSpPr>
        <p:spPr>
          <a:xfrm>
            <a:off x="7146950" y="1572768"/>
            <a:ext cx="1521561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29" name="Picture 28" descr="scatter_plot-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0843" y="1810512"/>
            <a:ext cx="493776" cy="4937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01814" y="2395728"/>
            <a:ext cx="1411833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C1272D"/>
                </a:solidFill>
                <a:latin typeface="Work Sans"/>
              </a:rPr>
              <a:t>Correlação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0958" y="2852928"/>
            <a:ext cx="1393545" cy="841247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61616"/>
                </a:solidFill>
                <a:latin typeface="Work Sans"/>
              </a:rPr>
              <a:t>Duas variáveis juntas</a:t>
            </a:r>
            <a:br>
              <a:rPr sz="1000" b="0" i="0" u="none">
                <a:solidFill>
                  <a:srgbClr val="161616"/>
                </a:solidFill>
                <a:latin typeface="Work Sans"/>
              </a:rPr>
            </a:br>
            <a:r>
              <a:rPr sz="1000" b="0" i="0" u="none">
                <a:solidFill>
                  <a:srgbClr val="161616"/>
                </a:solidFill>
                <a:latin typeface="Work Sans"/>
              </a:rPr>
              <a:t>→ dispersão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3931920"/>
            <a:ext cx="8193024" cy="42976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3" name="Rectangle 32"/>
          <p:cNvSpPr/>
          <p:nvPr/>
        </p:nvSpPr>
        <p:spPr>
          <a:xfrm>
            <a:off x="475488" y="3931920"/>
            <a:ext cx="50292" cy="429768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4" name="TextBox 33"/>
          <p:cNvSpPr txBox="1"/>
          <p:nvPr/>
        </p:nvSpPr>
        <p:spPr>
          <a:xfrm>
            <a:off x="640080" y="3931920"/>
            <a:ext cx="7900416" cy="429768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161616"/>
                </a:solidFill>
                <a:latin typeface="Work Sans"/>
              </a:rPr>
              <a:t>A pergunta não é “qual gráfico é mais bonito?”, e sim “que comparação eu preciso provar?”.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4507992"/>
            <a:ext cx="8193024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 u="none">
                <a:solidFill>
                  <a:srgbClr val="888888"/>
                </a:solidFill>
                <a:latin typeface="Work Sans"/>
              </a:rPr>
              <a:t>Fonte: Gene Zelazny, Say It With Charts (as cinco comparações)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096" y="356067"/>
            <a:ext cx="8420618" cy="575980"/>
          </a:xfrm>
        </p:spPr>
        <p:txBody>
          <a:bodyPr wrap="square" lIns="91440" rIns="91440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>
                <a:solidFill>
                  <a:srgbClr val="C1272D"/>
                </a:solidFill>
                <a:latin typeface="Work Sans"/>
              </a:rPr>
              <a:t>Dados e formatação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096" y="987826"/>
            <a:ext cx="8420618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61616"/>
                </a:solidFill>
                <a:latin typeface="Work Sans"/>
              </a:rPr>
              <a:t>Quatro recursos resolvem a maior parte dos exhibits de um deck de consultoria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36192"/>
            <a:ext cx="3986784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8" name="Rectangle 7"/>
          <p:cNvSpPr/>
          <p:nvPr/>
        </p:nvSpPr>
        <p:spPr>
          <a:xfrm>
            <a:off x="475488" y="1536192"/>
            <a:ext cx="41148" cy="113385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9" name="TextBox 8"/>
          <p:cNvSpPr txBox="1"/>
          <p:nvPr/>
        </p:nvSpPr>
        <p:spPr>
          <a:xfrm>
            <a:off x="621792" y="1627632"/>
            <a:ext cx="1993392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C1272D"/>
                </a:solidFill>
                <a:latin typeface="Work Sans"/>
              </a:rPr>
              <a:t>Harvey balls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892807"/>
            <a:ext cx="1993392" cy="6949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61616"/>
                </a:solidFill>
                <a:latin typeface="Work Sans"/>
              </a:rPr>
              <a:t>Comparar opções em critérios qualitativos, na mesma escala.</a:t>
            </a:r>
          </a:p>
        </p:txBody>
      </p:sp>
      <p:sp>
        <p:nvSpPr>
          <p:cNvPr id="11" name="Oval 10"/>
          <p:cNvSpPr/>
          <p:nvPr/>
        </p:nvSpPr>
        <p:spPr>
          <a:xfrm>
            <a:off x="2747954" y="1865376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2" name="Oval 11"/>
          <p:cNvSpPr/>
          <p:nvPr/>
        </p:nvSpPr>
        <p:spPr>
          <a:xfrm>
            <a:off x="3040562" y="1865376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3" name="Pie 12"/>
          <p:cNvSpPr/>
          <p:nvPr/>
        </p:nvSpPr>
        <p:spPr>
          <a:xfrm>
            <a:off x="3060679" y="1885492"/>
            <a:ext cx="188366" cy="188366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4" name="Oval 13"/>
          <p:cNvSpPr/>
          <p:nvPr/>
        </p:nvSpPr>
        <p:spPr>
          <a:xfrm>
            <a:off x="3333170" y="1865376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5" name="Pie 14"/>
          <p:cNvSpPr/>
          <p:nvPr/>
        </p:nvSpPr>
        <p:spPr>
          <a:xfrm>
            <a:off x="3353287" y="1885492"/>
            <a:ext cx="188366" cy="188366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6" name="Oval 15"/>
          <p:cNvSpPr/>
          <p:nvPr/>
        </p:nvSpPr>
        <p:spPr>
          <a:xfrm>
            <a:off x="3625778" y="1865376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7" name="Pie 16"/>
          <p:cNvSpPr/>
          <p:nvPr/>
        </p:nvSpPr>
        <p:spPr>
          <a:xfrm>
            <a:off x="3645895" y="1885492"/>
            <a:ext cx="188366" cy="188366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8" name="Oval 17"/>
          <p:cNvSpPr/>
          <p:nvPr/>
        </p:nvSpPr>
        <p:spPr>
          <a:xfrm>
            <a:off x="3918386" y="1865376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9" name="Oval 18"/>
          <p:cNvSpPr/>
          <p:nvPr/>
        </p:nvSpPr>
        <p:spPr>
          <a:xfrm>
            <a:off x="3938503" y="1885492"/>
            <a:ext cx="188366" cy="188366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0" name="TextBox 19"/>
          <p:cNvSpPr txBox="1"/>
          <p:nvPr/>
        </p:nvSpPr>
        <p:spPr>
          <a:xfrm>
            <a:off x="2747954" y="2176272"/>
            <a:ext cx="1481328" cy="20116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888888"/>
                </a:solidFill>
                <a:latin typeface="Work Sans"/>
              </a:rPr>
              <a:t>pior   →   melhor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1536192"/>
            <a:ext cx="3986784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2" name="Rectangle 21"/>
          <p:cNvSpPr/>
          <p:nvPr/>
        </p:nvSpPr>
        <p:spPr>
          <a:xfrm>
            <a:off x="4681728" y="1536192"/>
            <a:ext cx="41148" cy="113385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3" name="TextBox 22"/>
          <p:cNvSpPr txBox="1"/>
          <p:nvPr/>
        </p:nvSpPr>
        <p:spPr>
          <a:xfrm>
            <a:off x="4828032" y="1627632"/>
            <a:ext cx="1993392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C1272D"/>
                </a:solidFill>
                <a:latin typeface="Work Sans"/>
              </a:rPr>
              <a:t>Waterfall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7176" y="1892807"/>
            <a:ext cx="1993392" cy="6949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61616"/>
                </a:solidFill>
                <a:latin typeface="Work Sans"/>
              </a:rPr>
              <a:t>Explicar de onde veio a variação entre dois pontos.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54194" y="2048255"/>
            <a:ext cx="219456" cy="402336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6" name="Rectangle 25"/>
          <p:cNvSpPr/>
          <p:nvPr/>
        </p:nvSpPr>
        <p:spPr>
          <a:xfrm>
            <a:off x="7265090" y="1920239"/>
            <a:ext cx="219456" cy="12801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7" name="Rectangle 26"/>
          <p:cNvSpPr/>
          <p:nvPr/>
        </p:nvSpPr>
        <p:spPr>
          <a:xfrm>
            <a:off x="7575986" y="1828799"/>
            <a:ext cx="219456" cy="914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8" name="Rectangle 27"/>
          <p:cNvSpPr/>
          <p:nvPr/>
        </p:nvSpPr>
        <p:spPr>
          <a:xfrm>
            <a:off x="7886882" y="1828799"/>
            <a:ext cx="219456" cy="164592"/>
          </a:xfrm>
          <a:prstGeom prst="rect">
            <a:avLst/>
          </a:prstGeom>
          <a:solidFill>
            <a:srgbClr val="91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9" name="Rectangle 28"/>
          <p:cNvSpPr/>
          <p:nvPr/>
        </p:nvSpPr>
        <p:spPr>
          <a:xfrm>
            <a:off x="8197778" y="1993391"/>
            <a:ext cx="219456" cy="4572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cxnSp>
        <p:nvCxnSpPr>
          <p:cNvPr id="30" name="Connector 29"/>
          <p:cNvCxnSpPr/>
          <p:nvPr/>
        </p:nvCxnSpPr>
        <p:spPr>
          <a:xfrm>
            <a:off x="6917618" y="2450591"/>
            <a:ext cx="1554480" cy="0"/>
          </a:xfrm>
          <a:prstGeom prst="line">
            <a:avLst/>
          </a:prstGeom>
          <a:ln w="9525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75488" y="2852928"/>
            <a:ext cx="3986784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2" name="Rectangle 31"/>
          <p:cNvSpPr/>
          <p:nvPr/>
        </p:nvSpPr>
        <p:spPr>
          <a:xfrm>
            <a:off x="475488" y="2852928"/>
            <a:ext cx="41148" cy="113385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3" name="TextBox 32"/>
          <p:cNvSpPr txBox="1"/>
          <p:nvPr/>
        </p:nvSpPr>
        <p:spPr>
          <a:xfrm>
            <a:off x="621792" y="2944368"/>
            <a:ext cx="1993392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C1272D"/>
                </a:solidFill>
                <a:latin typeface="Work Sans"/>
              </a:rPr>
              <a:t>Matriz 2×2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" y="3209544"/>
            <a:ext cx="1993392" cy="6949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61616"/>
                </a:solidFill>
                <a:latin typeface="Work Sans"/>
              </a:rPr>
              <a:t>Posicionar alternativas e priorizar o que entra no plano.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58850" y="3072384"/>
            <a:ext cx="493776" cy="301752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6" name="Rectangle 35"/>
          <p:cNvSpPr/>
          <p:nvPr/>
        </p:nvSpPr>
        <p:spPr>
          <a:xfrm>
            <a:off x="3552626" y="3072384"/>
            <a:ext cx="493776" cy="301752"/>
          </a:xfrm>
          <a:prstGeom prst="rect">
            <a:avLst/>
          </a:prstGeom>
          <a:solidFill>
            <a:srgbClr val="C1272D"/>
          </a:solidFill>
          <a:ln w="762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7" name="Rectangle 36"/>
          <p:cNvSpPr/>
          <p:nvPr/>
        </p:nvSpPr>
        <p:spPr>
          <a:xfrm>
            <a:off x="3058850" y="3374136"/>
            <a:ext cx="493776" cy="301752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8" name="Rectangle 37"/>
          <p:cNvSpPr/>
          <p:nvPr/>
        </p:nvSpPr>
        <p:spPr>
          <a:xfrm>
            <a:off x="3552626" y="3374136"/>
            <a:ext cx="493776" cy="301752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cxnSp>
        <p:nvCxnSpPr>
          <p:cNvPr id="39" name="Connector 38"/>
          <p:cNvCxnSpPr/>
          <p:nvPr/>
        </p:nvCxnSpPr>
        <p:spPr>
          <a:xfrm>
            <a:off x="3040562" y="3054096"/>
            <a:ext cx="0" cy="640080"/>
          </a:xfrm>
          <a:prstGeom prst="line">
            <a:avLst/>
          </a:prstGeom>
          <a:ln w="1270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022274" y="3694176"/>
            <a:ext cx="1060704" cy="0"/>
          </a:xfrm>
          <a:prstGeom prst="line">
            <a:avLst/>
          </a:prstGeom>
          <a:ln w="1270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681728" y="2852928"/>
            <a:ext cx="3986784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42" name="Rectangle 41"/>
          <p:cNvSpPr/>
          <p:nvPr/>
        </p:nvSpPr>
        <p:spPr>
          <a:xfrm>
            <a:off x="4681728" y="2852928"/>
            <a:ext cx="41148" cy="113385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43" name="TextBox 42"/>
          <p:cNvSpPr txBox="1"/>
          <p:nvPr/>
        </p:nvSpPr>
        <p:spPr>
          <a:xfrm>
            <a:off x="4828032" y="2944368"/>
            <a:ext cx="1993392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C1272D"/>
                </a:solidFill>
                <a:latin typeface="Work Sans"/>
              </a:rPr>
              <a:t>Status por frente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37176" y="3209544"/>
            <a:ext cx="1993392" cy="6949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61616"/>
                </a:solidFill>
                <a:latin typeface="Work Sans"/>
              </a:rPr>
              <a:t>Mostrar andamento sem precisar de texto corrido.</a:t>
            </a:r>
          </a:p>
        </p:txBody>
      </p:sp>
      <p:sp>
        <p:nvSpPr>
          <p:cNvPr id="45" name="Oval 44"/>
          <p:cNvSpPr/>
          <p:nvPr/>
        </p:nvSpPr>
        <p:spPr>
          <a:xfrm>
            <a:off x="7265090" y="3090672"/>
            <a:ext cx="155448" cy="155448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46" name="Rectangle 45"/>
          <p:cNvSpPr/>
          <p:nvPr/>
        </p:nvSpPr>
        <p:spPr>
          <a:xfrm>
            <a:off x="7484546" y="3131820"/>
            <a:ext cx="749808" cy="6400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47" name="Oval 46"/>
          <p:cNvSpPr/>
          <p:nvPr/>
        </p:nvSpPr>
        <p:spPr>
          <a:xfrm>
            <a:off x="7265090" y="3310128"/>
            <a:ext cx="155448" cy="155448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48" name="Rectangle 47"/>
          <p:cNvSpPr/>
          <p:nvPr/>
        </p:nvSpPr>
        <p:spPr>
          <a:xfrm>
            <a:off x="7484546" y="3351276"/>
            <a:ext cx="566927" cy="6400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49" name="Oval 48"/>
          <p:cNvSpPr/>
          <p:nvPr/>
        </p:nvSpPr>
        <p:spPr>
          <a:xfrm>
            <a:off x="7265090" y="3529584"/>
            <a:ext cx="155448" cy="15544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50" name="Rectangle 49"/>
          <p:cNvSpPr/>
          <p:nvPr/>
        </p:nvSpPr>
        <p:spPr>
          <a:xfrm>
            <a:off x="7484546" y="3570732"/>
            <a:ext cx="384047" cy="6400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51" name="Rectangle 50"/>
          <p:cNvSpPr/>
          <p:nvPr/>
        </p:nvSpPr>
        <p:spPr>
          <a:xfrm>
            <a:off x="475488" y="4005072"/>
            <a:ext cx="8193024" cy="38404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52" name="Rectangle 51"/>
          <p:cNvSpPr/>
          <p:nvPr/>
        </p:nvSpPr>
        <p:spPr>
          <a:xfrm>
            <a:off x="475488" y="4005072"/>
            <a:ext cx="50292" cy="384048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53" name="TextBox 52"/>
          <p:cNvSpPr txBox="1"/>
          <p:nvPr/>
        </p:nvSpPr>
        <p:spPr>
          <a:xfrm>
            <a:off x="640080" y="4005072"/>
            <a:ext cx="7900416" cy="384048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161616"/>
                </a:solidFill>
                <a:latin typeface="Work Sans"/>
              </a:rPr>
              <a:t>Escolha o recurso pela pergunta que ele responde — não pelo efeito visual que produz.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" y="4507992"/>
            <a:ext cx="8193024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 u="none">
                <a:solidFill>
                  <a:srgbClr val="888888"/>
                </a:solidFill>
                <a:latin typeface="Work Sans"/>
              </a:rPr>
              <a:t>Fonte: umbrex.com; managementconsulted.com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096" y="356067"/>
            <a:ext cx="8420618" cy="575980"/>
          </a:xfrm>
        </p:spPr>
        <p:txBody>
          <a:bodyPr wrap="square" lIns="91440" rIns="91440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>
                <a:solidFill>
                  <a:srgbClr val="C1272D"/>
                </a:solidFill>
                <a:latin typeface="Work Sans"/>
              </a:rPr>
              <a:t>Dados e formatação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096" y="987826"/>
            <a:ext cx="8420618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61616"/>
                </a:solidFill>
                <a:latin typeface="Work Sans"/>
              </a:rPr>
              <a:t>Formatação não é estética: ela reduz o esforço de leitura do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54480"/>
            <a:ext cx="193852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8" name="Rectangle 7"/>
          <p:cNvSpPr/>
          <p:nvPr/>
        </p:nvSpPr>
        <p:spPr>
          <a:xfrm>
            <a:off x="475488" y="1554480"/>
            <a:ext cx="1938528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9" name="Picture 8" descr="grid_on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1792224"/>
            <a:ext cx="475488" cy="475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2359152"/>
            <a:ext cx="1828800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C1272D"/>
                </a:solidFill>
                <a:latin typeface="Work Sans"/>
              </a:rPr>
              <a:t>Grade e alinhamento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816352"/>
            <a:ext cx="1810512" cy="60350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61616"/>
                </a:solidFill>
                <a:latin typeface="Work Sans"/>
              </a:rPr>
              <a:t>Margens fixas; nada “quase” alinhado.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554480"/>
            <a:ext cx="193852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3" name="Rectangle 12"/>
          <p:cNvSpPr/>
          <p:nvPr/>
        </p:nvSpPr>
        <p:spPr>
          <a:xfrm>
            <a:off x="2560320" y="1554480"/>
            <a:ext cx="1938528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4" name="Picture 13" descr="palette-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792224"/>
            <a:ext cx="475488" cy="4754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15184" y="2359152"/>
            <a:ext cx="1828800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C1272D"/>
                </a:solidFill>
                <a:latin typeface="Work Sans"/>
              </a:rPr>
              <a:t>Cor com função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4328" y="2816352"/>
            <a:ext cx="1810512" cy="60350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61616"/>
                </a:solidFill>
                <a:latin typeface="Work Sans"/>
              </a:rPr>
              <a:t>Uma cor de destaque para o número que importa.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5152" y="1554480"/>
            <a:ext cx="193852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8" name="Rectangle 17"/>
          <p:cNvSpPr/>
          <p:nvPr/>
        </p:nvSpPr>
        <p:spPr>
          <a:xfrm>
            <a:off x="4645152" y="1554480"/>
            <a:ext cx="1938528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9" name="Picture 18" descr="format_size-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1792224"/>
            <a:ext cx="475488" cy="4754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00016" y="2359152"/>
            <a:ext cx="1828800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C1272D"/>
                </a:solidFill>
                <a:latin typeface="Work Sans"/>
              </a:rPr>
              <a:t>Tipografia contida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16352"/>
            <a:ext cx="1810512" cy="60350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61616"/>
                </a:solidFill>
                <a:latin typeface="Work Sans"/>
              </a:rPr>
              <a:t>Uma família sem serifa e mínimo de 10 pt.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9984" y="1554480"/>
            <a:ext cx="193852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3" name="Rectangle 22"/>
          <p:cNvSpPr/>
          <p:nvPr/>
        </p:nvSpPr>
        <p:spPr>
          <a:xfrm>
            <a:off x="6729984" y="1554480"/>
            <a:ext cx="1938528" cy="502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24" name="Picture 23" descr="crop_free-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4" y="1792224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84848" y="2359152"/>
            <a:ext cx="1828800" cy="45720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C1272D"/>
                </a:solidFill>
                <a:latin typeface="Work Sans"/>
              </a:rPr>
              <a:t>Espaço em branco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2816352"/>
            <a:ext cx="1810512" cy="60350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61616"/>
                </a:solidFill>
                <a:latin typeface="Work Sans"/>
              </a:rPr>
              <a:t>O vazio é o que faz o dado aparecer.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3639312"/>
            <a:ext cx="3657600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61616"/>
                </a:solidFill>
                <a:latin typeface="Work Sans"/>
              </a:rPr>
              <a:t>Paleta deste template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" y="3913632"/>
            <a:ext cx="365760" cy="3657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9" name="TextBox 28"/>
          <p:cNvSpPr txBox="1"/>
          <p:nvPr/>
        </p:nvSpPr>
        <p:spPr>
          <a:xfrm>
            <a:off x="914400" y="3895344"/>
            <a:ext cx="1591056" cy="402336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61616"/>
                </a:solidFill>
                <a:latin typeface="Kanit"/>
              </a:rPr>
              <a:t>#C1272D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888888"/>
                </a:solidFill>
                <a:latin typeface="Work Sans"/>
              </a:rPr>
              <a:t>destaque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42032" y="3913632"/>
            <a:ext cx="365760" cy="3657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1" name="TextBox 30"/>
          <p:cNvSpPr txBox="1"/>
          <p:nvPr/>
        </p:nvSpPr>
        <p:spPr>
          <a:xfrm>
            <a:off x="2980944" y="3895344"/>
            <a:ext cx="1591056" cy="402336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61616"/>
                </a:solidFill>
                <a:latin typeface="Kanit"/>
              </a:rPr>
              <a:t>#161616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888888"/>
                </a:solidFill>
                <a:latin typeface="Work Sans"/>
              </a:rPr>
              <a:t>texto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08575" y="3913632"/>
            <a:ext cx="365760" cy="365760"/>
          </a:xfrm>
          <a:prstGeom prst="rect">
            <a:avLst/>
          </a:prstGeom>
          <a:solidFill>
            <a:srgbClr val="F3F3F3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3" name="TextBox 32"/>
          <p:cNvSpPr txBox="1"/>
          <p:nvPr/>
        </p:nvSpPr>
        <p:spPr>
          <a:xfrm>
            <a:off x="5047488" y="3895344"/>
            <a:ext cx="1591056" cy="402336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61616"/>
                </a:solidFill>
                <a:latin typeface="Kanit"/>
              </a:rPr>
              <a:t>#F3F3F3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888888"/>
                </a:solidFill>
                <a:latin typeface="Work Sans"/>
              </a:rPr>
              <a:t>fundo de apoio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19" y="3913632"/>
            <a:ext cx="365760" cy="36576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5" name="TextBox 34"/>
          <p:cNvSpPr txBox="1"/>
          <p:nvPr/>
        </p:nvSpPr>
        <p:spPr>
          <a:xfrm>
            <a:off x="7114031" y="3895344"/>
            <a:ext cx="1591056" cy="402336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61616"/>
                </a:solidFill>
                <a:latin typeface="Kanit"/>
              </a:rPr>
              <a:t>#888888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888888"/>
                </a:solidFill>
                <a:latin typeface="Work Sans"/>
              </a:rPr>
              <a:t>texto secundário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4507992"/>
            <a:ext cx="8193024" cy="23774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 u="none">
                <a:solidFill>
                  <a:srgbClr val="888888"/>
                </a:solidFill>
                <a:latin typeface="Work Sans"/>
              </a:rPr>
              <a:t>Fonte: umbrex.com (design de charts); blog.drlambda.ai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6590" y="1601297"/>
            <a:ext cx="1259677" cy="1259677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 u="none">
                <a:solidFill>
                  <a:srgbClr val="F3F3F3"/>
                </a:solidFill>
                <a:latin typeface="Kanit"/>
              </a:rPr>
              <a:t>04</a:t>
            </a:r>
            <a:r>
              <a:rPr sz="5400" b="0" i="0" u="none">
                <a:solidFill>
                  <a:srgbClr val="F3F3F3"/>
                </a:solidFill>
                <a:latin typeface="Kani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7969" y="2958358"/>
            <a:ext cx="5781294" cy="164592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 u="none">
                <a:solidFill>
                  <a:srgbClr val="C1272D"/>
                </a:solidFill>
                <a:latin typeface="Kanit SemiBold"/>
              </a:rPr>
              <a:t>Revisão </a:t>
            </a:r>
            <a:r>
              <a:rPr sz="4000" b="0" i="0" u="none">
                <a:solidFill>
                  <a:srgbClr val="161616"/>
                </a:solidFill>
                <a:latin typeface="Kanit SemiBold"/>
              </a:rPr>
              <a:t/>
            </a:r>
            <a:br>
              <a:rPr sz="4000" b="0" i="0" u="none">
                <a:solidFill>
                  <a:srgbClr val="161616"/>
                </a:solidFill>
                <a:latin typeface="Kanit SemiBold"/>
              </a:rPr>
            </a:br>
            <a:r>
              <a:rPr sz="4000" b="0" i="0" u="none">
                <a:solidFill>
                  <a:srgbClr val="161616"/>
                </a:solidFill>
                <a:latin typeface="Kanit SemiBold"/>
              </a:rPr>
              <a:t>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096" y="356067"/>
            <a:ext cx="8420618" cy="575980"/>
          </a:xfrm>
        </p:spPr>
        <p:txBody>
          <a:bodyPr wrap="square" lIns="91440" rIns="91440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>
                <a:solidFill>
                  <a:srgbClr val="C1272D"/>
                </a:solidFill>
                <a:latin typeface="Work Sans"/>
              </a:rPr>
              <a:t>Revisão e entrega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096" y="987826"/>
            <a:ext cx="8420618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61616"/>
                </a:solidFill>
                <a:latin typeface="Work Sans"/>
              </a:rPr>
              <a:t>Dez verificações antes de enviar: se alguma falhar, o slide volta para a mesa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72768"/>
            <a:ext cx="3950208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8" name="Picture 7" descr="check_circle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664208"/>
            <a:ext cx="210312" cy="210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" y="1572768"/>
            <a:ext cx="3218688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Lendo só os títulos, a história se sustenta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1572768"/>
            <a:ext cx="329184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888888"/>
                </a:solidFill>
                <a:latin typeface="Kanit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039112"/>
            <a:ext cx="3950208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2" name="Picture 11" descr="check_circle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130552"/>
            <a:ext cx="210312" cy="210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9536" y="2039112"/>
            <a:ext cx="3218688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Cada slide carrega uma única mensagem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2039112"/>
            <a:ext cx="329184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888888"/>
                </a:solidFill>
                <a:latin typeface="Kanit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2505456"/>
            <a:ext cx="3950208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6" name="Picture 15" descr="check_circle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596896"/>
            <a:ext cx="210312" cy="2103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2505456"/>
            <a:ext cx="3218688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Todo exhibit tem um “e daí?” explícito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59" y="2505456"/>
            <a:ext cx="329184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888888"/>
                </a:solidFill>
                <a:latin typeface="Kanit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2971800"/>
            <a:ext cx="3950208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20" name="Picture 19" descr="check_circle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063240"/>
            <a:ext cx="210312" cy="2103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9536" y="2971800"/>
            <a:ext cx="3218688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Todo número tem fonte 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59" y="2971800"/>
            <a:ext cx="329184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888888"/>
                </a:solidFill>
                <a:latin typeface="Kanit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438144"/>
            <a:ext cx="3950208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24" name="Picture 23" descr="check_circle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529584"/>
            <a:ext cx="210312" cy="2103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9536" y="3438144"/>
            <a:ext cx="3218688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Os grupos de argumentos são MECE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59" y="3438144"/>
            <a:ext cx="329184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888888"/>
                </a:solidFill>
                <a:latin typeface="Kanit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18304" y="1572768"/>
            <a:ext cx="3950208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28" name="Picture 27" descr="check_circle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664208"/>
            <a:ext cx="210312" cy="2103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02352" y="1572768"/>
            <a:ext cx="3218688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Nenhum gráfico depende de legenda para ser lido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1572768"/>
            <a:ext cx="329184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888888"/>
                </a:solidFill>
                <a:latin typeface="Kanit"/>
              </a:rPr>
              <a:t>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18304" y="2039112"/>
            <a:ext cx="3950208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32" name="Picture 31" descr="check_circle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130552"/>
            <a:ext cx="210312" cy="2103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102352" y="2039112"/>
            <a:ext cx="3218688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Margens e alinhamentos iguais em todos os slides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2039112"/>
            <a:ext cx="329184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888888"/>
                </a:solidFill>
                <a:latin typeface="Kanit"/>
              </a:rPr>
              <a:t>07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18304" y="2505456"/>
            <a:ext cx="3950208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36" name="Picture 35" descr="check_circle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596896"/>
            <a:ext cx="210312" cy="21031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102352" y="2505456"/>
            <a:ext cx="3218688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Nenhuma sigla sem definição na primeira aparição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6" y="2505456"/>
            <a:ext cx="329184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888888"/>
                </a:solidFill>
                <a:latin typeface="Kanit"/>
              </a:rPr>
              <a:t>08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18304" y="2971800"/>
            <a:ext cx="3950208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40" name="Picture 39" descr="check_circle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3063240"/>
            <a:ext cx="210312" cy="21031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02352" y="2971800"/>
            <a:ext cx="3218688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A recomendação aparece antes da terceira página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6" y="2971800"/>
            <a:ext cx="329184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888888"/>
                </a:solidFill>
                <a:latin typeface="Kanit"/>
              </a:rPr>
              <a:t>09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18304" y="3438144"/>
            <a:ext cx="3950208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44" name="Picture 43" descr="check_circle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3529584"/>
            <a:ext cx="210312" cy="2103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102352" y="3438144"/>
            <a:ext cx="3218688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O deck se explica sozinho, sem o apresentador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6176" y="3438144"/>
            <a:ext cx="329184" cy="393192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888888"/>
                </a:solidFill>
                <a:latin typeface="Kanit"/>
              </a:rPr>
              <a:t>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" y="3986784"/>
            <a:ext cx="8193024" cy="402336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48" name="Rectangle 47"/>
          <p:cNvSpPr/>
          <p:nvPr/>
        </p:nvSpPr>
        <p:spPr>
          <a:xfrm>
            <a:off x="475488" y="3986784"/>
            <a:ext cx="50292" cy="40233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49" name="TextBox 48"/>
          <p:cNvSpPr txBox="1"/>
          <p:nvPr/>
        </p:nvSpPr>
        <p:spPr>
          <a:xfrm>
            <a:off x="640080" y="3986784"/>
            <a:ext cx="7900416" cy="402336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161616"/>
                </a:solidFill>
                <a:latin typeface="Work Sans"/>
              </a:rPr>
              <a:t>Rode a lista com alguém que não participou da análise: o que precisar de explicação, reescreva.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096" y="356067"/>
            <a:ext cx="8420618" cy="575980"/>
          </a:xfrm>
        </p:spPr>
        <p:txBody>
          <a:bodyPr wrap="square" lIns="91440" rIns="91440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>
                <a:solidFill>
                  <a:srgbClr val="C1272D"/>
                </a:solidFill>
                <a:latin typeface="Work Sans"/>
              </a:rPr>
              <a:t>Revisão e entrega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096" y="987826"/>
            <a:ext cx="8420618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61616"/>
                </a:solidFill>
                <a:latin typeface="Work Sans"/>
              </a:rPr>
              <a:t>Seis erros aparecem em quase toda primeira versão de um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72768"/>
            <a:ext cx="2596896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8" name="Picture 7" descr="cancel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709928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" y="1682495"/>
            <a:ext cx="2066544" cy="29260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1272D"/>
                </a:solidFill>
                <a:latin typeface="Work Sans"/>
              </a:rPr>
              <a:t>Título-rótulo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048256"/>
            <a:ext cx="2322576" cy="51206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61616"/>
                </a:solidFill>
                <a:latin typeface="Work Sans"/>
              </a:rPr>
              <a:t>Corrija: </a:t>
            </a:r>
            <a:r>
              <a:rPr sz="1000" b="0" i="0" u="none">
                <a:solidFill>
                  <a:srgbClr val="161616"/>
                </a:solidFill>
                <a:latin typeface="Work Sans"/>
              </a:rPr>
              <a:t>reescreva como frase com verbo e número.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572768"/>
            <a:ext cx="2596896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2" name="Picture 11" descr="cancel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709928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85032" y="1682495"/>
            <a:ext cx="2066544" cy="29260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1272D"/>
                </a:solidFill>
                <a:latin typeface="Work Sans"/>
              </a:rPr>
              <a:t>Slide-dump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048256"/>
            <a:ext cx="2322576" cy="51206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61616"/>
                </a:solidFill>
                <a:latin typeface="Work Sans"/>
              </a:rPr>
              <a:t>Corrija: </a:t>
            </a:r>
            <a:r>
              <a:rPr sz="1000" b="0" i="0" u="none">
                <a:solidFill>
                  <a:srgbClr val="161616"/>
                </a:solidFill>
                <a:latin typeface="Work Sans"/>
              </a:rPr>
              <a:t>uma mensagem por slide; o excedente vai para o anexo.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1572768"/>
            <a:ext cx="2596896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6" name="Picture 15" descr="cancel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709928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83096" y="1682495"/>
            <a:ext cx="2066544" cy="29260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1272D"/>
                </a:solidFill>
                <a:latin typeface="Work Sans"/>
              </a:rPr>
              <a:t>Gráfico sem conclusão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2048256"/>
            <a:ext cx="2322576" cy="51206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61616"/>
                </a:solidFill>
                <a:latin typeface="Work Sans"/>
              </a:rPr>
              <a:t>Corrija: </a:t>
            </a:r>
            <a:r>
              <a:rPr sz="1000" b="0" i="0" u="none">
                <a:solidFill>
                  <a:srgbClr val="161616"/>
                </a:solidFill>
                <a:latin typeface="Work Sans"/>
              </a:rPr>
              <a:t>acrescente call-out e takeaway box.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2761488"/>
            <a:ext cx="2596896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20" name="Picture 19" descr="cancel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898648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6968" y="2871216"/>
            <a:ext cx="2066544" cy="29260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1272D"/>
                </a:solidFill>
                <a:latin typeface="Work Sans"/>
              </a:rPr>
              <a:t>Dado sem fonte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3236976"/>
            <a:ext cx="2322576" cy="51206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61616"/>
                </a:solidFill>
                <a:latin typeface="Work Sans"/>
              </a:rPr>
              <a:t>Corrija: </a:t>
            </a:r>
            <a:r>
              <a:rPr sz="1000" b="0" i="0" u="none">
                <a:solidFill>
                  <a:srgbClr val="161616"/>
                </a:solidFill>
                <a:latin typeface="Work Sans"/>
              </a:rPr>
              <a:t>fonte e data no pé do exhibit, sempre.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73552" y="2761488"/>
            <a:ext cx="2596896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24" name="Picture 23" descr="cancel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2898648"/>
            <a:ext cx="228600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685032" y="2871216"/>
            <a:ext cx="2066544" cy="29260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1272D"/>
                </a:solidFill>
                <a:latin typeface="Work Sans"/>
              </a:rPr>
              <a:t>Grupos sobrepostos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0712" y="3236976"/>
            <a:ext cx="2322576" cy="51206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61616"/>
                </a:solidFill>
                <a:latin typeface="Work Sans"/>
              </a:rPr>
              <a:t>Corrija: </a:t>
            </a:r>
            <a:r>
              <a:rPr sz="1000" b="0" i="0" u="none">
                <a:solidFill>
                  <a:srgbClr val="161616"/>
                </a:solidFill>
                <a:latin typeface="Work Sans"/>
              </a:rPr>
              <a:t>teste MECE: sem sobreposição e sem lacuna.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1616" y="2761488"/>
            <a:ext cx="2596896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28" name="Picture 27" descr="cancel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2898648"/>
            <a:ext cx="228600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83096" y="2871216"/>
            <a:ext cx="2066544" cy="29260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1272D"/>
                </a:solidFill>
                <a:latin typeface="Work Sans"/>
              </a:rPr>
              <a:t>Formatação inconsistente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776" y="3236976"/>
            <a:ext cx="2322576" cy="512064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61616"/>
                </a:solidFill>
                <a:latin typeface="Work Sans"/>
              </a:rPr>
              <a:t>Corrija: </a:t>
            </a:r>
            <a:r>
              <a:rPr sz="1000" b="0" i="0" u="none">
                <a:solidFill>
                  <a:srgbClr val="161616"/>
                </a:solidFill>
                <a:latin typeface="Work Sans"/>
              </a:rPr>
              <a:t>use o template; não mova caixas no olho.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" y="4023360"/>
            <a:ext cx="8193024" cy="402336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2" name="Rectangle 31"/>
          <p:cNvSpPr/>
          <p:nvPr/>
        </p:nvSpPr>
        <p:spPr>
          <a:xfrm>
            <a:off x="475488" y="4023360"/>
            <a:ext cx="50292" cy="40233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3" name="TextBox 32"/>
          <p:cNvSpPr txBox="1"/>
          <p:nvPr/>
        </p:nvSpPr>
        <p:spPr>
          <a:xfrm>
            <a:off x="640080" y="4023360"/>
            <a:ext cx="7900416" cy="402336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161616"/>
                </a:solidFill>
                <a:latin typeface="Work Sans"/>
              </a:rPr>
              <a:t>Os seis são erros de disciplina, não de talento: revisão com checklist resolve.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096" y="356067"/>
            <a:ext cx="8420618" cy="575980"/>
          </a:xfrm>
        </p:spPr>
        <p:txBody>
          <a:bodyPr wrap="square" lIns="91440" rIns="91440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>
                <a:solidFill>
                  <a:srgbClr val="C1272D"/>
                </a:solidFill>
                <a:latin typeface="Work San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096" y="987826"/>
            <a:ext cx="8420618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61616"/>
                </a:solidFill>
                <a:latin typeface="Work Sans"/>
              </a:rPr>
              <a:t>O que levar deste módulo para o próximo deck que você montar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54480"/>
            <a:ext cx="512064" cy="5120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F3F3F3"/>
                </a:solidFill>
                <a:latin typeface="Kani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1536192"/>
            <a:ext cx="7461504" cy="56692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C1272D"/>
                </a:solidFill>
                <a:latin typeface="Work Sans"/>
              </a:rPr>
              <a:t>A história vem antes do slide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Storyline em dez linhas e ghost deck no papel; o PowerPoint é a última etapa, não a primeira.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249424"/>
            <a:ext cx="512064" cy="5120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F3F3F3"/>
                </a:solidFill>
                <a:latin typeface="Kani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231136"/>
            <a:ext cx="7461504" cy="56692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C1272D"/>
                </a:solidFill>
                <a:latin typeface="Work Sans"/>
              </a:rPr>
              <a:t>Resposta primeiro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Pirâmide e SCQA entregam a recomendação na abertura e deixam a evidência para depois.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944368"/>
            <a:ext cx="512064" cy="5120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F3F3F3"/>
                </a:solidFill>
                <a:latin typeface="Kani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926079"/>
            <a:ext cx="7461504" cy="56692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C1272D"/>
                </a:solidFill>
                <a:latin typeface="Work Sans"/>
              </a:rPr>
              <a:t>Um slide, uma mensagem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Um exhibit, um call-out e um “e daí?” por slide — o resto vai para o anexo.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3639312"/>
            <a:ext cx="512064" cy="5120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F3F3F3"/>
                </a:solidFill>
                <a:latin typeface="Kanit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621024"/>
            <a:ext cx="7461504" cy="566928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C1272D"/>
                </a:solidFill>
                <a:latin typeface="Work Sans"/>
              </a:rPr>
              <a:t>Formatação é disciplina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 u="none">
                <a:solidFill>
                  <a:srgbClr val="161616"/>
                </a:solidFill>
                <a:latin typeface="Work Sans"/>
              </a:rPr>
              <a:t>Grade, uma cor de destaque, fonte em todo número e checklist antes de enviar.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8193024" cy="3657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6" name="Rectangle 15"/>
          <p:cNvSpPr/>
          <p:nvPr/>
        </p:nvSpPr>
        <p:spPr>
          <a:xfrm>
            <a:off x="475488" y="4370832"/>
            <a:ext cx="50292" cy="3657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7" name="TextBox 16"/>
          <p:cNvSpPr txBox="1"/>
          <p:nvPr/>
        </p:nvSpPr>
        <p:spPr>
          <a:xfrm>
            <a:off x="640080" y="4370832"/>
            <a:ext cx="7900416" cy="365760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161616"/>
                </a:solidFill>
                <a:latin typeface="Work Sans"/>
              </a:rPr>
              <a:t>Um bom deck de consultoria é um documento que decide, não um resumo do que foi analisado.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096" y="356067"/>
            <a:ext cx="8420618" cy="575980"/>
          </a:xfrm>
        </p:spPr>
        <p:txBody>
          <a:bodyPr wrap="square" lIns="91440" rIns="91440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>
                <a:solidFill>
                  <a:srgbClr val="C1272D"/>
                </a:solidFill>
                <a:latin typeface="Work Sans"/>
              </a:rPr>
              <a:t>Leitura recomendada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096" y="987826"/>
            <a:ext cx="8420618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61616"/>
                </a:solidFill>
                <a:latin typeface="Work Sans"/>
              </a:rPr>
              <a:t>Material de referência em inglês, sintetizado e reescrito para este 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61616"/>
                </a:solidFill>
                <a:latin typeface="Arial"/>
              </a:rPr>
              <a:t>Prep4Consulting 2026.2 </a:t>
            </a:r>
            <a:r>
              <a:rPr sz="900" b="0" i="0" u="none">
                <a:solidFill>
                  <a:srgbClr val="161616"/>
                </a:solidFill>
                <a:latin typeface="Arial"/>
              </a:rPr>
              <a:t>| Apresentações para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082" y="4825380"/>
            <a:ext cx="263072" cy="27688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61616"/>
                </a:solidFill>
                <a:latin typeface="Arial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499616"/>
            <a:ext cx="8193024" cy="33832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8" name="Rectangle 7"/>
          <p:cNvSpPr/>
          <p:nvPr/>
        </p:nvSpPr>
        <p:spPr>
          <a:xfrm>
            <a:off x="548640" y="1568195"/>
            <a:ext cx="493776" cy="201168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FFFFFF"/>
                </a:solidFill>
                <a:latin typeface="Work Sans"/>
              </a:rPr>
              <a:t>LIVRO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499616"/>
            <a:ext cx="7461504" cy="338328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61616"/>
                </a:solidFill>
                <a:latin typeface="Work Sans"/>
              </a:rPr>
              <a:t>Barbara Minto — The Pyramid Principle</a:t>
            </a:r>
            <a:r>
              <a:rPr sz="950" b="0" i="0" u="none">
                <a:solidFill>
                  <a:srgbClr val="888888"/>
                </a:solidFill>
                <a:latin typeface="Work Sans"/>
              </a:rPr>
              <a:t>  ·  estrutura de argumento, SCQA e agrupamento MECE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9384"/>
            <a:ext cx="493776" cy="201168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FFFFFF"/>
                </a:solidFill>
                <a:latin typeface="Work Sans"/>
              </a:rPr>
              <a:t>LIVRO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860804"/>
            <a:ext cx="7461504" cy="338328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61616"/>
                </a:solidFill>
                <a:latin typeface="Work Sans"/>
              </a:rPr>
              <a:t>Gene Zelazny — Say It With Charts</a:t>
            </a:r>
            <a:r>
              <a:rPr sz="950" b="0" i="0" u="none">
                <a:solidFill>
                  <a:srgbClr val="888888"/>
                </a:solidFill>
                <a:latin typeface="Work Sans"/>
              </a:rPr>
              <a:t>  ·  as cinco comparações e a escolha do gráfico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221991"/>
            <a:ext cx="8193024" cy="33832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3" name="Rectangle 12"/>
          <p:cNvSpPr/>
          <p:nvPr/>
        </p:nvSpPr>
        <p:spPr>
          <a:xfrm>
            <a:off x="548640" y="2290572"/>
            <a:ext cx="493776" cy="20116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FFFFFF"/>
                </a:solidFill>
                <a:latin typeface="Work Sans"/>
              </a:rPr>
              <a:t>ARTIGO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221991"/>
            <a:ext cx="7461504" cy="338328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61616"/>
                </a:solidFill>
                <a:latin typeface="Work Sans"/>
                <a:hlinkClick r:id="rId2"/>
              </a:rPr>
              <a:t>slideworks.io — How to write action titles like McKinsey</a:t>
            </a:r>
            <a:r>
              <a:rPr sz="950" b="0" i="0" u="none">
                <a:solidFill>
                  <a:srgbClr val="888888"/>
                </a:solidFill>
                <a:latin typeface="Work Sans"/>
              </a:rPr>
              <a:t>  ·  títulos-mensagem com exemplos de antes e depois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493776" cy="20116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FFFFFF"/>
                </a:solidFill>
                <a:latin typeface="Work Sans"/>
              </a:rPr>
              <a:t>ARTIGO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583180"/>
            <a:ext cx="7461504" cy="338328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61616"/>
                </a:solidFill>
                <a:latin typeface="Work Sans"/>
                <a:hlinkClick r:id="rId3"/>
              </a:rPr>
              <a:t>slidescience.co — What is the Pyramid Principle</a:t>
            </a:r>
            <a:r>
              <a:rPr sz="950" b="0" i="0" u="none">
                <a:solidFill>
                  <a:srgbClr val="888888"/>
                </a:solidFill>
                <a:latin typeface="Work Sans"/>
              </a:rPr>
              <a:t>  ·  aplicação da pirâmide no nível do slide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44368"/>
            <a:ext cx="8193024" cy="33832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18" name="Rectangle 17"/>
          <p:cNvSpPr/>
          <p:nvPr/>
        </p:nvSpPr>
        <p:spPr>
          <a:xfrm>
            <a:off x="548640" y="3012948"/>
            <a:ext cx="493776" cy="20116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FFFFFF"/>
                </a:solidFill>
                <a:latin typeface="Work Sans"/>
              </a:rPr>
              <a:t>ARTIGO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44368"/>
            <a:ext cx="7461504" cy="338328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61616"/>
                </a:solidFill>
                <a:latin typeface="Work Sans"/>
                <a:hlinkClick r:id="rId4"/>
              </a:rPr>
              <a:t>strategyu.co — The ghost deck</a:t>
            </a:r>
            <a:r>
              <a:rPr sz="950" b="0" i="0" u="none">
                <a:solidFill>
                  <a:srgbClr val="888888"/>
                </a:solidFill>
                <a:latin typeface="Work Sans"/>
              </a:rPr>
              <a:t>  ·  como rascunhar o deck antes de ter a análise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493776" cy="20116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FFFFFF"/>
                </a:solidFill>
                <a:latin typeface="Work Sans"/>
              </a:rPr>
              <a:t>ARTIGO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305556"/>
            <a:ext cx="7461504" cy="338328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61616"/>
                </a:solidFill>
                <a:latin typeface="Work Sans"/>
                <a:hlinkClick r:id="rId5"/>
              </a:rPr>
              <a:t>theanalystacademy.com — Takeaway boxes</a:t>
            </a:r>
            <a:r>
              <a:rPr sz="950" b="0" i="0" u="none">
                <a:solidFill>
                  <a:srgbClr val="888888"/>
                </a:solidFill>
                <a:latin typeface="Work Sans"/>
              </a:rPr>
              <a:t>  ·  quando usar e quando evitar a caixa de conclusão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3666744"/>
            <a:ext cx="8193024" cy="33832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23" name="Rectangle 22"/>
          <p:cNvSpPr/>
          <p:nvPr/>
        </p:nvSpPr>
        <p:spPr>
          <a:xfrm>
            <a:off x="548640" y="3735324"/>
            <a:ext cx="493776" cy="20116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FFFFFF"/>
                </a:solidFill>
                <a:latin typeface="Work Sans"/>
              </a:rPr>
              <a:t>ARTIGO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666744"/>
            <a:ext cx="7461504" cy="338328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61616"/>
                </a:solidFill>
                <a:latin typeface="Work Sans"/>
                <a:hlinkClick r:id="rId6"/>
              </a:rPr>
              <a:t>umbrex.com — Design principles for quantitative charts</a:t>
            </a:r>
            <a:r>
              <a:rPr sz="950" b="0" i="0" u="none">
                <a:solidFill>
                  <a:srgbClr val="888888"/>
                </a:solidFill>
                <a:latin typeface="Work Sans"/>
              </a:rPr>
              <a:t>  ·  padrões de formatação de gráficos em consultoria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96512"/>
            <a:ext cx="493776" cy="20116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FFFFFF"/>
                </a:solidFill>
                <a:latin typeface="Work Sans"/>
              </a:rPr>
              <a:t>ARTIGO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027932"/>
            <a:ext cx="7461504" cy="338328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61616"/>
                </a:solidFill>
                <a:latin typeface="Work Sans"/>
                <a:hlinkClick r:id="rId7"/>
              </a:rPr>
              <a:t>managementconsulted.com — Consulting slide deck</a:t>
            </a:r>
            <a:r>
              <a:rPr sz="950" b="0" i="0" u="none">
                <a:solidFill>
                  <a:srgbClr val="888888"/>
                </a:solidFill>
                <a:latin typeface="Work Sans"/>
              </a:rPr>
              <a:t>  ·  convenções de estrutura e erros recorrentes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4425696"/>
            <a:ext cx="8193024" cy="27432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 u="none">
                <a:solidFill>
                  <a:srgbClr val="888888"/>
                </a:solidFill>
                <a:latin typeface="Work Sans"/>
              </a:rPr>
              <a:t>Conteúdo de terceiros citado para estudo; os textos foram parafraseados e resumidos pela equipe do CCU.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282" y="-57150"/>
            <a:ext cx="9279696" cy="5250576"/>
          </a:xfrm>
          <a:prstGeom prst="rect">
            <a:avLst/>
          </a:prstGeom>
          <a:solidFill>
            <a:srgbClr val="16161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sp>
        <p:nvSpPr>
          <p:cNvPr id="3" name="Right Triangle 2"/>
          <p:cNvSpPr/>
          <p:nvPr/>
        </p:nvSpPr>
        <p:spPr>
          <a:xfrm flipH="1">
            <a:off x="8744772" y="982797"/>
            <a:ext cx="397123" cy="4160702"/>
          </a:xfrm>
          <a:prstGeom prst="rtTriangl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4" name="Picture 3" descr="arte-capa.png"/>
          <p:cNvPicPr>
            <a:picLocks noChangeAspect="1"/>
          </p:cNvPicPr>
          <p:nvPr/>
        </p:nvPicPr>
        <p:blipFill>
          <a:blip r:embed="rId2"/>
          <a:srcRect t="24866" b="33529"/>
          <a:stretch>
            <a:fillRect/>
          </a:stretch>
        </p:blipFill>
        <p:spPr>
          <a:xfrm>
            <a:off x="-64282" y="-57150"/>
            <a:ext cx="4114800" cy="2139970"/>
          </a:xfrm>
          <a:prstGeom prst="rect">
            <a:avLst/>
          </a:prstGeom>
        </p:spPr>
      </p:pic>
      <p:pic>
        <p:nvPicPr>
          <p:cNvPr id="5" name="Picture 4" descr="logo-cc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" y="4550145"/>
            <a:ext cx="2387224" cy="2989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81860" y="4825380"/>
            <a:ext cx="4861956" cy="276880"/>
          </a:xfrm>
          <a:prstGeom prst="rect">
            <a:avLst/>
          </a:prstGeom>
          <a:noFill/>
        </p:spPr>
        <p:txBody>
          <a:bodyPr wrap="square" anchor="t" lIns="137160" rIns="137160" tIns="68580" bIns="6858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Arial"/>
              </a:rPr>
              <a:t>Copyright © 2026 Clube de Consultoria Universitário. All rights reserved.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146" y="2286000"/>
            <a:ext cx="4937760" cy="1556217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u="none">
                <a:solidFill>
                  <a:srgbClr val="C1272D"/>
                </a:solidFill>
                <a:latin typeface="Kanit SemiBold"/>
              </a:rPr>
              <a:t>AGRADECEMOS</a:t>
            </a:r>
            <a:br>
              <a:rPr sz="3000" b="0" i="0" u="none">
                <a:solidFill>
                  <a:srgbClr val="C1272D"/>
                </a:solidFill>
                <a:latin typeface="Kanit SemiBold"/>
              </a:rPr>
            </a:br>
            <a:r>
              <a:rPr sz="3000" b="0" i="0" u="none">
                <a:solidFill>
                  <a:srgbClr val="C1272D"/>
                </a:solidFill>
                <a:latin typeface="Kanit SemiBold"/>
              </a:rPr>
              <a:t>SUA PARTICIPAÇÃO!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Kanit SemiBold"/>
              </a:rPr>
              <a:t>Agora é montar o seu deck.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969264"/>
            <a:ext cx="3657600" cy="365760"/>
          </a:xfrm>
          <a:prstGeom prst="rect">
            <a:avLst/>
          </a:prstGeom>
          <a:noFill/>
        </p:spPr>
        <p:txBody>
          <a:bodyPr wrap="square" anchor="t" lIns="91440" rIns="91440" tIns="45720" bIns="4572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Work Sans"/>
              </a:rPr>
              <a:t>Ficou com alguma dúvida?</a:t>
            </a:r>
          </a:p>
        </p:txBody>
      </p:sp>
      <p:sp>
        <p:nvSpPr>
          <p:cNvPr id="9" name="Rectangle 8"/>
          <p:cNvSpPr/>
          <p:nvPr/>
        </p:nvSpPr>
        <p:spPr>
          <a:xfrm>
            <a:off x="4991160" y="1569018"/>
            <a:ext cx="615391" cy="615391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0" name="Picture 9" descr="icone-e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688805"/>
            <a:ext cx="374904" cy="3749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05272" y="1651314"/>
            <a:ext cx="3090672" cy="448056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Work Sans"/>
              </a:rPr>
              <a:t>equipeccu@gmail.com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1160" y="2320747"/>
            <a:ext cx="615391" cy="615391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3" name="Picture 12" descr="icone-inst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2440533"/>
            <a:ext cx="374904" cy="3749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05272" y="2403043"/>
            <a:ext cx="3090672" cy="448056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Work Sans"/>
              </a:rPr>
              <a:t>@ccuclubedeconsultoria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1160" y="3072384"/>
            <a:ext cx="615391" cy="615391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6" name="Picture 15" descr="icone-s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496" y="3192170"/>
            <a:ext cx="374904" cy="3749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05272" y="3154679"/>
            <a:ext cx="3090672" cy="448056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Work Sans"/>
              </a:rPr>
              <a:t>consultoriaunicamp.com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1160" y="3824112"/>
            <a:ext cx="615391" cy="615391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</p:txBody>
      </p:sp>
      <p:pic>
        <p:nvPicPr>
          <p:cNvPr id="19" name="Picture 18" descr="icone-linked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1496" y="3943898"/>
            <a:ext cx="374904" cy="3749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05272" y="3906408"/>
            <a:ext cx="3090672" cy="448056"/>
          </a:xfrm>
          <a:prstGeom prst="rect">
            <a:avLst/>
          </a:prstGeom>
          <a:noFill/>
        </p:spPr>
        <p:txBody>
          <a:bodyPr wrap="square" anchor="ctr" lIns="91440" rIns="91440" tIns="45720" bIns="4572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Work Sans"/>
              </a:rPr>
              <a:t>Clube de Consultoria Universitário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ogistic Transport Company Profile by Slidesgo">
  <a:themeElements>
    <a:clrScheme name="Personalizada 2">
      <a:dk1>
        <a:srgbClr val="C1272D"/>
      </a:dk1>
      <a:lt1>
        <a:srgbClr val="161616"/>
      </a:lt1>
      <a:dk2>
        <a:srgbClr val="F3F3F3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Verena</dc:creator>
</cp:coreProperties>
</file>