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787" r:id="rId1"/>
    <p:sldMasterId id="2147483821" r:id="rId2"/>
  </p:sldMasterIdLst>
  <p:notesMasterIdLst>
    <p:notesMasterId r:id="rId8"/>
  </p:notesMasterIdLst>
  <p:handoutMasterIdLst>
    <p:handoutMasterId r:id="rId9"/>
  </p:handoutMasterIdLst>
  <p:sldIdLst>
    <p:sldId id="2147474652" r:id="rId3"/>
    <p:sldId id="2147474655" r:id="rId4"/>
    <p:sldId id="2147474653" r:id="rId5"/>
    <p:sldId id="2147474651" r:id="rId6"/>
    <p:sldId id="2147474649" r:id="rId7"/>
  </p:sldIdLst>
  <p:sldSz cx="12192000" cy="6858000"/>
  <p:notesSz cx="6797675" cy="9928225"/>
  <p:custDataLst>
    <p:tags r:id="rId10"/>
  </p:custData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9EC3FDA-5671-42A4-A468-888C653E86DD}">
          <p14:sldIdLst>
            <p14:sldId id="2147474652"/>
            <p14:sldId id="2147474655"/>
            <p14:sldId id="2147474653"/>
            <p14:sldId id="2147474651"/>
          </p14:sldIdLst>
        </p14:section>
        <p14:section name="Equipe e Investimentos" id="{702C7D10-46CA-4A1C-BCF8-1EEFBEEF3622}">
          <p14:sldIdLst>
            <p14:sldId id="21474746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9F2"/>
    <a:srgbClr val="FFFFFF"/>
    <a:srgbClr val="9D6699"/>
    <a:srgbClr val="124376"/>
    <a:srgbClr val="E36800"/>
    <a:srgbClr val="FF5A43"/>
    <a:srgbClr val="7B7D7B"/>
    <a:srgbClr val="1D368E"/>
    <a:srgbClr val="009796"/>
    <a:srgbClr val="3D7C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4" dt="2026-10-20T21:32:41.862"/>
    <p1510:client id="{CD91F97B-61E8-490A-A668-8ADE57E8F57D}" v="12" dt="2026-10-21T13:45:29.789"/>
    <p1510:client id="{CEDDFF9A-7B1C-4363-95D8-B551194F9A07}" v="695" dt="2026-10-20T22:12:11.2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5404"/>
    <p:restoredTop sz="94748"/>
  </p:normalViewPr>
  <p:slideViewPr>
    <p:cSldViewPr snapToGrid="0">
      <p:cViewPr>
        <p:scale>
          <a:sx n="66" d="100"/>
          <a:sy n="66" d="100"/>
        </p:scale>
        <p:origin x="1752" y="42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5/10/relationships/revisionInfo" Target="revisionInfo.xml"/><Relationship Id="rId10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 descr="25%"/>
          <p:cNvSpPr>
            <a:spLocks noGrp="1" noChangeArrowheads="1"/>
          </p:cNvSpPr>
          <p:nvPr>
            <p:ph type="hdr" sz="quarter"/>
          </p:nvPr>
        </p:nvSpPr>
        <p:spPr bwMode="gray">
          <a:xfrm>
            <a:off x="2" y="0"/>
            <a:ext cx="131056" cy="3163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none" lIns="64929" tIns="64929" rIns="64929" bIns="64929" numCol="1" anchor="t" anchorCtr="0" compatLnSpc="1">
            <a:prstTxWarp prst="textNoShape">
              <a:avLst/>
            </a:prstTxWarp>
            <a:spAutoFit/>
          </a:bodyPr>
          <a:lstStyle>
            <a:lvl1pPr defTabSz="917934"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6019" name="Rectangle 3" descr="25%"/>
          <p:cNvSpPr>
            <a:spLocks noGrp="1" noChangeArrowheads="1"/>
          </p:cNvSpPr>
          <p:nvPr>
            <p:ph type="dt" sz="quarter" idx="1"/>
          </p:nvPr>
        </p:nvSpPr>
        <p:spPr bwMode="gray">
          <a:xfrm>
            <a:off x="5900091" y="0"/>
            <a:ext cx="897585" cy="3163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none" lIns="64929" tIns="64929" rIns="64929" bIns="64929" numCol="1" anchor="t" anchorCtr="0" compatLnSpc="1">
            <a:prstTxWarp prst="textNoShape">
              <a:avLst/>
            </a:prstTxWarp>
            <a:spAutoFit/>
          </a:bodyPr>
          <a:lstStyle>
            <a:lvl1pPr algn="r" defTabSz="917934"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fld id="{EB9C613B-C2AC-4B93-9209-758731061898}" type="datetime1">
              <a:rPr lang="en-GB"/>
              <a:pPr>
                <a:defRPr/>
              </a:pPr>
              <a:t>22/10/2026</a:t>
            </a:fld>
            <a:endParaRPr lang="en-GB"/>
          </a:p>
        </p:txBody>
      </p:sp>
      <p:sp>
        <p:nvSpPr>
          <p:cNvPr id="86020" name="Rectangle 4" descr="25%"/>
          <p:cNvSpPr>
            <a:spLocks noGrp="1" noChangeArrowheads="1"/>
          </p:cNvSpPr>
          <p:nvPr>
            <p:ph type="ftr" sz="quarter" idx="2"/>
          </p:nvPr>
        </p:nvSpPr>
        <p:spPr bwMode="gray">
          <a:xfrm>
            <a:off x="2" y="9611922"/>
            <a:ext cx="131056" cy="3163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none" lIns="64929" tIns="64929" rIns="64929" bIns="64929" numCol="1" anchor="b" anchorCtr="0" compatLnSpc="1">
            <a:prstTxWarp prst="textNoShape">
              <a:avLst/>
            </a:prstTxWarp>
            <a:spAutoFit/>
          </a:bodyPr>
          <a:lstStyle>
            <a:lvl1pPr defTabSz="917934"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6021" name="Rectangle 5" descr="25%"/>
          <p:cNvSpPr>
            <a:spLocks noGrp="1" noChangeArrowheads="1"/>
          </p:cNvSpPr>
          <p:nvPr>
            <p:ph type="sldNum" sz="quarter" idx="3"/>
          </p:nvPr>
        </p:nvSpPr>
        <p:spPr bwMode="gray">
          <a:xfrm>
            <a:off x="6367232" y="9611922"/>
            <a:ext cx="430444" cy="3163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none" lIns="64929" tIns="64929" rIns="64929" bIns="64929" numCol="1" anchor="b" anchorCtr="0" compatLnSpc="1">
            <a:prstTxWarp prst="textNoShape">
              <a:avLst/>
            </a:prstTxWarp>
            <a:spAutoFit/>
          </a:bodyPr>
          <a:lstStyle>
            <a:lvl1pPr algn="r" defTabSz="917934"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fld id="{CC44CF48-7BC2-449C-AB04-0420DAB04CA8}" type="slidenum">
              <a:rPr lang="en-GB"/>
              <a:pPr>
                <a:defRPr/>
              </a:pPr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5031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46275" cy="495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0" tIns="45809" rIns="91620" bIns="45809" numCol="1" anchor="t" anchorCtr="0" compatLnSpc="1">
            <a:prstTxWarp prst="textNoShape">
              <a:avLst/>
            </a:prstTxWarp>
          </a:bodyPr>
          <a:lstStyle>
            <a:lvl1pPr defTabSz="917934" rtl="0" eaLnBrk="0" hangingPunct="0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400" y="1"/>
            <a:ext cx="2946275" cy="495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0" tIns="45809" rIns="91620" bIns="45809" numCol="1" anchor="t" anchorCtr="0" compatLnSpc="1">
            <a:prstTxWarp prst="textNoShape">
              <a:avLst/>
            </a:prstTxWarp>
          </a:bodyPr>
          <a:lstStyle>
            <a:lvl1pPr algn="r" defTabSz="917934" rtl="0" eaLnBrk="0" hangingPunct="0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6E814E2-8041-4BCD-9784-6C581B3F7FF4}" type="datetime1">
              <a:rPr lang="pt-BR" smtClean="0"/>
              <a:pPr>
                <a:defRPr/>
              </a:pPr>
              <a:t>22/10/2026</a:t>
            </a:fld>
            <a:endParaRPr lang="pt-BR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8" y="744538"/>
            <a:ext cx="6615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5127" y="4714994"/>
            <a:ext cx="4987424" cy="4468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0" tIns="45809" rIns="91620" bIns="4580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Click to edit Master text styles</a:t>
            </a:r>
          </a:p>
          <a:p>
            <a:pPr lvl="1"/>
            <a:r>
              <a:rPr lang="pt-BR" noProof="0"/>
              <a:t>Second level</a:t>
            </a:r>
          </a:p>
          <a:p>
            <a:pPr lvl="2"/>
            <a:r>
              <a:rPr lang="pt-BR" noProof="0"/>
              <a:t>Third level</a:t>
            </a:r>
          </a:p>
          <a:p>
            <a:pPr lvl="3"/>
            <a:r>
              <a:rPr lang="pt-BR" noProof="0"/>
              <a:t>Fourth level</a:t>
            </a:r>
          </a:p>
          <a:p>
            <a:pPr lvl="4"/>
            <a:r>
              <a:rPr lang="pt-BR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32273"/>
            <a:ext cx="2946275" cy="495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0" tIns="45809" rIns="91620" bIns="45809" numCol="1" anchor="b" anchorCtr="0" compatLnSpc="1">
            <a:prstTxWarp prst="textNoShape">
              <a:avLst/>
            </a:prstTxWarp>
          </a:bodyPr>
          <a:lstStyle>
            <a:lvl1pPr defTabSz="917934" rtl="0" eaLnBrk="0" hangingPunct="0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400" y="9432273"/>
            <a:ext cx="2946275" cy="495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0" tIns="45809" rIns="91620" bIns="45809" numCol="1" anchor="b" anchorCtr="0" compatLnSpc="1">
            <a:prstTxWarp prst="textNoShape">
              <a:avLst/>
            </a:prstTxWarp>
          </a:bodyPr>
          <a:lstStyle>
            <a:lvl1pPr algn="r" defTabSz="917934" rtl="0" eaLnBrk="0" hangingPunct="0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66F8E852-EE93-444B-A572-6051D872401A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8645741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pt-BR" smtClean="0"/>
              <a:pPr>
                <a:defRPr/>
              </a:pPr>
              <a:t>22/10/2026</a:t>
            </a:fld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pt-BR" smtClean="0"/>
              <a:pPr>
                <a:defRPr/>
              </a:pPr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1870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pt-BR" smtClean="0"/>
              <a:pPr>
                <a:defRPr/>
              </a:pPr>
              <a:t>22/10/2026</a:t>
            </a:fld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pt-BR" smtClean="0"/>
              <a:pPr>
                <a:defRPr/>
              </a:pPr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57894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pt-BR" smtClean="0"/>
              <a:pPr>
                <a:defRPr/>
              </a:pPr>
              <a:t>22/10/2026</a:t>
            </a:fld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pt-BR" smtClean="0"/>
              <a:pPr>
                <a:defRPr/>
              </a:pPr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6317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4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4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5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5" Type="http://schemas.openxmlformats.org/officeDocument/2006/relationships/image" Target="../media/image7.png"/><Relationship Id="rId4" Type="http://schemas.openxmlformats.org/officeDocument/2006/relationships/image" Target="../media/image4.emf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4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Relationship Id="rId4" Type="http://schemas.openxmlformats.org/officeDocument/2006/relationships/image" Target="../media/image4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7.xml"/><Relationship Id="rId4" Type="http://schemas.openxmlformats.org/officeDocument/2006/relationships/image" Target="../media/image4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Relationship Id="rId4" Type="http://schemas.openxmlformats.org/officeDocument/2006/relationships/image" Target="../media/image5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2.xml"/><Relationship Id="rId5" Type="http://schemas.openxmlformats.org/officeDocument/2006/relationships/image" Target="../media/image7.png"/><Relationship Id="rId4" Type="http://schemas.openxmlformats.org/officeDocument/2006/relationships/image" Target="../media/image4.emf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4E2AFA85-CD3B-4A60-90C6-683E330E635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76845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9" imgH="408" progId="TCLayout.ActiveDocument.1">
                  <p:embed/>
                </p:oleObj>
              </mc:Choice>
              <mc:Fallback>
                <p:oleObj name="think-cell Slide" r:id="rId3" imgW="409" imgH="4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E2AFA85-CD3B-4A60-90C6-683E330E63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Imagem 3" descr="Forma&#10;&#10;Descrição gerada automaticamente com confiança baixa">
            <a:extLst>
              <a:ext uri="{FF2B5EF4-FFF2-40B4-BE49-F238E27FC236}">
                <a16:creationId xmlns:a16="http://schemas.microsoft.com/office/drawing/2014/main" id="{386D1CD6-AAC4-42BD-A7FC-DEA23142713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90D9455-E3D5-1C00-860A-D30ACA99A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C739437-95D8-4953-D574-E4C307DF5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12">
            <a:extLst>
              <a:ext uri="{FF2B5EF4-FFF2-40B4-BE49-F238E27FC236}">
                <a16:creationId xmlns:a16="http://schemas.microsoft.com/office/drawing/2014/main" id="{ACCBF48C-2F61-D370-1C40-4A1A301325ED}"/>
              </a:ext>
            </a:extLst>
          </p:cNvPr>
          <p:cNvSpPr txBox="1"/>
          <p:nvPr userDrawn="1"/>
        </p:nvSpPr>
        <p:spPr>
          <a:xfrm>
            <a:off x="344905" y="371979"/>
            <a:ext cx="48527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>
                <a:solidFill>
                  <a:schemeClr val="accent4"/>
                </a:solidFill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79480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Analy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777789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41D98FFC-276B-DC45-4A69-D0A394BD9E90}"/>
              </a:ext>
            </a:extLst>
          </p:cNvPr>
          <p:cNvSpPr/>
          <p:nvPr userDrawn="1"/>
        </p:nvSpPr>
        <p:spPr>
          <a:xfrm>
            <a:off x="0" y="3427201"/>
            <a:ext cx="12192000" cy="3430799"/>
          </a:xfrm>
          <a:prstGeom prst="rect">
            <a:avLst/>
          </a:prstGeom>
          <a:solidFill>
            <a:srgbClr val="632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itel 5">
            <a:extLst>
              <a:ext uri="{FF2B5EF4-FFF2-40B4-BE49-F238E27FC236}">
                <a16:creationId xmlns:a16="http://schemas.microsoft.com/office/drawing/2014/main" id="{D3C7A5FA-E151-75CE-ECDF-6343E386E8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5633" y="2156514"/>
            <a:ext cx="4642768" cy="1122948"/>
          </a:xfrm>
        </p:spPr>
        <p:txBody>
          <a:bodyPr vert="horz" lIns="0" tIns="0" rIns="0" bIns="0"/>
          <a:lstStyle>
            <a:lvl1pPr rtl="0">
              <a:defRPr sz="28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6" name="Textplatzhalter 6">
            <a:extLst>
              <a:ext uri="{FF2B5EF4-FFF2-40B4-BE49-F238E27FC236}">
                <a16:creationId xmlns:a16="http://schemas.microsoft.com/office/drawing/2014/main" id="{E6BCCC3E-2FA0-4737-DBF8-CB0B0F5B3F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5632" y="3533876"/>
            <a:ext cx="4642767" cy="27699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F13938B3-F822-3B6D-C11D-A155E19CB5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5632" y="4324234"/>
            <a:ext cx="3380763" cy="178898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8" name="Textplatzhalter 8">
            <a:extLst>
              <a:ext uri="{FF2B5EF4-FFF2-40B4-BE49-F238E27FC236}">
                <a16:creationId xmlns:a16="http://schemas.microsoft.com/office/drawing/2014/main" id="{DA1E3E98-0932-E0D1-ED6B-F5E915442E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85632" y="4637218"/>
            <a:ext cx="3380763" cy="178898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168271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DE53C"/>
          </p15:clr>
        </p15:guide>
        <p15:guide id="2" pos="438" userDrawn="1">
          <p15:clr>
            <a:srgbClr val="A4A3A4"/>
          </p15:clr>
        </p15:guide>
        <p15:guide id="3" pos="7355" userDrawn="1">
          <p15:clr>
            <a:srgbClr val="A4A3A4"/>
          </p15:clr>
        </p15:guide>
        <p15:guide id="4" orient="horz" pos="3952" userDrawn="1">
          <p15:clr>
            <a:srgbClr val="A4A3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_Analyt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3349587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322" y="587229"/>
            <a:ext cx="11519999" cy="543487"/>
          </a:xfrm>
        </p:spPr>
        <p:txBody>
          <a:bodyPr vert="horz">
            <a:noAutofit/>
          </a:bodyPr>
          <a:lstStyle>
            <a:lvl1pPr rtl="0">
              <a:defRPr/>
            </a:lvl1pPr>
          </a:lstStyle>
          <a:p>
            <a:r>
              <a:rPr lang="pt-BR" noProof="0"/>
              <a:t>Clique para editar o título Mestre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321" y="333130"/>
            <a:ext cx="11519999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rgbClr val="63277F"/>
                </a:solidFill>
              </a:defRPr>
            </a:lvl1pPr>
          </a:lstStyle>
          <a:p>
            <a:pPr lvl="0"/>
            <a:r>
              <a:rPr lang="pt-BR" noProof="0">
                <a:solidFill>
                  <a:srgbClr val="63277F"/>
                </a:solidFill>
              </a:rPr>
              <a:t>Clique para editar os estilos de texto Mestres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323" y="1200150"/>
            <a:ext cx="5683240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pt-BR" noProof="0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23" name="Espaço Reservado para Texto 21">
            <a:extLst>
              <a:ext uri="{FF2B5EF4-FFF2-40B4-BE49-F238E27FC236}">
                <a16:creationId xmlns:a16="http://schemas.microsoft.com/office/drawing/2014/main" id="{A221802B-CB4D-84DD-14E6-1007D78849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78081" y="1200150"/>
            <a:ext cx="5683240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pt-BR" noProof="0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34" name="Espaço Reservado para Texto 30">
            <a:extLst>
              <a:ext uri="{FF2B5EF4-FFF2-40B4-BE49-F238E27FC236}">
                <a16:creationId xmlns:a16="http://schemas.microsoft.com/office/drawing/2014/main" id="{ED1E9F58-F504-11A1-E312-FD07F2CDEB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  <p:sp>
        <p:nvSpPr>
          <p:cNvPr id="35" name="Espaço Reservado para Conteúdo 32">
            <a:extLst>
              <a:ext uri="{FF2B5EF4-FFF2-40B4-BE49-F238E27FC236}">
                <a16:creationId xmlns:a16="http://schemas.microsoft.com/office/drawing/2014/main" id="{DFC69DB4-86B3-D581-B273-C261981F904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994DECD7-0FD8-ADD8-0259-DE86DFAD242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388805" y="6411964"/>
            <a:ext cx="774251" cy="923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rtl="0" eaLnBrk="0" hangingPunct="0">
              <a:spcBef>
                <a:spcPct val="50000"/>
              </a:spcBef>
              <a:defRPr sz="600">
                <a:latin typeface="+mn-lt"/>
              </a:defRPr>
            </a:lvl1pPr>
          </a:lstStyle>
          <a:p>
            <a:pPr>
              <a:defRPr/>
            </a:pPr>
            <a:r>
              <a:rPr lang="pt-BR"/>
              <a:t>Template_Widescreen</a:t>
            </a:r>
          </a:p>
        </p:txBody>
      </p:sp>
    </p:spTree>
    <p:extLst>
      <p:ext uri="{BB962C8B-B14F-4D97-AF65-F5344CB8AC3E}">
        <p14:creationId xmlns:p14="http://schemas.microsoft.com/office/powerpoint/2010/main" val="793635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 userDrawn="1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_Analyt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06759934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322" y="587229"/>
            <a:ext cx="11515715" cy="543487"/>
          </a:xfrm>
        </p:spPr>
        <p:txBody>
          <a:bodyPr vert="horz">
            <a:noAutofit/>
          </a:bodyPr>
          <a:lstStyle>
            <a:lvl1pPr rtl="0">
              <a:defRPr/>
            </a:lvl1pPr>
          </a:lstStyle>
          <a:p>
            <a:r>
              <a:rPr lang="pt-BR" noProof="0"/>
              <a:t>Clique para editar o título Mestre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322" y="333130"/>
            <a:ext cx="11515716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rgbClr val="63277F"/>
                </a:solidFill>
              </a:defRPr>
            </a:lvl1pPr>
          </a:lstStyle>
          <a:p>
            <a:pPr lvl="0"/>
            <a:r>
              <a:rPr lang="pt-BR" noProof="0">
                <a:solidFill>
                  <a:srgbClr val="63277F"/>
                </a:solidFill>
              </a:rPr>
              <a:t>Clique para editar os estilos de texto Mestres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322" y="1200150"/>
            <a:ext cx="11515715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pt-BR" noProof="0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8" name="Espaço Reservado para Texto 30">
            <a:extLst>
              <a:ext uri="{FF2B5EF4-FFF2-40B4-BE49-F238E27FC236}">
                <a16:creationId xmlns:a16="http://schemas.microsoft.com/office/drawing/2014/main" id="{9E9EE099-57C9-4274-7F29-D9B9CE675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  <p:sp>
        <p:nvSpPr>
          <p:cNvPr id="10" name="Espaço Reservado para Conteúdo 32">
            <a:extLst>
              <a:ext uri="{FF2B5EF4-FFF2-40B4-BE49-F238E27FC236}">
                <a16:creationId xmlns:a16="http://schemas.microsoft.com/office/drawing/2014/main" id="{A8DBD535-1D8D-73E9-B092-F84148C97F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B47B375-DF03-14ED-9411-4D616105415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388805" y="6411964"/>
            <a:ext cx="774251" cy="923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rtl="0" eaLnBrk="0" hangingPunct="0">
              <a:spcBef>
                <a:spcPct val="50000"/>
              </a:spcBef>
              <a:defRPr sz="600">
                <a:latin typeface="+mn-lt"/>
              </a:defRPr>
            </a:lvl1pPr>
          </a:lstStyle>
          <a:p>
            <a:pPr>
              <a:defRPr/>
            </a:pPr>
            <a:r>
              <a:rPr lang="pt-BR"/>
              <a:t>Template_Widescreen</a:t>
            </a:r>
          </a:p>
        </p:txBody>
      </p:sp>
    </p:spTree>
    <p:extLst>
      <p:ext uri="{BB962C8B-B14F-4D97-AF65-F5344CB8AC3E}">
        <p14:creationId xmlns:p14="http://schemas.microsoft.com/office/powerpoint/2010/main" val="3866463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_Analy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486568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4499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White_Analy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>
            <a:extLst>
              <a:ext uri="{FF2B5EF4-FFF2-40B4-BE49-F238E27FC236}">
                <a16:creationId xmlns:a16="http://schemas.microsoft.com/office/drawing/2014/main" id="{5386046F-E65D-43F2-B183-1DEA970D140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02481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Objeto 1" hidden="1">
                        <a:extLst>
                          <a:ext uri="{FF2B5EF4-FFF2-40B4-BE49-F238E27FC236}">
                            <a16:creationId xmlns:a16="http://schemas.microsoft.com/office/drawing/2014/main" id="{5386046F-E65D-43F2-B183-1DEA970D14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Imagem 4">
            <a:extLst>
              <a:ext uri="{FF2B5EF4-FFF2-40B4-BE49-F238E27FC236}">
                <a16:creationId xmlns:a16="http://schemas.microsoft.com/office/drawing/2014/main" id="{9292448E-F500-76A8-72BE-50A5D19ACEA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96834" y="5591462"/>
            <a:ext cx="2731786" cy="681615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537F67F0-14F9-FB6A-B10A-89E832C05F99}"/>
              </a:ext>
            </a:extLst>
          </p:cNvPr>
          <p:cNvSpPr/>
          <p:nvPr userDrawn="1"/>
        </p:nvSpPr>
        <p:spPr>
          <a:xfrm>
            <a:off x="9970323" y="6062079"/>
            <a:ext cx="1393129" cy="16884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0"/>
            <a:r>
              <a:rPr lang="pt-BR" b="1">
                <a:solidFill>
                  <a:srgbClr val="63277F"/>
                </a:solidFill>
              </a:rPr>
              <a:t>Uncovering insights</a:t>
            </a:r>
          </a:p>
        </p:txBody>
      </p:sp>
    </p:spTree>
    <p:extLst>
      <p:ext uri="{BB962C8B-B14F-4D97-AF65-F5344CB8AC3E}">
        <p14:creationId xmlns:p14="http://schemas.microsoft.com/office/powerpoint/2010/main" val="3555499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A4A3A4"/>
          </p15:clr>
        </p15:guide>
        <p15:guide id="2" orient="horz" pos="3952" userDrawn="1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Color_Analytics">
    <p:bg>
      <p:bgPr>
        <a:solidFill>
          <a:srgbClr val="6327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>
            <a:extLst>
              <a:ext uri="{FF2B5EF4-FFF2-40B4-BE49-F238E27FC236}">
                <a16:creationId xmlns:a16="http://schemas.microsoft.com/office/drawing/2014/main" id="{B95AFD00-30E2-C40F-B373-0F94E8D5658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45892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Objeto 3" hidden="1">
                        <a:extLst>
                          <a:ext uri="{FF2B5EF4-FFF2-40B4-BE49-F238E27FC236}">
                            <a16:creationId xmlns:a16="http://schemas.microsoft.com/office/drawing/2014/main" id="{B95AFD00-30E2-C40F-B373-0F94E8D565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1187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A4A3A4"/>
          </p15:clr>
        </p15:guide>
        <p15:guide id="2" pos="438" userDrawn="1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_Al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486568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Imagem 89" descr="Forma, Círculo&#10;&#10;Descrição gerada automaticamente">
            <a:extLst>
              <a:ext uri="{FF2B5EF4-FFF2-40B4-BE49-F238E27FC236}">
                <a16:creationId xmlns:a16="http://schemas.microsoft.com/office/drawing/2014/main" id="{4B78D9CC-F107-5707-91AD-6EAE4C32CD1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629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ingle_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1227871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Imagem 89" descr="Forma, Círculo&#10;&#10;Descrição gerada automaticamente">
            <a:extLst>
              <a:ext uri="{FF2B5EF4-FFF2-40B4-BE49-F238E27FC236}">
                <a16:creationId xmlns:a16="http://schemas.microsoft.com/office/drawing/2014/main" id="{60CE1164-AB42-D6ED-E2A3-21C1B1F24D8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22" y="587229"/>
            <a:ext cx="11515715" cy="543487"/>
          </a:xfrm>
        </p:spPr>
        <p:txBody>
          <a:bodyPr vert="horz">
            <a:noAutofit/>
          </a:bodyPr>
          <a:lstStyle>
            <a:lvl1pPr rtl="0">
              <a:defRPr/>
            </a:lvl1pPr>
          </a:lstStyle>
          <a:p>
            <a:endParaRPr lang="pt-BR" noProof="0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1322" y="333130"/>
            <a:ext cx="11515716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rgbClr val="63277F"/>
                </a:solidFill>
              </a:defRPr>
            </a:lvl1pPr>
          </a:lstStyle>
          <a:p>
            <a:endParaRPr lang="pt-BR" noProof="0">
              <a:solidFill>
                <a:srgbClr val="63277F"/>
              </a:solidFill>
            </a:endParaRP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1322" y="1200150"/>
            <a:ext cx="11515715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/>
            </a:pPr>
            <a:endParaRPr lang="pt-BR" noProof="0">
              <a:solidFill>
                <a:srgbClr val="808080"/>
              </a:solidFill>
            </a:endParaRPr>
          </a:p>
        </p:txBody>
      </p:sp>
      <p:sp>
        <p:nvSpPr>
          <p:cNvPr id="8" name="Espaço Reservado para Texto 30">
            <a:extLst>
              <a:ext uri="{FF2B5EF4-FFF2-40B4-BE49-F238E27FC236}">
                <a16:creationId xmlns:a16="http://schemas.microsoft.com/office/drawing/2014/main" id="{9E9EE099-57C9-4274-7F29-D9B9CE6757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pt-BR" noProof="0"/>
          </a:p>
        </p:txBody>
      </p:sp>
      <p:sp>
        <p:nvSpPr>
          <p:cNvPr id="10" name="Espaço Reservado para Conteúdo 32">
            <a:extLst>
              <a:ext uri="{FF2B5EF4-FFF2-40B4-BE49-F238E27FC236}">
                <a16:creationId xmlns:a16="http://schemas.microsoft.com/office/drawing/2014/main" id="{A8DBD535-1D8D-73E9-B092-F84148C97F7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pt-BR" noProof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1B89CB9-9E6F-E7E5-D4F4-8B1C1AEA013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460247" y="6411964"/>
            <a:ext cx="774251" cy="923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rtl="0" eaLnBrk="0" hangingPunct="0">
              <a:spcBef>
                <a:spcPct val="50000"/>
              </a:spcBef>
              <a:defRPr sz="600">
                <a:latin typeface="+mn-lt"/>
              </a:defRPr>
            </a:lvl1pPr>
          </a:lstStyle>
          <a:p>
            <a:pPr>
              <a:defRPr/>
            </a:pPr>
            <a:r>
              <a:rPr lang="pt-BR" noProof="0"/>
              <a:t>Template_Widescreen</a:t>
            </a:r>
          </a:p>
        </p:txBody>
      </p:sp>
    </p:spTree>
    <p:extLst>
      <p:ext uri="{BB962C8B-B14F-4D97-AF65-F5344CB8AC3E}">
        <p14:creationId xmlns:p14="http://schemas.microsoft.com/office/powerpoint/2010/main" val="3859485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66FA5C-3B60-E820-0097-32643AE0CB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E8847BD-ED7F-14E4-F133-53E74BB833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D48BC6-834B-353E-A2AE-4764BA127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99A45-0693-4E08-8AE4-0362204955FE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B710CE-25D3-42E2-477B-A3293F5C5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DF0DCF-A51F-DD3B-8315-216028D6F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06FA-AAEB-4883-ABC4-766D94449B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6487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_Consul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81891306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322" y="587229"/>
            <a:ext cx="11515715" cy="543487"/>
          </a:xfrm>
        </p:spPr>
        <p:txBody>
          <a:bodyPr vert="horz">
            <a:noAutofit/>
          </a:bodyPr>
          <a:lstStyle>
            <a:lvl1pPr rtl="0">
              <a:defRPr/>
            </a:lvl1pPr>
          </a:lstStyle>
          <a:p>
            <a:r>
              <a:rPr lang="pt-BR" noProof="0"/>
              <a:t>Clique para editar o título Mestre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322" y="333130"/>
            <a:ext cx="11515716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rgbClr val="63277F"/>
                </a:solidFill>
              </a:defRPr>
            </a:lvl1pPr>
          </a:lstStyle>
          <a:p>
            <a:pPr lvl="0"/>
            <a:r>
              <a:rPr lang="pt-BR" noProof="0">
                <a:solidFill>
                  <a:srgbClr val="63277F"/>
                </a:solidFill>
              </a:rPr>
              <a:t>Clique para editar os estilos de texto Mestres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322" y="1200150"/>
            <a:ext cx="11515715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pt-BR" noProof="0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8" name="Espaço Reservado para Texto 30">
            <a:extLst>
              <a:ext uri="{FF2B5EF4-FFF2-40B4-BE49-F238E27FC236}">
                <a16:creationId xmlns:a16="http://schemas.microsoft.com/office/drawing/2014/main" id="{9E9EE099-57C9-4274-7F29-D9B9CE675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  <p:sp>
        <p:nvSpPr>
          <p:cNvPr id="10" name="Espaço Reservado para Conteúdo 32">
            <a:extLst>
              <a:ext uri="{FF2B5EF4-FFF2-40B4-BE49-F238E27FC236}">
                <a16:creationId xmlns:a16="http://schemas.microsoft.com/office/drawing/2014/main" id="{A8DBD535-1D8D-73E9-B092-F84148C97F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88335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4E2AFA85-CD3B-4A60-90C6-683E330E635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9" imgH="408" progId="TCLayout.ActiveDocument.1">
                  <p:embed/>
                </p:oleObj>
              </mc:Choice>
              <mc:Fallback>
                <p:oleObj name="think-cell Slide" r:id="rId3" imgW="409" imgH="4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E2AFA85-CD3B-4A60-90C6-683E330E63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Imagem 3" descr="Forma&#10;&#10;Descrição gerada automaticamente com confiança baixa">
            <a:extLst>
              <a:ext uri="{FF2B5EF4-FFF2-40B4-BE49-F238E27FC236}">
                <a16:creationId xmlns:a16="http://schemas.microsoft.com/office/drawing/2014/main" id="{386D1CD6-AAC4-42BD-A7FC-DEA23142713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90D9455-E3D5-1C00-860A-D30ACA99A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C739437-95D8-4953-D574-E4C307DF5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12">
            <a:extLst>
              <a:ext uri="{FF2B5EF4-FFF2-40B4-BE49-F238E27FC236}">
                <a16:creationId xmlns:a16="http://schemas.microsoft.com/office/drawing/2014/main" id="{ACCBF48C-2F61-D370-1C40-4A1A301325ED}"/>
              </a:ext>
            </a:extLst>
          </p:cNvPr>
          <p:cNvSpPr txBox="1"/>
          <p:nvPr userDrawn="1"/>
        </p:nvSpPr>
        <p:spPr>
          <a:xfrm>
            <a:off x="344905" y="371979"/>
            <a:ext cx="48527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>
                <a:solidFill>
                  <a:schemeClr val="accent4"/>
                </a:solidFill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794804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_Analy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41D98FFC-276B-DC45-4A69-D0A394BD9E90}"/>
              </a:ext>
            </a:extLst>
          </p:cNvPr>
          <p:cNvSpPr/>
          <p:nvPr userDrawn="1"/>
        </p:nvSpPr>
        <p:spPr>
          <a:xfrm>
            <a:off x="0" y="3427201"/>
            <a:ext cx="12192000" cy="3430799"/>
          </a:xfrm>
          <a:prstGeom prst="rect">
            <a:avLst/>
          </a:prstGeom>
          <a:solidFill>
            <a:srgbClr val="632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endParaRPr kumimoji="0" lang="pt-BR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itel 5">
            <a:extLst>
              <a:ext uri="{FF2B5EF4-FFF2-40B4-BE49-F238E27FC236}">
                <a16:creationId xmlns:a16="http://schemas.microsoft.com/office/drawing/2014/main" id="{D3C7A5FA-E151-75CE-ECDF-6343E386E8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5633" y="2156514"/>
            <a:ext cx="4642768" cy="1122948"/>
          </a:xfrm>
        </p:spPr>
        <p:txBody>
          <a:bodyPr vert="horz" lIns="0" tIns="0" rIns="0" bIns="0"/>
          <a:lstStyle>
            <a:lvl1pPr rtl="0">
              <a:defRPr lang="pt-BR" sz="28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6" name="Textplatzhalter 6">
            <a:extLst>
              <a:ext uri="{FF2B5EF4-FFF2-40B4-BE49-F238E27FC236}">
                <a16:creationId xmlns:a16="http://schemas.microsoft.com/office/drawing/2014/main" id="{E6BCCC3E-2FA0-4737-DBF8-CB0B0F5B3F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5632" y="3533876"/>
            <a:ext cx="4642767" cy="27699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F13938B3-F822-3B6D-C11D-A155E19CB5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5632" y="4324234"/>
            <a:ext cx="3380763" cy="178898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8" name="Textplatzhalter 8">
            <a:extLst>
              <a:ext uri="{FF2B5EF4-FFF2-40B4-BE49-F238E27FC236}">
                <a16:creationId xmlns:a16="http://schemas.microsoft.com/office/drawing/2014/main" id="{DA1E3E98-0932-E0D1-ED6B-F5E915442E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85632" y="4637218"/>
            <a:ext cx="3380763" cy="178898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168271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DE53C"/>
          </p15:clr>
        </p15:guide>
        <p15:guide id="2" pos="438" userDrawn="1">
          <p15:clr>
            <a:srgbClr val="A4A3A4"/>
          </p15:clr>
        </p15:guide>
        <p15:guide id="3" pos="7355" userDrawn="1">
          <p15:clr>
            <a:srgbClr val="A4A3A4"/>
          </p15:clr>
        </p15:guide>
        <p15:guide id="4" orient="horz" pos="3952" userDrawn="1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ual_Analyt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322" y="587229"/>
            <a:ext cx="11519999" cy="543487"/>
          </a:xfrm>
        </p:spPr>
        <p:txBody>
          <a:bodyPr vert="horz">
            <a:noAutofit/>
          </a:bodyPr>
          <a:lstStyle>
            <a:lvl1pPr rtl="0">
              <a:defRPr lang="pt-BR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321" y="333130"/>
            <a:ext cx="11519999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>
                <a:solidFill>
                  <a:srgbClr val="63277F"/>
                </a:solidFill>
              </a:defRPr>
            </a:lvl1pPr>
          </a:lstStyle>
          <a:p>
            <a:pPr lvl="0"/>
            <a:r>
              <a:rPr lang="pt-BR">
                <a:solidFill>
                  <a:srgbClr val="63277F"/>
                </a:solidFill>
              </a:rPr>
              <a:t>Clique para editar os estilos de texto Mestres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323" y="1200150"/>
            <a:ext cx="5683240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 lang="pt-BR"/>
            </a:pPr>
            <a:r>
              <a:rPr lang="pt-BR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23" name="Espaço Reservado para Texto 21">
            <a:extLst>
              <a:ext uri="{FF2B5EF4-FFF2-40B4-BE49-F238E27FC236}">
                <a16:creationId xmlns:a16="http://schemas.microsoft.com/office/drawing/2014/main" id="{A221802B-CB4D-84DD-14E6-1007D78849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78081" y="1200150"/>
            <a:ext cx="5683240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 lang="pt-BR"/>
            </a:pPr>
            <a:r>
              <a:rPr lang="pt-BR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34" name="Espaço Reservado para Texto 30">
            <a:extLst>
              <a:ext uri="{FF2B5EF4-FFF2-40B4-BE49-F238E27FC236}">
                <a16:creationId xmlns:a16="http://schemas.microsoft.com/office/drawing/2014/main" id="{ED1E9F58-F504-11A1-E312-FD07F2CDEB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5" name="Espaço Reservado para Conteúdo 32">
            <a:extLst>
              <a:ext uri="{FF2B5EF4-FFF2-40B4-BE49-F238E27FC236}">
                <a16:creationId xmlns:a16="http://schemas.microsoft.com/office/drawing/2014/main" id="{DFC69DB4-86B3-D581-B273-C261981F904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994DECD7-0FD8-ADD8-0259-DE86DFAD242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388805" y="6411964"/>
            <a:ext cx="774251" cy="923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rtl="0" eaLnBrk="0" hangingPunct="0">
              <a:spcBef>
                <a:spcPct val="50000"/>
              </a:spcBef>
              <a:defRPr lang="pt-BR" sz="600">
                <a:latin typeface="+mn-lt"/>
              </a:defRPr>
            </a:lvl1pPr>
          </a:lstStyle>
          <a:p>
            <a:pPr>
              <a:defRPr lang="pt-BR"/>
            </a:pPr>
            <a:r>
              <a:rPr lang="pt-BR"/>
              <a:t>Template_Widescreen</a:t>
            </a:r>
          </a:p>
        </p:txBody>
      </p:sp>
    </p:spTree>
    <p:extLst>
      <p:ext uri="{BB962C8B-B14F-4D97-AF65-F5344CB8AC3E}">
        <p14:creationId xmlns:p14="http://schemas.microsoft.com/office/powerpoint/2010/main" val="793635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 userDrawn="1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_Analyt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322" y="587229"/>
            <a:ext cx="11515715" cy="543487"/>
          </a:xfrm>
        </p:spPr>
        <p:txBody>
          <a:bodyPr vert="horz">
            <a:noAutofit/>
          </a:bodyPr>
          <a:lstStyle>
            <a:lvl1pPr rtl="0">
              <a:defRPr lang="pt-BR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322" y="333130"/>
            <a:ext cx="11515716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>
                <a:solidFill>
                  <a:srgbClr val="63277F"/>
                </a:solidFill>
              </a:defRPr>
            </a:lvl1pPr>
          </a:lstStyle>
          <a:p>
            <a:pPr lvl="0"/>
            <a:r>
              <a:rPr lang="pt-BR">
                <a:solidFill>
                  <a:srgbClr val="63277F"/>
                </a:solidFill>
              </a:rPr>
              <a:t>Clique para editar os estilos de texto Mestres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322" y="1200150"/>
            <a:ext cx="11515715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 lang="pt-BR"/>
            </a:pPr>
            <a:r>
              <a:rPr lang="pt-BR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8" name="Espaço Reservado para Texto 30">
            <a:extLst>
              <a:ext uri="{FF2B5EF4-FFF2-40B4-BE49-F238E27FC236}">
                <a16:creationId xmlns:a16="http://schemas.microsoft.com/office/drawing/2014/main" id="{9E9EE099-57C9-4274-7F29-D9B9CE675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Espaço Reservado para Conteúdo 32">
            <a:extLst>
              <a:ext uri="{FF2B5EF4-FFF2-40B4-BE49-F238E27FC236}">
                <a16:creationId xmlns:a16="http://schemas.microsoft.com/office/drawing/2014/main" id="{A8DBD535-1D8D-73E9-B092-F84148C97F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B47B375-DF03-14ED-9411-4D616105415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388805" y="6411964"/>
            <a:ext cx="774251" cy="923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rtl="0" eaLnBrk="0" hangingPunct="0">
              <a:spcBef>
                <a:spcPct val="50000"/>
              </a:spcBef>
              <a:defRPr lang="pt-BR" sz="600">
                <a:latin typeface="+mn-lt"/>
              </a:defRPr>
            </a:lvl1pPr>
          </a:lstStyle>
          <a:p>
            <a:pPr>
              <a:defRPr lang="pt-BR"/>
            </a:pPr>
            <a:r>
              <a:rPr lang="pt-BR"/>
              <a:t>Template_Widescreen</a:t>
            </a:r>
          </a:p>
        </p:txBody>
      </p:sp>
    </p:spTree>
    <p:extLst>
      <p:ext uri="{BB962C8B-B14F-4D97-AF65-F5344CB8AC3E}">
        <p14:creationId xmlns:p14="http://schemas.microsoft.com/office/powerpoint/2010/main" val="3866463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_Analy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4499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EndWhite_Analy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>
            <a:extLst>
              <a:ext uri="{FF2B5EF4-FFF2-40B4-BE49-F238E27FC236}">
                <a16:creationId xmlns:a16="http://schemas.microsoft.com/office/drawing/2014/main" id="{5386046F-E65D-43F2-B183-1DEA970D140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Objeto 1" hidden="1">
                        <a:extLst>
                          <a:ext uri="{FF2B5EF4-FFF2-40B4-BE49-F238E27FC236}">
                            <a16:creationId xmlns:a16="http://schemas.microsoft.com/office/drawing/2014/main" id="{5386046F-E65D-43F2-B183-1DEA970D14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Imagem 4">
            <a:extLst>
              <a:ext uri="{FF2B5EF4-FFF2-40B4-BE49-F238E27FC236}">
                <a16:creationId xmlns:a16="http://schemas.microsoft.com/office/drawing/2014/main" id="{9292448E-F500-76A8-72BE-50A5D19ACEA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96834" y="5591462"/>
            <a:ext cx="2731786" cy="681615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537F67F0-14F9-FB6A-B10A-89E832C05F99}"/>
              </a:ext>
            </a:extLst>
          </p:cNvPr>
          <p:cNvSpPr/>
          <p:nvPr userDrawn="1"/>
        </p:nvSpPr>
        <p:spPr>
          <a:xfrm>
            <a:off x="9970323" y="6062079"/>
            <a:ext cx="1393129" cy="16884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0"/>
            <a:r>
              <a:rPr lang="pt-BR" b="1">
                <a:solidFill>
                  <a:srgbClr val="63277F"/>
                </a:solidFill>
              </a:rPr>
              <a:t>Uncovering insights</a:t>
            </a:r>
          </a:p>
        </p:txBody>
      </p:sp>
    </p:spTree>
    <p:extLst>
      <p:ext uri="{BB962C8B-B14F-4D97-AF65-F5344CB8AC3E}">
        <p14:creationId xmlns:p14="http://schemas.microsoft.com/office/powerpoint/2010/main" val="3555499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A4A3A4"/>
          </p15:clr>
        </p15:guide>
        <p15:guide id="2" orient="horz" pos="3952" userDrawn="1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EndColor_Analytics">
    <p:bg>
      <p:bgPr>
        <a:solidFill>
          <a:srgbClr val="6327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>
            <a:extLst>
              <a:ext uri="{FF2B5EF4-FFF2-40B4-BE49-F238E27FC236}">
                <a16:creationId xmlns:a16="http://schemas.microsoft.com/office/drawing/2014/main" id="{B95AFD00-30E2-C40F-B373-0F94E8D5658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Objeto 3" hidden="1">
                        <a:extLst>
                          <a:ext uri="{FF2B5EF4-FFF2-40B4-BE49-F238E27FC236}">
                            <a16:creationId xmlns:a16="http://schemas.microsoft.com/office/drawing/2014/main" id="{B95AFD00-30E2-C40F-B373-0F94E8D565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1187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A4A3A4"/>
          </p15:clr>
        </p15:guide>
        <p15:guide id="2" pos="438" userDrawn="1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_Al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Imagem 89" descr="Forma, Círculo&#10;&#10;Descrição gerada automaticamente">
            <a:extLst>
              <a:ext uri="{FF2B5EF4-FFF2-40B4-BE49-F238E27FC236}">
                <a16:creationId xmlns:a16="http://schemas.microsoft.com/office/drawing/2014/main" id="{4B78D9CC-F107-5707-91AD-6EAE4C32CD1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6297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ingle_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Imagem 89" descr="Forma, Círculo&#10;&#10;Descrição gerada automaticamente">
            <a:extLst>
              <a:ext uri="{FF2B5EF4-FFF2-40B4-BE49-F238E27FC236}">
                <a16:creationId xmlns:a16="http://schemas.microsoft.com/office/drawing/2014/main" id="{60CE1164-AB42-D6ED-E2A3-21C1B1F24D8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22" y="587229"/>
            <a:ext cx="11515715" cy="543487"/>
          </a:xfrm>
        </p:spPr>
        <p:txBody>
          <a:bodyPr vert="horz">
            <a:noAutofit/>
          </a:bodyPr>
          <a:lstStyle>
            <a:lvl1pPr rtl="0">
              <a:defRPr lang="pt-BR"/>
            </a:lvl1pPr>
          </a:lstStyle>
          <a:p>
            <a:endParaRPr lang="pt-BR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1322" y="333130"/>
            <a:ext cx="11515716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>
                <a:solidFill>
                  <a:srgbClr val="63277F"/>
                </a:solidFill>
              </a:defRPr>
            </a:lvl1pPr>
          </a:lstStyle>
          <a:p>
            <a:endParaRPr lang="pt-BR">
              <a:solidFill>
                <a:srgbClr val="63277F"/>
              </a:solidFill>
            </a:endParaRP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1322" y="1200150"/>
            <a:ext cx="11515715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 lang="pt-BR"/>
            </a:pPr>
            <a:endParaRPr lang="pt-BR">
              <a:solidFill>
                <a:srgbClr val="808080"/>
              </a:solidFill>
            </a:endParaRPr>
          </a:p>
        </p:txBody>
      </p:sp>
      <p:sp>
        <p:nvSpPr>
          <p:cNvPr id="8" name="Espaço Reservado para Texto 30">
            <a:extLst>
              <a:ext uri="{FF2B5EF4-FFF2-40B4-BE49-F238E27FC236}">
                <a16:creationId xmlns:a16="http://schemas.microsoft.com/office/drawing/2014/main" id="{9E9EE099-57C9-4274-7F29-D9B9CE6757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pt-BR"/>
          </a:p>
        </p:txBody>
      </p:sp>
      <p:sp>
        <p:nvSpPr>
          <p:cNvPr id="10" name="Espaço Reservado para Conteúdo 32">
            <a:extLst>
              <a:ext uri="{FF2B5EF4-FFF2-40B4-BE49-F238E27FC236}">
                <a16:creationId xmlns:a16="http://schemas.microsoft.com/office/drawing/2014/main" id="{A8DBD535-1D8D-73E9-B092-F84148C97F7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pt-BR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1B89CB9-9E6F-E7E5-D4F4-8B1C1AEA013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460247" y="6411964"/>
            <a:ext cx="774251" cy="923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rtl="0" eaLnBrk="0" hangingPunct="0">
              <a:spcBef>
                <a:spcPct val="50000"/>
              </a:spcBef>
              <a:defRPr lang="pt-BR" sz="600">
                <a:latin typeface="+mn-lt"/>
              </a:defRPr>
            </a:lvl1pPr>
          </a:lstStyle>
          <a:p>
            <a:pPr>
              <a:defRPr lang="pt-BR"/>
            </a:pPr>
            <a:r>
              <a:rPr lang="pt-BR"/>
              <a:t>Template_Widescreen</a:t>
            </a:r>
          </a:p>
        </p:txBody>
      </p:sp>
    </p:spTree>
    <p:extLst>
      <p:ext uri="{BB962C8B-B14F-4D97-AF65-F5344CB8AC3E}">
        <p14:creationId xmlns:p14="http://schemas.microsoft.com/office/powerpoint/2010/main" val="3859485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66FA5C-3B60-E820-0097-32643AE0CB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lang="pt-BR"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E8847BD-ED7F-14E4-F133-53E74BB833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lang="pt-BR" sz="2400"/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D48BC6-834B-353E-A2AE-4764BA127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99A45-0693-4E08-8AE4-0362204955FE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B710CE-25D3-42E2-477B-A3293F5C5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DF0DCF-A51F-DD3B-8315-216028D6F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06FA-AAEB-4883-ABC4-766D94449B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64872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MS_Conteu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322" y="587229"/>
            <a:ext cx="10360000" cy="543487"/>
          </a:xfrm>
        </p:spPr>
        <p:txBody>
          <a:bodyPr vert="horz">
            <a:noAutofit/>
          </a:bodyPr>
          <a:lstStyle>
            <a:lvl1pPr rtl="0">
              <a:defRPr lang="pt-BR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322" y="333130"/>
            <a:ext cx="10360000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>
                <a:solidFill>
                  <a:srgbClr val="63277F"/>
                </a:solidFill>
              </a:defRPr>
            </a:lvl1pPr>
          </a:lstStyle>
          <a:p>
            <a:pPr lvl="0"/>
            <a:r>
              <a:rPr lang="pt-BR">
                <a:solidFill>
                  <a:srgbClr val="63277F"/>
                </a:solidFill>
              </a:rPr>
              <a:t>Clique para editar os estilos de texto Mestres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322" y="1200150"/>
            <a:ext cx="11515715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 lang="pt-BR"/>
            </a:pPr>
            <a:r>
              <a:rPr lang="pt-BR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8" name="Espaço Reservado para Texto 30">
            <a:extLst>
              <a:ext uri="{FF2B5EF4-FFF2-40B4-BE49-F238E27FC236}">
                <a16:creationId xmlns:a16="http://schemas.microsoft.com/office/drawing/2014/main" id="{9E9EE099-57C9-4274-7F29-D9B9CE675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Espaço Reservado para Conteúdo 32">
            <a:extLst>
              <a:ext uri="{FF2B5EF4-FFF2-40B4-BE49-F238E27FC236}">
                <a16:creationId xmlns:a16="http://schemas.microsoft.com/office/drawing/2014/main" id="{A8DBD535-1D8D-73E9-B092-F84148C97F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900" name="Logo DMS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843467" y="154236"/>
            <a:ext cx="1189822" cy="6830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1B82AB-6ABE-73B1-7FAB-5E0476BAA29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56390" y="6571866"/>
            <a:ext cx="388386" cy="228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35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13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062413173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60" imgH="360" progId="TCLayout.ActiveDocument.1">
                  <p:embed/>
                </p:oleObj>
              </mc:Choice>
              <mc:Fallback>
                <p:oleObj name="think-cell Slide" r:id="rId14" imgW="360" imgH="36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341322" y="587229"/>
            <a:ext cx="11519999" cy="54348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</a:t>
            </a:r>
            <a:r>
              <a:rPr lang="pt-BR" noProof="0" err="1"/>
              <a:t>title</a:t>
            </a:r>
            <a:endParaRPr lang="pt-BR" noProof="0"/>
          </a:p>
        </p:txBody>
      </p:sp>
      <p:sp>
        <p:nvSpPr>
          <p:cNvPr id="17" name="Rectangle 4"/>
          <p:cNvSpPr>
            <a:spLocks noChangeArrowheads="1"/>
          </p:cNvSpPr>
          <p:nvPr userDrawn="1"/>
        </p:nvSpPr>
        <p:spPr bwMode="gray">
          <a:xfrm>
            <a:off x="11708490" y="6583842"/>
            <a:ext cx="142668" cy="107722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/>
          <a:p>
            <a:pPr lvl="0" algn="r" rtl="0"/>
            <a:fld id="{BD9E6411-2CB3-495D-B4E9-78602717BE5F}" type="slidenum">
              <a:rPr lang="pt-BR" sz="700" noProof="0" smtClean="0">
                <a:solidFill>
                  <a:srgbClr val="808080"/>
                </a:solidFill>
                <a:latin typeface="Arial"/>
                <a:cs typeface="Arial"/>
              </a:rPr>
              <a:pPr lvl="0" algn="r" rtl="0"/>
              <a:t>‹nº›</a:t>
            </a:fld>
            <a:endParaRPr lang="pt-BR" sz="700" noProof="0">
              <a:solidFill>
                <a:srgbClr val="808080"/>
              </a:solidFill>
              <a:latin typeface="Arial"/>
              <a:cs typeface="Arial"/>
            </a:endParaRPr>
          </a:p>
        </p:txBody>
      </p:sp>
      <p:grpSp>
        <p:nvGrpSpPr>
          <p:cNvPr id="19" name="OCC-Grid" hidden="1"/>
          <p:cNvGrpSpPr>
            <a:grpSpLocks/>
          </p:cNvGrpSpPr>
          <p:nvPr userDrawn="1"/>
        </p:nvGrpSpPr>
        <p:grpSpPr bwMode="auto">
          <a:xfrm>
            <a:off x="443078" y="1231"/>
            <a:ext cx="12319001" cy="6064256"/>
            <a:chOff x="258" y="165"/>
            <a:chExt cx="6305" cy="3820"/>
          </a:xfrm>
        </p:grpSpPr>
        <p:sp>
          <p:nvSpPr>
            <p:cNvPr id="20" name="Rectangle 46" hidden="1"/>
            <p:cNvSpPr>
              <a:spLocks noChangeArrowheads="1"/>
            </p:cNvSpPr>
            <p:nvPr/>
          </p:nvSpPr>
          <p:spPr bwMode="auto">
            <a:xfrm>
              <a:off x="6345" y="165"/>
              <a:ext cx="218" cy="15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36000" tIns="36000" rIns="36000" bIns="36000" anchor="ctr"/>
            <a:lstStyle/>
            <a:p>
              <a:pPr rtl="0" eaLnBrk="1">
                <a:defRPr/>
              </a:pPr>
              <a:endParaRPr lang="pt-BR" sz="1000"/>
            </a:p>
          </p:txBody>
        </p:sp>
        <p:sp>
          <p:nvSpPr>
            <p:cNvPr id="21" name="Rectangle 47" hidden="1"/>
            <p:cNvSpPr>
              <a:spLocks noChangeArrowheads="1"/>
            </p:cNvSpPr>
            <p:nvPr/>
          </p:nvSpPr>
          <p:spPr bwMode="auto">
            <a:xfrm>
              <a:off x="258" y="1094"/>
              <a:ext cx="5896" cy="2891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rtl="0" eaLnBrk="1">
                <a:defRPr/>
              </a:pPr>
              <a:endParaRPr lang="pt-BR" sz="1000"/>
            </a:p>
          </p:txBody>
        </p:sp>
      </p:grpSp>
      <p:cxnSp>
        <p:nvCxnSpPr>
          <p:cNvPr id="6" name="Gerader Verbinder 5"/>
          <p:cNvCxnSpPr>
            <a:cxnSpLocks/>
          </p:cNvCxnSpPr>
          <p:nvPr userDrawn="1"/>
        </p:nvCxnSpPr>
        <p:spPr>
          <a:xfrm>
            <a:off x="341322" y="218114"/>
            <a:ext cx="11509356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/>
          <p:cNvCxnSpPr>
            <a:cxnSpLocks/>
          </p:cNvCxnSpPr>
          <p:nvPr userDrawn="1"/>
        </p:nvCxnSpPr>
        <p:spPr>
          <a:xfrm>
            <a:off x="336000" y="6535024"/>
            <a:ext cx="11520000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Source"/>
          <p:cNvSpPr/>
          <p:nvPr userDrawn="1"/>
        </p:nvSpPr>
        <p:spPr>
          <a:xfrm>
            <a:off x="11633695" y="6420934"/>
            <a:ext cx="227626" cy="92333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gradFill flip="none" rotWithShape="1">
                  <a:gsLst>
                    <a:gs pos="0">
                      <a:srgbClr val="000000"/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  <a:tileRect/>
                </a:gra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rtl="0"/>
            <a:endParaRPr/>
          </a:p>
        </p:txBody>
      </p:sp>
    </p:spTree>
    <p:extLst>
      <p:ext uri="{BB962C8B-B14F-4D97-AF65-F5344CB8AC3E}">
        <p14:creationId xmlns:p14="http://schemas.microsoft.com/office/powerpoint/2010/main" val="711977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0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808" r:id="rId8"/>
    <p:sldLayoutId id="2147483810" r:id="rId9"/>
    <p:sldLayoutId id="2147483819" r:id="rId10"/>
    <p:sldLayoutId id="2147483820" r:id="rId11"/>
  </p:sldLayoutIdLst>
  <p:hf sldNum="0" hdr="0" dt="0"/>
  <p:txStyles>
    <p:titleStyle>
      <a:lvl1pPr algn="l" defTabSz="457224" rtl="0" eaLnBrk="1" latinLnBrk="0" hangingPunct="1">
        <a:lnSpc>
          <a:spcPct val="90000"/>
        </a:lnSpc>
        <a:spcBef>
          <a:spcPct val="0"/>
        </a:spcBef>
        <a:buNone/>
        <a:defRPr sz="2000" b="1" i="0" kern="1200" baseline="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0" marR="0" indent="177808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rgbClr val="009796"/>
        </a:buClr>
        <a:buSzTx/>
        <a:buFont typeface="Wingdings 2" panose="05020102010507070707" pitchFamily="18" charset="2"/>
        <a:buChar char=""/>
        <a:tabLst/>
        <a:defRPr lang="nl-NL" sz="1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7808" marR="0" indent="177808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rgbClr val="009796"/>
        </a:buClr>
        <a:buSzTx/>
        <a:buFont typeface="Arial" charset="0"/>
        <a:buChar char="–"/>
        <a:tabLst/>
        <a:defRPr lang="nl-NL" sz="14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363556" marR="0" indent="177808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rgbClr val="009796"/>
        </a:buClr>
        <a:buSzTx/>
        <a:buFont typeface="Wingdings 2" pitchFamily="18" charset="2"/>
        <a:buChar char=""/>
        <a:tabLst/>
        <a:defRPr lang="nl-NL" sz="1400" kern="1200" dirty="0" smtClean="0">
          <a:solidFill>
            <a:schemeClr val="tx1"/>
          </a:solidFill>
          <a:latin typeface="+mn-lt"/>
          <a:ea typeface="+mn-ea"/>
          <a:cs typeface="Arial"/>
        </a:defRPr>
      </a:lvl3pPr>
      <a:lvl4pPr marL="0" marR="0" indent="-171459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Tx/>
        <a:buSzTx/>
        <a:buFont typeface="Wingdings" pitchFamily="2" charset="2"/>
        <a:buChar char="w"/>
        <a:tabLst/>
        <a:defRPr lang="nl-NL" sz="1400" kern="1200" dirty="0">
          <a:solidFill>
            <a:schemeClr val="tx1"/>
          </a:solidFill>
          <a:latin typeface="+mn-lt"/>
          <a:ea typeface="+mn-ea"/>
          <a:cs typeface="Arial"/>
        </a:defRPr>
      </a:lvl4pPr>
      <a:lvl5pPr marL="0" marR="0" indent="-185746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Tx/>
        <a:buSzTx/>
        <a:buFont typeface="Arial" charset="0"/>
        <a:buChar char="○"/>
        <a:tabLst/>
        <a:defRPr lang="nl-NL" sz="1400" kern="1200" dirty="0">
          <a:solidFill>
            <a:schemeClr val="tx1"/>
          </a:solidFill>
          <a:latin typeface="+mn-lt"/>
          <a:ea typeface="+mn-ea"/>
          <a:cs typeface="Arial"/>
        </a:defRPr>
      </a:lvl5pPr>
      <a:lvl6pPr marL="2514726" marR="0" indent="-228612" algn="l" defTabSz="457224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2" algn="l" defTabSz="45722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2" indent="-228612" algn="l" defTabSz="45722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2" algn="l" defTabSz="45722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4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8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2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2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3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60" imgH="360" progId="TCLayout.ActiveDocument.1">
                  <p:embed/>
                </p:oleObj>
              </mc:Choice>
              <mc:Fallback>
                <p:oleObj name="think-cell Slide" r:id="rId14" imgW="360" imgH="36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341322" y="587229"/>
            <a:ext cx="11519999" cy="54348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edit</a:t>
            </a:r>
            <a:r>
              <a:rPr lang="pt-BR"/>
              <a:t> </a:t>
            </a:r>
            <a:r>
              <a:rPr lang="pt-BR" err="1"/>
              <a:t>title</a:t>
            </a:r>
            <a:endParaRPr lang="pt-BR"/>
          </a:p>
        </p:txBody>
      </p:sp>
      <p:sp>
        <p:nvSpPr>
          <p:cNvPr id="17" name="Rectangle 4"/>
          <p:cNvSpPr>
            <a:spLocks noChangeArrowheads="1"/>
          </p:cNvSpPr>
          <p:nvPr userDrawn="1"/>
        </p:nvSpPr>
        <p:spPr bwMode="gray">
          <a:xfrm>
            <a:off x="11708490" y="6583842"/>
            <a:ext cx="142668" cy="107722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/>
          <a:p>
            <a:pPr lvl="0" algn="r" rtl="0"/>
            <a:fld id="{BD9E6411-2CB3-495D-B4E9-78602717BE5F}" type="slidenum">
              <a:rPr lang="pt-BR" sz="700" smtClean="0">
                <a:solidFill>
                  <a:srgbClr val="808080"/>
                </a:solidFill>
                <a:latin typeface="Arial"/>
                <a:cs typeface="Arial"/>
              </a:rPr>
              <a:pPr lvl="0" algn="r" rtl="0"/>
              <a:t>‹nº›</a:t>
            </a:fld>
            <a:endParaRPr lang="pt-BR" sz="700">
              <a:solidFill>
                <a:srgbClr val="808080"/>
              </a:solidFill>
              <a:latin typeface="Arial"/>
              <a:cs typeface="Arial"/>
            </a:endParaRPr>
          </a:p>
        </p:txBody>
      </p:sp>
      <p:grpSp>
        <p:nvGrpSpPr>
          <p:cNvPr id="19" name="OCC-Grid" hidden="1"/>
          <p:cNvGrpSpPr>
            <a:grpSpLocks/>
          </p:cNvGrpSpPr>
          <p:nvPr userDrawn="1"/>
        </p:nvGrpSpPr>
        <p:grpSpPr bwMode="auto">
          <a:xfrm>
            <a:off x="443078" y="1231"/>
            <a:ext cx="12319001" cy="6064256"/>
            <a:chOff x="258" y="165"/>
            <a:chExt cx="6305" cy="3820"/>
          </a:xfrm>
        </p:grpSpPr>
        <p:sp>
          <p:nvSpPr>
            <p:cNvPr id="20" name="Rectangle 46" hidden="1"/>
            <p:cNvSpPr>
              <a:spLocks noChangeArrowheads="1"/>
            </p:cNvSpPr>
            <p:nvPr/>
          </p:nvSpPr>
          <p:spPr bwMode="auto">
            <a:xfrm>
              <a:off x="6345" y="165"/>
              <a:ext cx="218" cy="15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36000" tIns="36000" rIns="36000" bIns="36000" anchor="ctr"/>
            <a:lstStyle/>
            <a:p>
              <a:pPr rtl="0" eaLnBrk="1">
                <a:defRPr lang="pt-BR"/>
              </a:pPr>
              <a:endParaRPr lang="pt-BR" sz="1000"/>
            </a:p>
          </p:txBody>
        </p:sp>
        <p:sp>
          <p:nvSpPr>
            <p:cNvPr id="21" name="Rectangle 47" hidden="1"/>
            <p:cNvSpPr>
              <a:spLocks noChangeArrowheads="1"/>
            </p:cNvSpPr>
            <p:nvPr/>
          </p:nvSpPr>
          <p:spPr bwMode="auto">
            <a:xfrm>
              <a:off x="258" y="1094"/>
              <a:ext cx="5896" cy="2891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rtl="0" eaLnBrk="1">
                <a:defRPr lang="pt-BR"/>
              </a:pPr>
              <a:endParaRPr lang="pt-BR" sz="1000"/>
            </a:p>
          </p:txBody>
        </p:sp>
      </p:grpSp>
      <p:sp>
        <p:nvSpPr>
          <p:cNvPr id="35" name="Source"/>
          <p:cNvSpPr/>
          <p:nvPr userDrawn="1"/>
        </p:nvSpPr>
        <p:spPr>
          <a:xfrm>
            <a:off x="11633695" y="6420934"/>
            <a:ext cx="227626" cy="92333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gradFill flip="none" rotWithShape="1">
                  <a:gsLst>
                    <a:gs pos="0">
                      <a:srgbClr val="000000"/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  <a:tileRect/>
                </a:gra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rt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1977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hf sldNum="0" hdr="0" dt="0"/>
  <p:txStyles>
    <p:titleStyle>
      <a:lvl1pPr algn="l" defTabSz="457224" rtl="0" eaLnBrk="1" latinLnBrk="0" hangingPunct="1">
        <a:lnSpc>
          <a:spcPct val="90000"/>
        </a:lnSpc>
        <a:spcBef>
          <a:spcPct val="0"/>
        </a:spcBef>
        <a:buNone/>
        <a:defRPr lang="pt-BR" sz="2000" b="1" i="0" kern="1200" baseline="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0" marR="0" indent="177808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rgbClr val="009796"/>
        </a:buClr>
        <a:buSzTx/>
        <a:buFont typeface="Wingdings 2" panose="05020102010507070707" pitchFamily="18" charset="2"/>
        <a:buChar char=""/>
        <a:tabLst/>
        <a:defRPr lang="pt-BR" sz="1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7808" marR="0" indent="177808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rgbClr val="009796"/>
        </a:buClr>
        <a:buSzTx/>
        <a:buFont typeface="Arial" charset="0"/>
        <a:buChar char="–"/>
        <a:tabLst/>
        <a:defRPr lang="pt-BR" sz="14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363556" marR="0" indent="177808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rgbClr val="009796"/>
        </a:buClr>
        <a:buSzTx/>
        <a:buFont typeface="Wingdings 2" pitchFamily="18" charset="2"/>
        <a:buChar char=""/>
        <a:tabLst/>
        <a:defRPr lang="pt-BR" sz="1400" kern="1200" dirty="0" smtClean="0">
          <a:solidFill>
            <a:schemeClr val="tx1"/>
          </a:solidFill>
          <a:latin typeface="+mn-lt"/>
          <a:ea typeface="+mn-ea"/>
          <a:cs typeface="Arial"/>
        </a:defRPr>
      </a:lvl3pPr>
      <a:lvl4pPr marL="0" marR="0" indent="-171459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Tx/>
        <a:buSzTx/>
        <a:buFont typeface="Wingdings" pitchFamily="2" charset="2"/>
        <a:buChar char="w"/>
        <a:tabLst/>
        <a:defRPr lang="pt-BR" sz="1400" kern="1200" dirty="0">
          <a:solidFill>
            <a:schemeClr val="tx1"/>
          </a:solidFill>
          <a:latin typeface="+mn-lt"/>
          <a:ea typeface="+mn-ea"/>
          <a:cs typeface="Arial"/>
        </a:defRPr>
      </a:lvl4pPr>
      <a:lvl5pPr marL="0" marR="0" indent="-185746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Tx/>
        <a:buSzTx/>
        <a:buFont typeface="Arial" charset="0"/>
        <a:buChar char="○"/>
        <a:tabLst/>
        <a:defRPr lang="pt-BR" sz="1400" kern="1200" dirty="0">
          <a:solidFill>
            <a:schemeClr val="tx1"/>
          </a:solidFill>
          <a:latin typeface="+mn-lt"/>
          <a:ea typeface="+mn-ea"/>
          <a:cs typeface="Arial"/>
        </a:defRPr>
      </a:lvl5pPr>
      <a:lvl6pPr marL="2514726" marR="0" indent="-228612" algn="l" defTabSz="457224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/>
        <a:buChar char="•"/>
        <a:tabLst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2" algn="l" defTabSz="457224" rtl="0" eaLnBrk="1" latinLnBrk="0" hangingPunct="1">
        <a:spcBef>
          <a:spcPct val="20000"/>
        </a:spcBef>
        <a:buFont typeface="Arial"/>
        <a:buChar char="•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2" indent="-228612" algn="l" defTabSz="457224" rtl="0" eaLnBrk="1" latinLnBrk="0" hangingPunct="1">
        <a:spcBef>
          <a:spcPct val="20000"/>
        </a:spcBef>
        <a:buFont typeface="Arial"/>
        <a:buChar char="•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2" algn="l" defTabSz="457224" rtl="0" eaLnBrk="1" latinLnBrk="0" hangingPunct="1">
        <a:spcBef>
          <a:spcPct val="20000"/>
        </a:spcBef>
        <a:buFont typeface="Arial"/>
        <a:buChar char="•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4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8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2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2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jp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41983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31069" y="0"/>
            <a:ext cx="816093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89947" y="2507742"/>
            <a:ext cx="8602052" cy="1815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45629" y="2767698"/>
            <a:ext cx="2326957" cy="1307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0"/>
            <a:ext cx="1215834" cy="595304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4"/>
          <p:cNvSpPr txBox="1"/>
          <p:nvPr/>
        </p:nvSpPr>
        <p:spPr>
          <a:xfrm>
            <a:off x="4455100" y="2600000"/>
            <a:ext cx="5976000" cy="1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Projeto Diligenciamento</a:t>
            </a:r>
          </a:p>
          <a:p>
            <a:pPr marL="0" lvl="0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Estrutura e job description</a:t>
            </a:r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Outubro de 2026</a:t>
            </a:r>
          </a:p>
        </p:txBody>
      </p:sp>
    </p:spTree>
    <p:extLst>
      <p:ext uri="{BB962C8B-B14F-4D97-AF65-F5344CB8AC3E}">
        <p14:creationId xmlns:p14="http://schemas.microsoft.com/office/powerpoint/2010/main" val="627399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D6250-9746-C03F-7F8E-8EDEADFC7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AA945-07DC-333B-6345-7094EBC81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22" y="624300"/>
            <a:ext cx="10360000" cy="543487"/>
          </a:xfrm>
        </p:spPr>
        <p:txBody>
          <a:bodyPr/>
          <a:lstStyle/>
          <a:p>
            <a:r>
              <a:rPr lang="pt-BR" sz="1800" dirty="0"/>
              <a:t>A estrutura desejada contempla 7 analistas um TL, objetivo da estrutura são as tratativas e gestão das atividades relacionados ao agenciamento de carga.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EB58F5-F8FE-AC6A-7FFD-05EAF37B7E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Diligenciamento – Estrutura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5EC4CF-E8C0-7A24-FCF3-167971AA68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lIns="0" tIns="0" rIns="0" bIns="0" anchor="t"/>
          <a:lstStyle/>
          <a:p>
            <a:r>
              <a:t>Fonte: SOP Door to Door v1.0; CIS, STAGES.parquet (13/10/2026</a:t>
            </a:r>
            <a:r>
              <a:rPr lang="pt-BR"/>
              <a:t>)</a:t>
            </a:r>
            <a:endParaRPr lang="pt-BR">
              <a:cs typeface="Arial"/>
            </a:endParaRPr>
          </a:p>
        </p:txBody>
      </p:sp>
      <p:sp>
        <p:nvSpPr>
          <p:cNvPr id="51" name="Content Placeholder 50">
            <a:extLst>
              <a:ext uri="{FF2B5EF4-FFF2-40B4-BE49-F238E27FC236}">
                <a16:creationId xmlns:a16="http://schemas.microsoft.com/office/drawing/2014/main" id="{C8C603AC-D859-EFFD-0B9B-B583B1A0EC6D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Disclaimer_Box">
            <a:extLst>
              <a:ext uri="{FF2B5EF4-FFF2-40B4-BE49-F238E27FC236}">
                <a16:creationId xmlns:a16="http://schemas.microsoft.com/office/drawing/2014/main" id="{FF1389B4-ADA6-CA71-1714-5AC808A04713}"/>
              </a:ext>
            </a:extLst>
          </p:cNvPr>
          <p:cNvSpPr txBox="1"/>
          <p:nvPr/>
        </p:nvSpPr>
        <p:spPr>
          <a:xfrm>
            <a:off x="8193024" y="1197864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lang="pt-BR" sz="1200" b="1" i="0" dirty="0">
                <a:solidFill>
                  <a:srgbClr val="005E9E"/>
                </a:solidFill>
                <a:latin typeface="Arial"/>
              </a:rPr>
              <a:t>Para discussão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A6CC4CC8-7A2F-CD08-257E-696EFA1EB896}"/>
              </a:ext>
            </a:extLst>
          </p:cNvPr>
          <p:cNvSpPr/>
          <p:nvPr/>
        </p:nvSpPr>
        <p:spPr>
          <a:xfrm>
            <a:off x="3975100" y="3999992"/>
            <a:ext cx="3959352" cy="256032"/>
          </a:xfrm>
          <a:prstGeom prst="roundRect">
            <a:avLst>
              <a:gd name="adj" fmla="val 8000"/>
            </a:avLst>
          </a:prstGeom>
          <a:solidFill>
            <a:srgbClr val="633484"/>
          </a:solidFill>
          <a:ln>
            <a:noFill/>
          </a:ln>
          <a:effectLst/>
        </p:spPr>
        <p:txBody>
          <a:bodyPr wrap="square" lIns="100584" rIns="100584" rtlCol="0" anchor="ctr"/>
          <a:lstStyle/>
          <a:p>
            <a:pPr algn="ctr">
              <a:spcAft>
                <a:spcPts val="200"/>
              </a:spcAft>
            </a:pPr>
            <a:r>
              <a:rPr lang="pt-BR" sz="1150" b="1" dirty="0">
                <a:solidFill>
                  <a:srgbClr val="FFFFFF"/>
                </a:solidFill>
                <a:latin typeface="Arial"/>
              </a:rPr>
              <a:t>Função 1 - Analista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9C26B2D7-4DF6-CEFD-E743-0D366C179CE6}"/>
              </a:ext>
            </a:extLst>
          </p:cNvPr>
          <p:cNvSpPr/>
          <p:nvPr/>
        </p:nvSpPr>
        <p:spPr>
          <a:xfrm>
            <a:off x="3975100" y="4292600"/>
            <a:ext cx="3959352" cy="1783080"/>
          </a:xfrm>
          <a:prstGeom prst="roundRect">
            <a:avLst>
              <a:gd name="adj" fmla="val 8000"/>
            </a:avLst>
          </a:prstGeom>
          <a:solidFill>
            <a:srgbClr val="EFEAF3"/>
          </a:solidFill>
          <a:ln>
            <a:noFill/>
          </a:ln>
          <a:effectLst/>
        </p:spPr>
        <p:txBody>
          <a:bodyPr wrap="square" lIns="36000" tIns="36000" rIns="36000" bIns="36000" rtlCol="0" anchor="t"/>
          <a:lstStyle/>
          <a:p>
            <a:pPr marL="171450" indent="-171450">
              <a:spcAft>
                <a:spcPts val="100"/>
              </a:spcAft>
              <a:buClr>
                <a:srgbClr val="633484"/>
              </a:buClr>
              <a:buFont typeface="Arial"/>
              <a:buChar char="•"/>
            </a:pPr>
            <a:r>
              <a:rPr lang="pt-BR" dirty="0">
                <a:solidFill>
                  <a:srgbClr val="333333"/>
                </a:solidFill>
                <a:latin typeface="Arial"/>
              </a:rPr>
              <a:t>Faz o kick-off com operações e registra em ata</a:t>
            </a:r>
          </a:p>
          <a:p>
            <a:pPr marL="171450" indent="-171450">
              <a:spcAft>
                <a:spcPts val="100"/>
              </a:spcAft>
              <a:buClr>
                <a:srgbClr val="633484"/>
              </a:buClr>
              <a:buFont typeface="Arial"/>
              <a:buChar char="•"/>
            </a:pPr>
            <a:r>
              <a:rPr lang="pt-BR" dirty="0">
                <a:solidFill>
                  <a:srgbClr val="333333"/>
                </a:solidFill>
                <a:latin typeface="Arial"/>
              </a:rPr>
              <a:t>Acompanha toda semana o cronograma e as 4 datas</a:t>
            </a:r>
          </a:p>
          <a:p>
            <a:pPr marL="171450" indent="-171450">
              <a:spcAft>
                <a:spcPts val="100"/>
              </a:spcAft>
              <a:buClr>
                <a:srgbClr val="633484"/>
              </a:buClr>
              <a:buFont typeface="Arial"/>
              <a:buChar char="•"/>
            </a:pPr>
            <a:r>
              <a:rPr lang="pt-BR" dirty="0">
                <a:solidFill>
                  <a:srgbClr val="333333"/>
                </a:solidFill>
                <a:latin typeface="Arial"/>
              </a:rPr>
              <a:t>No atraso, monta plano de recuperação e avalia modal</a:t>
            </a:r>
          </a:p>
          <a:p>
            <a:pPr marL="171450" indent="-171450">
              <a:spcAft>
                <a:spcPts val="100"/>
              </a:spcAft>
              <a:buClr>
                <a:srgbClr val="633484"/>
              </a:buClr>
              <a:buFont typeface="Arial"/>
              <a:buChar char="•"/>
            </a:pPr>
            <a:r>
              <a:rPr lang="pt-BR" dirty="0">
                <a:solidFill>
                  <a:srgbClr val="333333"/>
                </a:solidFill>
                <a:latin typeface="Arial"/>
              </a:rPr>
              <a:t>Valida PL, certificados, licenças e ficha de DG</a:t>
            </a:r>
          </a:p>
          <a:p>
            <a:pPr marL="171450" indent="-171450">
              <a:spcAft>
                <a:spcPts val="100"/>
              </a:spcAft>
              <a:buClr>
                <a:srgbClr val="633484"/>
              </a:buClr>
              <a:buFont typeface="Arial"/>
              <a:buChar char="•"/>
            </a:pPr>
            <a:r>
              <a:rPr lang="pt-BR" dirty="0">
                <a:solidFill>
                  <a:srgbClr val="333333"/>
                </a:solidFill>
                <a:latin typeface="Arial"/>
              </a:rPr>
              <a:t>Pede reemissão e leva divergências ao cliente</a:t>
            </a:r>
          </a:p>
          <a:p>
            <a:pPr marL="171450" indent="-171450">
              <a:spcAft>
                <a:spcPts val="100"/>
              </a:spcAft>
              <a:buClr>
                <a:srgbClr val="633484"/>
              </a:buClr>
              <a:buFont typeface="Arial"/>
              <a:buChar char="•"/>
            </a:pPr>
            <a:r>
              <a:rPr lang="pt-BR" dirty="0">
                <a:solidFill>
                  <a:srgbClr val="333333"/>
                </a:solidFill>
                <a:latin typeface="Arial"/>
              </a:rPr>
              <a:t>Resolve discrepâncias no prazo (crítica 2 d, maior 5 d)</a:t>
            </a:r>
          </a:p>
          <a:p>
            <a:pPr marL="171450" indent="-171450">
              <a:spcAft>
                <a:spcPts val="100"/>
              </a:spcAft>
              <a:buClr>
                <a:srgbClr val="633484"/>
              </a:buClr>
              <a:buFont typeface="Arial"/>
              <a:buChar char="•"/>
            </a:pPr>
            <a:r>
              <a:rPr lang="pt-BR" dirty="0">
                <a:solidFill>
                  <a:srgbClr val="333333"/>
                </a:solidFill>
                <a:latin typeface="Arial"/>
              </a:rPr>
              <a:t>Confere fotos dos volumes e tratamento da madeira</a:t>
            </a:r>
          </a:p>
          <a:p>
            <a:pPr marL="171450" indent="-171450">
              <a:spcAft>
                <a:spcPts val="100"/>
              </a:spcAft>
              <a:buClr>
                <a:srgbClr val="633484"/>
              </a:buClr>
              <a:buFont typeface="Arial"/>
              <a:buChar char="•"/>
            </a:pPr>
            <a:r>
              <a:rPr lang="pt-BR" dirty="0">
                <a:solidFill>
                  <a:srgbClr val="333333"/>
                </a:solidFill>
                <a:latin typeface="Arial"/>
              </a:rPr>
              <a:t>Confere o checklist do CR e os dados de coleta</a:t>
            </a:r>
          </a:p>
          <a:p>
            <a:pPr marL="171450" indent="-171450">
              <a:spcAft>
                <a:spcPts val="100"/>
              </a:spcAft>
              <a:buClr>
                <a:srgbClr val="633484"/>
              </a:buClr>
              <a:buFont typeface="Arial"/>
              <a:buChar char="•"/>
            </a:pPr>
            <a:r>
              <a:rPr lang="pt-BR" dirty="0">
                <a:solidFill>
                  <a:srgbClr val="333333"/>
                </a:solidFill>
                <a:latin typeface="Arial"/>
              </a:rPr>
              <a:t>Emite a instrução de coleta e envia o CR ao TL</a:t>
            </a:r>
          </a:p>
          <a:p>
            <a:pPr marL="171450" indent="-171450">
              <a:spcAft>
                <a:spcPts val="100"/>
              </a:spcAft>
              <a:buClr>
                <a:srgbClr val="633484"/>
              </a:buClr>
              <a:buFont typeface="Arial"/>
              <a:buChar char="•"/>
            </a:pPr>
            <a:r>
              <a:rPr lang="pt-BR" dirty="0">
                <a:solidFill>
                  <a:srgbClr val="333333"/>
                </a:solidFill>
                <a:latin typeface="Arial"/>
              </a:rPr>
              <a:t>Registra na hora e escala o que passar de 4 h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92A21A6F-0042-9A18-D976-6F7F1C1CB2E5}"/>
              </a:ext>
            </a:extLst>
          </p:cNvPr>
          <p:cNvSpPr/>
          <p:nvPr/>
        </p:nvSpPr>
        <p:spPr>
          <a:xfrm>
            <a:off x="8013700" y="3999992"/>
            <a:ext cx="3840480" cy="256032"/>
          </a:xfrm>
          <a:prstGeom prst="roundRect">
            <a:avLst>
              <a:gd name="adj" fmla="val 8000"/>
            </a:avLst>
          </a:prstGeom>
          <a:solidFill>
            <a:srgbClr val="633484"/>
          </a:solidFill>
          <a:ln>
            <a:noFill/>
          </a:ln>
          <a:effectLst/>
        </p:spPr>
        <p:txBody>
          <a:bodyPr wrap="square" lIns="100584" rIns="100584" rtlCol="0" anchor="ctr"/>
          <a:lstStyle/>
          <a:p>
            <a:pPr algn="ctr">
              <a:spcAft>
                <a:spcPts val="200"/>
              </a:spcAft>
            </a:pPr>
            <a:r>
              <a:rPr lang="pt-BR" sz="1150" b="1" dirty="0">
                <a:solidFill>
                  <a:srgbClr val="FFFFFF"/>
                </a:solidFill>
                <a:latin typeface="Arial"/>
              </a:rPr>
              <a:t>Função 2 – Analista  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7E593FA1-2C4C-5B86-2F41-BFE2C19E820C}"/>
              </a:ext>
            </a:extLst>
          </p:cNvPr>
          <p:cNvSpPr/>
          <p:nvPr/>
        </p:nvSpPr>
        <p:spPr>
          <a:xfrm>
            <a:off x="8013700" y="4292600"/>
            <a:ext cx="3840480" cy="1783080"/>
          </a:xfrm>
          <a:prstGeom prst="roundRect">
            <a:avLst>
              <a:gd name="adj" fmla="val 8000"/>
            </a:avLst>
          </a:prstGeom>
          <a:solidFill>
            <a:srgbClr val="EFEAF3"/>
          </a:solidFill>
          <a:ln>
            <a:noFill/>
          </a:ln>
          <a:effectLst/>
        </p:spPr>
        <p:txBody>
          <a:bodyPr wrap="square" lIns="36000" tIns="36000" rIns="36000" bIns="36000" rtlCol="0" anchor="t"/>
          <a:lstStyle/>
          <a:p>
            <a:pPr marL="171450" indent="-171450">
              <a:spcAft>
                <a:spcPts val="100"/>
              </a:spcAft>
              <a:buClr>
                <a:srgbClr val="633484"/>
              </a:buClr>
              <a:buFont typeface="Arial"/>
              <a:buChar char="•"/>
            </a:pPr>
            <a:r>
              <a:rPr lang="pt-BR" dirty="0">
                <a:solidFill>
                  <a:srgbClr val="333333"/>
                </a:solidFill>
                <a:latin typeface="Arial"/>
              </a:rPr>
              <a:t>Cadastra no PO Lobby as POs sem EDI</a:t>
            </a:r>
          </a:p>
          <a:p>
            <a:pPr marL="171450" indent="-171450">
              <a:spcAft>
                <a:spcPts val="100"/>
              </a:spcAft>
              <a:buClr>
                <a:srgbClr val="633484"/>
              </a:buClr>
              <a:buFont typeface="Arial"/>
              <a:buChar char="•"/>
            </a:pPr>
            <a:r>
              <a:rPr lang="pt-BR" dirty="0">
                <a:solidFill>
                  <a:srgbClr val="333333"/>
                </a:solidFill>
                <a:latin typeface="Arial"/>
              </a:rPr>
              <a:t>Revisa a PO e a puxa para trabalho em até 24 h</a:t>
            </a:r>
          </a:p>
          <a:p>
            <a:pPr marL="171450" indent="-171450">
              <a:spcAft>
                <a:spcPts val="100"/>
              </a:spcAft>
              <a:buClr>
                <a:srgbClr val="633484"/>
              </a:buClr>
              <a:buFont typeface="Arial"/>
              <a:buChar char="•"/>
            </a:pPr>
            <a:r>
              <a:rPr lang="pt-BR" dirty="0">
                <a:solidFill>
                  <a:srgbClr val="333333"/>
                </a:solidFill>
                <a:latin typeface="Arial"/>
              </a:rPr>
              <a:t>Compara cada nova versão da PO antes de substituir</a:t>
            </a:r>
          </a:p>
          <a:p>
            <a:pPr marL="171450" indent="-171450">
              <a:spcAft>
                <a:spcPts val="100"/>
              </a:spcAft>
              <a:buClr>
                <a:srgbClr val="633484"/>
              </a:buClr>
              <a:buFont typeface="Arial"/>
              <a:buChar char="•"/>
            </a:pPr>
            <a:r>
              <a:rPr lang="pt-BR" dirty="0">
                <a:solidFill>
                  <a:srgbClr val="333333"/>
                </a:solidFill>
                <a:latin typeface="Arial"/>
              </a:rPr>
              <a:t>Confirma e registra a data de necessidade</a:t>
            </a:r>
          </a:p>
          <a:p>
            <a:pPr marL="171450" indent="-171450">
              <a:spcAft>
                <a:spcPts val="100"/>
              </a:spcAft>
              <a:buClr>
                <a:srgbClr val="633484"/>
              </a:buClr>
              <a:buFont typeface="Arial"/>
              <a:buChar char="•"/>
            </a:pPr>
            <a:r>
              <a:rPr lang="pt-BR" dirty="0">
                <a:solidFill>
                  <a:srgbClr val="333333"/>
                </a:solidFill>
                <a:latin typeface="Arial"/>
              </a:rPr>
              <a:t>Avisa quando a promessa passa da necessidade</a:t>
            </a:r>
          </a:p>
          <a:p>
            <a:pPr marL="171450" indent="-171450">
              <a:spcAft>
                <a:spcPts val="100"/>
              </a:spcAft>
              <a:buClr>
                <a:srgbClr val="633484"/>
              </a:buClr>
              <a:buFont typeface="Arial"/>
              <a:buChar char="•"/>
            </a:pPr>
            <a:r>
              <a:rPr lang="pt-BR" dirty="0">
                <a:solidFill>
                  <a:srgbClr val="333333"/>
                </a:solidFill>
                <a:latin typeface="Arial"/>
              </a:rPr>
              <a:t>Confere cada invoice contra a PO</a:t>
            </a:r>
          </a:p>
          <a:p>
            <a:pPr marL="171450" indent="-171450">
              <a:spcAft>
                <a:spcPts val="100"/>
              </a:spcAft>
              <a:buClr>
                <a:srgbClr val="633484"/>
              </a:buClr>
              <a:buFont typeface="Arial"/>
              <a:buChar char="•"/>
            </a:pPr>
            <a:r>
              <a:rPr lang="pt-BR" dirty="0">
                <a:solidFill>
                  <a:srgbClr val="333333"/>
                </a:solidFill>
                <a:latin typeface="Arial"/>
              </a:rPr>
              <a:t>Confere os 14 dados do art. 557, se exigido</a:t>
            </a:r>
          </a:p>
          <a:p>
            <a:pPr marL="171450" indent="-171450">
              <a:spcAft>
                <a:spcPts val="100"/>
              </a:spcAft>
              <a:buClr>
                <a:srgbClr val="633484"/>
              </a:buClr>
              <a:buFont typeface="Arial"/>
              <a:buChar char="•"/>
            </a:pPr>
            <a:r>
              <a:rPr lang="pt-BR" dirty="0">
                <a:solidFill>
                  <a:srgbClr val="333333"/>
                </a:solidFill>
                <a:latin typeface="Arial"/>
              </a:rPr>
              <a:t>Avisa discrepância crítica e registra a causa raiz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4FAE958D-21FE-59E7-8A1B-332686200A49}"/>
              </a:ext>
            </a:extLst>
          </p:cNvPr>
          <p:cNvSpPr/>
          <p:nvPr/>
        </p:nvSpPr>
        <p:spPr>
          <a:xfrm>
            <a:off x="342900" y="3999992"/>
            <a:ext cx="3566160" cy="256032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>
            <a:noFill/>
          </a:ln>
          <a:effectLst/>
        </p:spPr>
        <p:txBody>
          <a:bodyPr wrap="square" lIns="100584" rIns="100584" rtlCol="0" anchor="ctr"/>
          <a:lstStyle/>
          <a:p>
            <a:pPr algn="ctr">
              <a:spcAft>
                <a:spcPts val="200"/>
              </a:spcAft>
            </a:pPr>
            <a:r>
              <a:rPr lang="pt-BR" sz="1150" b="1" dirty="0">
                <a:solidFill>
                  <a:srgbClr val="FFFFFF"/>
                </a:solidFill>
                <a:latin typeface="Arial"/>
              </a:rPr>
              <a:t>TL 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2E62CF07-FACE-7816-9FD8-8A988CC6D6EB}"/>
              </a:ext>
            </a:extLst>
          </p:cNvPr>
          <p:cNvSpPr/>
          <p:nvPr/>
        </p:nvSpPr>
        <p:spPr>
          <a:xfrm>
            <a:off x="342900" y="4292600"/>
            <a:ext cx="3566160" cy="1783080"/>
          </a:xfrm>
          <a:prstGeom prst="roundRect">
            <a:avLst>
              <a:gd name="adj" fmla="val 8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 lIns="36000" tIns="36000" rIns="36000" bIns="36000" rtlCol="0" anchor="t"/>
          <a:lstStyle/>
          <a:p>
            <a:pPr marL="171450" indent="-171450">
              <a:spcAft>
                <a:spcPts val="100"/>
              </a:spcAft>
              <a:buClr>
                <a:schemeClr val="accent4"/>
              </a:buClr>
              <a:buFont typeface="Arial"/>
              <a:buChar char="•"/>
            </a:pPr>
            <a:r>
              <a:rPr lang="pt-BR" dirty="0">
                <a:solidFill>
                  <a:srgbClr val="333333"/>
                </a:solidFill>
                <a:latin typeface="Arial"/>
              </a:rPr>
              <a:t>Tem carteira própria e cobre o time no pico</a:t>
            </a:r>
          </a:p>
          <a:p>
            <a:pPr marL="171450" indent="-171450">
              <a:spcAft>
                <a:spcPts val="100"/>
              </a:spcAft>
              <a:buClr>
                <a:schemeClr val="accent4"/>
              </a:buClr>
              <a:buFont typeface="Arial"/>
              <a:buChar char="•"/>
            </a:pPr>
            <a:r>
              <a:rPr lang="pt-BR" dirty="0">
                <a:solidFill>
                  <a:srgbClr val="333333"/>
                </a:solidFill>
                <a:latin typeface="Arial"/>
              </a:rPr>
              <a:t>Aprova o Cargo Readiness antes do armazém</a:t>
            </a:r>
          </a:p>
          <a:p>
            <a:pPr marL="171450" indent="-171450">
              <a:spcAft>
                <a:spcPts val="100"/>
              </a:spcAft>
              <a:buClr>
                <a:schemeClr val="accent4"/>
              </a:buClr>
              <a:buFont typeface="Arial"/>
              <a:buChar char="•"/>
            </a:pPr>
            <a:r>
              <a:rPr lang="pt-BR" dirty="0">
                <a:solidFill>
                  <a:srgbClr val="333333"/>
                </a:solidFill>
                <a:latin typeface="Arial"/>
              </a:rPr>
              <a:t>Resolve escalonamentos em 24 h com cliente e fornecedor</a:t>
            </a:r>
          </a:p>
          <a:p>
            <a:pPr marL="171450" indent="-171450">
              <a:spcAft>
                <a:spcPts val="100"/>
              </a:spcAft>
              <a:buClr>
                <a:schemeClr val="accent4"/>
              </a:buClr>
              <a:buFont typeface="Arial"/>
              <a:buChar char="•"/>
            </a:pPr>
            <a:r>
              <a:rPr lang="pt-BR" dirty="0">
                <a:solidFill>
                  <a:srgbClr val="333333"/>
                </a:solidFill>
                <a:latin typeface="Arial"/>
              </a:rPr>
              <a:t>Distribui as POs e mantém a matriz de exigências</a:t>
            </a:r>
          </a:p>
          <a:p>
            <a:pPr marL="171450" indent="-171450">
              <a:spcAft>
                <a:spcPts val="100"/>
              </a:spcAft>
              <a:buClr>
                <a:schemeClr val="accent4"/>
              </a:buClr>
              <a:buFont typeface="Arial"/>
              <a:buChar char="•"/>
            </a:pPr>
            <a:r>
              <a:rPr lang="pt-BR" dirty="0">
                <a:solidFill>
                  <a:srgbClr val="333333"/>
                </a:solidFill>
                <a:latin typeface="Arial"/>
              </a:rPr>
              <a:t>Acompanha os indicadores do SOP no rito diário</a:t>
            </a:r>
          </a:p>
          <a:p>
            <a:pPr marL="171450" indent="-171450">
              <a:spcAft>
                <a:spcPts val="100"/>
              </a:spcAft>
              <a:buClr>
                <a:schemeClr val="accent4"/>
              </a:buClr>
              <a:buFont typeface="Arial"/>
              <a:buChar char="•"/>
            </a:pPr>
            <a:r>
              <a:rPr lang="pt-BR" dirty="0">
                <a:solidFill>
                  <a:srgbClr val="333333"/>
                </a:solidFill>
                <a:latin typeface="Arial"/>
              </a:rPr>
              <a:t>Treina os novos analistas e dimensiona o time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5B567D76-A81A-231F-6634-AEB0F629678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1322" y="1200150"/>
            <a:ext cx="11515715" cy="184665"/>
          </a:xfrm>
        </p:spPr>
        <p:txBody>
          <a:bodyPr/>
          <a:lstStyle/>
          <a:p>
            <a:r>
              <a:rPr lang="pt-BR"/>
              <a:t>Job description do Analista (Fornecedor e Cliente) </a:t>
            </a:r>
            <a:r>
              <a:rPr dirty="0"/>
              <a:t>e </a:t>
            </a:r>
            <a:r>
              <a:rPr lang="pt-BR"/>
              <a:t>do Team Leader de SOP</a:t>
            </a:r>
            <a:endParaRPr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E1030DD-AC1B-3E5C-1026-3EA64983D018}"/>
              </a:ext>
            </a:extLst>
          </p:cNvPr>
          <p:cNvGrpSpPr/>
          <p:nvPr/>
        </p:nvGrpSpPr>
        <p:grpSpPr>
          <a:xfrm>
            <a:off x="488950" y="1491996"/>
            <a:ext cx="11214100" cy="2189557"/>
            <a:chOff x="488950" y="1491996"/>
            <a:chExt cx="11214100" cy="2189557"/>
          </a:xfrm>
        </p:grpSpPr>
        <p:sp>
          <p:nvSpPr>
            <p:cNvPr id="71" name="Retângulo 70">
              <a:extLst>
                <a:ext uri="{FF2B5EF4-FFF2-40B4-BE49-F238E27FC236}">
                  <a16:creationId xmlns:a16="http://schemas.microsoft.com/office/drawing/2014/main" id="{ACCCA526-97C7-0552-E1D3-B127C124B9F3}"/>
                </a:ext>
              </a:extLst>
            </p:cNvPr>
            <p:cNvSpPr/>
            <p:nvPr/>
          </p:nvSpPr>
          <p:spPr>
            <a:xfrm>
              <a:off x="488950" y="2465737"/>
              <a:ext cx="7690611" cy="946949"/>
            </a:xfrm>
            <a:prstGeom prst="rect">
              <a:avLst/>
            </a:prstGeom>
            <a:noFill/>
            <a:ln w="12700">
              <a:solidFill>
                <a:srgbClr val="633484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0" rIns="4572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pt-BR" sz="1000" b="1" dirty="0">
                  <a:solidFill>
                    <a:srgbClr val="633484"/>
                  </a:solidFill>
                </a:rPr>
                <a:t>Foresea e Seagems</a:t>
              </a:r>
            </a:p>
          </p:txBody>
        </p:sp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93E8AC2F-E5E7-A0DA-AA90-669E0D8C271A}"/>
                </a:ext>
              </a:extLst>
            </p:cNvPr>
            <p:cNvSpPr/>
            <p:nvPr/>
          </p:nvSpPr>
          <p:spPr>
            <a:xfrm>
              <a:off x="8411210" y="2465738"/>
              <a:ext cx="3291840" cy="985216"/>
            </a:xfrm>
            <a:prstGeom prst="rect">
              <a:avLst/>
            </a:prstGeom>
            <a:noFill/>
            <a:ln w="12700">
              <a:solidFill>
                <a:srgbClr val="633484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0" rIns="4572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r"/>
              <a:r>
                <a:rPr lang="pt-BR" sz="1000" b="1" dirty="0">
                  <a:solidFill>
                    <a:srgbClr val="633484"/>
                  </a:solidFill>
                </a:rPr>
                <a:t>Gol Linhas Aéreas</a:t>
              </a:r>
            </a:p>
          </p:txBody>
        </p:sp>
        <p:cxnSp>
          <p:nvCxnSpPr>
            <p:cNvPr id="300" name="Tree connector 300"/>
            <p:cNvCxnSpPr/>
            <p:nvPr/>
          </p:nvCxnSpPr>
          <p:spPr>
            <a:xfrm>
              <a:off x="6064250" y="2253996"/>
              <a:ext cx="0" cy="76200"/>
            </a:xfrm>
            <a:prstGeom prst="line">
              <a:avLst/>
            </a:prstGeom>
            <a:ln w="12700">
              <a:solidFill>
                <a:srgbClr val="005E9E"/>
              </a:solidFill>
            </a:ln>
          </p:spPr>
        </p:cxnSp>
        <p:cxnSp>
          <p:nvCxnSpPr>
            <p:cNvPr id="301" name="Tree connector 301"/>
            <p:cNvCxnSpPr>
              <a:cxnSpLocks/>
            </p:cNvCxnSpPr>
            <p:nvPr/>
          </p:nvCxnSpPr>
          <p:spPr>
            <a:xfrm>
              <a:off x="4349750" y="2330196"/>
              <a:ext cx="5715000" cy="0"/>
            </a:xfrm>
            <a:prstGeom prst="line">
              <a:avLst/>
            </a:prstGeom>
            <a:ln w="12700">
              <a:solidFill>
                <a:srgbClr val="005E9E"/>
              </a:solidFill>
            </a:ln>
          </p:spPr>
        </p:cxnSp>
        <p:cxnSp>
          <p:nvCxnSpPr>
            <p:cNvPr id="302" name="Tree connector 302"/>
            <p:cNvCxnSpPr>
              <a:cxnSpLocks/>
              <a:endCxn id="62" idx="0"/>
            </p:cNvCxnSpPr>
            <p:nvPr/>
          </p:nvCxnSpPr>
          <p:spPr>
            <a:xfrm>
              <a:off x="4349750" y="2330196"/>
              <a:ext cx="0" cy="508000"/>
            </a:xfrm>
            <a:prstGeom prst="line">
              <a:avLst/>
            </a:prstGeom>
            <a:ln w="12700">
              <a:solidFill>
                <a:srgbClr val="005E9E"/>
              </a:solidFill>
            </a:ln>
          </p:spPr>
        </p:cxnSp>
        <p:cxnSp>
          <p:nvCxnSpPr>
            <p:cNvPr id="303" name="Tree connector 303"/>
            <p:cNvCxnSpPr>
              <a:cxnSpLocks/>
            </p:cNvCxnSpPr>
            <p:nvPr/>
          </p:nvCxnSpPr>
          <p:spPr>
            <a:xfrm>
              <a:off x="10064750" y="2330196"/>
              <a:ext cx="0" cy="431800"/>
            </a:xfrm>
            <a:prstGeom prst="line">
              <a:avLst/>
            </a:prstGeom>
            <a:ln w="12700">
              <a:solidFill>
                <a:srgbClr val="005E9E"/>
              </a:solidFill>
            </a:ln>
          </p:spPr>
        </p:cxnSp>
        <p:cxnSp>
          <p:nvCxnSpPr>
            <p:cNvPr id="304" name="Tree connector 304"/>
            <p:cNvCxnSpPr/>
            <p:nvPr/>
          </p:nvCxnSpPr>
          <p:spPr>
            <a:xfrm>
              <a:off x="4349750" y="2685796"/>
              <a:ext cx="0" cy="76200"/>
            </a:xfrm>
            <a:prstGeom prst="line">
              <a:avLst/>
            </a:prstGeom>
            <a:ln w="12700">
              <a:solidFill>
                <a:srgbClr val="005E9E"/>
              </a:solidFill>
            </a:ln>
          </p:spPr>
        </p:cxnSp>
        <p:cxnSp>
          <p:nvCxnSpPr>
            <p:cNvPr id="305" name="Tree connector 305"/>
            <p:cNvCxnSpPr/>
            <p:nvPr/>
          </p:nvCxnSpPr>
          <p:spPr>
            <a:xfrm>
              <a:off x="1301750" y="2761996"/>
              <a:ext cx="6096000" cy="0"/>
            </a:xfrm>
            <a:prstGeom prst="line">
              <a:avLst/>
            </a:prstGeom>
            <a:ln w="12700">
              <a:solidFill>
                <a:srgbClr val="005E9E"/>
              </a:solidFill>
            </a:ln>
          </p:spPr>
        </p:cxnSp>
        <p:cxnSp>
          <p:nvCxnSpPr>
            <p:cNvPr id="306" name="Tree connector 306"/>
            <p:cNvCxnSpPr/>
            <p:nvPr/>
          </p:nvCxnSpPr>
          <p:spPr>
            <a:xfrm>
              <a:off x="1301750" y="2761996"/>
              <a:ext cx="0" cy="76200"/>
            </a:xfrm>
            <a:prstGeom prst="line">
              <a:avLst/>
            </a:prstGeom>
            <a:ln w="12700">
              <a:solidFill>
                <a:srgbClr val="005E9E"/>
              </a:solidFill>
            </a:ln>
          </p:spPr>
        </p:cxnSp>
        <p:cxnSp>
          <p:nvCxnSpPr>
            <p:cNvPr id="307" name="Tree connector 307"/>
            <p:cNvCxnSpPr/>
            <p:nvPr/>
          </p:nvCxnSpPr>
          <p:spPr>
            <a:xfrm>
              <a:off x="2825750" y="2761996"/>
              <a:ext cx="0" cy="76200"/>
            </a:xfrm>
            <a:prstGeom prst="line">
              <a:avLst/>
            </a:prstGeom>
            <a:ln w="12700">
              <a:solidFill>
                <a:srgbClr val="005E9E"/>
              </a:solidFill>
            </a:ln>
          </p:spPr>
        </p:cxnSp>
        <p:cxnSp>
          <p:nvCxnSpPr>
            <p:cNvPr id="309" name="Tree connector 309"/>
            <p:cNvCxnSpPr/>
            <p:nvPr/>
          </p:nvCxnSpPr>
          <p:spPr>
            <a:xfrm>
              <a:off x="5873750" y="2761996"/>
              <a:ext cx="0" cy="76200"/>
            </a:xfrm>
            <a:prstGeom prst="line">
              <a:avLst/>
            </a:prstGeom>
            <a:ln w="12700">
              <a:solidFill>
                <a:srgbClr val="005E9E"/>
              </a:solidFill>
            </a:ln>
          </p:spPr>
        </p:cxnSp>
        <p:cxnSp>
          <p:nvCxnSpPr>
            <p:cNvPr id="310" name="Tree connector 310"/>
            <p:cNvCxnSpPr/>
            <p:nvPr/>
          </p:nvCxnSpPr>
          <p:spPr>
            <a:xfrm>
              <a:off x="7397750" y="2761996"/>
              <a:ext cx="0" cy="76200"/>
            </a:xfrm>
            <a:prstGeom prst="line">
              <a:avLst/>
            </a:prstGeom>
            <a:ln w="12700">
              <a:solidFill>
                <a:srgbClr val="005E9E"/>
              </a:solidFill>
            </a:ln>
          </p:spPr>
        </p:cxnSp>
        <p:cxnSp>
          <p:nvCxnSpPr>
            <p:cNvPr id="311" name="Tree connector 311"/>
            <p:cNvCxnSpPr/>
            <p:nvPr/>
          </p:nvCxnSpPr>
          <p:spPr>
            <a:xfrm>
              <a:off x="10064750" y="2685796"/>
              <a:ext cx="0" cy="76200"/>
            </a:xfrm>
            <a:prstGeom prst="line">
              <a:avLst/>
            </a:prstGeom>
            <a:ln w="12700">
              <a:solidFill>
                <a:srgbClr val="005E9E"/>
              </a:solidFill>
            </a:ln>
          </p:spPr>
        </p:cxnSp>
        <p:cxnSp>
          <p:nvCxnSpPr>
            <p:cNvPr id="312" name="Tree connector 312"/>
            <p:cNvCxnSpPr/>
            <p:nvPr/>
          </p:nvCxnSpPr>
          <p:spPr>
            <a:xfrm>
              <a:off x="9302750" y="2761996"/>
              <a:ext cx="1524000" cy="0"/>
            </a:xfrm>
            <a:prstGeom prst="line">
              <a:avLst/>
            </a:prstGeom>
            <a:ln w="12700">
              <a:solidFill>
                <a:srgbClr val="005E9E"/>
              </a:solidFill>
            </a:ln>
          </p:spPr>
        </p:cxnSp>
        <p:cxnSp>
          <p:nvCxnSpPr>
            <p:cNvPr id="313" name="Tree connector 313"/>
            <p:cNvCxnSpPr/>
            <p:nvPr/>
          </p:nvCxnSpPr>
          <p:spPr>
            <a:xfrm>
              <a:off x="9302750" y="2761996"/>
              <a:ext cx="0" cy="76200"/>
            </a:xfrm>
            <a:prstGeom prst="line">
              <a:avLst/>
            </a:prstGeom>
            <a:ln w="12700">
              <a:solidFill>
                <a:srgbClr val="005E9E"/>
              </a:solidFill>
            </a:ln>
          </p:spPr>
        </p:cxnSp>
        <p:cxnSp>
          <p:nvCxnSpPr>
            <p:cNvPr id="314" name="Tree connector 314"/>
            <p:cNvCxnSpPr/>
            <p:nvPr/>
          </p:nvCxnSpPr>
          <p:spPr>
            <a:xfrm>
              <a:off x="10826750" y="2761996"/>
              <a:ext cx="0" cy="76200"/>
            </a:xfrm>
            <a:prstGeom prst="line">
              <a:avLst/>
            </a:prstGeom>
            <a:ln w="12700">
              <a:solidFill>
                <a:srgbClr val="005E9E"/>
              </a:solidFill>
            </a:ln>
          </p:spPr>
        </p:cxn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54CA7E17-1671-017D-E151-81CEE14EE792}"/>
                </a:ext>
              </a:extLst>
            </p:cNvPr>
            <p:cNvSpPr/>
            <p:nvPr/>
          </p:nvSpPr>
          <p:spPr>
            <a:xfrm>
              <a:off x="4984750" y="1491996"/>
              <a:ext cx="2159000" cy="304800"/>
            </a:xfrm>
            <a:prstGeom prst="roundRect">
              <a:avLst>
                <a:gd name="adj" fmla="val 8000"/>
              </a:avLst>
            </a:prstGeom>
            <a:solidFill>
              <a:srgbClr val="005E9E"/>
            </a:solidFill>
            <a:ln>
              <a:noFill/>
            </a:ln>
            <a:effectLst/>
          </p:spPr>
          <p:txBody>
            <a:bodyPr wrap="square" lIns="45720" rIns="45720" rtlCol="0" anchor="ctr"/>
            <a:lstStyle/>
            <a:p>
              <a:pPr algn="ctr">
                <a:spcAft>
                  <a:spcPts val="200"/>
                </a:spcAft>
              </a:pPr>
              <a:r>
                <a:rPr lang="pt-BR" sz="1000" b="1" dirty="0">
                  <a:solidFill>
                    <a:srgbClr val="FFFFFF"/>
                  </a:solidFill>
                  <a:latin typeface="Arial"/>
                </a:rPr>
                <a:t>Head de Serviços</a:t>
              </a:r>
            </a:p>
          </p:txBody>
        </p:sp>
        <p:cxnSp>
          <p:nvCxnSpPr>
            <p:cNvPr id="24" name="Connector 23">
              <a:extLst>
                <a:ext uri="{FF2B5EF4-FFF2-40B4-BE49-F238E27FC236}">
                  <a16:creationId xmlns:a16="http://schemas.microsoft.com/office/drawing/2014/main" id="{A0A7DC6A-7E27-600F-D1D8-1C5ACA19C7E3}"/>
                </a:ext>
              </a:extLst>
            </p:cNvPr>
            <p:cNvCxnSpPr/>
            <p:nvPr/>
          </p:nvCxnSpPr>
          <p:spPr>
            <a:xfrm>
              <a:off x="6064250" y="1796796"/>
              <a:ext cx="0" cy="152400"/>
            </a:xfrm>
            <a:prstGeom prst="line">
              <a:avLst/>
            </a:prstGeom>
            <a:ln w="15240">
              <a:solidFill>
                <a:srgbClr val="005E9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85BE2F12-FE99-0EDD-9DDE-9C98538CC383}"/>
                </a:ext>
              </a:extLst>
            </p:cNvPr>
            <p:cNvSpPr/>
            <p:nvPr/>
          </p:nvSpPr>
          <p:spPr>
            <a:xfrm>
              <a:off x="4730750" y="1949196"/>
              <a:ext cx="2667000" cy="304800"/>
            </a:xfrm>
            <a:prstGeom prst="roundRect">
              <a:avLst>
                <a:gd name="adj" fmla="val 8000"/>
              </a:avLst>
            </a:prstGeom>
            <a:solidFill>
              <a:srgbClr val="00ACEE"/>
            </a:solidFill>
            <a:ln>
              <a:noFill/>
            </a:ln>
            <a:effectLst/>
          </p:spPr>
          <p:txBody>
            <a:bodyPr wrap="square" lIns="45720" tIns="18288" rIns="45720" bIns="18288" rtlCol="0" anchor="ctr"/>
            <a:lstStyle/>
            <a:p>
              <a:pPr algn="ctr">
                <a:spcAft>
                  <a:spcPts val="200"/>
                </a:spcAft>
              </a:pPr>
              <a:r>
                <a:rPr lang="pt-BR" b="1" dirty="0">
                  <a:solidFill>
                    <a:srgbClr val="FFFFFF"/>
                  </a:solidFill>
                  <a:latin typeface="Arial"/>
                </a:rPr>
                <a:t>TL Serviço</a:t>
              </a:r>
              <a:endParaRPr lang="pt-BR" sz="850" b="0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154C3A18-8916-44B0-168B-308166672B70}"/>
                </a:ext>
              </a:extLst>
            </p:cNvPr>
            <p:cNvSpPr/>
            <p:nvPr/>
          </p:nvSpPr>
          <p:spPr>
            <a:xfrm>
              <a:off x="603250" y="2838196"/>
              <a:ext cx="1397000" cy="330200"/>
            </a:xfrm>
            <a:prstGeom prst="roundRect">
              <a:avLst>
                <a:gd name="adj" fmla="val 8000"/>
              </a:avLst>
            </a:prstGeom>
            <a:solidFill>
              <a:srgbClr val="EFEAF3"/>
            </a:solidFill>
            <a:ln w="12700">
              <a:solidFill>
                <a:srgbClr val="633484"/>
              </a:solidFill>
            </a:ln>
            <a:effectLst/>
          </p:spPr>
          <p:txBody>
            <a:bodyPr wrap="square" lIns="18288" tIns="18288" rIns="18288" bIns="18288" rtlCol="0" anchor="ctr"/>
            <a:lstStyle/>
            <a:p>
              <a:pPr algn="ctr">
                <a:spcAft>
                  <a:spcPts val="200"/>
                </a:spcAft>
              </a:pPr>
              <a:r>
                <a:rPr lang="pt-BR" sz="900" b="1" dirty="0">
                  <a:solidFill>
                    <a:srgbClr val="633484"/>
                  </a:solidFill>
                  <a:latin typeface="Arial"/>
                </a:rPr>
                <a:t>Analista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9B6898D9-FD0E-F57D-89ED-6AC9D3FB2774}"/>
                </a:ext>
              </a:extLst>
            </p:cNvPr>
            <p:cNvSpPr/>
            <p:nvPr/>
          </p:nvSpPr>
          <p:spPr>
            <a:xfrm>
              <a:off x="2127250" y="2838196"/>
              <a:ext cx="1397000" cy="330200"/>
            </a:xfrm>
            <a:prstGeom prst="roundRect">
              <a:avLst>
                <a:gd name="adj" fmla="val 8000"/>
              </a:avLst>
            </a:prstGeom>
            <a:solidFill>
              <a:srgbClr val="EFEAF3"/>
            </a:solidFill>
            <a:ln w="12700">
              <a:solidFill>
                <a:srgbClr val="633484"/>
              </a:solidFill>
            </a:ln>
            <a:effectLst/>
          </p:spPr>
          <p:txBody>
            <a:bodyPr wrap="square" lIns="18288" tIns="18288" rIns="18288" bIns="18288" rtlCol="0" anchor="ctr"/>
            <a:lstStyle/>
            <a:p>
              <a:pPr algn="ctr">
                <a:spcAft>
                  <a:spcPts val="200"/>
                </a:spcAft>
              </a:pPr>
              <a:r>
                <a:rPr lang="pt-BR" sz="900" b="1" dirty="0">
                  <a:solidFill>
                    <a:srgbClr val="633484"/>
                  </a:solidFill>
                  <a:latin typeface="Arial"/>
                </a:rPr>
                <a:t>Analista </a:t>
              </a:r>
            </a:p>
          </p:txBody>
        </p:sp>
        <p:sp>
          <p:nvSpPr>
            <p:cNvPr id="62" name="Rounded Rectangle 32">
              <a:extLst>
                <a:ext uri="{FF2B5EF4-FFF2-40B4-BE49-F238E27FC236}">
                  <a16:creationId xmlns:a16="http://schemas.microsoft.com/office/drawing/2014/main" id="{136F3118-5B99-9EEF-C05C-26CFE93E3A54}"/>
                </a:ext>
              </a:extLst>
            </p:cNvPr>
            <p:cNvSpPr/>
            <p:nvPr/>
          </p:nvSpPr>
          <p:spPr>
            <a:xfrm>
              <a:off x="3651250" y="2838196"/>
              <a:ext cx="1397000" cy="330200"/>
            </a:xfrm>
            <a:prstGeom prst="roundRect">
              <a:avLst>
                <a:gd name="adj" fmla="val 8000"/>
              </a:avLst>
            </a:prstGeom>
            <a:solidFill>
              <a:srgbClr val="EFEAF3"/>
            </a:solidFill>
            <a:ln w="12700">
              <a:solidFill>
                <a:srgbClr val="633484"/>
              </a:solidFill>
            </a:ln>
            <a:effectLst/>
          </p:spPr>
          <p:txBody>
            <a:bodyPr wrap="square" lIns="18288" tIns="18288" rIns="18288" bIns="18288" rtlCol="0" anchor="ctr"/>
            <a:lstStyle/>
            <a:p>
              <a:pPr algn="ctr">
                <a:spcAft>
                  <a:spcPts val="200"/>
                </a:spcAft>
              </a:pPr>
              <a:r>
                <a:rPr lang="pt-BR" sz="900" b="1" dirty="0">
                  <a:solidFill>
                    <a:srgbClr val="633484"/>
                  </a:solidFill>
                  <a:latin typeface="Arial"/>
                </a:rPr>
                <a:t>Analista </a:t>
              </a:r>
            </a:p>
          </p:txBody>
        </p:sp>
        <p:sp>
          <p:nvSpPr>
            <p:cNvPr id="64" name="Rounded Rectangle 32">
              <a:extLst>
                <a:ext uri="{FF2B5EF4-FFF2-40B4-BE49-F238E27FC236}">
                  <a16:creationId xmlns:a16="http://schemas.microsoft.com/office/drawing/2014/main" id="{C2E6D58A-F93B-1AAC-81A6-13B0F0527D26}"/>
                </a:ext>
              </a:extLst>
            </p:cNvPr>
            <p:cNvSpPr/>
            <p:nvPr/>
          </p:nvSpPr>
          <p:spPr>
            <a:xfrm>
              <a:off x="5175250" y="2838196"/>
              <a:ext cx="1397000" cy="330200"/>
            </a:xfrm>
            <a:prstGeom prst="roundRect">
              <a:avLst>
                <a:gd name="adj" fmla="val 8000"/>
              </a:avLst>
            </a:prstGeom>
            <a:solidFill>
              <a:srgbClr val="EFEAF3"/>
            </a:solidFill>
            <a:ln w="12700">
              <a:solidFill>
                <a:srgbClr val="633484"/>
              </a:solidFill>
            </a:ln>
            <a:effectLst/>
          </p:spPr>
          <p:txBody>
            <a:bodyPr wrap="square" lIns="18288" tIns="18288" rIns="18288" bIns="18288" rtlCol="0" anchor="ctr"/>
            <a:lstStyle/>
            <a:p>
              <a:pPr algn="ctr">
                <a:spcAft>
                  <a:spcPts val="200"/>
                </a:spcAft>
              </a:pPr>
              <a:r>
                <a:rPr lang="pt-BR" sz="900" b="1" dirty="0">
                  <a:solidFill>
                    <a:srgbClr val="633484"/>
                  </a:solidFill>
                  <a:latin typeface="Arial"/>
                </a:rPr>
                <a:t>Analista </a:t>
              </a:r>
            </a:p>
          </p:txBody>
        </p:sp>
        <p:sp>
          <p:nvSpPr>
            <p:cNvPr id="66" name="Rounded Rectangle 32">
              <a:extLst>
                <a:ext uri="{FF2B5EF4-FFF2-40B4-BE49-F238E27FC236}">
                  <a16:creationId xmlns:a16="http://schemas.microsoft.com/office/drawing/2014/main" id="{735D3389-0855-F153-4BE4-931ABEF485E8}"/>
                </a:ext>
              </a:extLst>
            </p:cNvPr>
            <p:cNvSpPr/>
            <p:nvPr/>
          </p:nvSpPr>
          <p:spPr>
            <a:xfrm>
              <a:off x="6699250" y="2838196"/>
              <a:ext cx="1397000" cy="330200"/>
            </a:xfrm>
            <a:prstGeom prst="roundRect">
              <a:avLst>
                <a:gd name="adj" fmla="val 8000"/>
              </a:avLst>
            </a:prstGeom>
            <a:solidFill>
              <a:schemeClr val="accent6"/>
            </a:solidFill>
            <a:ln w="12700">
              <a:solidFill>
                <a:schemeClr val="accent6">
                  <a:lumMod val="10000"/>
                </a:schemeClr>
              </a:solidFill>
            </a:ln>
            <a:effectLst/>
          </p:spPr>
          <p:txBody>
            <a:bodyPr wrap="square" lIns="18288" tIns="18288" rIns="18288" bIns="18288" rtlCol="0" anchor="ctr"/>
            <a:lstStyle/>
            <a:p>
              <a:pPr algn="ctr">
                <a:spcAft>
                  <a:spcPts val="200"/>
                </a:spcAft>
              </a:pPr>
              <a:r>
                <a:rPr lang="pt-BR" sz="900" b="1" dirty="0">
                  <a:solidFill>
                    <a:schemeClr val="accent6">
                      <a:lumMod val="10000"/>
                    </a:schemeClr>
                  </a:solidFill>
                  <a:latin typeface="Arial"/>
                </a:rPr>
                <a:t>Analista </a:t>
              </a:r>
            </a:p>
          </p:txBody>
        </p:sp>
        <p:sp>
          <p:nvSpPr>
            <p:cNvPr id="68" name="Rounded Rectangle 32">
              <a:extLst>
                <a:ext uri="{FF2B5EF4-FFF2-40B4-BE49-F238E27FC236}">
                  <a16:creationId xmlns:a16="http://schemas.microsoft.com/office/drawing/2014/main" id="{2D3F8F9A-FB9B-4171-434D-6CFCAE9A305C}"/>
                </a:ext>
              </a:extLst>
            </p:cNvPr>
            <p:cNvSpPr/>
            <p:nvPr/>
          </p:nvSpPr>
          <p:spPr>
            <a:xfrm>
              <a:off x="8604250" y="2838196"/>
              <a:ext cx="1397000" cy="330200"/>
            </a:xfrm>
            <a:prstGeom prst="roundRect">
              <a:avLst>
                <a:gd name="adj" fmla="val 8000"/>
              </a:avLst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2"/>
              </a:solidFill>
            </a:ln>
            <a:effectLst/>
          </p:spPr>
          <p:txBody>
            <a:bodyPr wrap="square" lIns="18288" tIns="18288" rIns="18288" bIns="18288" rtlCol="0" anchor="ctr"/>
            <a:lstStyle/>
            <a:p>
              <a:pPr algn="ctr">
                <a:spcAft>
                  <a:spcPts val="200"/>
                </a:spcAft>
              </a:pPr>
              <a:r>
                <a:rPr lang="pt-BR" sz="900" b="1" dirty="0">
                  <a:solidFill>
                    <a:schemeClr val="tx2"/>
                  </a:solidFill>
                  <a:latin typeface="Arial"/>
                </a:rPr>
                <a:t>Analista </a:t>
              </a:r>
            </a:p>
          </p:txBody>
        </p:sp>
        <p:sp>
          <p:nvSpPr>
            <p:cNvPr id="70" name="Rounded Rectangle 32">
              <a:extLst>
                <a:ext uri="{FF2B5EF4-FFF2-40B4-BE49-F238E27FC236}">
                  <a16:creationId xmlns:a16="http://schemas.microsoft.com/office/drawing/2014/main" id="{7362AF94-9E0D-CD4A-E7D6-BF8A856F27F6}"/>
                </a:ext>
              </a:extLst>
            </p:cNvPr>
            <p:cNvSpPr/>
            <p:nvPr/>
          </p:nvSpPr>
          <p:spPr>
            <a:xfrm>
              <a:off x="10128250" y="2838196"/>
              <a:ext cx="1397000" cy="330200"/>
            </a:xfrm>
            <a:prstGeom prst="roundRect">
              <a:avLst>
                <a:gd name="adj" fmla="val 8000"/>
              </a:avLst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2"/>
              </a:solidFill>
            </a:ln>
            <a:effectLst/>
          </p:spPr>
          <p:txBody>
            <a:bodyPr wrap="square" lIns="18288" tIns="18288" rIns="18288" bIns="18288" rtlCol="0" anchor="ctr"/>
            <a:lstStyle/>
            <a:p>
              <a:pPr algn="ctr">
                <a:spcAft>
                  <a:spcPts val="200"/>
                </a:spcAft>
              </a:pPr>
              <a:r>
                <a:rPr lang="pt-BR" sz="900" b="1" dirty="0">
                  <a:solidFill>
                    <a:schemeClr val="tx2"/>
                  </a:solidFill>
                  <a:latin typeface="Arial"/>
                </a:rPr>
                <a:t>Analista 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DA2F84CD-D06C-7F80-FF6E-D98AAE5113EE}"/>
                </a:ext>
              </a:extLst>
            </p:cNvPr>
            <p:cNvGrpSpPr/>
            <p:nvPr/>
          </p:nvGrpSpPr>
          <p:grpSpPr>
            <a:xfrm>
              <a:off x="4965700" y="3424009"/>
              <a:ext cx="4526085" cy="246221"/>
              <a:chOff x="488950" y="3424009"/>
              <a:chExt cx="4526085" cy="246221"/>
            </a:xfrm>
          </p:grpSpPr>
          <p:sp>
            <p:nvSpPr>
              <p:cNvPr id="11" name="Rounded Rectangle 32">
                <a:extLst>
                  <a:ext uri="{FF2B5EF4-FFF2-40B4-BE49-F238E27FC236}">
                    <a16:creationId xmlns:a16="http://schemas.microsoft.com/office/drawing/2014/main" id="{A546C618-FB5E-ACB6-7730-26D1377A0896}"/>
                  </a:ext>
                </a:extLst>
              </p:cNvPr>
              <p:cNvSpPr/>
              <p:nvPr/>
            </p:nvSpPr>
            <p:spPr>
              <a:xfrm>
                <a:off x="488950" y="3475119"/>
                <a:ext cx="144000" cy="144000"/>
              </a:xfrm>
              <a:prstGeom prst="roundRect">
                <a:avLst>
                  <a:gd name="adj" fmla="val 8000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  <a:ln w="12700">
                <a:solidFill>
                  <a:schemeClr val="tx2"/>
                </a:solidFill>
              </a:ln>
              <a:effectLst/>
            </p:spPr>
            <p:txBody>
              <a:bodyPr wrap="square" lIns="18288" tIns="18288" rIns="18288" bIns="18288" rtlCol="0" anchor="ctr"/>
              <a:lstStyle/>
              <a:p>
                <a:pPr algn="ctr">
                  <a:spcAft>
                    <a:spcPts val="200"/>
                  </a:spcAft>
                </a:pPr>
                <a:endParaRPr lang="pt-BR" sz="900" b="1" dirty="0">
                  <a:solidFill>
                    <a:schemeClr val="tx2"/>
                  </a:solidFill>
                  <a:latin typeface="Arial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991FB4E-1C4C-E890-6FF6-DF92F50241DF}"/>
                  </a:ext>
                </a:extLst>
              </p:cNvPr>
              <p:cNvSpPr txBox="1"/>
              <p:nvPr/>
            </p:nvSpPr>
            <p:spPr>
              <a:xfrm>
                <a:off x="603250" y="3424009"/>
                <a:ext cx="4411785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A serem contratados – 2 possíveis captura (</a:t>
                </a:r>
                <a:r>
                  <a:rPr lang="pt-BR" dirty="0" err="1"/>
                  <a:t>MasterFreight</a:t>
                </a:r>
                <a:r>
                  <a:rPr lang="pt-BR" dirty="0"/>
                  <a:t> e </a:t>
                </a:r>
                <a:r>
                  <a:rPr lang="pt-BR" dirty="0" err="1"/>
                  <a:t>DuxLogistics</a:t>
                </a:r>
                <a:r>
                  <a:rPr lang="pt-BR" dirty="0"/>
                  <a:t>) 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EB677DB4-F73E-8FA8-B4C7-433CABDB604F}"/>
                </a:ext>
              </a:extLst>
            </p:cNvPr>
            <p:cNvGrpSpPr/>
            <p:nvPr/>
          </p:nvGrpSpPr>
          <p:grpSpPr>
            <a:xfrm>
              <a:off x="1701800" y="3424009"/>
              <a:ext cx="3191802" cy="246221"/>
              <a:chOff x="4984750" y="3424009"/>
              <a:chExt cx="3191802" cy="246221"/>
            </a:xfrm>
          </p:grpSpPr>
          <p:sp>
            <p:nvSpPr>
              <p:cNvPr id="14" name="Rounded Rectangle 32">
                <a:extLst>
                  <a:ext uri="{FF2B5EF4-FFF2-40B4-BE49-F238E27FC236}">
                    <a16:creationId xmlns:a16="http://schemas.microsoft.com/office/drawing/2014/main" id="{17A5DE82-DDCC-E8ED-DC8D-666299DB5138}"/>
                  </a:ext>
                </a:extLst>
              </p:cNvPr>
              <p:cNvSpPr/>
              <p:nvPr/>
            </p:nvSpPr>
            <p:spPr>
              <a:xfrm>
                <a:off x="4984750" y="3475119"/>
                <a:ext cx="144000" cy="144000"/>
              </a:xfrm>
              <a:prstGeom prst="roundRect">
                <a:avLst>
                  <a:gd name="adj" fmla="val 8000"/>
                </a:avLst>
              </a:prstGeom>
              <a:solidFill>
                <a:schemeClr val="accent6"/>
              </a:solidFill>
              <a:ln w="12700">
                <a:solidFill>
                  <a:schemeClr val="accent6">
                    <a:lumMod val="10000"/>
                  </a:schemeClr>
                </a:solidFill>
              </a:ln>
              <a:effectLst/>
            </p:spPr>
            <p:txBody>
              <a:bodyPr wrap="square" lIns="18288" tIns="18288" rIns="18288" bIns="18288" rtlCol="0" anchor="ctr"/>
              <a:lstStyle/>
              <a:p>
                <a:pPr algn="ctr">
                  <a:spcAft>
                    <a:spcPts val="200"/>
                  </a:spcAft>
                </a:pPr>
                <a:endParaRPr lang="pt-BR" sz="900" b="1" dirty="0">
                  <a:solidFill>
                    <a:schemeClr val="accent6">
                      <a:lumMod val="10000"/>
                    </a:schemeClr>
                  </a:solidFill>
                  <a:latin typeface="Arial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AE56B8E-5FF0-DB8B-6EF3-7D2C947407CD}"/>
                  </a:ext>
                </a:extLst>
              </p:cNvPr>
              <p:cNvSpPr txBox="1"/>
              <p:nvPr/>
            </p:nvSpPr>
            <p:spPr>
              <a:xfrm>
                <a:off x="5098465" y="3424009"/>
                <a:ext cx="307808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Mobilidade interna (</a:t>
                </a:r>
                <a:r>
                  <a:rPr lang="pt-BR" dirty="0" err="1"/>
                  <a:t>Inland</a:t>
                </a:r>
                <a:r>
                  <a:rPr lang="pt-BR" dirty="0"/>
                  <a:t> </a:t>
                </a:r>
                <a:r>
                  <a:rPr lang="pt-BR" dirty="0" err="1"/>
                  <a:t>Origin</a:t>
                </a:r>
                <a:r>
                  <a:rPr lang="pt-BR" dirty="0"/>
                  <a:t> e </a:t>
                </a:r>
                <a:r>
                  <a:rPr lang="pt-BR" dirty="0" err="1"/>
                  <a:t>Order</a:t>
                </a:r>
                <a:r>
                  <a:rPr lang="pt-BR" dirty="0"/>
                  <a:t> </a:t>
                </a:r>
                <a:r>
                  <a:rPr lang="pt-BR" dirty="0" err="1"/>
                  <a:t>Operator</a:t>
                </a:r>
                <a:r>
                  <a:rPr lang="pt-BR" dirty="0"/>
                  <a:t>)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142C1F6-8557-13C3-FFF2-20CF2D450F18}"/>
                </a:ext>
              </a:extLst>
            </p:cNvPr>
            <p:cNvGrpSpPr/>
            <p:nvPr/>
          </p:nvGrpSpPr>
          <p:grpSpPr>
            <a:xfrm>
              <a:off x="495300" y="3435332"/>
              <a:ext cx="1133546" cy="246221"/>
              <a:chOff x="8146267" y="3435332"/>
              <a:chExt cx="1133546" cy="246221"/>
            </a:xfrm>
          </p:grpSpPr>
          <p:sp>
            <p:nvSpPr>
              <p:cNvPr id="19" name="Rounded Rectangle 32">
                <a:extLst>
                  <a:ext uri="{FF2B5EF4-FFF2-40B4-BE49-F238E27FC236}">
                    <a16:creationId xmlns:a16="http://schemas.microsoft.com/office/drawing/2014/main" id="{BA60B168-B5F8-D439-0580-FCE09A03B338}"/>
                  </a:ext>
                </a:extLst>
              </p:cNvPr>
              <p:cNvSpPr/>
              <p:nvPr/>
            </p:nvSpPr>
            <p:spPr>
              <a:xfrm>
                <a:off x="8146267" y="3486442"/>
                <a:ext cx="144000" cy="144000"/>
              </a:xfrm>
              <a:prstGeom prst="roundRect">
                <a:avLst>
                  <a:gd name="adj" fmla="val 8000"/>
                </a:avLst>
              </a:prstGeom>
              <a:solidFill>
                <a:srgbClr val="EFEAF3"/>
              </a:solidFill>
              <a:ln w="12700">
                <a:solidFill>
                  <a:srgbClr val="633484"/>
                </a:solidFill>
              </a:ln>
              <a:effectLst/>
            </p:spPr>
            <p:txBody>
              <a:bodyPr wrap="square" lIns="18288" tIns="18288" rIns="18288" bIns="18288" rtlCol="0" anchor="ctr"/>
              <a:lstStyle/>
              <a:p>
                <a:pPr algn="ctr">
                  <a:spcAft>
                    <a:spcPts val="200"/>
                  </a:spcAft>
                </a:pPr>
                <a:endParaRPr lang="pt-BR" sz="900" b="1" dirty="0">
                  <a:solidFill>
                    <a:schemeClr val="accent6">
                      <a:lumMod val="10000"/>
                    </a:schemeClr>
                  </a:solidFill>
                  <a:latin typeface="Arial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C31C87A-7589-CB04-4D62-EF664BB2A59D}"/>
                  </a:ext>
                </a:extLst>
              </p:cNvPr>
              <p:cNvSpPr txBox="1"/>
              <p:nvPr/>
            </p:nvSpPr>
            <p:spPr>
              <a:xfrm>
                <a:off x="8259982" y="3435332"/>
                <a:ext cx="1019831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Já contratados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36013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1800" dirty="0"/>
              <a:t>As vagas da DMS exigem perfis de rotina e controle, que executem os processos definidos no melhor SLA possível e proativamente atuem para mitigar os riscos/danos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Diligenciamento – Job description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dirty="0" err="1"/>
              <a:t>Job</a:t>
            </a:r>
            <a:r>
              <a:rPr dirty="0"/>
              <a:t> </a:t>
            </a:r>
            <a:r>
              <a:rPr dirty="0" err="1"/>
              <a:t>description</a:t>
            </a:r>
            <a:r>
              <a:rPr dirty="0"/>
              <a:t> do Analista e do Team </a:t>
            </a:r>
            <a:r>
              <a:rPr dirty="0" err="1"/>
              <a:t>Leader</a:t>
            </a:r>
            <a:r>
              <a:rPr dirty="0"/>
              <a:t> de Diligenciamento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 lIns="0" tIns="0" rIns="0" bIns="0" anchor="t"/>
          <a:lstStyle/>
          <a:p>
            <a:r>
              <a:rPr lang="pt-BR" dirty="0"/>
              <a:t>Fonte: SOP Door to Door v1.0; CIS, STAGES.parquet (13/10/2026)</a:t>
            </a:r>
            <a:endParaRPr lang="pt-BR" dirty="0">
              <a:cs typeface="Arial"/>
            </a:endParaRP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A5473550-15E5-7027-02C2-776EA20C697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Disclaimer_Box"/>
          <p:cNvSpPr txBox="1"/>
          <p:nvPr/>
        </p:nvSpPr>
        <p:spPr>
          <a:xfrm>
            <a:off x="8193024" y="1197864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lang="pt-BR" sz="1200" b="1" i="0">
                <a:solidFill>
                  <a:srgbClr val="005E9E"/>
                </a:solidFill>
                <a:latin typeface="Arial"/>
              </a:rPr>
              <a:t>Para discussão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48840" y="1600200"/>
            <a:ext cx="4800600" cy="329184"/>
          </a:xfrm>
          <a:prstGeom prst="roundRect">
            <a:avLst>
              <a:gd name="adj" fmla="val 8000"/>
            </a:avLst>
          </a:prstGeom>
          <a:solidFill>
            <a:srgbClr val="005E9E"/>
          </a:solidFill>
          <a:ln>
            <a:noFill/>
          </a:ln>
          <a:effectLst/>
        </p:spPr>
        <p:txBody>
          <a:bodyPr wrap="square" lIns="100584" rIns="100584" rtlCol="0" anchor="ctr"/>
          <a:lstStyle/>
          <a:p>
            <a:pPr algn="ctr">
              <a:spcAft>
                <a:spcPts val="200"/>
              </a:spcAft>
            </a:pPr>
            <a:r>
              <a:rPr lang="pt-BR" sz="1150" b="1" dirty="0">
                <a:solidFill>
                  <a:srgbClr val="FFFFFF"/>
                </a:solidFill>
                <a:latin typeface="Arial"/>
              </a:rPr>
              <a:t>Analista de Diligenciamento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600200"/>
            <a:ext cx="4809744" cy="329184"/>
          </a:xfrm>
          <a:prstGeom prst="roundRect">
            <a:avLst>
              <a:gd name="adj" fmla="val 8000"/>
            </a:avLst>
          </a:prstGeom>
          <a:solidFill>
            <a:srgbClr val="005E9E"/>
          </a:solidFill>
          <a:ln>
            <a:noFill/>
          </a:ln>
          <a:effectLst/>
        </p:spPr>
        <p:txBody>
          <a:bodyPr wrap="square" lIns="100584" rIns="100584" rtlCol="0" anchor="ctr"/>
          <a:lstStyle/>
          <a:p>
            <a:pPr algn="ctr">
              <a:spcAft>
                <a:spcPts val="200"/>
              </a:spcAft>
            </a:pPr>
            <a:r>
              <a:rPr lang="pt-BR" sz="1150" b="1" dirty="0">
                <a:solidFill>
                  <a:srgbClr val="FFFFFF"/>
                </a:solidFill>
                <a:latin typeface="Arial"/>
              </a:rPr>
              <a:t>Team Leader de SOP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" y="1984248"/>
            <a:ext cx="1737360" cy="502920"/>
          </a:xfrm>
          <a:prstGeom prst="roundRect">
            <a:avLst>
              <a:gd name="adj" fmla="val 8000"/>
            </a:avLst>
          </a:prstGeom>
          <a:solidFill>
            <a:srgbClr val="005E9E"/>
          </a:solidFill>
          <a:ln>
            <a:noFill/>
          </a:ln>
          <a:effectLst/>
        </p:spPr>
        <p:txBody>
          <a:bodyPr wrap="square" lIns="109728" rIns="109728" rtlCol="0" anchor="ctr"/>
          <a:lstStyle/>
          <a:p>
            <a:pPr algn="l">
              <a:spcAft>
                <a:spcPts val="200"/>
              </a:spcAft>
            </a:pPr>
            <a:r>
              <a:rPr lang="pt-BR" sz="1000" b="1">
                <a:solidFill>
                  <a:srgbClr val="FFFFFF"/>
                </a:solidFill>
                <a:latin typeface="Arial"/>
              </a:rPr>
              <a:t>Missão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8840" y="1984248"/>
            <a:ext cx="4800600" cy="502920"/>
          </a:xfrm>
          <a:prstGeom prst="roundRect">
            <a:avLst>
              <a:gd name="adj" fmla="val 8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square" lIns="109728" rIns="109728" rtlCol="0" anchor="ctr"/>
          <a:lstStyle/>
          <a:p>
            <a:pPr marL="171450" indent="-171450" algn="l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b="1" dirty="0">
                <a:latin typeface="Arial"/>
              </a:rPr>
              <a:t>Garantir a carga pronta e documentada para movimentação do país de origem para o de destino, no prazo e sem divergência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1984248"/>
            <a:ext cx="4809744" cy="502920"/>
          </a:xfrm>
          <a:prstGeom prst="roundRect">
            <a:avLst>
              <a:gd name="adj" fmla="val 8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square" lIns="109728" rIns="109728" rtlCol="0" anchor="ctr"/>
          <a:lstStyle/>
          <a:p>
            <a:pPr marL="171450" indent="-171450" algn="l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b="1" dirty="0">
                <a:latin typeface="Arial"/>
              </a:rPr>
              <a:t>Garantir o prazo da carteira da sua indústria, executando junto com o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" y="2542032"/>
            <a:ext cx="1737360" cy="731520"/>
          </a:xfrm>
          <a:prstGeom prst="roundRect">
            <a:avLst>
              <a:gd name="adj" fmla="val 8000"/>
            </a:avLst>
          </a:prstGeom>
          <a:solidFill>
            <a:srgbClr val="005E9E"/>
          </a:solidFill>
          <a:ln>
            <a:noFill/>
          </a:ln>
          <a:effectLst/>
        </p:spPr>
        <p:txBody>
          <a:bodyPr wrap="square" lIns="109728" rIns="109728" rtlCol="0" anchor="ctr"/>
          <a:lstStyle/>
          <a:p>
            <a:pPr algn="l">
              <a:spcAft>
                <a:spcPts val="200"/>
              </a:spcAft>
            </a:pPr>
            <a:r>
              <a:rPr lang="pt-BR" sz="1000" b="1">
                <a:solidFill>
                  <a:srgbClr val="FFFFFF"/>
                </a:solidFill>
                <a:latin typeface="Arial"/>
              </a:rPr>
              <a:t>Formação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48840" y="2542032"/>
            <a:ext cx="4800600" cy="731520"/>
          </a:xfrm>
          <a:prstGeom prst="roundRect">
            <a:avLst>
              <a:gd name="adj" fmla="val 8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square" lIns="109728" rIns="109728" rtlCol="0" anchor="ctr"/>
          <a:lstStyle/>
          <a:p>
            <a:pPr marL="171450" indent="-171450" algn="l">
              <a:spcAft>
                <a:spcPts val="200"/>
              </a:spcAft>
              <a:buClr>
                <a:schemeClr val="tx1">
                  <a:lumMod val="50000"/>
                  <a:lumOff val="50000"/>
                </a:schemeClr>
              </a:buClr>
              <a:buFont typeface="Arial"/>
              <a:buChar char="•"/>
            </a:pPr>
            <a:r>
              <a:rPr lang="pt-BR" sz="1200" b="0" dirty="0">
                <a:latin typeface="Arial"/>
              </a:rPr>
              <a:t>Economia, Administração, Engenharia ou Comércio Exterior</a:t>
            </a:r>
          </a:p>
          <a:p>
            <a:pPr marL="171450" indent="-171450" algn="l">
              <a:spcAft>
                <a:spcPts val="200"/>
              </a:spcAft>
              <a:buClr>
                <a:schemeClr val="tx1">
                  <a:lumMod val="50000"/>
                  <a:lumOff val="50000"/>
                </a:schemeClr>
              </a:buClr>
              <a:buFont typeface="Arial"/>
              <a:buChar char="•"/>
            </a:pPr>
            <a:r>
              <a:rPr lang="pt-BR" sz="1200" b="0" dirty="0">
                <a:latin typeface="Arial"/>
              </a:rPr>
              <a:t>Cursos de comércio exterior e logística como diferencial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542032"/>
            <a:ext cx="4809744" cy="731520"/>
          </a:xfrm>
          <a:prstGeom prst="roundRect">
            <a:avLst>
              <a:gd name="adj" fmla="val 8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square" lIns="109728" rIns="109728" rtlCol="0" anchor="ctr"/>
          <a:lstStyle/>
          <a:p>
            <a:pPr marL="171450" indent="-171450" algn="l">
              <a:spcAft>
                <a:spcPts val="200"/>
              </a:spcAft>
              <a:buClr>
                <a:schemeClr val="tx1">
                  <a:lumMod val="50000"/>
                  <a:lumOff val="50000"/>
                </a:schemeClr>
              </a:buClr>
              <a:buFont typeface="Arial"/>
              <a:buChar char="•"/>
            </a:pPr>
            <a:r>
              <a:rPr lang="pt-BR" sz="1200" b="0" dirty="0">
                <a:latin typeface="Arial"/>
              </a:rPr>
              <a:t>Economia, Administração, Engenharia ou Comércio Exterior</a:t>
            </a:r>
          </a:p>
          <a:p>
            <a:pPr marL="171450" indent="-171450" algn="l">
              <a:spcAft>
                <a:spcPts val="200"/>
              </a:spcAft>
              <a:buClr>
                <a:schemeClr val="tx1">
                  <a:lumMod val="50000"/>
                  <a:lumOff val="50000"/>
                </a:schemeClr>
              </a:buClr>
              <a:buFont typeface="Arial"/>
              <a:buChar char="•"/>
            </a:pPr>
            <a:r>
              <a:rPr lang="pt-BR" sz="1200" b="0" dirty="0">
                <a:latin typeface="Arial"/>
              </a:rPr>
              <a:t>Pós em logística ou </a:t>
            </a:r>
            <a:r>
              <a:rPr lang="pt-BR" sz="1200" b="0" dirty="0" err="1">
                <a:latin typeface="Arial"/>
              </a:rPr>
              <a:t>supply</a:t>
            </a:r>
            <a:r>
              <a:rPr lang="pt-BR" sz="1200" b="0" dirty="0">
                <a:latin typeface="Arial"/>
              </a:rPr>
              <a:t> </a:t>
            </a:r>
            <a:r>
              <a:rPr lang="pt-BR" sz="1200" b="0" dirty="0" err="1">
                <a:latin typeface="Arial"/>
              </a:rPr>
              <a:t>chain</a:t>
            </a:r>
            <a:r>
              <a:rPr lang="pt-BR" sz="1200" b="0" dirty="0">
                <a:latin typeface="Arial"/>
              </a:rPr>
              <a:t> como diferencial</a:t>
            </a:r>
            <a:endParaRPr lang="pt-BR" sz="1200" dirty="0">
              <a:latin typeface="Arial"/>
            </a:endParaRPr>
          </a:p>
          <a:p>
            <a:pPr marL="171450" indent="-171450" algn="l">
              <a:spcAft>
                <a:spcPts val="200"/>
              </a:spcAft>
              <a:buClr>
                <a:schemeClr val="tx1">
                  <a:lumMod val="50000"/>
                  <a:lumOff val="50000"/>
                </a:schemeClr>
              </a:buClr>
              <a:buFont typeface="Arial"/>
              <a:buChar char="•"/>
            </a:pPr>
            <a:r>
              <a:rPr lang="pt-BR" sz="1200" b="0" dirty="0">
                <a:latin typeface="Arial"/>
              </a:rPr>
              <a:t>Curso de liderança e gestão de pessoas como diferencial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" y="3328416"/>
            <a:ext cx="1737360" cy="1188720"/>
          </a:xfrm>
          <a:prstGeom prst="roundRect">
            <a:avLst>
              <a:gd name="adj" fmla="val 8000"/>
            </a:avLst>
          </a:prstGeom>
          <a:solidFill>
            <a:srgbClr val="005E9E"/>
          </a:solidFill>
          <a:ln>
            <a:noFill/>
          </a:ln>
          <a:effectLst/>
        </p:spPr>
        <p:txBody>
          <a:bodyPr wrap="square" lIns="109728" rIns="109728" rtlCol="0" anchor="ctr"/>
          <a:lstStyle/>
          <a:p>
            <a:pPr algn="l">
              <a:spcAft>
                <a:spcPts val="200"/>
              </a:spcAft>
            </a:pPr>
            <a:r>
              <a:rPr lang="pt-BR" sz="1000" b="1">
                <a:solidFill>
                  <a:srgbClr val="FFFFFF"/>
                </a:solidFill>
                <a:latin typeface="Arial"/>
              </a:rPr>
              <a:t>Perfil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48840" y="3328416"/>
            <a:ext cx="4800600" cy="1188720"/>
          </a:xfrm>
          <a:prstGeom prst="roundRect">
            <a:avLst>
              <a:gd name="adj" fmla="val 8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square" lIns="109728" rIns="109728" rtlCol="0" anchor="ctr"/>
          <a:lstStyle/>
          <a:p>
            <a:pPr marL="171450" indent="-171450" algn="l">
              <a:spcAft>
                <a:spcPts val="200"/>
              </a:spcAft>
              <a:buClr>
                <a:schemeClr val="tx1">
                  <a:lumMod val="50000"/>
                  <a:lumOff val="50000"/>
                </a:schemeClr>
              </a:buClr>
              <a:buFont typeface="Arial"/>
              <a:buChar char="•"/>
            </a:pPr>
            <a:r>
              <a:rPr lang="pt-BR" sz="1200" b="0" dirty="0">
                <a:latin typeface="Arial"/>
              </a:rPr>
              <a:t>Foco em rotina e controle: segue checklist e prazo à risca</a:t>
            </a:r>
          </a:p>
          <a:p>
            <a:pPr marL="171450" indent="-171450" algn="l">
              <a:spcAft>
                <a:spcPts val="200"/>
              </a:spcAft>
              <a:buClr>
                <a:schemeClr val="tx1">
                  <a:lumMod val="50000"/>
                  <a:lumOff val="50000"/>
                </a:schemeClr>
              </a:buClr>
              <a:buFont typeface="Arial"/>
              <a:buChar char="•"/>
            </a:pPr>
            <a:r>
              <a:rPr lang="pt-BR" sz="1200" b="0" dirty="0">
                <a:latin typeface="Arial"/>
              </a:rPr>
              <a:t>Perfil mais burocrático, confortável com tarefas repetidas</a:t>
            </a:r>
          </a:p>
          <a:p>
            <a:pPr marL="171450" indent="-171450" algn="l">
              <a:spcAft>
                <a:spcPts val="200"/>
              </a:spcAft>
              <a:buClr>
                <a:schemeClr val="tx1">
                  <a:lumMod val="50000"/>
                  <a:lumOff val="50000"/>
                </a:schemeClr>
              </a:buClr>
              <a:buFont typeface="Arial"/>
              <a:buChar char="•"/>
            </a:pPr>
            <a:r>
              <a:rPr lang="pt-BR" sz="1200" b="0" dirty="0">
                <a:latin typeface="Arial"/>
              </a:rPr>
              <a:t>Atenção a detalhe: confere campo a campo e registra na hora</a:t>
            </a:r>
          </a:p>
          <a:p>
            <a:pPr marL="171450" indent="-171450" algn="l">
              <a:spcAft>
                <a:spcPts val="200"/>
              </a:spcAft>
              <a:buClr>
                <a:schemeClr val="tx1">
                  <a:lumMod val="50000"/>
                  <a:lumOff val="50000"/>
                </a:schemeClr>
              </a:buClr>
              <a:buFont typeface="Arial"/>
              <a:buChar char="•"/>
            </a:pPr>
            <a:r>
              <a:rPr lang="pt-BR" sz="1200" b="0" dirty="0">
                <a:latin typeface="Arial"/>
              </a:rPr>
              <a:t>Follow-up consistente com fornecedor ou cliente</a:t>
            </a:r>
          </a:p>
          <a:p>
            <a:pPr marL="171450" indent="-171450" algn="l">
              <a:spcAft>
                <a:spcPts val="200"/>
              </a:spcAft>
              <a:buClr>
                <a:schemeClr val="tx1">
                  <a:lumMod val="50000"/>
                  <a:lumOff val="50000"/>
                </a:schemeClr>
              </a:buClr>
              <a:buFont typeface="Arial"/>
              <a:buChar char="•"/>
            </a:pPr>
            <a:r>
              <a:rPr lang="pt-BR" sz="1200" dirty="0">
                <a:latin typeface="Arial"/>
              </a:rPr>
              <a:t>Escalona rapidamente os desafios/riscos fora de sua alçada</a:t>
            </a:r>
            <a:endParaRPr lang="pt-BR" sz="1200" b="0" dirty="0">
              <a:latin typeface="Arial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040880" y="3328416"/>
            <a:ext cx="4809744" cy="1188720"/>
          </a:xfrm>
          <a:prstGeom prst="roundRect">
            <a:avLst>
              <a:gd name="adj" fmla="val 8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square" lIns="109728" rIns="109728" rtlCol="0" anchor="ctr"/>
          <a:lstStyle/>
          <a:p>
            <a:pPr marL="171450" indent="-171450" algn="l">
              <a:spcAft>
                <a:spcPts val="200"/>
              </a:spcAft>
              <a:buClr>
                <a:schemeClr val="tx1">
                  <a:lumMod val="50000"/>
                  <a:lumOff val="50000"/>
                </a:schemeClr>
              </a:buClr>
              <a:buFont typeface="Arial"/>
              <a:buChar char="•"/>
            </a:pPr>
            <a:r>
              <a:rPr lang="pt-BR" sz="1200" b="0" dirty="0">
                <a:latin typeface="Arial"/>
              </a:rPr>
              <a:t>Mão na massa: tem carteira, executa e aprova</a:t>
            </a:r>
          </a:p>
          <a:p>
            <a:pPr marL="171450" indent="-171450" algn="l">
              <a:spcAft>
                <a:spcPts val="200"/>
              </a:spcAft>
              <a:buClr>
                <a:schemeClr val="tx1">
                  <a:lumMod val="50000"/>
                  <a:lumOff val="50000"/>
                </a:schemeClr>
              </a:buClr>
              <a:buFont typeface="Arial"/>
              <a:buChar char="•"/>
            </a:pPr>
            <a:r>
              <a:rPr lang="pt-BR" sz="1200" b="0" dirty="0">
                <a:latin typeface="Arial"/>
              </a:rPr>
              <a:t>Disciplina de controle: rito diário e indicadores de controle de processos</a:t>
            </a:r>
          </a:p>
          <a:p>
            <a:pPr marL="171450" indent="-171450" algn="l">
              <a:spcAft>
                <a:spcPts val="200"/>
              </a:spcAft>
              <a:buClr>
                <a:schemeClr val="tx1">
                  <a:lumMod val="50000"/>
                  <a:lumOff val="50000"/>
                </a:schemeClr>
              </a:buClr>
              <a:buFont typeface="Arial"/>
              <a:buChar char="•"/>
            </a:pPr>
            <a:r>
              <a:rPr lang="pt-BR" sz="1200" b="0" dirty="0">
                <a:latin typeface="Arial"/>
              </a:rPr>
              <a:t>Resolve escalonamentos com cliente e fornecedor</a:t>
            </a:r>
          </a:p>
          <a:p>
            <a:pPr marL="171450" indent="-171450" algn="l">
              <a:spcAft>
                <a:spcPts val="200"/>
              </a:spcAft>
              <a:buClr>
                <a:schemeClr val="tx1">
                  <a:lumMod val="50000"/>
                  <a:lumOff val="50000"/>
                </a:schemeClr>
              </a:buClr>
              <a:buFont typeface="Arial"/>
              <a:buChar char="•"/>
            </a:pPr>
            <a:r>
              <a:rPr lang="pt-BR" sz="1200" b="0" dirty="0">
                <a:latin typeface="Arial"/>
              </a:rPr>
              <a:t>Ensina pelo exemplo e acompanha os novos analistas</a:t>
            </a:r>
          </a:p>
          <a:p>
            <a:pPr marL="171450" indent="-171450" algn="l">
              <a:spcAft>
                <a:spcPts val="200"/>
              </a:spcAft>
              <a:buClr>
                <a:schemeClr val="tx1">
                  <a:lumMod val="50000"/>
                  <a:lumOff val="50000"/>
                </a:schemeClr>
              </a:buClr>
              <a:buFont typeface="Arial"/>
              <a:buChar char="•"/>
            </a:pPr>
            <a:r>
              <a:rPr lang="pt-BR" sz="1200" dirty="0">
                <a:latin typeface="Arial"/>
              </a:rPr>
              <a:t>Gestão do equilíbrio da demanda dos processos operacionais</a:t>
            </a:r>
            <a:endParaRPr lang="pt-BR" sz="1200" b="0" dirty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38328" y="4572000"/>
            <a:ext cx="1737360" cy="1051560"/>
          </a:xfrm>
          <a:prstGeom prst="roundRect">
            <a:avLst>
              <a:gd name="adj" fmla="val 8000"/>
            </a:avLst>
          </a:prstGeom>
          <a:solidFill>
            <a:srgbClr val="005E9E"/>
          </a:solidFill>
          <a:ln>
            <a:noFill/>
          </a:ln>
          <a:effectLst/>
        </p:spPr>
        <p:txBody>
          <a:bodyPr wrap="square" lIns="109728" rIns="109728" rtlCol="0" anchor="ctr"/>
          <a:lstStyle/>
          <a:p>
            <a:pPr algn="l">
              <a:spcAft>
                <a:spcPts val="200"/>
              </a:spcAft>
            </a:pPr>
            <a:r>
              <a:rPr lang="pt-BR" sz="1000" b="1">
                <a:solidFill>
                  <a:srgbClr val="FFFFFF"/>
                </a:solidFill>
                <a:latin typeface="Arial"/>
              </a:rPr>
              <a:t>Conhecimentos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8840" y="4572000"/>
            <a:ext cx="4800600" cy="1051560"/>
          </a:xfrm>
          <a:prstGeom prst="roundRect">
            <a:avLst>
              <a:gd name="adj" fmla="val 8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square" lIns="109728" rIns="109728" rtlCol="0" anchor="ctr"/>
          <a:lstStyle/>
          <a:p>
            <a:pPr marL="171450" indent="-171450" algn="l">
              <a:spcAft>
                <a:spcPts val="200"/>
              </a:spcAft>
              <a:buClr>
                <a:schemeClr val="tx1">
                  <a:lumMod val="50000"/>
                  <a:lumOff val="50000"/>
                </a:schemeClr>
              </a:buClr>
              <a:buFont typeface="Arial"/>
              <a:buChar char="•"/>
            </a:pPr>
            <a:r>
              <a:rPr lang="pt-BR" sz="1200" b="0" dirty="0">
                <a:latin typeface="Arial"/>
              </a:rPr>
              <a:t>Comércio exterior, documentação e transporte aéreo</a:t>
            </a:r>
          </a:p>
          <a:p>
            <a:pPr marL="171450" indent="-171450" algn="l">
              <a:spcAft>
                <a:spcPts val="200"/>
              </a:spcAft>
              <a:buClr>
                <a:schemeClr val="tx1">
                  <a:lumMod val="50000"/>
                  <a:lumOff val="50000"/>
                </a:schemeClr>
              </a:buClr>
              <a:buFont typeface="Arial"/>
              <a:buChar char="•"/>
            </a:pPr>
            <a:r>
              <a:rPr lang="pt-BR" sz="1200" b="0" dirty="0">
                <a:latin typeface="Arial"/>
              </a:rPr>
              <a:t>Regras de importação e desembaraço aduaneiro</a:t>
            </a:r>
          </a:p>
          <a:p>
            <a:pPr marL="171450" indent="-171450" algn="l">
              <a:spcAft>
                <a:spcPts val="200"/>
              </a:spcAft>
              <a:buClr>
                <a:schemeClr val="tx1">
                  <a:lumMod val="50000"/>
                  <a:lumOff val="50000"/>
                </a:schemeClr>
              </a:buClr>
              <a:buFont typeface="Arial"/>
              <a:buChar char="•"/>
            </a:pPr>
            <a:r>
              <a:rPr lang="pt-BR" sz="1200" b="0" dirty="0">
                <a:latin typeface="Arial"/>
              </a:rPr>
              <a:t>Setores de Energy e Health Care ou Aerospace</a:t>
            </a:r>
          </a:p>
          <a:p>
            <a:pPr marL="171450" indent="-171450" algn="l">
              <a:spcAft>
                <a:spcPts val="200"/>
              </a:spcAft>
              <a:buClr>
                <a:schemeClr val="tx1">
                  <a:lumMod val="50000"/>
                  <a:lumOff val="50000"/>
                </a:schemeClr>
              </a:buClr>
              <a:buFont typeface="Arial"/>
              <a:buChar char="•"/>
            </a:pPr>
            <a:r>
              <a:rPr lang="pt-BR" sz="1200" b="0" dirty="0">
                <a:latin typeface="Arial"/>
              </a:rPr>
              <a:t>Inglês avançado (B1)  e Excel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4572000"/>
            <a:ext cx="4809744" cy="1051560"/>
          </a:xfrm>
          <a:prstGeom prst="roundRect">
            <a:avLst>
              <a:gd name="adj" fmla="val 8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square" lIns="109728" rIns="109728" rtlCol="0" anchor="ctr"/>
          <a:lstStyle/>
          <a:p>
            <a:pPr marL="171450" indent="-171450" algn="l">
              <a:spcAft>
                <a:spcPts val="200"/>
              </a:spcAft>
              <a:buClr>
                <a:schemeClr val="tx1">
                  <a:lumMod val="50000"/>
                  <a:lumOff val="50000"/>
                </a:schemeClr>
              </a:buClr>
              <a:buFont typeface="Arial"/>
              <a:buChar char="•"/>
            </a:pPr>
            <a:r>
              <a:rPr lang="pt-BR" sz="1200" b="0" dirty="0">
                <a:latin typeface="Arial"/>
              </a:rPr>
              <a:t>Visão completa do processo de importação, da PO à entrega</a:t>
            </a:r>
          </a:p>
          <a:p>
            <a:pPr marL="171450" indent="-171450" algn="l">
              <a:spcAft>
                <a:spcPts val="200"/>
              </a:spcAft>
              <a:buClr>
                <a:schemeClr val="tx1">
                  <a:lumMod val="50000"/>
                  <a:lumOff val="50000"/>
                </a:schemeClr>
              </a:buClr>
              <a:buFont typeface="Arial"/>
              <a:buChar char="•"/>
            </a:pPr>
            <a:r>
              <a:rPr lang="pt-BR" sz="1200" b="0" dirty="0">
                <a:latin typeface="Arial"/>
              </a:rPr>
              <a:t>Setores de Energy e Health </a:t>
            </a:r>
            <a:r>
              <a:rPr lang="pt-BR" sz="1200" b="0" dirty="0" err="1">
                <a:latin typeface="Arial"/>
              </a:rPr>
              <a:t>Care</a:t>
            </a:r>
            <a:r>
              <a:rPr lang="pt-BR" sz="1200" b="0" dirty="0">
                <a:latin typeface="Arial"/>
              </a:rPr>
              <a:t> ou Aerospace</a:t>
            </a:r>
          </a:p>
          <a:p>
            <a:pPr marL="171450" indent="-171450" algn="l">
              <a:spcAft>
                <a:spcPts val="200"/>
              </a:spcAft>
              <a:buClr>
                <a:schemeClr val="tx1">
                  <a:lumMod val="50000"/>
                  <a:lumOff val="50000"/>
                </a:schemeClr>
              </a:buClr>
              <a:buFont typeface="Arial"/>
              <a:buChar char="•"/>
            </a:pPr>
            <a:r>
              <a:rPr lang="pt-BR" sz="1200" b="0" dirty="0">
                <a:latin typeface="Arial"/>
              </a:rPr>
              <a:t>Gestão por indicadores e melhoria contínua</a:t>
            </a:r>
          </a:p>
          <a:p>
            <a:pPr marL="171450" indent="-171450" algn="l">
              <a:spcAft>
                <a:spcPts val="200"/>
              </a:spcAft>
              <a:buClr>
                <a:schemeClr val="tx1">
                  <a:lumMod val="50000"/>
                  <a:lumOff val="50000"/>
                </a:schemeClr>
              </a:buClr>
              <a:buFont typeface="Arial"/>
              <a:buChar char="•"/>
            </a:pPr>
            <a:r>
              <a:rPr lang="pt-BR" sz="1200" b="0" dirty="0">
                <a:latin typeface="Arial"/>
              </a:rPr>
              <a:t>Inglês fluente (C1)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" y="5678424"/>
            <a:ext cx="1737360" cy="502920"/>
          </a:xfrm>
          <a:prstGeom prst="roundRect">
            <a:avLst>
              <a:gd name="adj" fmla="val 8000"/>
            </a:avLst>
          </a:prstGeom>
          <a:solidFill>
            <a:srgbClr val="005E9E"/>
          </a:solidFill>
          <a:ln>
            <a:noFill/>
          </a:ln>
          <a:effectLst/>
        </p:spPr>
        <p:txBody>
          <a:bodyPr wrap="square" lIns="109728" rIns="109728" rtlCol="0" anchor="ctr"/>
          <a:lstStyle/>
          <a:p>
            <a:pPr algn="l">
              <a:spcAft>
                <a:spcPts val="200"/>
              </a:spcAft>
            </a:pPr>
            <a:r>
              <a:rPr lang="pt-BR" sz="1000" b="1">
                <a:solidFill>
                  <a:srgbClr val="FFFFFF"/>
                </a:solidFill>
                <a:latin typeface="Arial"/>
              </a:rPr>
              <a:t>Experiência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48840" y="5678424"/>
            <a:ext cx="4800600" cy="502920"/>
          </a:xfrm>
          <a:prstGeom prst="roundRect">
            <a:avLst>
              <a:gd name="adj" fmla="val 8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square" lIns="109728" rIns="109728" rtlCol="0" anchor="ctr"/>
          <a:lstStyle/>
          <a:p>
            <a:pPr marL="171450" indent="-171450" algn="l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b="0">
                <a:latin typeface="Arial"/>
              </a:rPr>
              <a:t>1 a 3 anos em agenciamento de carga, comércio exterior ou compras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0" y="5678424"/>
            <a:ext cx="4809744" cy="502920"/>
          </a:xfrm>
          <a:prstGeom prst="roundRect">
            <a:avLst>
              <a:gd name="adj" fmla="val 8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square" lIns="109728" rIns="109728" rtlCol="0" anchor="ctr"/>
          <a:lstStyle/>
          <a:p>
            <a:pPr marL="171450" indent="-171450" algn="l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b="0">
                <a:latin typeface="Arial"/>
              </a:rPr>
              <a:t>5+ anos em agenciamento de carga, sendo 2+ coordenando time</a:t>
            </a:r>
          </a:p>
        </p:txBody>
      </p:sp>
    </p:spTree>
    <p:extLst>
      <p:ext uri="{BB962C8B-B14F-4D97-AF65-F5344CB8AC3E}">
        <p14:creationId xmlns:p14="http://schemas.microsoft.com/office/powerpoint/2010/main" val="19861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32298" y="4693093"/>
            <a:ext cx="7259701" cy="2164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74757" y="5461584"/>
            <a:ext cx="1736242" cy="975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89350" y="1881165"/>
            <a:ext cx="3148872" cy="1326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62324" y="1877402"/>
            <a:ext cx="3107226" cy="1282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607271" y="1877402"/>
            <a:ext cx="3677894" cy="1282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522886" y="1877402"/>
            <a:ext cx="3677894" cy="12825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07453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1800" dirty="0"/>
              <a:t>A estrutura desejada contempla 7 analistas e somente um TL, entretanto quando olhamos os embarques há espaço para termos 2 TL e os mesmos 4 analistas atuais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Diligenciamento – Estrutura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Ritmo de trabalho com base na média de ~1.670 embarques/mês e estrutura proposta, com analistas segmentados em fornecedor e cliente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 lIns="0" tIns="0" rIns="0" bIns="0" anchor="t"/>
          <a:lstStyle/>
          <a:p>
            <a:r>
              <a:t>Fonte: SOP Door to Door v1.0; CIS, STAGES.parquet (13/10/2026</a:t>
            </a:r>
            <a:r>
              <a:rPr lang="pt-BR"/>
              <a:t>)</a:t>
            </a:r>
            <a:endParaRPr lang="pt-BR">
              <a:cs typeface="Arial"/>
            </a:endParaRPr>
          </a:p>
        </p:txBody>
      </p:sp>
      <p:sp>
        <p:nvSpPr>
          <p:cNvPr id="51" name="Content Placeholder 50">
            <a:extLst>
              <a:ext uri="{FF2B5EF4-FFF2-40B4-BE49-F238E27FC236}">
                <a16:creationId xmlns:a16="http://schemas.microsoft.com/office/drawing/2014/main" id="{69CBD363-8E56-3D63-3D36-A56384BC5A9A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Disclaimer_Box"/>
          <p:cNvSpPr txBox="1"/>
          <p:nvPr/>
        </p:nvSpPr>
        <p:spPr>
          <a:xfrm>
            <a:off x="8193024" y="1197864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lang="pt-BR" sz="1200" b="1" i="0" dirty="0">
                <a:solidFill>
                  <a:srgbClr val="005E9E"/>
                </a:solidFill>
                <a:latin typeface="Arial"/>
              </a:rPr>
              <a:t>Para discussão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" y="1600200"/>
            <a:ext cx="4114800" cy="329184"/>
          </a:xfrm>
          <a:prstGeom prst="roundRect">
            <a:avLst>
              <a:gd name="adj" fmla="val 8000"/>
            </a:avLst>
          </a:prstGeom>
          <a:solidFill>
            <a:srgbClr val="005E9E"/>
          </a:solidFill>
          <a:ln>
            <a:noFill/>
          </a:ln>
          <a:effectLst/>
        </p:spPr>
        <p:txBody>
          <a:bodyPr wrap="square" lIns="100584" rIns="100584" rtlCol="0" anchor="ctr"/>
          <a:lstStyle/>
          <a:p>
            <a:pPr algn="ctr">
              <a:spcAft>
                <a:spcPts val="200"/>
              </a:spcAft>
            </a:pPr>
            <a:r>
              <a:rPr lang="pt-BR" sz="1150" b="1">
                <a:solidFill>
                  <a:srgbClr val="FFFFFF"/>
                </a:solidFill>
                <a:latin typeface="Arial"/>
              </a:rPr>
              <a:t>Estruturas avaliadas (~1.670 embarques/mês)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6312" y="1984248"/>
            <a:ext cx="950976" cy="29260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wrap="square" lIns="18288" tIns="9144" rIns="18288" bIns="9144" rtlCol="0" anchor="ctr"/>
          <a:lstStyle/>
          <a:p>
            <a:pPr algn="ctr">
              <a:spcAft>
                <a:spcPts val="200"/>
              </a:spcAft>
            </a:pPr>
            <a:r>
              <a:rPr lang="pt-BR" sz="900" b="1">
                <a:solidFill>
                  <a:srgbClr val="005E9E"/>
                </a:solidFill>
                <a:latin typeface="Arial"/>
              </a:rPr>
              <a:t>Analista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2152" y="1984248"/>
            <a:ext cx="950976" cy="29260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wrap="square" lIns="18288" tIns="9144" rIns="18288" bIns="9144" rtlCol="0" anchor="ctr"/>
          <a:lstStyle/>
          <a:p>
            <a:pPr algn="ctr">
              <a:spcAft>
                <a:spcPts val="200"/>
              </a:spcAft>
            </a:pPr>
            <a:r>
              <a:rPr lang="pt-BR" sz="900" b="1">
                <a:solidFill>
                  <a:srgbClr val="005E9E"/>
                </a:solidFill>
                <a:latin typeface="Arial"/>
              </a:rPr>
              <a:t>TL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" y="2331720"/>
            <a:ext cx="2103120" cy="42062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wrap="square" lIns="432000" tIns="18288" rIns="72000" bIns="18288" rtlCol="0" anchor="ctr"/>
          <a:lstStyle/>
          <a:p>
            <a:pPr algn="l">
              <a:spcAft>
                <a:spcPts val="200"/>
              </a:spcAft>
            </a:pPr>
            <a:r>
              <a:rPr lang="pt-BR" sz="900" b="1" dirty="0">
                <a:solidFill>
                  <a:srgbClr val="005E9E"/>
                </a:solidFill>
                <a:latin typeface="Arial"/>
              </a:rPr>
              <a:t>Estrutura 1 (atual)</a:t>
            </a:r>
          </a:p>
          <a:p>
            <a:pPr algn="l">
              <a:spcAft>
                <a:spcPts val="200"/>
              </a:spcAft>
            </a:pPr>
            <a:r>
              <a:rPr lang="pt-BR" sz="850" b="0" dirty="0">
                <a:solidFill>
                  <a:srgbClr val="333333"/>
                </a:solidFill>
                <a:latin typeface="Arial"/>
              </a:rPr>
              <a:t>1 TL e 7 analistas (4 existentes + 3 a serem contratados)</a:t>
            </a:r>
          </a:p>
        </p:txBody>
      </p:sp>
      <p:sp>
        <p:nvSpPr>
          <p:cNvPr id="11" name="Oval 10"/>
          <p:cNvSpPr/>
          <p:nvPr/>
        </p:nvSpPr>
        <p:spPr>
          <a:xfrm>
            <a:off x="402336" y="2414015"/>
            <a:ext cx="256032" cy="256032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0" rIns="0" rtlCol="0" anchor="ctr"/>
          <a:lstStyle/>
          <a:p>
            <a:pPr algn="ctr">
              <a:spcAft>
                <a:spcPts val="200"/>
              </a:spcAft>
            </a:pPr>
            <a:r>
              <a:rPr lang="pt-BR"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96312" y="2331720"/>
            <a:ext cx="950976" cy="42062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wrap="square" lIns="18288" tIns="9144" rIns="18288" bIns="9144" rtlCol="0" anchor="ctr"/>
          <a:lstStyle/>
          <a:p>
            <a:pPr algn="ctr">
              <a:spcAft>
                <a:spcPts val="200"/>
              </a:spcAft>
            </a:pPr>
            <a:r>
              <a:rPr lang="pt-BR" sz="1300" b="1">
                <a:solidFill>
                  <a:srgbClr val="005E9E"/>
                </a:solidFill>
                <a:latin typeface="Arial"/>
              </a:rPr>
              <a:t>1,4/h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2152" y="2331720"/>
            <a:ext cx="950976" cy="420624"/>
          </a:xfrm>
          <a:prstGeom prst="roundRect">
            <a:avLst>
              <a:gd name="adj" fmla="val 8000"/>
            </a:avLst>
          </a:prstGeom>
          <a:solidFill>
            <a:srgbClr val="F3EEEA"/>
          </a:solidFill>
          <a:ln>
            <a:noFill/>
          </a:ln>
          <a:effectLst/>
        </p:spPr>
        <p:txBody>
          <a:bodyPr wrap="square" lIns="18288" tIns="9144" rIns="18288" bIns="9144" rtlCol="0" anchor="ctr"/>
          <a:lstStyle/>
          <a:p>
            <a:pPr algn="ctr">
              <a:spcAft>
                <a:spcPts val="200"/>
              </a:spcAft>
            </a:pPr>
            <a:r>
              <a:rPr lang="pt-BR" sz="1300" b="1">
                <a:solidFill>
                  <a:srgbClr val="FF8E2E"/>
                </a:solidFill>
                <a:latin typeface="Arial"/>
              </a:rPr>
              <a:t>10,0/h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" y="2788920"/>
            <a:ext cx="2103120" cy="42062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wrap="square" lIns="432000" tIns="18288" rIns="72000" bIns="18288" rtlCol="0" anchor="ctr"/>
          <a:lstStyle/>
          <a:p>
            <a:pPr algn="l">
              <a:spcAft>
                <a:spcPts val="200"/>
              </a:spcAft>
            </a:pPr>
            <a:r>
              <a:rPr lang="pt-BR" sz="900" b="1">
                <a:solidFill>
                  <a:srgbClr val="005E9E"/>
                </a:solidFill>
                <a:latin typeface="Arial"/>
              </a:rPr>
              <a:t>Estrutura 2</a:t>
            </a:r>
          </a:p>
          <a:p>
            <a:pPr algn="l">
              <a:spcAft>
                <a:spcPts val="200"/>
              </a:spcAft>
            </a:pPr>
            <a:r>
              <a:rPr lang="pt-BR" sz="850" b="0">
                <a:solidFill>
                  <a:srgbClr val="333333"/>
                </a:solidFill>
                <a:latin typeface="Arial"/>
              </a:rPr>
              <a:t>2 TLs e 3 analistas cada</a:t>
            </a:r>
          </a:p>
        </p:txBody>
      </p:sp>
      <p:sp>
        <p:nvSpPr>
          <p:cNvPr id="15" name="Oval 14"/>
          <p:cNvSpPr/>
          <p:nvPr/>
        </p:nvSpPr>
        <p:spPr>
          <a:xfrm>
            <a:off x="402336" y="2871215"/>
            <a:ext cx="256032" cy="256032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txBody>
          <a:bodyPr wrap="square" lIns="0" rIns="0" rtlCol="0" anchor="ctr"/>
          <a:lstStyle/>
          <a:p>
            <a:pPr algn="ctr">
              <a:spcAft>
                <a:spcPts val="200"/>
              </a:spcAft>
            </a:pPr>
            <a:r>
              <a:rPr lang="pt-BR"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96312" y="2788920"/>
            <a:ext cx="950976" cy="42062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wrap="square" lIns="18288" tIns="9144" rIns="18288" bIns="9144" rtlCol="0" anchor="ctr"/>
          <a:lstStyle/>
          <a:p>
            <a:pPr algn="ctr">
              <a:spcAft>
                <a:spcPts val="200"/>
              </a:spcAft>
            </a:pPr>
            <a:r>
              <a:rPr lang="pt-BR" sz="1300" b="1">
                <a:solidFill>
                  <a:srgbClr val="005E9E"/>
                </a:solidFill>
                <a:latin typeface="Arial"/>
              </a:rPr>
              <a:t>1,7/h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02152" y="2788920"/>
            <a:ext cx="950976" cy="42062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wrap="square" lIns="18288" tIns="9144" rIns="18288" bIns="9144" rtlCol="0" anchor="ctr"/>
          <a:lstStyle/>
          <a:p>
            <a:pPr algn="ctr">
              <a:spcAft>
                <a:spcPts val="200"/>
              </a:spcAft>
            </a:pPr>
            <a:r>
              <a:rPr lang="pt-BR" sz="1300" b="1">
                <a:solidFill>
                  <a:srgbClr val="005E9E"/>
                </a:solidFill>
                <a:latin typeface="Arial"/>
              </a:rPr>
              <a:t>5,0/h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" y="3246120"/>
            <a:ext cx="2103120" cy="420624"/>
          </a:xfrm>
          <a:prstGeom prst="roundRect">
            <a:avLst>
              <a:gd name="adj" fmla="val 8000"/>
            </a:avLst>
          </a:prstGeom>
          <a:solidFill>
            <a:srgbClr val="E5F0F8"/>
          </a:solidFill>
          <a:ln w="12700">
            <a:solidFill>
              <a:srgbClr val="005E9E"/>
            </a:solidFill>
          </a:ln>
          <a:effectLst/>
        </p:spPr>
        <p:txBody>
          <a:bodyPr wrap="square" lIns="432000" tIns="18288" rIns="72000" bIns="18288" rtlCol="0" anchor="ctr"/>
          <a:lstStyle/>
          <a:p>
            <a:pPr algn="l">
              <a:spcAft>
                <a:spcPts val="200"/>
              </a:spcAft>
            </a:pPr>
            <a:r>
              <a:rPr lang="pt-BR" sz="900" b="1" dirty="0">
                <a:solidFill>
                  <a:srgbClr val="005E9E"/>
                </a:solidFill>
                <a:latin typeface="Arial"/>
              </a:rPr>
              <a:t>Estrutura 3 · adotada</a:t>
            </a:r>
          </a:p>
          <a:p>
            <a:pPr algn="l">
              <a:spcAft>
                <a:spcPts val="200"/>
              </a:spcAft>
            </a:pPr>
            <a:r>
              <a:rPr lang="pt-BR" sz="850" b="0" dirty="0">
                <a:solidFill>
                  <a:srgbClr val="333333"/>
                </a:solidFill>
                <a:latin typeface="Arial"/>
              </a:rPr>
              <a:t>2 TLs e 2 analistas cada</a:t>
            </a:r>
          </a:p>
        </p:txBody>
      </p:sp>
      <p:sp>
        <p:nvSpPr>
          <p:cNvPr id="19" name="Oval 18"/>
          <p:cNvSpPr/>
          <p:nvPr/>
        </p:nvSpPr>
        <p:spPr>
          <a:xfrm>
            <a:off x="402336" y="3328415"/>
            <a:ext cx="256032" cy="256032"/>
          </a:xfrm>
          <a:prstGeom prst="ellipse">
            <a:avLst/>
          </a:prstGeom>
          <a:solidFill>
            <a:srgbClr val="FF8E2E"/>
          </a:solidFill>
          <a:ln>
            <a:noFill/>
          </a:ln>
          <a:effectLst/>
        </p:spPr>
        <p:txBody>
          <a:bodyPr wrap="square" lIns="0" rIns="0" rtlCol="0" anchor="ctr"/>
          <a:lstStyle/>
          <a:p>
            <a:pPr algn="ctr">
              <a:spcAft>
                <a:spcPts val="200"/>
              </a:spcAft>
            </a:pPr>
            <a:r>
              <a:rPr lang="pt-BR"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96312" y="3246120"/>
            <a:ext cx="950976" cy="420624"/>
          </a:xfrm>
          <a:prstGeom prst="roundRect">
            <a:avLst>
              <a:gd name="adj" fmla="val 8000"/>
            </a:avLst>
          </a:prstGeom>
          <a:solidFill>
            <a:srgbClr val="E5F0F8"/>
          </a:solidFill>
          <a:ln w="12700">
            <a:solidFill>
              <a:srgbClr val="005E9E"/>
            </a:solidFill>
          </a:ln>
          <a:effectLst/>
        </p:spPr>
        <p:txBody>
          <a:bodyPr wrap="square" lIns="18288" tIns="9144" rIns="18288" bIns="9144" rtlCol="0" anchor="ctr"/>
          <a:lstStyle/>
          <a:p>
            <a:pPr algn="ctr">
              <a:spcAft>
                <a:spcPts val="200"/>
              </a:spcAft>
            </a:pPr>
            <a:r>
              <a:rPr lang="pt-BR" sz="1300" b="1" dirty="0">
                <a:solidFill>
                  <a:srgbClr val="005E9E"/>
                </a:solidFill>
                <a:latin typeface="Arial"/>
              </a:rPr>
              <a:t>2,5/h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02152" y="3246120"/>
            <a:ext cx="950976" cy="420624"/>
          </a:xfrm>
          <a:prstGeom prst="roundRect">
            <a:avLst>
              <a:gd name="adj" fmla="val 8000"/>
            </a:avLst>
          </a:prstGeom>
          <a:solidFill>
            <a:srgbClr val="E5F0F8"/>
          </a:solidFill>
          <a:ln w="12700">
            <a:solidFill>
              <a:srgbClr val="005E9E"/>
            </a:solidFill>
          </a:ln>
          <a:effectLst/>
        </p:spPr>
        <p:txBody>
          <a:bodyPr wrap="square" lIns="18288" tIns="9144" rIns="18288" bIns="9144" rtlCol="0" anchor="ctr"/>
          <a:lstStyle/>
          <a:p>
            <a:pPr algn="ctr">
              <a:spcAft>
                <a:spcPts val="200"/>
              </a:spcAft>
            </a:pPr>
            <a:r>
              <a:rPr lang="pt-BR" sz="1300" b="1" dirty="0">
                <a:solidFill>
                  <a:srgbClr val="005E9E"/>
                </a:solidFill>
                <a:latin typeface="Arial"/>
              </a:rPr>
              <a:t>5,0/h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1600200"/>
            <a:ext cx="7278624" cy="329184"/>
          </a:xfrm>
          <a:prstGeom prst="roundRect">
            <a:avLst>
              <a:gd name="adj" fmla="val 8000"/>
            </a:avLst>
          </a:prstGeom>
          <a:solidFill>
            <a:srgbClr val="005E9E"/>
          </a:solidFill>
          <a:ln>
            <a:noFill/>
          </a:ln>
          <a:effectLst/>
        </p:spPr>
        <p:txBody>
          <a:bodyPr wrap="square" lIns="100584" rIns="100584" rtlCol="0" anchor="ctr"/>
          <a:lstStyle/>
          <a:p>
            <a:pPr algn="ctr">
              <a:spcAft>
                <a:spcPts val="200"/>
              </a:spcAft>
            </a:pPr>
            <a:r>
              <a:rPr lang="pt-BR" sz="1150" b="1" dirty="0">
                <a:solidFill>
                  <a:srgbClr val="FFFFFF"/>
                </a:solidFill>
                <a:latin typeface="Arial"/>
              </a:rPr>
              <a:t>Estrutura 3 (sugerida para avaliação)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68312" y="2011680"/>
            <a:ext cx="2286000" cy="384048"/>
          </a:xfrm>
          <a:prstGeom prst="roundRect">
            <a:avLst>
              <a:gd name="adj" fmla="val 8000"/>
            </a:avLst>
          </a:prstGeom>
          <a:solidFill>
            <a:srgbClr val="005E9E"/>
          </a:solidFill>
          <a:ln>
            <a:noFill/>
          </a:ln>
          <a:effectLst/>
        </p:spPr>
        <p:txBody>
          <a:bodyPr wrap="square" lIns="45720" rIns="45720" rtlCol="0" anchor="ctr"/>
          <a:lstStyle/>
          <a:p>
            <a:pPr algn="ctr">
              <a:spcAft>
                <a:spcPts val="200"/>
              </a:spcAft>
            </a:pPr>
            <a:r>
              <a:rPr lang="pt-BR" sz="1000" b="1" dirty="0">
                <a:solidFill>
                  <a:srgbClr val="FFFFFF"/>
                </a:solidFill>
                <a:latin typeface="Arial"/>
              </a:rPr>
              <a:t>Head de Serviços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211312" y="2395728"/>
            <a:ext cx="0" cy="109728"/>
          </a:xfrm>
          <a:prstGeom prst="line">
            <a:avLst/>
          </a:prstGeom>
          <a:ln w="15240">
            <a:solidFill>
              <a:srgbClr val="005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318504" y="2505456"/>
            <a:ext cx="3785616" cy="0"/>
          </a:xfrm>
          <a:prstGeom prst="line">
            <a:avLst/>
          </a:prstGeom>
          <a:ln w="15240">
            <a:solidFill>
              <a:srgbClr val="005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318504" y="2505456"/>
            <a:ext cx="0" cy="91440"/>
          </a:xfrm>
          <a:prstGeom prst="line">
            <a:avLst/>
          </a:prstGeom>
          <a:ln w="15240">
            <a:solidFill>
              <a:srgbClr val="005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572000" y="2596896"/>
            <a:ext cx="3493008" cy="493776"/>
          </a:xfrm>
          <a:prstGeom prst="roundRect">
            <a:avLst>
              <a:gd name="adj" fmla="val 8000"/>
            </a:avLst>
          </a:prstGeom>
          <a:solidFill>
            <a:srgbClr val="00ACEE"/>
          </a:solidFill>
          <a:ln>
            <a:noFill/>
          </a:ln>
          <a:effectLst/>
        </p:spPr>
        <p:txBody>
          <a:bodyPr wrap="square" lIns="45720" tIns="18288" rIns="45720" bIns="18288" rtlCol="0" anchor="ctr"/>
          <a:lstStyle/>
          <a:p>
            <a:pPr algn="ctr">
              <a:spcAft>
                <a:spcPts val="200"/>
              </a:spcAft>
            </a:pPr>
            <a:r>
              <a:rPr lang="pt-BR" sz="1000" b="1">
                <a:solidFill>
                  <a:srgbClr val="FFFFFF"/>
                </a:solidFill>
                <a:latin typeface="Arial"/>
              </a:rPr>
              <a:t>TL de SOP · Health Care + Energy</a:t>
            </a:r>
          </a:p>
          <a:p>
            <a:pPr algn="ctr">
              <a:spcAft>
                <a:spcPts val="200"/>
              </a:spcAft>
            </a:pPr>
            <a:r>
              <a:rPr lang="pt-BR" sz="850" b="0">
                <a:solidFill>
                  <a:srgbClr val="FFFFFF"/>
                </a:solidFill>
                <a:latin typeface="Arial"/>
              </a:rPr>
              <a:t>Health Care 22% · Energy 30%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318504" y="3090672"/>
            <a:ext cx="0" cy="109728"/>
          </a:xfrm>
          <a:prstGeom prst="line">
            <a:avLst/>
          </a:prstGeom>
          <a:ln w="15240">
            <a:solidFill>
              <a:srgbClr val="005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513832" y="3200400"/>
            <a:ext cx="1609344" cy="0"/>
          </a:xfrm>
          <a:prstGeom prst="line">
            <a:avLst/>
          </a:prstGeom>
          <a:ln w="15240">
            <a:solidFill>
              <a:srgbClr val="005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513832" y="3200400"/>
            <a:ext cx="0" cy="91440"/>
          </a:xfrm>
          <a:prstGeom prst="line">
            <a:avLst/>
          </a:prstGeom>
          <a:ln w="15240">
            <a:solidFill>
              <a:srgbClr val="005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782312" y="3291840"/>
            <a:ext cx="1463040" cy="365760"/>
          </a:xfrm>
          <a:prstGeom prst="roundRect">
            <a:avLst>
              <a:gd name="adj" fmla="val 8000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bg2"/>
            </a:solidFill>
          </a:ln>
          <a:effectLst/>
        </p:spPr>
        <p:txBody>
          <a:bodyPr wrap="square" lIns="18288" tIns="18288" rIns="18288" bIns="18288" rtlCol="0" anchor="ctr"/>
          <a:lstStyle/>
          <a:p>
            <a:pPr algn="ctr">
              <a:spcAft>
                <a:spcPts val="200"/>
              </a:spcAft>
            </a:pPr>
            <a:r>
              <a:rPr lang="pt-BR" sz="900" b="1">
                <a:solidFill>
                  <a:schemeClr val="bg2"/>
                </a:solidFill>
                <a:latin typeface="Arial"/>
              </a:rPr>
              <a:t>Analista Fornecedor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123176" y="3200400"/>
            <a:ext cx="0" cy="91440"/>
          </a:xfrm>
          <a:prstGeom prst="line">
            <a:avLst/>
          </a:prstGeom>
          <a:ln w="15240">
            <a:solidFill>
              <a:srgbClr val="005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391656" y="3291840"/>
            <a:ext cx="1463040" cy="365760"/>
          </a:xfrm>
          <a:prstGeom prst="roundRect">
            <a:avLst>
              <a:gd name="adj" fmla="val 8000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4"/>
            </a:solidFill>
          </a:ln>
          <a:effectLst/>
        </p:spPr>
        <p:txBody>
          <a:bodyPr wrap="square" lIns="18288" tIns="18288" rIns="18288" bIns="18288" rtlCol="0" anchor="ctr"/>
          <a:lstStyle/>
          <a:p>
            <a:pPr algn="ctr">
              <a:spcAft>
                <a:spcPts val="200"/>
              </a:spcAft>
            </a:pPr>
            <a:r>
              <a:rPr lang="pt-BR" sz="900" b="1">
                <a:solidFill>
                  <a:schemeClr val="accent4"/>
                </a:solidFill>
                <a:latin typeface="Arial"/>
              </a:rPr>
              <a:t>Analista Cliente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104120" y="2505456"/>
            <a:ext cx="0" cy="91440"/>
          </a:xfrm>
          <a:prstGeom prst="line">
            <a:avLst/>
          </a:prstGeom>
          <a:ln w="15240">
            <a:solidFill>
              <a:srgbClr val="005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357616" y="2596896"/>
            <a:ext cx="3493008" cy="493776"/>
          </a:xfrm>
          <a:prstGeom prst="roundRect">
            <a:avLst>
              <a:gd name="adj" fmla="val 8000"/>
            </a:avLst>
          </a:prstGeom>
          <a:solidFill>
            <a:srgbClr val="00ACEE"/>
          </a:solidFill>
          <a:ln>
            <a:noFill/>
          </a:ln>
          <a:effectLst/>
        </p:spPr>
        <p:txBody>
          <a:bodyPr wrap="square" lIns="45720" tIns="18288" rIns="45720" bIns="18288" rtlCol="0" anchor="ctr"/>
          <a:lstStyle/>
          <a:p>
            <a:pPr algn="ctr">
              <a:spcAft>
                <a:spcPts val="200"/>
              </a:spcAft>
            </a:pPr>
            <a:r>
              <a:rPr lang="pt-BR" sz="1000" b="1">
                <a:solidFill>
                  <a:srgbClr val="FFFFFF"/>
                </a:solidFill>
                <a:latin typeface="Arial"/>
              </a:rPr>
              <a:t>TL de SOP · Aerospace + demais</a:t>
            </a:r>
          </a:p>
          <a:p>
            <a:pPr algn="ctr">
              <a:spcAft>
                <a:spcPts val="200"/>
              </a:spcAft>
            </a:pPr>
            <a:r>
              <a:rPr lang="pt-BR" sz="850" b="0">
                <a:solidFill>
                  <a:srgbClr val="FFFFFF"/>
                </a:solidFill>
                <a:latin typeface="Arial"/>
              </a:rPr>
              <a:t>Aerospace 24% · demais setores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104120" y="3090672"/>
            <a:ext cx="0" cy="109728"/>
          </a:xfrm>
          <a:prstGeom prst="line">
            <a:avLst/>
          </a:prstGeom>
          <a:ln w="15240">
            <a:solidFill>
              <a:srgbClr val="005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299448" y="3200400"/>
            <a:ext cx="1609344" cy="0"/>
          </a:xfrm>
          <a:prstGeom prst="line">
            <a:avLst/>
          </a:prstGeom>
          <a:ln w="15240">
            <a:solidFill>
              <a:srgbClr val="005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299448" y="3200400"/>
            <a:ext cx="0" cy="91440"/>
          </a:xfrm>
          <a:prstGeom prst="line">
            <a:avLst/>
          </a:prstGeom>
          <a:ln w="15240">
            <a:solidFill>
              <a:srgbClr val="005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567928" y="3291840"/>
            <a:ext cx="1463040" cy="365760"/>
          </a:xfrm>
          <a:prstGeom prst="roundRect">
            <a:avLst>
              <a:gd name="adj" fmla="val 8000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bg2"/>
            </a:solidFill>
          </a:ln>
          <a:effectLst/>
        </p:spPr>
        <p:txBody>
          <a:bodyPr wrap="square" lIns="18288" tIns="18288" rIns="18288" bIns="18288" rtlCol="0" anchor="ctr"/>
          <a:lstStyle/>
          <a:p>
            <a:pPr algn="ctr">
              <a:spcAft>
                <a:spcPts val="200"/>
              </a:spcAft>
            </a:pPr>
            <a:r>
              <a:rPr lang="pt-BR" sz="900" b="1">
                <a:solidFill>
                  <a:schemeClr val="bg2"/>
                </a:solidFill>
                <a:latin typeface="Arial"/>
              </a:rPr>
              <a:t>Analista Fornecedor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0908792" y="3200400"/>
            <a:ext cx="0" cy="91440"/>
          </a:xfrm>
          <a:prstGeom prst="line">
            <a:avLst/>
          </a:prstGeom>
          <a:ln w="15240">
            <a:solidFill>
              <a:srgbClr val="005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10177272" y="3291840"/>
            <a:ext cx="1463040" cy="365760"/>
          </a:xfrm>
          <a:prstGeom prst="roundRect">
            <a:avLst>
              <a:gd name="adj" fmla="val 8000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4"/>
            </a:solidFill>
          </a:ln>
          <a:effectLst/>
        </p:spPr>
        <p:txBody>
          <a:bodyPr wrap="square" lIns="18288" tIns="18288" rIns="18288" bIns="18288" rtlCol="0" anchor="ctr"/>
          <a:lstStyle/>
          <a:p>
            <a:pPr algn="ctr">
              <a:spcAft>
                <a:spcPts val="200"/>
              </a:spcAft>
            </a:pPr>
            <a:r>
              <a:rPr lang="pt-BR" sz="900" b="1">
                <a:solidFill>
                  <a:schemeClr val="accent4"/>
                </a:solidFill>
                <a:latin typeface="Arial"/>
              </a:rPr>
              <a:t>Analista Cliente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8328" y="3767328"/>
            <a:ext cx="45720" cy="384048"/>
          </a:xfrm>
          <a:prstGeom prst="rect">
            <a:avLst/>
          </a:prstGeom>
          <a:solidFill>
            <a:srgbClr val="005E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TextBox 42"/>
          <p:cNvSpPr txBox="1"/>
          <p:nvPr/>
        </p:nvSpPr>
        <p:spPr>
          <a:xfrm>
            <a:off x="457200" y="3813158"/>
            <a:ext cx="11393424" cy="292388"/>
          </a:xfrm>
          <a:prstGeom prst="rect">
            <a:avLst/>
          </a:prstGeom>
          <a:noFill/>
        </p:spPr>
        <p:txBody>
          <a:bodyPr wrap="square" lIns="45720" tIns="0" rIns="18288" bIns="0" anchor="ctr">
            <a:spAutoFit/>
          </a:bodyPr>
          <a:lstStyle/>
          <a:p>
            <a:pPr algn="l"/>
            <a:r>
              <a:rPr lang="pt-BR" sz="950" dirty="0">
                <a:solidFill>
                  <a:srgbClr val="595959"/>
                </a:solidFill>
                <a:latin typeface="Arial"/>
              </a:rPr>
              <a:t>Com base nos documentos, </a:t>
            </a:r>
            <a:r>
              <a:rPr lang="pt-BR" sz="950" b="0" dirty="0">
                <a:solidFill>
                  <a:srgbClr val="595959"/>
                </a:solidFill>
                <a:latin typeface="Arial"/>
              </a:rPr>
              <a:t>hoje os analistas ficam ociosos, com ~1,4 embarque/h cada, enquanto o TL aprova ~10 Cargo Readiness/h, além de escalonamentos, carteira e gestão do time. Com 2 TLs e 4 analistas, o analista passa a ~2,5 embarques/h e cada TL cai para ~5,0/h, com tempo para atuar mão na massa.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8328" y="4233672"/>
            <a:ext cx="3959352" cy="256032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>
            <a:noFill/>
          </a:ln>
          <a:effectLst/>
        </p:spPr>
        <p:txBody>
          <a:bodyPr wrap="square" lIns="100584" rIns="100584" rtlCol="0" anchor="ctr"/>
          <a:lstStyle/>
          <a:p>
            <a:pPr algn="ctr">
              <a:spcAft>
                <a:spcPts val="200"/>
              </a:spcAft>
            </a:pPr>
            <a:r>
              <a:rPr lang="pt-BR" sz="1150" b="1">
                <a:solidFill>
                  <a:srgbClr val="FFFFFF"/>
                </a:solidFill>
                <a:latin typeface="Arial"/>
              </a:rPr>
              <a:t>Analista Fornecedor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8328" y="4526280"/>
            <a:ext cx="3959352" cy="1783080"/>
          </a:xfrm>
          <a:prstGeom prst="roundRect">
            <a:avLst>
              <a:gd name="adj" fmla="val 8000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 lIns="82296" tIns="64008" rIns="82296" bIns="64008" rtlCol="0" anchor="t"/>
          <a:lstStyle/>
          <a:p>
            <a:pPr marL="171450" indent="-171450" algn="l">
              <a:spcAft>
                <a:spcPts val="200"/>
              </a:spcAft>
              <a:buClr>
                <a:schemeClr val="bg2"/>
              </a:buClr>
              <a:buFont typeface="Arial"/>
              <a:buChar char="•"/>
            </a:pPr>
            <a:r>
              <a:rPr lang="pt-BR" sz="850" b="0" dirty="0">
                <a:solidFill>
                  <a:srgbClr val="333333"/>
                </a:solidFill>
                <a:latin typeface="Arial"/>
              </a:rPr>
              <a:t>Faz o kick-off com o fornecedor e registra em ata</a:t>
            </a:r>
          </a:p>
          <a:p>
            <a:pPr marL="171450" indent="-171450" algn="l">
              <a:spcAft>
                <a:spcPts val="200"/>
              </a:spcAft>
              <a:buClr>
                <a:schemeClr val="bg2"/>
              </a:buClr>
              <a:buFont typeface="Arial"/>
              <a:buChar char="•"/>
            </a:pPr>
            <a:r>
              <a:rPr lang="pt-BR" sz="850" b="0" dirty="0">
                <a:solidFill>
                  <a:srgbClr val="333333"/>
                </a:solidFill>
                <a:latin typeface="Arial"/>
              </a:rPr>
              <a:t>Acompanha toda semana o cronograma e as 4 datas</a:t>
            </a:r>
          </a:p>
          <a:p>
            <a:pPr marL="171450" indent="-171450" algn="l">
              <a:spcAft>
                <a:spcPts val="200"/>
              </a:spcAft>
              <a:buClr>
                <a:schemeClr val="bg2"/>
              </a:buClr>
              <a:buFont typeface="Arial"/>
              <a:buChar char="•"/>
            </a:pPr>
            <a:r>
              <a:rPr lang="pt-BR" sz="850" b="0" dirty="0">
                <a:solidFill>
                  <a:srgbClr val="333333"/>
                </a:solidFill>
                <a:latin typeface="Arial"/>
              </a:rPr>
              <a:t>No atraso, monta plano de recuperação e avalia modal</a:t>
            </a:r>
          </a:p>
          <a:p>
            <a:pPr marL="171450" indent="-171450" algn="l">
              <a:spcAft>
                <a:spcPts val="200"/>
              </a:spcAft>
              <a:buClr>
                <a:schemeClr val="bg2"/>
              </a:buClr>
              <a:buFont typeface="Arial"/>
              <a:buChar char="•"/>
            </a:pPr>
            <a:r>
              <a:rPr lang="pt-BR" sz="850" b="0" dirty="0">
                <a:solidFill>
                  <a:srgbClr val="333333"/>
                </a:solidFill>
                <a:latin typeface="Arial"/>
              </a:rPr>
              <a:t>Valida PL, certificados, licenças e ficha de DG</a:t>
            </a:r>
          </a:p>
          <a:p>
            <a:pPr marL="171450" indent="-171450" algn="l">
              <a:spcAft>
                <a:spcPts val="200"/>
              </a:spcAft>
              <a:buClr>
                <a:schemeClr val="bg2"/>
              </a:buClr>
              <a:buFont typeface="Arial"/>
              <a:buChar char="•"/>
            </a:pPr>
            <a:r>
              <a:rPr lang="pt-BR" sz="850" b="0" dirty="0">
                <a:solidFill>
                  <a:srgbClr val="333333"/>
                </a:solidFill>
                <a:latin typeface="Arial"/>
              </a:rPr>
              <a:t>Pede reemissão e leva divergências ao cliente</a:t>
            </a:r>
          </a:p>
          <a:p>
            <a:pPr marL="171450" indent="-171450" algn="l">
              <a:spcAft>
                <a:spcPts val="200"/>
              </a:spcAft>
              <a:buClr>
                <a:schemeClr val="bg2"/>
              </a:buClr>
              <a:buFont typeface="Arial"/>
              <a:buChar char="•"/>
            </a:pPr>
            <a:r>
              <a:rPr lang="pt-BR" sz="850" b="0" dirty="0">
                <a:solidFill>
                  <a:srgbClr val="333333"/>
                </a:solidFill>
                <a:latin typeface="Arial"/>
              </a:rPr>
              <a:t>Resolve discrepâncias no prazo (crítica 2 d, maior 5 d)</a:t>
            </a:r>
          </a:p>
          <a:p>
            <a:pPr marL="171450" indent="-171450" algn="l">
              <a:spcAft>
                <a:spcPts val="200"/>
              </a:spcAft>
              <a:buClr>
                <a:schemeClr val="bg2"/>
              </a:buClr>
              <a:buFont typeface="Arial"/>
              <a:buChar char="•"/>
            </a:pPr>
            <a:r>
              <a:rPr lang="pt-BR" sz="850" b="0" dirty="0">
                <a:solidFill>
                  <a:srgbClr val="333333"/>
                </a:solidFill>
                <a:latin typeface="Arial"/>
              </a:rPr>
              <a:t>Confere fotos dos volumes e tratamento da madeira</a:t>
            </a:r>
          </a:p>
          <a:p>
            <a:pPr marL="171450" indent="-171450" algn="l">
              <a:spcAft>
                <a:spcPts val="200"/>
              </a:spcAft>
              <a:buClr>
                <a:schemeClr val="bg2"/>
              </a:buClr>
              <a:buFont typeface="Arial"/>
              <a:buChar char="•"/>
            </a:pPr>
            <a:r>
              <a:rPr lang="pt-BR" sz="850" b="0" dirty="0">
                <a:solidFill>
                  <a:srgbClr val="333333"/>
                </a:solidFill>
                <a:latin typeface="Arial"/>
              </a:rPr>
              <a:t>Confere o checklist do CR e os dados de coleta</a:t>
            </a:r>
          </a:p>
          <a:p>
            <a:pPr marL="171450" indent="-171450" algn="l">
              <a:spcAft>
                <a:spcPts val="200"/>
              </a:spcAft>
              <a:buClr>
                <a:schemeClr val="bg2"/>
              </a:buClr>
              <a:buFont typeface="Arial"/>
              <a:buChar char="•"/>
            </a:pPr>
            <a:r>
              <a:rPr lang="pt-BR" sz="850" b="0" dirty="0">
                <a:solidFill>
                  <a:srgbClr val="333333"/>
                </a:solidFill>
                <a:latin typeface="Arial"/>
              </a:rPr>
              <a:t>Emite a instrução de coleta e envia o CR ao TL</a:t>
            </a:r>
          </a:p>
          <a:p>
            <a:pPr marL="171450" indent="-171450" algn="l">
              <a:spcAft>
                <a:spcPts val="200"/>
              </a:spcAft>
              <a:buClr>
                <a:schemeClr val="bg2"/>
              </a:buClr>
              <a:buFont typeface="Arial"/>
              <a:buChar char="•"/>
            </a:pPr>
            <a:r>
              <a:rPr lang="pt-BR" sz="850" b="0" dirty="0">
                <a:solidFill>
                  <a:srgbClr val="333333"/>
                </a:solidFill>
                <a:latin typeface="Arial"/>
              </a:rPr>
              <a:t>Registra na hora e escala o que passar de 4 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70832" y="4233672"/>
            <a:ext cx="3840480" cy="256032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>
            <a:noFill/>
          </a:ln>
          <a:effectLst/>
        </p:spPr>
        <p:txBody>
          <a:bodyPr wrap="square" lIns="100584" rIns="100584" rtlCol="0" anchor="ctr"/>
          <a:lstStyle/>
          <a:p>
            <a:pPr algn="ctr">
              <a:spcAft>
                <a:spcPts val="200"/>
              </a:spcAft>
            </a:pPr>
            <a:r>
              <a:rPr lang="pt-BR" sz="1150" b="1">
                <a:solidFill>
                  <a:srgbClr val="FFFFFF"/>
                </a:solidFill>
                <a:latin typeface="Arial"/>
              </a:rPr>
              <a:t>Analista Cliente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70832" y="4526280"/>
            <a:ext cx="3840480" cy="1783080"/>
          </a:xfrm>
          <a:prstGeom prst="roundRect">
            <a:avLst>
              <a:gd name="adj" fmla="val 8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 lIns="82296" tIns="64008" rIns="82296" bIns="64008" rtlCol="0" anchor="t"/>
          <a:lstStyle/>
          <a:p>
            <a:pPr marL="171450" indent="-171450" algn="l">
              <a:spcAft>
                <a:spcPts val="200"/>
              </a:spcAft>
              <a:buClr>
                <a:schemeClr val="accent4"/>
              </a:buClr>
              <a:buFont typeface="Arial"/>
              <a:buChar char="•"/>
            </a:pPr>
            <a:r>
              <a:rPr lang="pt-BR" sz="850" b="0" dirty="0">
                <a:solidFill>
                  <a:srgbClr val="333333"/>
                </a:solidFill>
                <a:latin typeface="Arial"/>
              </a:rPr>
              <a:t>Cadastra no PO Lobby as POs sem EDI</a:t>
            </a:r>
          </a:p>
          <a:p>
            <a:pPr marL="171450" indent="-171450" algn="l">
              <a:spcAft>
                <a:spcPts val="200"/>
              </a:spcAft>
              <a:buClr>
                <a:schemeClr val="accent4"/>
              </a:buClr>
              <a:buFont typeface="Arial"/>
              <a:buChar char="•"/>
            </a:pPr>
            <a:r>
              <a:rPr lang="pt-BR" sz="850" b="0" dirty="0">
                <a:solidFill>
                  <a:srgbClr val="333333"/>
                </a:solidFill>
                <a:latin typeface="Arial"/>
              </a:rPr>
              <a:t>Revisa a PO e a puxa para trabalho em até 24 h</a:t>
            </a:r>
          </a:p>
          <a:p>
            <a:pPr marL="171450" indent="-171450" algn="l">
              <a:spcAft>
                <a:spcPts val="200"/>
              </a:spcAft>
              <a:buClr>
                <a:schemeClr val="accent4"/>
              </a:buClr>
              <a:buFont typeface="Arial"/>
              <a:buChar char="•"/>
            </a:pPr>
            <a:r>
              <a:rPr lang="pt-BR" sz="850" b="0" dirty="0">
                <a:solidFill>
                  <a:srgbClr val="333333"/>
                </a:solidFill>
                <a:latin typeface="Arial"/>
              </a:rPr>
              <a:t>Compara cada nova versão da PO antes de substituir</a:t>
            </a:r>
          </a:p>
          <a:p>
            <a:pPr marL="171450" indent="-171450" algn="l">
              <a:spcAft>
                <a:spcPts val="200"/>
              </a:spcAft>
              <a:buClr>
                <a:schemeClr val="accent4"/>
              </a:buClr>
              <a:buFont typeface="Arial"/>
              <a:buChar char="•"/>
            </a:pPr>
            <a:r>
              <a:rPr lang="pt-BR" sz="850" b="0" dirty="0">
                <a:solidFill>
                  <a:srgbClr val="333333"/>
                </a:solidFill>
                <a:latin typeface="Arial"/>
              </a:rPr>
              <a:t>Confirma e registra a data de necessidade</a:t>
            </a:r>
          </a:p>
          <a:p>
            <a:pPr marL="171450" indent="-171450" algn="l">
              <a:spcAft>
                <a:spcPts val="200"/>
              </a:spcAft>
              <a:buClr>
                <a:schemeClr val="accent4"/>
              </a:buClr>
              <a:buFont typeface="Arial"/>
              <a:buChar char="•"/>
            </a:pPr>
            <a:r>
              <a:rPr lang="pt-BR" sz="850" b="0" dirty="0">
                <a:solidFill>
                  <a:srgbClr val="333333"/>
                </a:solidFill>
                <a:latin typeface="Arial"/>
              </a:rPr>
              <a:t>Avisa quando a promessa passa da necessidade</a:t>
            </a:r>
          </a:p>
          <a:p>
            <a:pPr marL="171450" indent="-171450" algn="l">
              <a:spcAft>
                <a:spcPts val="200"/>
              </a:spcAft>
              <a:buClr>
                <a:schemeClr val="accent4"/>
              </a:buClr>
              <a:buFont typeface="Arial"/>
              <a:buChar char="•"/>
            </a:pPr>
            <a:r>
              <a:rPr lang="pt-BR" sz="850" b="0" dirty="0">
                <a:solidFill>
                  <a:srgbClr val="333333"/>
                </a:solidFill>
                <a:latin typeface="Arial"/>
              </a:rPr>
              <a:t>Confere cada invoice contra a PO</a:t>
            </a:r>
          </a:p>
          <a:p>
            <a:pPr marL="171450" indent="-171450" algn="l">
              <a:spcAft>
                <a:spcPts val="200"/>
              </a:spcAft>
              <a:buClr>
                <a:schemeClr val="accent4"/>
              </a:buClr>
              <a:buFont typeface="Arial"/>
              <a:buChar char="•"/>
            </a:pPr>
            <a:r>
              <a:rPr lang="pt-BR" sz="850" b="0" dirty="0">
                <a:solidFill>
                  <a:srgbClr val="333333"/>
                </a:solidFill>
                <a:latin typeface="Arial"/>
              </a:rPr>
              <a:t>Confere os 14 dados do art. 557, se exigido</a:t>
            </a:r>
          </a:p>
          <a:p>
            <a:pPr marL="171450" indent="-171450" algn="l">
              <a:spcAft>
                <a:spcPts val="200"/>
              </a:spcAft>
              <a:buClr>
                <a:schemeClr val="accent4"/>
              </a:buClr>
              <a:buFont typeface="Arial"/>
              <a:buChar char="•"/>
            </a:pPr>
            <a:r>
              <a:rPr lang="pt-BR" sz="850" b="0" dirty="0">
                <a:solidFill>
                  <a:srgbClr val="333333"/>
                </a:solidFill>
                <a:latin typeface="Arial"/>
              </a:rPr>
              <a:t>Avisa discrepância crítica e registra a causa raiz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84464" y="4233672"/>
            <a:ext cx="3566160" cy="256032"/>
          </a:xfrm>
          <a:prstGeom prst="roundRect">
            <a:avLst>
              <a:gd name="adj" fmla="val 8000"/>
            </a:avLst>
          </a:prstGeom>
          <a:solidFill>
            <a:srgbClr val="FF8E2E"/>
          </a:solidFill>
          <a:ln>
            <a:noFill/>
          </a:ln>
          <a:effectLst/>
        </p:spPr>
        <p:txBody>
          <a:bodyPr wrap="square" lIns="100584" rIns="100584" rtlCol="0" anchor="ctr"/>
          <a:lstStyle/>
          <a:p>
            <a:pPr algn="ctr">
              <a:spcAft>
                <a:spcPts val="200"/>
              </a:spcAft>
            </a:pPr>
            <a:r>
              <a:rPr lang="pt-BR" sz="1150" b="1">
                <a:solidFill>
                  <a:srgbClr val="FFFFFF"/>
                </a:solidFill>
                <a:latin typeface="Arial"/>
              </a:rPr>
              <a:t>TL de SOP · mão na massa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84464" y="4526280"/>
            <a:ext cx="3566160" cy="1783080"/>
          </a:xfrm>
          <a:prstGeom prst="roundRect">
            <a:avLst>
              <a:gd name="adj" fmla="val 8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 lIns="82296" tIns="64008" rIns="82296" bIns="64008" rtlCol="0" anchor="t"/>
          <a:lstStyle/>
          <a:p>
            <a:pPr marL="171450" indent="-171450" algn="l">
              <a:spcAft>
                <a:spcPts val="200"/>
              </a:spcAft>
              <a:buClr>
                <a:srgbClr val="FF8E2E"/>
              </a:buClr>
              <a:buFont typeface="Arial"/>
              <a:buChar char="•"/>
            </a:pPr>
            <a:r>
              <a:rPr lang="pt-BR" sz="850" b="0" dirty="0">
                <a:solidFill>
                  <a:srgbClr val="333333"/>
                </a:solidFill>
                <a:latin typeface="Arial"/>
              </a:rPr>
              <a:t>Tem carteira própria e cobre o time no pico</a:t>
            </a:r>
          </a:p>
          <a:p>
            <a:pPr marL="171450" indent="-171450" algn="l">
              <a:spcAft>
                <a:spcPts val="200"/>
              </a:spcAft>
              <a:buClr>
                <a:srgbClr val="FF8E2E"/>
              </a:buClr>
              <a:buFont typeface="Arial"/>
              <a:buChar char="•"/>
            </a:pPr>
            <a:r>
              <a:rPr lang="pt-BR" sz="850" b="0" dirty="0">
                <a:solidFill>
                  <a:srgbClr val="333333"/>
                </a:solidFill>
                <a:latin typeface="Arial"/>
              </a:rPr>
              <a:t>Aprova o Cargo Readiness antes do armazém</a:t>
            </a:r>
          </a:p>
          <a:p>
            <a:pPr marL="171450" indent="-171450" algn="l">
              <a:spcAft>
                <a:spcPts val="200"/>
              </a:spcAft>
              <a:buClr>
                <a:srgbClr val="FF8E2E"/>
              </a:buClr>
              <a:buFont typeface="Arial"/>
              <a:buChar char="•"/>
            </a:pPr>
            <a:r>
              <a:rPr lang="pt-BR" sz="850" b="0" dirty="0">
                <a:solidFill>
                  <a:srgbClr val="333333"/>
                </a:solidFill>
                <a:latin typeface="Arial"/>
              </a:rPr>
              <a:t>Resolve escalonamentos em 24 h com cliente e fornecedor</a:t>
            </a:r>
          </a:p>
          <a:p>
            <a:pPr marL="171450" indent="-171450" algn="l">
              <a:spcAft>
                <a:spcPts val="200"/>
              </a:spcAft>
              <a:buClr>
                <a:srgbClr val="FF8E2E"/>
              </a:buClr>
              <a:buFont typeface="Arial"/>
              <a:buChar char="•"/>
            </a:pPr>
            <a:r>
              <a:rPr lang="pt-BR" sz="850" b="0" dirty="0">
                <a:solidFill>
                  <a:srgbClr val="333333"/>
                </a:solidFill>
                <a:latin typeface="Arial"/>
              </a:rPr>
              <a:t>Distribui as POs e mantém a matriz de exigências</a:t>
            </a:r>
          </a:p>
          <a:p>
            <a:pPr marL="171450" indent="-171450" algn="l">
              <a:spcAft>
                <a:spcPts val="200"/>
              </a:spcAft>
              <a:buClr>
                <a:srgbClr val="FF8E2E"/>
              </a:buClr>
              <a:buFont typeface="Arial"/>
              <a:buChar char="•"/>
            </a:pPr>
            <a:r>
              <a:rPr lang="pt-BR" sz="850" b="0" dirty="0">
                <a:solidFill>
                  <a:srgbClr val="333333"/>
                </a:solidFill>
                <a:latin typeface="Arial"/>
              </a:rPr>
              <a:t>Acompanha os indicadores do SOP no rito diário</a:t>
            </a:r>
          </a:p>
          <a:p>
            <a:pPr marL="171450" indent="-171450" algn="l">
              <a:spcAft>
                <a:spcPts val="200"/>
              </a:spcAft>
              <a:buClr>
                <a:srgbClr val="FF8E2E"/>
              </a:buClr>
              <a:buFont typeface="Arial"/>
              <a:buChar char="•"/>
            </a:pPr>
            <a:r>
              <a:rPr lang="pt-BR" sz="850" b="0" dirty="0">
                <a:solidFill>
                  <a:srgbClr val="333333"/>
                </a:solidFill>
                <a:latin typeface="Arial"/>
              </a:rPr>
              <a:t>Treina os novos analistas e dimensiona o time</a:t>
            </a:r>
          </a:p>
        </p:txBody>
      </p:sp>
    </p:spTree>
    <p:extLst>
      <p:ext uri="{BB962C8B-B14F-4D97-AF65-F5344CB8AC3E}">
        <p14:creationId xmlns:p14="http://schemas.microsoft.com/office/powerpoint/2010/main" val="18691307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PLORISREVISION" val="0"/>
  <p:tag name="THINKCELLUNDODONOTDELETE" val="0"/>
  <p:tag name="THINKCELLPRESENTATIONDONOTDELETE" val="&lt;?xml version=&quot;1.0&quot; encoding=&quot;UTF-16&quot; standalone=&quot;yes&quot;?&gt;&lt;root reqver=&quot;28224&quot;&gt;&lt;version val=&quot;35606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.%m.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%m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3&quot;&gt;&lt;elem m_fUsage=&quot;3.07928112869461489964E+00&quot;&gt;&lt;m_msothmcolidx val=&quot;0&quot;/&gt;&lt;m_rgb r=&quot;E7&quot; g=&quot;EF&quot; b=&quot;EF&quot;/&gt;&lt;/elem&gt;&lt;elem m_fUsage=&quot;2.14582643648100024336E+00&quot;&gt;&lt;m_msothmcolidx val=&quot;0&quot;/&gt;&lt;m_rgb r=&quot;58&quot; g=&quot;BA&quot; b=&quot;BA&quot;/&gt;&lt;/elem&gt;&lt;elem m_fUsage=&quot;1.26753992910000023997E+00&quot;&gt;&lt;m_msothmcolidx val=&quot;0&quot;/&gt;&lt;m_rgb r=&quot;DD&quot; g=&quot;F0&quot; b=&quot;F0&quot;/&gt;&lt;/elem&gt;&lt;elem m_fUsage=&quot;1.12381059609000022448E+00&quot;&gt;&lt;m_msothmcolidx val=&quot;0&quot;/&gt;&lt;m_rgb r=&quot;D6&quot; g=&quot;EE&quot; b=&quot;EE&quot;/&gt;&lt;/elem&gt;&lt;elem m_fUsage=&quot;9.00000000000000022204E-01&quot;&gt;&lt;m_msothmcolidx val=&quot;0&quot;/&gt;&lt;m_rgb r=&quot;42&quot; g=&quot;C7&quot; b=&quot;C7&quot;/&gt;&lt;/elem&gt;&lt;elem m_fUsage=&quot;4.82081938222827299789E-01&quot;&gt;&lt;m_msothmcolidx val=&quot;0&quot;/&gt;&lt;m_rgb r=&quot;A6&quot; g=&quot;A6&quot; b=&quot;A6&quot;/&gt;&lt;/elem&gt;&lt;elem m_fUsage=&quot;4.06756461654867840227E-01&quot;&gt;&lt;m_msothmcolidx val=&quot;0&quot;/&gt;&lt;m_rgb r=&quot;D9&quot; g=&quot;D9&quot; b=&quot;D9&quot;/&gt;&lt;/elem&gt;&lt;elem m_fUsage=&quot;2.61592661457161257399E-01&quot;&gt;&lt;m_msothmcolidx val=&quot;0&quot;/&gt;&lt;m_rgb r=&quot;CB&quot; g=&quot;DD&quot; b=&quot;DD&quot;/&gt;&lt;/elem&gt;&lt;elem m_fUsage=&quot;1.85302018885184188735E-01&quot;&gt;&lt;m_msothmcolidx val=&quot;0&quot;/&gt;&lt;m_rgb r=&quot;7F&quot; g=&quot;7F&quot; b=&quot;7F&quot;/&gt;&lt;/elem&gt;&lt;elem m_fUsage=&quot;3.49730471277284182818E-02&quot;&gt;&lt;m_msothmcolidx val=&quot;0&quot;/&gt;&lt;m_rgb r=&quot;72&quot; g=&quot;22&quot; b=&quot;82&quot;/&gt;&lt;/elem&gt;&lt;elem m_fUsage=&quot;1.47808829414346077497E-02&quot;&gt;&lt;m_msothmcolidx val=&quot;0&quot;/&gt;&lt;m_rgb r=&quot;F1&quot; g=&quot;F1&quot; b=&quot;F1&quot;/&gt;&lt;/elem&gt;&lt;elem m_fUsage=&quot;1.07752636643058292976E-02&quot;&gt;&lt;m_msothmcolidx val=&quot;0&quot;/&gt;&lt;m_rgb r=&quot;E5&quot; g=&quot;DD&quot; b=&quot;D5&quot;/&gt;&lt;/elem&gt;&lt;elem m_fUsage=&quot;8.72796356808772273717E-03&quot;&gt;&lt;m_msothmcolidx val=&quot;0&quot;/&gt;&lt;m_rgb r=&quot;B9&quot; g=&quot;BD&quot; b=&quot;00&quot;/&gt;&lt;/elem&gt;&lt;/m_vecMRU&gt;&lt;/m_mruColor&gt;&lt;m_eweekdayFirstOfWeek val=&quot;2&quot;/&gt;&lt;m_eweekdayFirstOfWorkweek val=&quot;2&quot;/&gt;&lt;m_eweekdayFirstOfWeekend val=&quot;7&quot;/&gt;&lt;/CPresentation&gt;&lt;/root&gt;"/>
  <p:tag name="GRUNT-HP-GEHF7K" val="MgIAAA=="/>
  <p:tag name="POWER_USER_PPT_AGENDA_PRESENTATION_TABLE_OF_CONTENT_STYLE_TAG" val="1"/>
  <p:tag name="POWER_USER_PPT_AGENDA_PRESENTATION_DIVIDERS_STYLE_TAG" val="POWER_USER_LAYOUT_DIVIDER_CUSTOM"/>
  <p:tag name="POWER_USER_PPT_AGENDA_PRESENTATION_SHOULD_CREATE_TABLE_OF_CONTENT_TAG" val="0"/>
  <p:tag name="POWER_USER_PPT_AGENDA_PRESENTATION_SHOW_SECTION_NUMBERS_CHECKED_TAG" val="1"/>
  <p:tag name="POWER_USER_PPT_AGENDA_PRESENTATION_DIVIDERS_CHECKED_TAG" val="0"/>
  <p:tag name="POWER_USER_PPT_AGENDA_PRESENTATION_TITLE_TEXT_TAG" val="POWER_USER_PPT_AGENDA_PRESENTATION_EMPTY_TITLE_TEXT_TAG"/>
  <p:tag name="POWER_USER_PPT_AGENDA_PRESENTATION_TABLE_OF_CONTENT_CHECKED_TAG" val="1"/>
  <p:tag name="POWER_USER_CONTEXTUAL_SHAPES_AGENDA_DESIGNER" val="{&quot;Divider1&quot;:{&quot;Title&quot;:{&quot;AutoShapeType&quot;:1,&quot;Visible&quot;:-1,&quot;LockAspectRatio&quot;:0,&quot;CanUpdateAdjustments&quot;:true,&quot;Adjustment1&quot;:-1.0,&quot;Adjustment2&quot;:-1.0,&quot;CanManagePosition&quot;:true,&quot;Left&quot;:240.0,&quot;Top&quot;:216.0,&quot;Width&quot;:700.0,&quot;Height&quot;:108.0,&quot;Rotation&quot;:-1.0,&quot;TextFrame2AutoSize&quot;:1,&quot;TextFrame2TextRangeFontName&quot;:&quot;&quot;,&quot;TextFrameMarginTop&quot;:0.0,&quot;TextFrameMarginLeft&quot;:0.0,&quot;TextFrameMarginRight&quot;:0.0,&quot;TextFrameMarginBottom&quot;:0.0,&quot;TextFrameWordWrap&quot;:-1,&quot;TextFrameTextRangeFontSize&quot;:30.0,&quot;TextFrameTextRangeFontColorHexa&quot;:&quot;#000000&quot;,&quot;TextFrameTextRangeFontBold&quot;:0,&quot;TextFrameTextRangeFontItalic&quot;:0,&quot;TextFrameTextRangeFontUnderline&quot;:0,&quot;TextFrameVerticalAnchor&quot;:1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true},&quot;Number&quot;:{&quot;AutoShapeType&quot;:1,&quot;Visible&quot;:-1,&quot;LockAspectRatio&quot;:0,&quot;CanUpdateAdjustments&quot;:true,&quot;Adjustment1&quot;:-1.0,&quot;Adjustment2&quot;:-1.0,&quot;CanManagePosition&quot;:true,&quot;Left&quot;:115.2,&quot;Top&quot;:216.0,&quot;Width&quot;:81.0,&quot;Height&quot;:8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30.0,&quot;TextFrameTextRangeFontColorHexa&quot;:&quot;#FFFFFF&quot;,&quot;TextFrameTextRangeFontBold&quot;:0,&quot;TextFrameTextRangeFontItalic&quot;:0,&quot;TextFrameTextRangeFontUnderline&quot;:0,&quot;TextFrameVerticalAnchor&quot;:3,&quot;TextFrameHorizontalAnchor&quot;:2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true},&quot;Line&quot;:{&quot;AutoShapeType&quot;:1,&quot;Visible&quot;:-1,&quot;LockAspectRatio&quot;:0,&quot;CanUpdateAdjustments&quot;:true,&quot;Adjustment1&quot;:-1.0,&quot;Adjustment2&quot;:-1.0,&quot;CanManagePosition&quot;:true,&quot;Left&quot;:240.0,&quot;Top&quot;:331.0,&quot;Width&quot;:700.0,&quot;Height&quot;:0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0.0,&quot;LineVisible&quot;:-1,&quot;LineForeColorHexa&quot;:&quot;#43CFF6&quot;,&quot;LineWeight&quot;:0.0,&quot;LineDashStyle&quot;:1,&quot;LineEndArrowheadStyle&quot;:1,&quot;LineBeginArrowheadStyle&quot;:1,&quot;ShouldSendToBack&quot;:false,&quot;NeedsApplyToAll&quot;:false}},&quot;TableOfContent1&quot;:{&quot;MarginLeft&quot;:76.8,&quot;MarginRight&quot;:453.942841,&quot;MarginTop&quot;:160.99379,&quot;MarginBottom&quot;:117.391327,&quot;ShouldVerticalCenter&quot;:true,&quot;Title&quot;:{&quot;AutoShapeType&quot;:1,&quot;Visible&quot;:-1,&quot;LockAspectRatio&quot;:0,&quot;CanUpdateAdjustments&quot;:true,&quot;Adjustment1&quot;:-1.0,&quot;Adjustment2&quot;:-1.0,&quot;CanManagePosition&quot;:true,&quot;Left&quot;:76.8,&quot;Top&quot;:54.0,&quot;Width&quot;:768.0,&quot;Height&quot;:30.0,&quot;Rotation&quot;:0.0,&quot;TextFrame2AutoSize&quot;:0,&quot;TextFrame2TextRangeFontName&quot;:&quot;Arial&quot;,&quot;TextFrameMarginTop&quot;:0.0,&quot;TextFrameMarginLeft&quot;:0.0,&quot;TextFrameMarginRight&quot;:0.0,&quot;TextFrameMarginBottom&quot;:0.0,&quot;TextFrameWordWrap&quot;:-1,&quot;TextFrameTextRangeFontSize&quot;:32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1.0,&quot;TextFrameTextRangeParagraphFormatLineRuleAfter&quot;:0,&quot;TextFrameTextRangeParagraphFormatSpaceAfter&quot;:0.0,&quot;TextFrameTextRangeParagraphFormatLineRuleBefore&quot;:0,&quot;TextFrameTextRangeParagraphFormatSpaceBefore&quot;:0.0,&quot;TextFrameTextRangeParagraphs1ParagraphFormatAlignment&quot;:1,&quot;ZOrderPosition&quot;:2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SectionTitle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Arial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FFFFFF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1.0,&quot;TextFrameTextRangeParagraphFormatLineRuleAfter&quot;:0,&quot;TextFrameTextRangeParagraphFormatSpaceAfter&quot;:0.0,&quot;TextFrameTextRangeParagraphFormatLineRuleBefore&quot;:0,&quot;TextFrameTextRangeParagraphFormatSpaceBefore&quot;:0.0,&quot;TextFrameTextRangeParagraphs1ParagraphFormatAlignment&quot;:1,&quot;ZOrderPosition&quot;:4,&quot;FillVisible&quot;:-1,&quot;FillForeColorHexa&quot;:&quot;#009796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},&quot;Back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Arial&quot;,&quot;TextFrameMarginTop&quot;:0.0,&quot;TextFrameMarginLeft&quot;:0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1.0,&quot;TextFrameTextRangeParagraphFormatLineRuleAfter&quot;:0,&quot;TextFrameTextRangeParagraphFormatSpaceAfter&quot;:0.0,&quot;TextFrameTextRangeParagraphFormatLineRuleBefore&quot;:0,&quot;TextFrameTextRangeParagraphFormatSpaceBefore&quot;:0.0,&quot;TextFrameTextRangeParagraphs1ParagraphFormatAlignment&quot;:0,&quot;ZOrderPosition&quot;:1,&quot;FillVisible&quot;:-1,&quot;FillForeColorHexa&quot;:&quot;#009796&quot;,&quot;FillTransparency&quot;:0.0,&quot;LineVisible&quot;:0,&quot;LineForeColorHexa&quot;:null,&quot;LineWeight&quot;:0.0,&quot;LineDashStyle&quot;:1,&quot;LineEndArrowheadStyle&quot;:1,&quot;LineBeginArrowheadStyle&quot;:1,&quot;ShouldSendToBack&quot;:true,&quot;NeedsApplyToAll&quot;:false},&quot;Inactive&quot;:{&quot;AutoShapeType&quot;:1,&quot;Visible&quot;:0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null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null,&quot;FillTransparency&quot;:0.0,&quot;LineVisible&quot;:-1,&quot;LineForeColorHexa&quot;:null,&quot;LineWeight&quot;:0.0,&quot;LineDashStyle&quot;:1,&quot;LineEndArrowheadStyle&quot;:1,&quot;LineBeginArrowheadStyle&quot;:1,&quot;ShouldSendToBack&quot;:true,&quot;NeedsApplyToAll&quot;:false},&quot;CoverPage&quot;:{&quot;AutoShapeType&quot;:1,&quot;Visible&quot;:0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null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null,&quot;FillTransparency&quot;:0.0,&quot;LineVisible&quot;:-1,&quot;LineForeColorHexa&quot;:null,&quot;LineWeight&quot;:0.0,&quot;LineDashStyle&quot;:1,&quot;LineEndArrowheadStyle&quot;:1,&quot;LineBeginArrowheadStyle&quot;:1,&quot;ShouldSendToBack&quot;:true,&quot;NeedsApplyToAll&quot;:false}},&quot;Number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Arial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1.0,&quot;TextFrameTextRangeParagraphFormatLineRuleAfter&quot;:0,&quot;TextFrameTextRangeParagraphFormatSpaceAfter&quot;:0.0,&quot;TextFrameTextRangeParagraphFormatLineRuleBefore&quot;:0,&quot;TextFrameTextRangeParagraphFormatSpaceBefore&quot;:0.0,&quot;TextFrameTextRangeParagraphs1ParagraphFormatAlignment&quot;:2,&quot;ZOrderPosition&quot;:20,&quot;FillVisible&quot;:-1,&quot;FillForeColorHexa&quot;:&quot;#009796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D9D9D9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},&quot;SlideIndex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},&quot;TableOfContent3&quot;:{&quot;MarginLeft&quot;:76.8,&quot;MarginRight&quot;:76.8,&quot;MarginTop&quot;:86.4,&quot;MarginBottom&quot;:21.6,&quot;ShouldVerticalCenter&quot;:true,&quot;Title&quot;:{&quot;AutoShapeType&quot;:1,&quot;Visible&quot;:-1,&quot;LockAspectRatio&quot;:0,&quot;CanUpdateAdjustments&quot;:true,&quot;Adjustment1&quot;:-1.0,&quot;Adjustment2&quot;:-1.0,&quot;CanManagePosition&quot;:true,&quot;Left&quot;:76.8,&quot;Top&quot;:54.0,&quot;Width&quot;:768.0,&quot;Height&quot;:30.0,&quot;Rotation&quot;:0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32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true},&quot;SectionTitle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,&quot;Number&quot;:{&quot;Active&quot;:{&quot;AutoShapeType&quot;:9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,&quot;Inactive&quot;:{&quot;AutoShapeType&quot;:9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43CFF6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FFFFFF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,&quot;CoverPage&quot;:{&quot;AutoShapeType&quot;:9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},&quot;SlideIndex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,&quot;Lin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0.0,&quot;LineVisible&quot;:-1,&quot;LineForeColorHexa&quot;:&quot;#43CFF6&quot;,&quot;LineWeight&quot;:2.0,&quot;LineDashStyle&quot;:1,&quot;LineEndArrowheadStyle&quot;:1,&quot;LineBeginArrowheadStyle&quot;:1,&quot;ShouldSendToBack&quot;:true,&quot;NeedsApplyToAll&quot;:false}},&quot;TableOfContent4&quot;:{&quot;MarginLeft&quot;:76.8,&quot;MarginRight&quot;:76.8,&quot;MarginTop&quot;:86.4,&quot;MarginBottom&quot;:21.6,&quot;ShouldVerticalCenter&quot;:true,&quot;Title&quot;:{&quot;AutoShapeType&quot;:1,&quot;Visible&quot;:-1,&quot;LockAspectRatio&quot;:0,&quot;CanUpdateAdjustments&quot;:true,&quot;Adjustment1&quot;:-1.0,&quot;Adjustment2&quot;:-1.0,&quot;CanManagePosition&quot;:true,&quot;Left&quot;:76.8,&quot;Top&quot;:54.0,&quot;Width&quot;:768.0,&quot;Height&quot;:30.0,&quot;Rotation&quot;:0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32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true},&quot;SectionTitle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,&quot;Number&quot;:{&quot;Active&quot;:{&quot;AutoShapeType&quot;:9,&quot;Visible&quot;:-1,&quot;LockAspectRatio&quot;:-1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,&quot;Inactive&quot;:{&quot;AutoShapeType&quot;:9,&quot;Visible&quot;:-1,&quot;LockAspectRatio&quot;:-1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43CFF6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FFFFFF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,&quot;CoverPage&quot;:{&quot;AutoShapeType&quot;:9,&quot;Visible&quot;:-1,&quot;LockAspectRatio&quot;:-1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},&quot;SlideIndex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,&quot;Arc&quot;:{&quot;AutoShapeType&quot;:25,&quot;Visible&quot;:-1,&quot;LockAspectRatio&quot;:0,&quot;CanUpdateAdjustments&quot;:fals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0.0,&quot;LineVisible&quot;:-1,&quot;LineForeColorHexa&quot;:&quot;#43CFF6&quot;,&quot;LineWeight&quot;:2.0,&quot;LineDashStyle&quot;:1,&quot;LineEndArrowheadStyle&quot;:1,&quot;LineBeginArrowheadStyle&quot;:1,&quot;ShouldSendToBack&quot;:true,&quot;NeedsApplyToAll&quot;:false}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Main_Analytics">
  <a:themeElements>
    <a:clrScheme name="OCC2017">
      <a:dk1>
        <a:srgbClr val="000000"/>
      </a:dk1>
      <a:lt1>
        <a:srgbClr val="FFFFFF"/>
      </a:lt1>
      <a:dk2>
        <a:srgbClr val="FF8E2E"/>
      </a:dk2>
      <a:lt2>
        <a:srgbClr val="1D368E"/>
      </a:lt2>
      <a:accent1>
        <a:srgbClr val="43CFF6"/>
      </a:accent1>
      <a:accent2>
        <a:srgbClr val="99D5D5"/>
      </a:accent2>
      <a:accent3>
        <a:srgbClr val="B29C86"/>
      </a:accent3>
      <a:accent4>
        <a:srgbClr val="009796"/>
      </a:accent4>
      <a:accent5>
        <a:srgbClr val="FF5A43"/>
      </a:accent5>
      <a:accent6>
        <a:srgbClr val="E6DCD7"/>
      </a:accent6>
      <a:hlink>
        <a:srgbClr val="B29C86"/>
      </a:hlink>
      <a:folHlink>
        <a:srgbClr val="00979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accent4"/>
          </a:solidFill>
        </a:ln>
        <a:effectLst/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4"/>
          </a:solidFill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a14:hiddenEffects>
          </a:ext>
        </a:extLst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Fake Orange">
      <a:srgbClr val="FF9C8E"/>
    </a:custClr>
    <a:custClr name="Lime Green">
      <a:srgbClr val="C6D02C"/>
    </a:custClr>
    <a:custClr name="OC&amp;C Purple">
      <a:srgbClr val="63277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Light Gray">
      <a:srgbClr val="C0C0C0"/>
    </a:custClr>
    <a:custClr name="Medium Gray">
      <a:srgbClr val="969696"/>
    </a:custClr>
    <a:custClr name="Dark Gray">
      <a:srgbClr val="808080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eal 1">
      <a:srgbClr val="99D5D5"/>
    </a:custClr>
    <a:custClr name="Teal 2">
      <a:srgbClr val="6CC0C0"/>
    </a:custClr>
    <a:custClr name="Teal 3">
      <a:srgbClr val="48A6A6"/>
    </a:custClr>
    <a:custClr name="Teal 4">
      <a:srgbClr val="3F8E8C"/>
    </a:custClr>
    <a:custClr name="Teal 5">
      <a:srgbClr val="33726D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aupe 1">
      <a:srgbClr val="E6DCD7"/>
    </a:custClr>
    <a:custClr name="Taupe 2">
      <a:srgbClr val="D7C8BE"/>
    </a:custClr>
    <a:custClr name="Taupe 3">
      <a:srgbClr val="BEAA96"/>
    </a:custClr>
    <a:custClr name="Taupe 4">
      <a:srgbClr val="968C78"/>
    </a:custClr>
    <a:custClr name="Taupe 5">
      <a:srgbClr val="827864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raffic Light Green">
      <a:srgbClr val="92D050"/>
    </a:custClr>
    <a:custClr name="Traffic Light Yellow">
      <a:srgbClr val="FFC000"/>
    </a:custClr>
    <a:custClr name="Traffic Light Red">
      <a:srgbClr val="C00000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e595a2655564a8939bbbd867e2414004 [Read-Only]" id="{AAEB0047-284A-43E4-A725-840A069D86DC}" vid="{8778A659-AD6D-4509-BAE5-229D2A2066C4}"/>
    </a:ext>
  </a:extLst>
</a:theme>
</file>

<file path=ppt/theme/theme2.xml><?xml version="1.0" encoding="utf-8"?>
<a:theme xmlns:a="http://schemas.openxmlformats.org/drawingml/2006/main" name="Main_Analytics [1792534067595]">
  <a:themeElements>
    <a:clrScheme name="DMS Logistics">
      <a:dk1>
        <a:srgbClr val="000000"/>
      </a:dk1>
      <a:lt1>
        <a:srgbClr val="FFFFFF"/>
      </a:lt1>
      <a:dk2>
        <a:srgbClr val="FF8E2E"/>
      </a:dk2>
      <a:lt2>
        <a:srgbClr val="00366C"/>
      </a:lt2>
      <a:accent1>
        <a:srgbClr val="00ACEE"/>
      </a:accent1>
      <a:accent2>
        <a:srgbClr val="7FCBEF"/>
      </a:accent2>
      <a:accent3>
        <a:srgbClr val="B29C86"/>
      </a:accent3>
      <a:accent4>
        <a:srgbClr val="005E9E"/>
      </a:accent4>
      <a:accent5>
        <a:srgbClr val="FF5A43"/>
      </a:accent5>
      <a:accent6>
        <a:srgbClr val="E6DCD7"/>
      </a:accent6>
      <a:hlink>
        <a:srgbClr val="B29C86"/>
      </a:hlink>
      <a:folHlink>
        <a:srgbClr val="005E9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accent4"/>
          </a:solidFill>
        </a:ln>
        <a:effectLst/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4"/>
          </a:solidFill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a14:hiddenEffects>
          </a:ext>
        </a:extLst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Fake Orange">
      <a:srgbClr val="FF9C8E"/>
    </a:custClr>
    <a:custClr name="Lime Green">
      <a:srgbClr val="C6D02C"/>
    </a:custClr>
    <a:custClr name="OC&amp;C Purple">
      <a:srgbClr val="63277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Light Gray">
      <a:srgbClr val="C0C0C0"/>
    </a:custClr>
    <a:custClr name="Medium Gray">
      <a:srgbClr val="969696"/>
    </a:custClr>
    <a:custClr name="Dark Gray">
      <a:srgbClr val="808080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eal 1">
      <a:srgbClr val="99D5D5"/>
    </a:custClr>
    <a:custClr name="Teal 2">
      <a:srgbClr val="6CC0C0"/>
    </a:custClr>
    <a:custClr name="Teal 3">
      <a:srgbClr val="48A6A6"/>
    </a:custClr>
    <a:custClr name="Teal 4">
      <a:srgbClr val="3F8E8C"/>
    </a:custClr>
    <a:custClr name="Teal 5">
      <a:srgbClr val="33726D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aupe 1">
      <a:srgbClr val="E6DCD7"/>
    </a:custClr>
    <a:custClr name="Taupe 2">
      <a:srgbClr val="D7C8BE"/>
    </a:custClr>
    <a:custClr name="Taupe 3">
      <a:srgbClr val="BEAA96"/>
    </a:custClr>
    <a:custClr name="Taupe 4">
      <a:srgbClr val="968C78"/>
    </a:custClr>
    <a:custClr name="Taupe 5">
      <a:srgbClr val="827864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raffic Light Green">
      <a:srgbClr val="92D050"/>
    </a:custClr>
    <a:custClr name="Traffic Light Yellow">
      <a:srgbClr val="FFC000"/>
    </a:custClr>
    <a:custClr name="Traffic Light Red">
      <a:srgbClr val="C00000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e595a2655564a8939bbbd867e2414004 [Read-Only]" id="{AAEB0047-284A-43E4-A725-840A069D86DC}" vid="{8778A659-AD6D-4509-BAE5-229D2A2066C4}"/>
    </a:ext>
  </a:extLst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3111F20-489D-423F-8669-23E3111AA1D2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46ae7422-7103-4ba2-b850-d7dcf422d67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6190</TotalTime>
  <Words>1158</Words>
  <Application>Microsoft Office PowerPoint</Application>
  <PresentationFormat>Widescreen</PresentationFormat>
  <Paragraphs>155</Paragraphs>
  <Slides>5</Slides>
  <Notes>3</Notes>
  <HiddenSlides>1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Main_Analytics</vt:lpstr>
      <vt:lpstr>Main_Analytics [1792534067595]</vt:lpstr>
      <vt:lpstr>Apresentação do PowerPoint</vt:lpstr>
      <vt:lpstr>A estrutura desejada contempla 7 analistas um TL, objetivo da estrutura são as tratativas e gestão das atividades relacionados ao agenciamento de carga. </vt:lpstr>
      <vt:lpstr>As vagas da DMS exigem perfis de rotina e controle, que executem os processos definidos no melhor SLA possível e proativamente atuem para mitigar os riscos/danos</vt:lpstr>
      <vt:lpstr>Apresentação do PowerPoint</vt:lpstr>
      <vt:lpstr>A estrutura desejada contempla 7 analistas e somente um TL, entretanto quando olhamos os embarques há espaço para termos 2 TL e os mesmos 4 analistas atuais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Tratamento de Dados do Pro-Frotas</dc:title>
  <dc:creator>Joao Victor Lopes De Paula</dc:creator>
  <cp:keywords/>
  <cp:lastModifiedBy>Gilberto  Volpe</cp:lastModifiedBy>
  <cp:revision>17</cp:revision>
  <dcterms:created xsi:type="dcterms:W3CDTF">2023-01-09T20:59:58Z</dcterms:created>
  <dcterms:modified xsi:type="dcterms:W3CDTF">2026-10-22T14:11:55Z</dcterms:modified>
</cp:coreProperties>
</file>