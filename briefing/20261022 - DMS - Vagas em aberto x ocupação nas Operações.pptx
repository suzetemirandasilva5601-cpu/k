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87" r:id="rId1"/>
    <p:sldMasterId id="2147483821" r:id="rId2"/>
  </p:sldMasterIdLst>
  <p:notesMasterIdLst>
    <p:notesMasterId r:id="rId8"/>
  </p:notesMasterIdLst>
  <p:handoutMasterIdLst>
    <p:handoutMasterId r:id="rId9"/>
  </p:handoutMasterIdLst>
  <p:sldIdLst>
    <p:sldId id="2147474652" r:id="rId3"/>
    <p:sldId id="2147474653" r:id="rId7"/>
    <p:sldId id="2147474654" r:id="rId5"/>
    <p:sldId id="2147474655" r:id="rId4"/>
    <p:sldId id="2147474651" r:id="rId6"/>
  </p:sldIdLst>
  <p:sldSz cx="12192000" cy="6858000"/>
  <p:notesSz cx="6797675" cy="9928225"/>
  <p:custDataLst>
    <p:tags r:id="rId10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C3FDA-5671-42A4-A468-888C653E86DD}">
          <p14:sldIdLst>
            <p14:sldId id="2147474652"/>
            <p14:sldId id="2147474655"/>
            <p14:sldId id="2147474653"/>
            <p14:sldId id="2147474651"/>
          </p14:sldIdLst>
        </p14:section>
        <p14:section name="Equipe e Investimentos" id="{702C7D10-46CA-4A1C-BCF8-1EEFBEEF3622}">
          <p14:sldIdLst>
            <p14:sldId id="21474746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9F2"/>
    <a:srgbClr val="FFFFFF"/>
    <a:srgbClr val="9D6699"/>
    <a:srgbClr val="124376"/>
    <a:srgbClr val="E36800"/>
    <a:srgbClr val="FF5A43"/>
    <a:srgbClr val="7B7D7B"/>
    <a:srgbClr val="1D368E"/>
    <a:srgbClr val="009796"/>
    <a:srgbClr val="3D7C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" dt="2026-10-20T21:32:41.862"/>
    <p1510:client id="{CD91F97B-61E8-490A-A668-8ADE57E8F57D}" v="12" dt="2026-10-21T13:45:29.789"/>
    <p1510:client id="{CEDDFF9A-7B1C-4363-95D8-B551194F9A07}" v="695" dt="2026-10-20T22:12:11.2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5404"/>
    <p:restoredTop sz="94748"/>
  </p:normalViewPr>
  <p:slideViewPr>
    <p:cSldViewPr snapToGrid="0">
      <p:cViewPr>
        <p:scale>
          <a:sx n="66" d="100"/>
          <a:sy n="66" d="100"/>
        </p:scale>
        <p:origin x="1752" y="42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Vagas</c:v>
                </c:pt>
              </c:strCache>
            </c:strRef>
          </c:tx>
          <c:spPr>
            <a:solidFill>
              <a:srgbClr val="005E9E"/>
            </a:solidFill>
          </c:spPr>
          <c:dPt>
            <c:idx val="0"/>
            <c:spPr>
              <a:solidFill>
                <a:srgbClr val="FF8E2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50" b="1">
                        <a:solidFill>
                          <a:srgbClr val="333333"/>
                        </a:solidFill>
                      </a:rPr>
                      <a:t>35 · 71%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50" b="1">
                        <a:solidFill>
                          <a:srgbClr val="333333"/>
                        </a:solidFill>
                      </a:rPr>
                      <a:t>5 · 10%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50" b="1">
                        <a:solidFill>
                          <a:srgbClr val="333333"/>
                        </a:solidFill>
                      </a:rPr>
                      <a:t>4 · 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50" b="1">
                        <a:solidFill>
                          <a:srgbClr val="333333"/>
                        </a:solidFill>
                      </a:rPr>
                      <a:t>3 · 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250" b="1">
                        <a:solidFill>
                          <a:srgbClr val="333333"/>
                        </a:solidFill>
                      </a:rPr>
                      <a:t>2 · 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COO</c:v>
                </c:pt>
                <c:pt idx="1">
                  <c:v>CCO</c:v>
                </c:pt>
                <c:pt idx="2">
                  <c:v>Co-CEO</c:v>
                </c:pt>
                <c:pt idx="3">
                  <c:v>CFSO</c:v>
                </c:pt>
                <c:pt idx="4">
                  <c:v>CITO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250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7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5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Vagas</c:v>
                </c:pt>
              </c:strCache>
            </c:strRef>
          </c:tx>
          <c:spPr>
            <a:solidFill>
              <a:srgbClr val="005E9E"/>
            </a:solidFill>
          </c:spPr>
          <c:dPt>
            <c:idx val="0"/>
            <c:spPr>
              <a:solidFill>
                <a:srgbClr val="FF8E2E"/>
              </a:solidFill>
            </c:spPr>
          </c:dPt>
          <c:cat>
            <c:strRef>
              <c:f>Sheet1!$A$2:$A$9</c:f>
              <c:strCache>
                <c:ptCount val="8"/>
                <c:pt idx="0">
                  <c:v>Air Operations</c:v>
                </c:pt>
                <c:pt idx="1">
                  <c:v>Air Product</c:v>
                </c:pt>
                <c:pt idx="2">
                  <c:v>Ocean Operations</c:v>
                </c:pt>
                <c:pt idx="3">
                  <c:v>Ocean Product</c:v>
                </c:pt>
                <c:pt idx="4">
                  <c:v>Quality &amp; Op. Intel.</c:v>
                </c:pt>
                <c:pt idx="5">
                  <c:v>Special Operations</c:v>
                </c:pt>
                <c:pt idx="6">
                  <c:v>Overland (Europa)</c:v>
                </c:pt>
                <c:pt idx="7">
                  <c:v>Services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</c:v>
                </c:pt>
                <c:pt idx="1">
                  <c:v>7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250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7.5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5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Vagas</c:v>
                </c:pt>
              </c:strCache>
            </c:strRef>
          </c:tx>
          <c:spPr>
            <a:solidFill>
              <a:srgbClr val="005E9E"/>
            </a:solidFill>
          </c:spPr>
          <c:cat>
            <c:strRef>
              <c:f>Sheet1!$A$2:$A$4</c:f>
              <c:strCache>
                <c:ptCount val="3"/>
                <c:pt idx="0">
                  <c:v>Brasil / geral (69%)</c:v>
                </c:pt>
                <c:pt idx="1">
                  <c:v>EUA (18%)</c:v>
                </c:pt>
                <c:pt idx="2">
                  <c:v>Europa (12%)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9</c:v>
                </c:pt>
                <c:pt idx="2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1250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9.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5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Team Leader</c:v>
                </c:pt>
              </c:strCache>
            </c:strRef>
          </c:tx>
          <c:spPr>
            <a:solidFill>
              <a:srgbClr val="FF8E2E"/>
            </a:solidFill>
          </c:spPr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Europa</c:v>
                </c:pt>
                <c:pt idx="2">
                  <c:v>Brasil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Specialist</c:v>
                </c:pt>
              </c:strCache>
            </c:strRef>
          </c:tx>
          <c:spPr>
            <a:solidFill>
              <a:srgbClr val="00366C"/>
            </a:solidFill>
          </c:spPr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Europa</c:v>
                </c:pt>
                <c:pt idx="2">
                  <c:v>Brasil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Analyst</c:v>
                </c:pt>
              </c:strCache>
            </c:strRef>
          </c:tx>
          <c:spPr>
            <a:solidFill>
              <a:srgbClr val="005E9E"/>
            </a:solidFill>
          </c:spPr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Europa</c:v>
                </c:pt>
                <c:pt idx="2">
                  <c:v>Brasil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txPr>
    <a:bodyPr/>
    <a:lstStyle/>
    <a:p>
      <a:pPr>
        <a:defRPr sz="95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Vagas</c:v>
                </c:pt>
              </c:strCache>
            </c:strRef>
          </c:tx>
          <c:spPr>
            <a:solidFill>
              <a:srgbClr val="005E9E"/>
            </a:solidFill>
          </c:spPr>
          <c:dPt>
            <c:idx val="1"/>
            <c:spPr>
              <a:solidFill>
                <a:srgbClr val="FF8E2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333333"/>
                        </a:solidFill>
                      </a:rPr>
                      <a:t>6,7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333333"/>
                        </a:solidFill>
                      </a:rPr>
                      <a:t>9,0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50" b="1">
                        <a:solidFill>
                          <a:srgbClr val="333333"/>
                        </a:solidFill>
                      </a:rPr>
                      <a:t>5,0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Europa</c:v>
                </c:pt>
                <c:pt idx="2">
                  <c:v>Brasil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</c:v>
                </c:pt>
                <c:pt idx="1">
                  <c:v>9.0</c:v>
                </c:pt>
                <c:pt idx="2">
                  <c:v>5.0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04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 descr="25%"/>
          <p:cNvSpPr>
            <a:spLocks noGrp="1" noChangeArrowheads="1"/>
          </p:cNvSpPr>
          <p:nvPr>
            <p:ph type="hdr" sz="quarter"/>
          </p:nvPr>
        </p:nvSpPr>
        <p:spPr bwMode="gray">
          <a:xfrm>
            <a:off x="2" y="0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19" name="Rectangle 3" descr="25%"/>
          <p:cNvSpPr>
            <a:spLocks noGrp="1" noChangeArrowheads="1"/>
          </p:cNvSpPr>
          <p:nvPr>
            <p:ph type="dt" sz="quarter" idx="1"/>
          </p:nvPr>
        </p:nvSpPr>
        <p:spPr bwMode="gray">
          <a:xfrm>
            <a:off x="5900091" y="0"/>
            <a:ext cx="897585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EB9C613B-C2AC-4B93-9209-758731061898}" type="datetime1">
              <a:rPr lang="en-GB"/>
              <a:pPr>
                <a:defRPr/>
              </a:pPr>
              <a:t>22/10/2026</a:t>
            </a:fld>
            <a:endParaRPr lang="en-GB"/>
          </a:p>
        </p:txBody>
      </p:sp>
      <p:sp>
        <p:nvSpPr>
          <p:cNvPr id="86020" name="Rectangle 4" descr="25%"/>
          <p:cNvSpPr>
            <a:spLocks noGrp="1" noChangeArrowheads="1"/>
          </p:cNvSpPr>
          <p:nvPr>
            <p:ph type="ftr" sz="quarter" idx="2"/>
          </p:nvPr>
        </p:nvSpPr>
        <p:spPr bwMode="gray">
          <a:xfrm>
            <a:off x="2" y="9611922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21" name="Rectangle 5" descr="25%"/>
          <p:cNvSpPr>
            <a:spLocks noGrp="1" noChangeArrowheads="1"/>
          </p:cNvSpPr>
          <p:nvPr>
            <p:ph type="sldNum" sz="quarter" idx="3"/>
          </p:nvPr>
        </p:nvSpPr>
        <p:spPr bwMode="gray">
          <a:xfrm>
            <a:off x="6367232" y="9611922"/>
            <a:ext cx="430444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CC44CF48-7BC2-449C-AB04-0420DAB04CA8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03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400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127" y="4714994"/>
            <a:ext cx="4987424" cy="4468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00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64574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870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3170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5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5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4.emf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4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5.emf"/><Relationship Id="rId5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5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4.emf"/><Relationship Id="rId5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4.emf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7684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948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777789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41D98FFC-276B-DC45-4A69-D0A394BD9E90}"/>
              </a:ext>
            </a:extLst>
          </p:cNvPr>
          <p:cNvSpPr/>
          <p:nvPr userDrawn="1"/>
        </p:nvSpPr>
        <p:spPr>
          <a:xfrm>
            <a:off x="0" y="3427201"/>
            <a:ext cx="12192000" cy="3430799"/>
          </a:xfrm>
          <a:prstGeom prst="rect">
            <a:avLst/>
          </a:prstGeom>
          <a:solidFill>
            <a:srgbClr val="632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el 5">
            <a:extLst>
              <a:ext uri="{FF2B5EF4-FFF2-40B4-BE49-F238E27FC236}">
                <a16:creationId xmlns:a16="http://schemas.microsoft.com/office/drawing/2014/main" id="{D3C7A5FA-E151-75CE-ECDF-6343E386E8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633" y="2156514"/>
            <a:ext cx="4642768" cy="1122948"/>
          </a:xfrm>
        </p:spPr>
        <p:txBody>
          <a:bodyPr vert="horz" lIns="0" tIns="0" rIns="0" bIns="0"/>
          <a:lstStyle>
            <a:lvl1pPr rtl="0">
              <a:defRPr sz="2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E6BCCC3E-2FA0-4737-DBF8-CB0B0F5B3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5632" y="3533876"/>
            <a:ext cx="4642767" cy="2769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13938B3-F822-3B6D-C11D-A155E19CB5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632" y="4324234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A1E3E98-0932-E0D1-ED6B-F5E915442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5632" y="4637218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82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DE53C"/>
          </p15:clr>
        </p15:guide>
        <p15:guide id="2" pos="438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349587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6759934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7B375-DF03-14ED-9411-4D6161054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6646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49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White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5386046F-E65D-43F2-B183-1DEA970D1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0248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5386046F-E65D-43F2-B183-1DEA970D1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9292448E-F500-76A8-72BE-50A5D19AC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6834" y="5591462"/>
            <a:ext cx="2731786" cy="6816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7F67F0-14F9-FB6A-B10A-89E832C05F99}"/>
              </a:ext>
            </a:extLst>
          </p:cNvPr>
          <p:cNvSpPr/>
          <p:nvPr userDrawn="1"/>
        </p:nvSpPr>
        <p:spPr>
          <a:xfrm>
            <a:off x="9970323" y="6062079"/>
            <a:ext cx="1393129" cy="1688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0"/>
            <a:r>
              <a:rPr lang="pt-BR" b="1">
                <a:solidFill>
                  <a:srgbClr val="63277F"/>
                </a:solidFill>
              </a:rPr>
              <a:t>Uncovering insights</a:t>
            </a:r>
          </a:p>
        </p:txBody>
      </p:sp>
    </p:spTree>
    <p:extLst>
      <p:ext uri="{BB962C8B-B14F-4D97-AF65-F5344CB8AC3E}">
        <p14:creationId xmlns:p14="http://schemas.microsoft.com/office/powerpoint/2010/main" val="355549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52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Color_Analytics">
    <p:bg>
      <p:bgPr>
        <a:solidFill>
          <a:srgbClr val="632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B95AFD00-30E2-C40F-B373-0F94E8D565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458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B95AFD00-30E2-C40F-B373-0F94E8D5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8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4B78D9CC-F107-5707-91AD-6EAE4C32CD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_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227871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60CE1164-AB42-D6ED-E2A3-21C1B1F24D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endParaRPr lang="pt-BR" noProof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endParaRPr lang="pt-BR" noProof="0">
              <a:solidFill>
                <a:srgbClr val="63277F"/>
              </a:solidFill>
            </a:endParaRP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endParaRPr lang="pt-BR" noProof="0">
              <a:solidFill>
                <a:srgbClr val="808080"/>
              </a:solidFill>
            </a:endParaRP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 noProof="0"/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1B89CB9-9E6F-E7E5-D4F4-8B1C1AEA01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60247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 noProof="0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5948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_Consul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1891306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833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9480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41D98FFC-276B-DC45-4A69-D0A394BD9E90}"/>
              </a:ext>
            </a:extLst>
          </p:cNvPr>
          <p:cNvSpPr/>
          <p:nvPr userDrawn="1"/>
        </p:nvSpPr>
        <p:spPr>
          <a:xfrm>
            <a:off x="0" y="3427201"/>
            <a:ext cx="12192000" cy="3430799"/>
          </a:xfrm>
          <a:prstGeom prst="rect">
            <a:avLst/>
          </a:prstGeom>
          <a:solidFill>
            <a:srgbClr val="632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el 5">
            <a:extLst>
              <a:ext uri="{FF2B5EF4-FFF2-40B4-BE49-F238E27FC236}">
                <a16:creationId xmlns:a16="http://schemas.microsoft.com/office/drawing/2014/main" id="{D3C7A5FA-E151-75CE-ECDF-6343E386E8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633" y="2156514"/>
            <a:ext cx="4642768" cy="1122948"/>
          </a:xfrm>
        </p:spPr>
        <p:txBody>
          <a:bodyPr vert="horz" lIns="0" tIns="0" rIns="0" bIns="0"/>
          <a:lstStyle>
            <a:lvl1pPr rtl="0">
              <a:defRPr lang="pt-BR" sz="2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E6BCCC3E-2FA0-4737-DBF8-CB0B0F5B3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5632" y="3533876"/>
            <a:ext cx="4642767" cy="2769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13938B3-F822-3B6D-C11D-A155E19CB5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632" y="4324234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A1E3E98-0932-E0D1-ED6B-F5E915442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5632" y="4637218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82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DE53C"/>
          </p15:clr>
        </p15:guide>
        <p15:guide id="2" pos="438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7B375-DF03-14ED-9411-4D6161054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6646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49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White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5386046F-E65D-43F2-B183-1DEA970D1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5386046F-E65D-43F2-B183-1DEA970D1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9292448E-F500-76A8-72BE-50A5D19AC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6834" y="5591462"/>
            <a:ext cx="2731786" cy="6816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7F67F0-14F9-FB6A-B10A-89E832C05F99}"/>
              </a:ext>
            </a:extLst>
          </p:cNvPr>
          <p:cNvSpPr/>
          <p:nvPr userDrawn="1"/>
        </p:nvSpPr>
        <p:spPr>
          <a:xfrm>
            <a:off x="9970323" y="6062079"/>
            <a:ext cx="1393129" cy="1688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0"/>
            <a:r>
              <a:rPr lang="pt-BR" b="1">
                <a:solidFill>
                  <a:srgbClr val="63277F"/>
                </a:solidFill>
              </a:rPr>
              <a:t>Uncovering insights</a:t>
            </a:r>
          </a:p>
        </p:txBody>
      </p:sp>
    </p:spTree>
    <p:extLst>
      <p:ext uri="{BB962C8B-B14F-4D97-AF65-F5344CB8AC3E}">
        <p14:creationId xmlns:p14="http://schemas.microsoft.com/office/powerpoint/2010/main" val="355549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52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Color_Analytics">
    <p:bg>
      <p:bgPr>
        <a:solidFill>
          <a:srgbClr val="632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B95AFD00-30E2-C40F-B373-0F94E8D565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B95AFD00-30E2-C40F-B373-0F94E8D5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8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4B78D9CC-F107-5707-91AD-6EAE4C32CD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9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_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60CE1164-AB42-D6ED-E2A3-21C1B1F24D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endParaRPr lang="pt-BR">
              <a:solidFill>
                <a:srgbClr val="63277F"/>
              </a:solidFill>
            </a:endParaRP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endParaRPr lang="pt-BR">
              <a:solidFill>
                <a:srgbClr val="808080"/>
              </a:solidFill>
            </a:endParaRP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1B89CB9-9E6F-E7E5-D4F4-8B1C1AEA01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60247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5948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lang="pt-BR"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MS_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0360000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0360000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900" name="Logo DMS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43467" y="154236"/>
            <a:ext cx="1189822" cy="68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1B82AB-6ABE-73B1-7FAB-5E0476BAA29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6390" y="6571866"/>
            <a:ext cx="388386" cy="22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tags" Target="../tags/tag2.xml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tags" Target="../tags/tag13.xml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62413173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</a:t>
            </a:r>
            <a:r>
              <a:rPr lang="pt-BR" noProof="0" err="1"/>
              <a:t>title</a:t>
            </a:r>
            <a:endParaRPr lang="pt-BR" noProof="0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noProof="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‹nº›</a:t>
            </a:fld>
            <a:endParaRPr lang="pt-BR" sz="700" noProof="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/>
              </a:pPr>
              <a:endParaRPr lang="pt-BR" sz="1000"/>
            </a:p>
          </p:txBody>
        </p:sp>
      </p:grpSp>
      <p:cxnSp>
        <p:nvCxnSpPr>
          <p:cNvPr id="6" name="Gerader Verbinder 5"/>
          <p:cNvCxnSpPr>
            <a:cxnSpLocks/>
          </p:cNvCxnSpPr>
          <p:nvPr userDrawn="1"/>
        </p:nvCxnSpPr>
        <p:spPr>
          <a:xfrm>
            <a:off x="341322" y="218114"/>
            <a:ext cx="11509356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/>
          <p:cNvCxnSpPr>
            <a:cxnSpLocks/>
          </p:cNvCxnSpPr>
          <p:nvPr userDrawn="1"/>
        </p:nvCxnSpPr>
        <p:spPr>
          <a:xfrm>
            <a:off x="336000" y="6535024"/>
            <a:ext cx="11520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endParaRPr/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0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808" r:id="rId8"/>
    <p:sldLayoutId id="2147483810" r:id="rId9"/>
    <p:sldLayoutId id="2147483819" r:id="rId10"/>
    <p:sldLayoutId id="2147483820" r:id="rId11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nl-NL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‹nº›</a:t>
            </a:fld>
            <a:endParaRPr lang="pt-BR" sz="70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 lang="pt-BR"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 lang="pt-BR"/>
              </a:pPr>
              <a:endParaRPr lang="pt-BR" sz="1000"/>
            </a:p>
          </p:txBody>
        </p:sp>
      </p:grp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lang="pt-BR"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pt-BR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pt-BR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pt-BR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pt-BR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pt-BR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jpg"/><Relationship Id="rId7" Type="http://schemas.openxmlformats.org/officeDocument/2006/relationships/image" Target="../media/image1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6.jp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41983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1069" y="0"/>
            <a:ext cx="816093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9947" y="2507742"/>
            <a:ext cx="8602052" cy="1815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5629" y="2767698"/>
            <a:ext cx="2326957" cy="1307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5834" cy="595304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 txBox="1"/>
          <p:nvPr/>
        </p:nvSpPr>
        <p:spPr>
          <a:xfrm>
            <a:off x="4455100" y="2600000"/>
            <a:ext cx="5976000" cy="1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FFFFFF"/>
                </a:solidFill>
                <a:latin typeface="Montserrat SemiBold"/>
              </a:rPr>
              <a:t>Projeto Diligenciamento</a:t>
            </a:r>
          </a:p>
          <a:p>
            <a:r>
              <a:rPr sz="1600">
                <a:solidFill>
                  <a:srgbClr val="FFFFFF"/>
                </a:solidFill>
                <a:latin typeface="Montserrat"/>
              </a:rPr>
              <a:t>Vagas em aberto x ocupação nas Operações</a:t>
            </a:r>
          </a:p>
          <a:p>
            <a:r>
              <a:rPr sz="1100">
                <a:solidFill>
                  <a:srgbClr val="FFFFFF"/>
                </a:solidFill>
                <a:latin typeface="Montserrat"/>
              </a:rPr>
              <a:t>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627399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2298" y="4693093"/>
            <a:ext cx="7259701" cy="2164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74757" y="5461584"/>
            <a:ext cx="1736242" cy="975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89350" y="1881165"/>
            <a:ext cx="3148872" cy="132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2324" y="1877402"/>
            <a:ext cx="3107226" cy="128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07271" y="1877402"/>
            <a:ext cx="3677894" cy="128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22886" y="1877402"/>
            <a:ext cx="3677894" cy="12825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7453870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49 vagas realmente em aberto, 35 estão sob o COO e Air Operations concentra 19 delas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Operações, vagas em aberto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Fonte: Base Setembro/26 (RH); planilha de vagas (21/10/2026); Gupy; CIS, ORDERS.parquet (13/10/2026)</a:t>
            </a:r>
          </a:p>
        </p:txBody>
      </p:sp>
      <p:sp>
        <p:nvSpPr>
          <p:cNvPr id="6" name="Disclaimer_Box">
            <a:extLst>
              <a:ext uri="{FF2B5EF4-FFF2-40B4-BE49-F238E27FC236}">
                <a16:creationId xmlns:a16="http://schemas.microsoft.com/office/drawing/2014/main" id="{FF1389B4-ADA6-CA71-1714-5AC808A04713}"/>
              </a:ext>
            </a:extLst>
          </p:cNvPr>
          <p:cNvSpPr txBox="1"/>
          <p:nvPr/>
        </p:nvSpPr>
        <p:spPr>
          <a:xfrm>
            <a:off x="8193024" y="11978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1200" b="1" i="0" dirty="0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371600"/>
            <a:ext cx="21195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05E9E"/>
                </a:solidFill>
                <a:latin typeface="Arial"/>
              </a:rPr>
              <a:t>49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posições em aberto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de 65 registros na planilha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2227" y="1371600"/>
            <a:ext cx="21195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05E9E"/>
                </a:solidFill>
                <a:latin typeface="Arial"/>
              </a:rPr>
              <a:t>26 de 35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vagas do COO são de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Analyst ou Specialist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22499" y="1444752"/>
            <a:ext cx="9144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4686" y="1371600"/>
            <a:ext cx="21195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05E9E"/>
                </a:solidFill>
                <a:latin typeface="Arial"/>
              </a:rPr>
              <a:t>6 de 35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vagas do COO estão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publicadas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24958" y="1444752"/>
            <a:ext cx="9144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7145" y="1371600"/>
            <a:ext cx="21195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05E9E"/>
                </a:solidFill>
                <a:latin typeface="Arial"/>
              </a:rPr>
              <a:t>17 de 35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vagas do COO estão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nos blocos de Operações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7417" y="1444752"/>
            <a:ext cx="9144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39604" y="1371600"/>
            <a:ext cx="21195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8E2E"/>
                </a:solidFill>
                <a:latin typeface="Arial"/>
              </a:rPr>
              <a:t>12 de 17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vagas de Operações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ainda a abrir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29876" y="1444752"/>
            <a:ext cx="9144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2377440"/>
            <a:ext cx="3654552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05E9E"/>
                </a:solidFill>
                <a:latin typeface="Arial"/>
              </a:rPr>
              <a:t>Vagas em aberto por C-Level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" y="2679192"/>
            <a:ext cx="3654552" cy="18288"/>
          </a:xfrm>
          <a:prstGeom prst="rect">
            <a:avLst/>
          </a:prstGeom>
          <a:solidFill>
            <a:srgbClr val="005E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92608" y="2788920"/>
          <a:ext cx="3700272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267200" y="2377440"/>
            <a:ext cx="3654552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05E9E"/>
                </a:solidFill>
                <a:latin typeface="Arial"/>
              </a:rPr>
              <a:t>Vagas do COO por área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200" y="2679192"/>
            <a:ext cx="3654552" cy="18288"/>
          </a:xfrm>
          <a:prstGeom prst="rect">
            <a:avLst/>
          </a:prstGeom>
          <a:solidFill>
            <a:srgbClr val="005E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221480" y="2788920"/>
          <a:ext cx="3700272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196072" y="2377440"/>
            <a:ext cx="3654552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05E9E"/>
                </a:solidFill>
                <a:latin typeface="Arial"/>
              </a:rPr>
              <a:t>Vagas em aberto por geografia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96072" y="2679192"/>
            <a:ext cx="3654552" cy="18288"/>
          </a:xfrm>
          <a:prstGeom prst="rect">
            <a:avLst/>
          </a:prstGeom>
          <a:solidFill>
            <a:srgbClr val="005E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8150351" y="2788920"/>
          <a:ext cx="3700272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38328" y="5230368"/>
            <a:ext cx="365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0366C"/>
                </a:solidFill>
                <a:latin typeface="Arial"/>
              </a:rPr>
              <a:t>Total: 49 vagas em aberto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5559552"/>
            <a:ext cx="3654552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" y="5596128"/>
            <a:ext cx="36545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8E2E"/>
                </a:solidFill>
                <a:latin typeface="Arial"/>
              </a:rPr>
              <a:t>Sem vagas abertas: </a:t>
            </a:r>
            <a:r>
              <a:rPr sz="900" b="0">
                <a:solidFill>
                  <a:srgbClr val="333333"/>
                </a:solidFill>
                <a:latin typeface="Arial"/>
              </a:rPr>
              <a:t>7 áreas fora de Operações, com 26 pessoas (Aerospace, Cold Chain, Energy, Industries Development, Strategy &amp; Finance, Operational Excellence e Revenue Management)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35 vagas do COO, 17 estão nos blocos de Operações; EUA e Europa concentram 15 delas e as 12 que ainda nem foram abertas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Operações, ativos x vagas por local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Fonte: Base Setembro/26 (RH); planilha de vagas (21/10/2026); Gupy; CIS, ORDERS.parquet (13/10/2026)</a:t>
            </a:r>
          </a:p>
        </p:txBody>
      </p:sp>
      <p:sp>
        <p:nvSpPr>
          <p:cNvPr id="6" name="Disclaimer_Box">
            <a:extLst>
              <a:ext uri="{FF2B5EF4-FFF2-40B4-BE49-F238E27FC236}">
                <a16:creationId xmlns:a16="http://schemas.microsoft.com/office/drawing/2014/main" id="{FF1389B4-ADA6-CA71-1714-5AC808A04713}"/>
              </a:ext>
            </a:extLst>
          </p:cNvPr>
          <p:cNvSpPr txBox="1"/>
          <p:nvPr/>
        </p:nvSpPr>
        <p:spPr>
          <a:xfrm>
            <a:off x="8193024" y="11978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1200" b="1" i="0" dirty="0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sp>
        <p:nvSpPr>
          <p:cNvPr id="7" name="Pentagon 6"/>
          <p:cNvSpPr/>
          <p:nvPr/>
        </p:nvSpPr>
        <p:spPr>
          <a:xfrm>
            <a:off x="338328" y="1417320"/>
            <a:ext cx="2960370" cy="502920"/>
          </a:xfrm>
          <a:prstGeom prst="homePlate">
            <a:avLst/>
          </a:prstGeom>
          <a:solidFill>
            <a:srgbClr val="00366C"/>
          </a:solidFill>
          <a:ln>
            <a:noFill/>
          </a:ln>
          <a:effectLst/>
        </p:spPr>
        <p:txBody>
          <a:bodyPr rtlCol="0" anchor="ctr" lIns="109728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35  </a:t>
            </a:r>
            <a:r>
              <a:rPr sz="1100">
                <a:solidFill>
                  <a:srgbClr val="FFFFFF"/>
                </a:solidFill>
                <a:latin typeface="Arial"/>
              </a:rPr>
              <a:t>vagas do COO</a:t>
            </a:r>
          </a:p>
        </p:txBody>
      </p:sp>
      <p:sp>
        <p:nvSpPr>
          <p:cNvPr id="8" name="Chevron 7"/>
          <p:cNvSpPr/>
          <p:nvPr/>
        </p:nvSpPr>
        <p:spPr>
          <a:xfrm>
            <a:off x="3188970" y="1417320"/>
            <a:ext cx="2960370" cy="502920"/>
          </a:xfrm>
          <a:prstGeom prst="chevron">
            <a:avLst/>
          </a:prstGeom>
          <a:solidFill>
            <a:srgbClr val="005E9E"/>
          </a:solidFill>
          <a:ln>
            <a:noFill/>
          </a:ln>
          <a:effectLst/>
        </p:spPr>
        <p:txBody>
          <a:bodyPr rtlCol="0" anchor="ctr" lIns="27432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17  </a:t>
            </a:r>
            <a:r>
              <a:rPr sz="1100">
                <a:solidFill>
                  <a:srgbClr val="FFFFFF"/>
                </a:solidFill>
                <a:latin typeface="Arial"/>
              </a:rPr>
              <a:t>nos blocos de Operações</a:t>
            </a:r>
          </a:p>
        </p:txBody>
      </p:sp>
      <p:sp>
        <p:nvSpPr>
          <p:cNvPr id="9" name="Chevron 8"/>
          <p:cNvSpPr/>
          <p:nvPr/>
        </p:nvSpPr>
        <p:spPr>
          <a:xfrm>
            <a:off x="6039612" y="1417320"/>
            <a:ext cx="2960370" cy="502920"/>
          </a:xfrm>
          <a:prstGeom prst="chevron">
            <a:avLst/>
          </a:prstGeom>
          <a:solidFill>
            <a:srgbClr val="7FCBEF"/>
          </a:solidFill>
          <a:ln>
            <a:noFill/>
          </a:ln>
          <a:effectLst/>
        </p:spPr>
        <p:txBody>
          <a:bodyPr rtlCol="0" anchor="ctr" lIns="27432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  </a:t>
            </a:r>
            <a:r>
              <a:rPr sz="1100">
                <a:solidFill>
                  <a:srgbClr val="FFFFFF"/>
                </a:solidFill>
                <a:latin typeface="Arial"/>
              </a:rPr>
              <a:t>publicadas no Gupy</a:t>
            </a:r>
          </a:p>
        </p:txBody>
      </p:sp>
      <p:sp>
        <p:nvSpPr>
          <p:cNvPr id="10" name="Chevron 9"/>
          <p:cNvSpPr/>
          <p:nvPr/>
        </p:nvSpPr>
        <p:spPr>
          <a:xfrm>
            <a:off x="8890254" y="1417320"/>
            <a:ext cx="2960370" cy="502920"/>
          </a:xfrm>
          <a:prstGeom prst="chevron">
            <a:avLst/>
          </a:prstGeom>
          <a:solidFill>
            <a:srgbClr val="FF8E2E"/>
          </a:solidFill>
          <a:ln>
            <a:noFill/>
          </a:ln>
          <a:effectLst/>
        </p:spPr>
        <p:txBody>
          <a:bodyPr rtlCol="0" anchor="ctr" lIns="27432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12  </a:t>
            </a:r>
            <a:r>
              <a:rPr sz="1100">
                <a:solidFill>
                  <a:srgbClr val="FFFFFF"/>
                </a:solidFill>
                <a:latin typeface="Arial"/>
              </a:rPr>
              <a:t>ainda a abrir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938528"/>
            <a:ext cx="1151229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00366C"/>
                </a:solidFill>
                <a:latin typeface="Arial"/>
              </a:rPr>
              <a:t>As outras 18 vagas do COO </a:t>
            </a:r>
            <a:r>
              <a:rPr sz="900" b="0">
                <a:solidFill>
                  <a:srgbClr val="595959"/>
                </a:solidFill>
                <a:latin typeface="Arial"/>
              </a:rPr>
              <a:t>estão fora dos blocos: Air Product, Ocean, Quality, Special Operations, Services, Overland Head e cargos sem marcador de bloco.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38328" y="2176272"/>
          <a:ext cx="11512296" cy="29845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40280"/>
                <a:gridCol w="658368"/>
                <a:gridCol w="621792"/>
                <a:gridCol w="658368"/>
                <a:gridCol w="896112"/>
                <a:gridCol w="1051560"/>
                <a:gridCol w="868680"/>
                <a:gridCol w="1965960"/>
                <a:gridCol w="2551176"/>
              </a:tblGrid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Local · bloco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Ativos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Vagas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 abrir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 em aberto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Embarques/mês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Emb./ativo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Área do head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Descrição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EUA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~971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366C"/>
                          </a:solidFill>
                          <a:latin typeface="Arial"/>
                        </a:rPr>
                        <a:t>Air Ops, Air Product, Overland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366C"/>
                          </a:solidFill>
                          <a:latin typeface="Arial"/>
                        </a:rPr>
                        <a:t>6 das 9 vagas a abrir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    Operações America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8E2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8E2E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  <a:latin typeface="Arial"/>
                        </a:rPr>
                        <a:t>Air Ops e Air Product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  <a:latin typeface="Arial"/>
                        </a:rPr>
                        <a:t>3 vagas de TL; analista admitido 20/10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    Inland Freight America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8E2E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  <a:latin typeface="Arial"/>
                        </a:rPr>
                        <a:t>Air Ops e Air Product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  <a:latin typeface="Arial"/>
                        </a:rPr>
                        <a:t>3 vagas de analista publicadas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    Warehouses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  <a:latin typeface="Arial"/>
                        </a:rPr>
                        <a:t>Overland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  <a:latin typeface="Arial"/>
                        </a:rPr>
                        <a:t>1 WH TL e 4 clerks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Europa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~530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366C"/>
                          </a:solidFill>
                          <a:latin typeface="Arial"/>
                        </a:rPr>
                        <a:t>Air Ops, Air Product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366C"/>
                          </a:solidFill>
                          <a:latin typeface="Arial"/>
                        </a:rPr>
                        <a:t>As 6 vagas a abrir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    Inland Freight Europa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8E2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8E2E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  <a:latin typeface="Arial"/>
                        </a:rPr>
                        <a:t>Air Ops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  <a:latin typeface="Arial"/>
                        </a:rPr>
                        <a:t>Sem TL; analista admitido 13/10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    Operações Europa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8E2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  <a:latin typeface="Arial"/>
                        </a:rPr>
                        <a:t>Air Ops e Air Product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  <a:latin typeface="Arial"/>
                        </a:rPr>
                        <a:t>2 vagas de analista a abrir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Brasil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~2.531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366C"/>
                          </a:solidFill>
                          <a:latin typeface="Arial"/>
                        </a:rPr>
                        <a:t>Air Ops, Ocean Ops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366C"/>
                          </a:solidFill>
                          <a:latin typeface="Arial"/>
                        </a:rPr>
                        <a:t>As 2 vagas publicadas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    Exportação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8E2E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~244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8E2E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  <a:latin typeface="Arial"/>
                        </a:rPr>
                        <a:t>Air Ops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  <a:latin typeface="Arial"/>
                        </a:rPr>
                        <a:t>Maior volume por pessoa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    Customer Care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~2.287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  <a:latin typeface="Arial"/>
                        </a:rPr>
                        <a:t>Air Ops e Ocean Ops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95959"/>
                          </a:solidFill>
                          <a:latin typeface="Arial"/>
                        </a:rPr>
                        <a:t>1 vaga publicada; inclui Miami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Total Operações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~4.032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4 heads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366C"/>
                          </a:solidFill>
                          <a:latin typeface="Arial"/>
                        </a:rPr>
                        <a:t>12 das 17 vagas a abrir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38328" y="5230368"/>
            <a:ext cx="11512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595959"/>
                </a:solidFill>
                <a:latin typeface="Arial"/>
              </a:rPr>
              <a:t>Embarques: </a:t>
            </a:r>
            <a:r>
              <a:rPr sz="750" b="0">
                <a:solidFill>
                  <a:srgbClr val="595959"/>
                </a:solidFill>
                <a:latin typeface="Arial"/>
              </a:rPr>
              <a:t>média aérea mensal abr-set/26 no CIS por local; o CIS não separa o volume entre os blocos de EUA e Europa, por isso a conta é feita só por local. O Customer Care inclui embarques de Miami.  </a:t>
            </a:r>
            <a:r>
              <a:rPr sz="750" b="1">
                <a:solidFill>
                  <a:srgbClr val="595959"/>
                </a:solidFill>
                <a:latin typeface="Arial"/>
              </a:rPr>
              <a:t>Ativos por área: </a:t>
            </a:r>
            <a:r>
              <a:rPr sz="750" b="0">
                <a:solidFill>
                  <a:srgbClr val="595959"/>
                </a:solidFill>
                <a:latin typeface="Arial"/>
              </a:rPr>
              <a:t>Air Operations 57 · Ocean Operations 11 · Air Product 5 · Overland 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5468112"/>
            <a:ext cx="11512296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8E2E"/>
                </a:solidFill>
                <a:latin typeface="Arial"/>
              </a:rPr>
              <a:t>Pontos de atenção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" y="5769864"/>
            <a:ext cx="11512296" cy="18288"/>
          </a:xfrm>
          <a:prstGeom prst="rect">
            <a:avLst/>
          </a:prstGeom>
          <a:solidFill>
            <a:srgbClr val="FF8E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8328" y="5852160"/>
            <a:ext cx="256032" cy="256032"/>
          </a:xfrm>
          <a:prstGeom prst="ellipse">
            <a:avLst/>
          </a:prstGeom>
          <a:solidFill>
            <a:srgbClr val="FF8E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815584"/>
            <a:ext cx="191841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366C"/>
                </a:solidFill>
                <a:latin typeface="Arial"/>
              </a:rPr>
              <a:t>Quadro mais vazio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Arial"/>
              </a:rPr>
              <a:t>Inland Freight Europa, com 50% em aberto e sem TL</a:t>
            </a:r>
          </a:p>
        </p:txBody>
      </p:sp>
      <p:sp>
        <p:nvSpPr>
          <p:cNvPr id="18" name="Oval 17"/>
          <p:cNvSpPr/>
          <p:nvPr/>
        </p:nvSpPr>
        <p:spPr>
          <a:xfrm>
            <a:off x="2640787" y="5852160"/>
            <a:ext cx="256032" cy="256032"/>
          </a:xfrm>
          <a:prstGeom prst="ellipse">
            <a:avLst/>
          </a:prstGeom>
          <a:solidFill>
            <a:srgbClr val="FF8E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9971" y="5815584"/>
            <a:ext cx="191841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366C"/>
                </a:solidFill>
                <a:latin typeface="Arial"/>
              </a:rPr>
              <a:t>Liderança descoberta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Arial"/>
              </a:rPr>
              <a:t>Operações America, com 3 vagas de TL ainda a abrir</a:t>
            </a:r>
          </a:p>
        </p:txBody>
      </p:sp>
      <p:sp>
        <p:nvSpPr>
          <p:cNvPr id="20" name="Oval 19"/>
          <p:cNvSpPr/>
          <p:nvPr/>
        </p:nvSpPr>
        <p:spPr>
          <a:xfrm>
            <a:off x="4943246" y="5852160"/>
            <a:ext cx="256032" cy="256032"/>
          </a:xfrm>
          <a:prstGeom prst="ellipse">
            <a:avLst/>
          </a:prstGeom>
          <a:solidFill>
            <a:srgbClr val="FF8E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2430" y="5815584"/>
            <a:ext cx="191841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366C"/>
                </a:solidFill>
                <a:latin typeface="Arial"/>
              </a:rPr>
              <a:t>Mais volume por pessoa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Arial"/>
              </a:rPr>
              <a:t>Exportação, com ~81 embarques/mês por ativo</a:t>
            </a:r>
          </a:p>
        </p:txBody>
      </p:sp>
      <p:sp>
        <p:nvSpPr>
          <p:cNvPr id="22" name="Oval 21"/>
          <p:cNvSpPr/>
          <p:nvPr/>
        </p:nvSpPr>
        <p:spPr>
          <a:xfrm>
            <a:off x="7245705" y="5852160"/>
            <a:ext cx="256032" cy="256032"/>
          </a:xfrm>
          <a:prstGeom prst="ellipse">
            <a:avLst/>
          </a:prstGeom>
          <a:solidFill>
            <a:srgbClr val="FF8E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4889" y="5815584"/>
            <a:ext cx="191841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366C"/>
                </a:solidFill>
                <a:latin typeface="Arial"/>
              </a:rPr>
              <a:t>Gargalo na abertura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Arial"/>
              </a:rPr>
              <a:t>12 das 17 vagas ainda não foram abertas</a:t>
            </a:r>
          </a:p>
        </p:txBody>
      </p:sp>
      <p:sp>
        <p:nvSpPr>
          <p:cNvPr id="24" name="Oval 23"/>
          <p:cNvSpPr/>
          <p:nvPr/>
        </p:nvSpPr>
        <p:spPr>
          <a:xfrm>
            <a:off x="9548164" y="5852160"/>
            <a:ext cx="256032" cy="256032"/>
          </a:xfrm>
          <a:prstGeom prst="ellipse">
            <a:avLst/>
          </a:prstGeom>
          <a:solidFill>
            <a:srgbClr val="FF8E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7348" y="5815584"/>
            <a:ext cx="191841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366C"/>
                </a:solidFill>
                <a:latin typeface="Arial"/>
              </a:rPr>
              <a:t>Warehouses sem reforço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Arial"/>
              </a:rPr>
              <a:t>Houston foi de ~19 para ~169 embarques/mês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Cada local deve sair da agenda de 30 minutos com uma ação prioritária, dono e prazo definidos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Operações, plano de ação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Fonte: Base Setembro/26 (RH); planilha de vagas (21/10/2026); Gupy; CIS, ORDERS.parquet (13/10/2026)</a:t>
            </a:r>
          </a:p>
        </p:txBody>
      </p:sp>
      <p:sp>
        <p:nvSpPr>
          <p:cNvPr id="6" name="Disclaimer_Box">
            <a:extLst>
              <a:ext uri="{FF2B5EF4-FFF2-40B4-BE49-F238E27FC236}">
                <a16:creationId xmlns:a16="http://schemas.microsoft.com/office/drawing/2014/main" id="{FF1389B4-ADA6-CA71-1714-5AC808A04713}"/>
              </a:ext>
            </a:extLst>
          </p:cNvPr>
          <p:cNvSpPr txBox="1"/>
          <p:nvPr/>
        </p:nvSpPr>
        <p:spPr>
          <a:xfrm>
            <a:off x="8193024" y="11978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1200" b="1" i="0" dirty="0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8328" y="1463040"/>
          <a:ext cx="11512296" cy="2651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60120"/>
                <a:gridCol w="685800"/>
                <a:gridCol w="640080"/>
                <a:gridCol w="1463040"/>
                <a:gridCol w="914400"/>
                <a:gridCol w="4023360"/>
                <a:gridCol w="1691640"/>
                <a:gridCol w="1133856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Local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Ativos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Vagas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Situação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% em aberto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Ação prioritária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005E9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366C"/>
                          </a:solidFill>
                          <a:latin typeface="Arial"/>
                        </a:rPr>
                        <a:t>EUA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8E2E"/>
                          </a:solidFill>
                          <a:latin typeface="Arial"/>
                        </a:rPr>
                        <a:t>6 a abrir · 3 publicadas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8E2E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Abrir já as 6 vagas de Operações America, começando pelas 3 de team leader, com faixa e budget pré-aprovados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Carol Mendoza e Filipe Sampaio + RH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5E9E"/>
                          </a:solidFill>
                          <a:latin typeface="Arial"/>
                        </a:rPr>
                        <a:t>Imediato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366C"/>
                          </a:solidFill>
                          <a:latin typeface="Arial"/>
                        </a:rPr>
                        <a:t>Europa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8E2E"/>
                          </a:solidFill>
                          <a:latin typeface="Arial"/>
                        </a:rPr>
                        <a:t>6 a abrir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8E2E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Abrir as 6 vagas reaproveitando finalistas de processos recentes, com prioridade para Inland Freight Europa, hoje sem liderança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Carol Mendoza e Filipe Sampaio + RH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 a 3 semanas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366C"/>
                          </a:solidFill>
                          <a:latin typeface="Arial"/>
                        </a:rPr>
                        <a:t>Brasil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 publicadas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Processo enxuto nas 2 vagas já publicadas, com prioridade para Exportação (~81 embarques por ativo)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Carol Mendoza e Natália Costa + RH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5E9E"/>
                          </a:solidFill>
                          <a:latin typeface="Arial"/>
                        </a:rPr>
                        <a:t>Imediato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366C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366C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366C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366C"/>
                          </a:solidFill>
                          <a:latin typeface="Arial"/>
                        </a:rPr>
                        <a:t>12 a abrir · 5 publicadas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366C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366C"/>
                          </a:solidFill>
                          <a:latin typeface="Arial"/>
                        </a:rPr>
                        <a:t>Pré-aprovar faixa e budget destrava a abertura: hoje só 6 das 35 vagas do COO estão publicadas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366C"/>
                          </a:solidFill>
                          <a:latin typeface="Arial"/>
                        </a:rPr>
                        <a:t>RH + Carol Mendoza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366C"/>
                          </a:solidFill>
                          <a:latin typeface="Arial"/>
                        </a:rPr>
                        <a:t>Imediato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lnT w="9525">
                      <a:solidFill>
                        <a:srgbClr val="FFFFFF"/>
                      </a:solidFill>
                    </a:lnT>
                    <a:lnR w="9525">
                      <a:solidFill>
                        <a:srgbClr val="FFFFFF"/>
                      </a:solidFill>
                    </a:lnR>
                    <a:lnL w="9525">
                      <a:solidFill>
                        <a:srgbClr val="FFFFFF"/>
                      </a:solidFill>
                    </a:lnL>
                    <a:solidFill>
                      <a:srgbClr val="E5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38328" y="4343400"/>
            <a:ext cx="3654552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05E9E"/>
                </a:solidFill>
                <a:latin typeface="Arial"/>
              </a:rPr>
              <a:t>As 17 vagas por nível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4645152"/>
            <a:ext cx="3654552" cy="18288"/>
          </a:xfrm>
          <a:prstGeom prst="rect">
            <a:avLst/>
          </a:prstGeom>
          <a:solidFill>
            <a:srgbClr val="005E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92608" y="4727448"/>
          <a:ext cx="3700272" cy="1417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267199" y="4343400"/>
            <a:ext cx="3654552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05E9E"/>
                </a:solidFill>
                <a:latin typeface="Arial"/>
              </a:rPr>
              <a:t>Pessoas por liderança (ativos ÷ TL+)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7199" y="4645152"/>
            <a:ext cx="3654552" cy="18288"/>
          </a:xfrm>
          <a:prstGeom prst="rect">
            <a:avLst/>
          </a:prstGeom>
          <a:solidFill>
            <a:srgbClr val="005E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221480" y="4727448"/>
          <a:ext cx="3700272" cy="1051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67199" y="5806440"/>
            <a:ext cx="365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Carol Mendoza é a única head da Air Operations: 57 das 78 pessoas dos blocos estão sob ela.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6072" y="4343400"/>
            <a:ext cx="3654552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8E2E"/>
                </a:solidFill>
                <a:latin typeface="Arial"/>
              </a:rPr>
              <a:t>Pendências para fechar na reunião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6072" y="4645152"/>
            <a:ext cx="3654552" cy="18288"/>
          </a:xfrm>
          <a:prstGeom prst="rect">
            <a:avLst/>
          </a:prstGeom>
          <a:solidFill>
            <a:srgbClr val="FF8E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6072" y="4754880"/>
            <a:ext cx="36545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FF8E2E"/>
              </a:buClr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Arial"/>
              </a:rPr>
              <a:t>Régua de reposição (14, 15 ou 19) e conceito de crescer × repor</a:t>
            </a:r>
          </a:p>
          <a:p>
            <a:pPr algn="l" marL="171450" indent="-171450">
              <a:spcAft>
                <a:spcPts val="400"/>
              </a:spcAft>
              <a:buClr>
                <a:srgbClr val="FF8E2E"/>
              </a:buClr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Arial"/>
              </a:rPr>
              <a:t>Confirmar se as 3 vagas "a confirmar" já foram preenchidas</a:t>
            </a:r>
          </a:p>
          <a:p>
            <a:pPr algn="l" marL="171450" indent="-171450">
              <a:spcAft>
                <a:spcPts val="400"/>
              </a:spcAft>
              <a:buClr>
                <a:srgbClr val="FF8E2E"/>
              </a:buClr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Arial"/>
              </a:rPr>
              <a:t>Quebra dos warehouses por praça e volume de Nova York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LORISREVISION" val="0"/>
  <p:tag name="THINKCELLUNDODONOTDELETE" val="0"/>
  <p:tag name="THINKCELLPRESENTATIONDONOTDELETE" val="&lt;?xml version=&quot;1.0&quot; encoding=&quot;UTF-16&quot; standalone=&quot;yes&quot;?&gt;&lt;root reqver=&quot;28224&quot;&gt;&lt;version val=&quot;3560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%m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3&quot;&gt;&lt;elem m_fUsage=&quot;3.07928112869461489964E+00&quot;&gt;&lt;m_msothmcolidx val=&quot;0&quot;/&gt;&lt;m_rgb r=&quot;E7&quot; g=&quot;EF&quot; b=&quot;EF&quot;/&gt;&lt;/elem&gt;&lt;elem m_fUsage=&quot;2.14582643648100024336E+00&quot;&gt;&lt;m_msothmcolidx val=&quot;0&quot;/&gt;&lt;m_rgb r=&quot;58&quot; g=&quot;BA&quot; b=&quot;BA&quot;/&gt;&lt;/elem&gt;&lt;elem m_fUsage=&quot;1.26753992910000023997E+00&quot;&gt;&lt;m_msothmcolidx val=&quot;0&quot;/&gt;&lt;m_rgb r=&quot;DD&quot; g=&quot;F0&quot; b=&quot;F0&quot;/&gt;&lt;/elem&gt;&lt;elem m_fUsage=&quot;1.12381059609000022448E+00&quot;&gt;&lt;m_msothmcolidx val=&quot;0&quot;/&gt;&lt;m_rgb r=&quot;D6&quot; g=&quot;EE&quot; b=&quot;EE&quot;/&gt;&lt;/elem&gt;&lt;elem m_fUsage=&quot;9.00000000000000022204E-01&quot;&gt;&lt;m_msothmcolidx val=&quot;0&quot;/&gt;&lt;m_rgb r=&quot;42&quot; g=&quot;C7&quot; b=&quot;C7&quot;/&gt;&lt;/elem&gt;&lt;elem m_fUsage=&quot;4.82081938222827299789E-01&quot;&gt;&lt;m_msothmcolidx val=&quot;0&quot;/&gt;&lt;m_rgb r=&quot;A6&quot; g=&quot;A6&quot; b=&quot;A6&quot;/&gt;&lt;/elem&gt;&lt;elem m_fUsage=&quot;4.06756461654867840227E-01&quot;&gt;&lt;m_msothmcolidx val=&quot;0&quot;/&gt;&lt;m_rgb r=&quot;D9&quot; g=&quot;D9&quot; b=&quot;D9&quot;/&gt;&lt;/elem&gt;&lt;elem m_fUsage=&quot;2.61592661457161257399E-01&quot;&gt;&lt;m_msothmcolidx val=&quot;0&quot;/&gt;&lt;m_rgb r=&quot;CB&quot; g=&quot;DD&quot; b=&quot;DD&quot;/&gt;&lt;/elem&gt;&lt;elem m_fUsage=&quot;1.85302018885184188735E-01&quot;&gt;&lt;m_msothmcolidx val=&quot;0&quot;/&gt;&lt;m_rgb r=&quot;7F&quot; g=&quot;7F&quot; b=&quot;7F&quot;/&gt;&lt;/elem&gt;&lt;elem m_fUsage=&quot;3.49730471277284182818E-02&quot;&gt;&lt;m_msothmcolidx val=&quot;0&quot;/&gt;&lt;m_rgb r=&quot;72&quot; g=&quot;22&quot; b=&quot;82&quot;/&gt;&lt;/elem&gt;&lt;elem m_fUsage=&quot;1.47808829414346077497E-02&quot;&gt;&lt;m_msothmcolidx val=&quot;0&quot;/&gt;&lt;m_rgb r=&quot;F1&quot; g=&quot;F1&quot; b=&quot;F1&quot;/&gt;&lt;/elem&gt;&lt;elem m_fUsage=&quot;1.07752636643058292976E-02&quot;&gt;&lt;m_msothmcolidx val=&quot;0&quot;/&gt;&lt;m_rgb r=&quot;E5&quot; g=&quot;DD&quot; b=&quot;D5&quot;/&gt;&lt;/elem&gt;&lt;elem m_fUsage=&quot;8.72796356808772273717E-03&quot;&gt;&lt;m_msothmcolidx val=&quot;0&quot;/&gt;&lt;m_rgb r=&quot;B9&quot; g=&quot;BD&quot; b=&quot;00&quot;/&gt;&lt;/elem&gt;&lt;/m_vecMRU&gt;&lt;/m_mruColor&gt;&lt;m_eweekdayFirstOfWeek val=&quot;2&quot;/&gt;&lt;m_eweekdayFirstOfWorkweek val=&quot;2&quot;/&gt;&lt;m_eweekdayFirstOfWeekend val=&quot;7&quot;/&gt;&lt;/CPresentation&gt;&lt;/root&gt;"/>
  <p:tag name="GRUNT-HP-GEHF7K" val="MgIAAA=="/>
  <p:tag name="POWER_USER_PPT_AGENDA_PRESENTATION_TABLE_OF_CONTENT_STYLE_TAG" val="1"/>
  <p:tag name="POWER_USER_PPT_AGENDA_PRESENTATION_DIVIDERS_STYLE_TAG" val="POWER_USER_LAYOUT_DIVIDER_CUSTOM"/>
  <p:tag name="POWER_USER_PPT_AGENDA_PRESENTATION_SHOULD_CREATE_TABLE_OF_CONTENT_TAG" val="0"/>
  <p:tag name="POWER_USER_PPT_AGENDA_PRESENTATION_SHOW_SECTION_NUMBERS_CHECKED_TAG" val="1"/>
  <p:tag name="POWER_USER_PPT_AGENDA_PRESENTATION_DIVIDERS_CHECKED_TAG" val="0"/>
  <p:tag name="POWER_USER_PPT_AGENDA_PRESENTATION_TITLE_TEXT_TAG" val="POWER_USER_PPT_AGENDA_PRESENTATION_EMPTY_TITLE_TEXT_TAG"/>
  <p:tag name="POWER_USER_PPT_AGENDA_PRESENTATION_TABLE_OF_CONTENT_CHECKED_TAG" val="1"/>
  <p:tag name="POWER_USER_CONTEXTUAL_SHAPES_AGENDA_DESIGNER" val="{&quot;Divider1&quot;:{&quot;Title&quot;:{&quot;AutoShapeType&quot;:1,&quot;Visible&quot;:-1,&quot;LockAspectRatio&quot;:0,&quot;CanUpdateAdjustments&quot;:true,&quot;Adjustment1&quot;:-1.0,&quot;Adjustment2&quot;:-1.0,&quot;CanManagePosition&quot;:true,&quot;Left&quot;:240.0,&quot;Top&quot;:216.0,&quot;Width&quot;:700.0,&quot;Height&quot;:108.0,&quot;Rotation&quot;:-1.0,&quot;TextFrame2AutoSize&quot;:1,&quot;TextFrame2TextRangeFontName&quot;:&quot;&quot;,&quot;TextFrameMarginTop&quot;:0.0,&quot;TextFrameMarginLeft&quot;:0.0,&quot;TextFrameMarginRight&quot;:0.0,&quot;TextFrameMarginBottom&quot;:0.0,&quot;TextFrameWordWrap&quot;:-1,&quot;TextFrameTextRangeFontSize&quot;:30.0,&quot;TextFrameTextRangeFontColorHexa&quot;:&quot;#000000&quot;,&quot;TextFrameTextRangeFontBold&quot;:0,&quot;TextFrameTextRangeFontItalic&quot;:0,&quot;TextFrameTextRangeFontUnderline&quot;:0,&quot;TextFrameVerticalAnchor&quot;:1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Number&quot;:{&quot;AutoShapeType&quot;:1,&quot;Visible&quot;:-1,&quot;LockAspectRatio&quot;:0,&quot;CanUpdateAdjustments&quot;:true,&quot;Adjustment1&quot;:-1.0,&quot;Adjustment2&quot;:-1.0,&quot;CanManagePosition&quot;:true,&quot;Left&quot;:115.2,&quot;Top&quot;:216.0,&quot;Width&quot;:81.0,&quot;Height&quot;:8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30.0,&quot;TextFrameTextRangeFontColorHexa&quot;:&quot;#FFFFFF&quot;,&quot;TextFrameTextRangeFontBold&quot;:0,&quot;TextFrameTextRangeFontItalic&quot;:0,&quot;TextFrameTextRangeFontUnderline&quot;:0,&quot;TextFrameVerticalAnchor&quot;:3,&quot;TextFrameHorizontalAnchor&quot;:2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true},&quot;Line&quot;:{&quot;AutoShapeType&quot;:1,&quot;Visible&quot;:-1,&quot;LockAspectRatio&quot;:0,&quot;CanUpdateAdjustments&quot;:true,&quot;Adjustment1&quot;:-1.0,&quot;Adjustment2&quot;:-1.0,&quot;CanManagePosition&quot;:true,&quot;Left&quot;:240.0,&quot;Top&quot;:331.0,&quot;Width&quot;:700.0,&quot;Height&quot;:0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0.0,&quot;LineDashStyle&quot;:1,&quot;LineEndArrowheadStyle&quot;:1,&quot;LineBeginArrowheadStyle&quot;:1,&quot;ShouldSendToBack&quot;:false,&quot;NeedsApplyToAll&quot;:false}},&quot;TableOfContent1&quot;:{&quot;MarginLeft&quot;:76.8,&quot;MarginRight&quot;:453.942841,&quot;MarginTop&quot;:160.99379,&quot;MarginBottom&quot;:117.391327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2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4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Back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0,&quot;ZOrderPosition&quot;:1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true,&quot;NeedsApplyToAll&quot;:false},&quot;Inactiv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,&quot;CoverPag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},&quot;Number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2,&quot;ZOrderPosition&quot;:20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D9D9D9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},&quot;TableOfContent3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Lin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,&quot;TableOfContent4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Arc&quot;:{&quot;AutoShapeType&quot;:25,&quot;Visible&quot;:-1,&quot;LockAspectRatio&quot;:0,&quot;CanUpdateAdjustments&quot;:fals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ain_Analytics">
  <a:themeElements>
    <a:clrScheme name="OCC2017">
      <a:dk1>
        <a:srgbClr val="000000"/>
      </a:dk1>
      <a:lt1>
        <a:srgbClr val="FFFFFF"/>
      </a:lt1>
      <a:dk2>
        <a:srgbClr val="FF8E2E"/>
      </a:dk2>
      <a:lt2>
        <a:srgbClr val="1D368E"/>
      </a:lt2>
      <a:accent1>
        <a:srgbClr val="43CFF6"/>
      </a:accent1>
      <a:accent2>
        <a:srgbClr val="99D5D5"/>
      </a:accent2>
      <a:accent3>
        <a:srgbClr val="B29C86"/>
      </a:accent3>
      <a:accent4>
        <a:srgbClr val="009796"/>
      </a:accent4>
      <a:accent5>
        <a:srgbClr val="FF5A43"/>
      </a:accent5>
      <a:accent6>
        <a:srgbClr val="E6DCD7"/>
      </a:accent6>
      <a:hlink>
        <a:srgbClr val="B29C86"/>
      </a:hlink>
      <a:folHlink>
        <a:srgbClr val="0097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2.xml><?xml version="1.0" encoding="utf-8"?>
<a:theme xmlns:a="http://schemas.openxmlformats.org/drawingml/2006/main" name="Main_Analytics [1792534067595]">
  <a:themeElements>
    <a:clrScheme name="DMS Logistics">
      <a:dk1>
        <a:srgbClr val="000000"/>
      </a:dk1>
      <a:lt1>
        <a:srgbClr val="FFFFFF"/>
      </a:lt1>
      <a:dk2>
        <a:srgbClr val="FF8E2E"/>
      </a:dk2>
      <a:lt2>
        <a:srgbClr val="00366C"/>
      </a:lt2>
      <a:accent1>
        <a:srgbClr val="00ACEE"/>
      </a:accent1>
      <a:accent2>
        <a:srgbClr val="7FCBEF"/>
      </a:accent2>
      <a:accent3>
        <a:srgbClr val="B29C86"/>
      </a:accent3>
      <a:accent4>
        <a:srgbClr val="005E9E"/>
      </a:accent4>
      <a:accent5>
        <a:srgbClr val="FF5A43"/>
      </a:accent5>
      <a:accent6>
        <a:srgbClr val="E6DCD7"/>
      </a:accent6>
      <a:hlink>
        <a:srgbClr val="B29C86"/>
      </a:hlink>
      <a:folHlink>
        <a:srgbClr val="005E9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111F20-489D-423F-8669-23E3111AA1D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6ae7422-7103-4ba2-b850-d7dcf422d67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6190</TotalTime>
  <Words>1158</Words>
  <Application>Microsoft Office PowerPoint</Application>
  <PresentationFormat>Widescreen</PresentationFormat>
  <Paragraphs>155</Paragraphs>
  <Slides>5</Slides>
  <Notes>3</Notes>
  <HiddenSlides>1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Main_Analytics</vt:lpstr>
      <vt:lpstr>Main_Analytics [1792534067595]</vt:lpstr>
      <vt:lpstr>Apresentação do PowerPoint</vt:lpstr>
      <vt:lpstr>A estrutura desejada contempla 7 analistas um TL, objetivo da estrutura são as tratativas e gestão das atividades relacionados ao agenciamento de carga. </vt:lpstr>
      <vt:lpstr>As vagas da DMS exigem perfis de rotina e controle, que executem os processos definidos no melhor SLA possível e proativamente atuem para mitigar os riscos/danos</vt:lpstr>
      <vt:lpstr>Apresentação do PowerPoint</vt:lpstr>
      <vt:lpstr>A estrutura desejada contempla 7 analistas e somente um TL, entretanto quando olhamos os embarques há espaço para termos 2 TL e os mesmos 4 analistas atuais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Tratamento de Dados do Pro-Frotas</dc:title>
  <dc:creator>Joao Victor Lopes De Paula</dc:creator>
  <cp:keywords/>
  <cp:lastModifiedBy>Gilberto  Volpe</cp:lastModifiedBy>
  <cp:revision>17</cp:revision>
  <dcterms:created xsi:type="dcterms:W3CDTF">2023-01-09T20:59:58Z</dcterms:created>
  <dcterms:modified xsi:type="dcterms:W3CDTF">2026-10-22T14:11:55Z</dcterms:modified>
</cp:coreProperties>
</file>